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Sete etapas, cada uma ligada a um módulo da tela. O fluxo é sequencial porque cada etapa produz o que a seguinte consome: sem domínio e candidatos não há estratos; sem estratos não há sorteio; sem sorteio selado não há autorização nem voo; sem rótulos não há matriz; sem matriz não há avaliação. Os dois últimos módulos são a exportação e a governança.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Duas telas. Conexão e Chaves: a Service Account do Google Earth Engine é carregada pela tela, e sem ela o app recusa eleger candidatos. Seletor de área: estado e município pelo IBGE, microbacias hidrográficas ou polígono importado em GeoJSON ou KML. O estado atual do app mostra a conexão desativada e nenhuma área 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eleição de candidatos aplica os critérios do domínio de validade: declividade entre 3% e 20%, cobertura do ESA WorldCover nas classes pastagem e lavoura, concordância entre as duas épocas do produto e espaçamento mínimo de 1 km. Cobertura e declividade excluem onde o método não vale. O espaçamento reduz a dependência espacial entre candidatos. A tela mostra a recusa sem conexão. BSI e NDVI servem só para triagem, nunca como rótulo.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Os estratos vêm do produto de três dimensões: tercis de declividade (energia do relevo), tercis de frequência de solo nu (tempo de solo descoberto) e dois níveis de erodibilidade (suscetibilidade do solo). São 3 x 3 x 2 = 18. A erodibilidade vem da carta da Embrapa de 2024, com nível 1 nas classes baixa a média e nível 2 nas classes alta a extremamente alta. O desenho prevê quatro polígonos por estrato, dois para treino e dois para teste. A decisão sobre a classe 6 foi aprovada em 19/10 e está sendo registrada.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Esta é a primeira dificuldade real. Numa medição preliminar de 29/09/2026 sobre 90 candidatos, só 5 estavam no nível de erodibilidade alta dentro da faixa de declividade do método. A extrapolação para os 593 imóveis do divisor de águas dava cerca de 33. Hoje o desenho pede 36 titulares nesse nível (9 estratos vezes 4), mais reservas. Atenção: é um indício, calculado sobre um artefato pequeno, e o pool real ainda não foi medido. Há uma ferramenta pronta para medir. A tentação de mover o limiar de erodibilidade para acomodar a amostra foi recusada: o limiar é físico e vem da fonte.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 sorteio registra semente, commit do código, hash do conjunto de candidatos e uma tabela reversa de códigos opacos, que fica fora do Git. Uma vez gerado, o selo não pode ser refeito, senão se poderia escolher o sorteio que favoreça o resultado. Mas e se o proprietário recusar? A proposta, ainda sem parâmetros decididos, é o mesmo selo trazer, por estrato, uma lista ordenada de reservas: a recusa aciona a próxima do mesmo estrato, que herda o papel de treino ou teste. A ferramenta de pool já existe; a parte das reservas está em implementação.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Cada polígono dá cerca de 2,2 minutos de voo, com produtividade medida de 2,3 ha/min a GSD de cerca de 4 cm. Mas campanha de sítios dispersos é dominada por deslocamento e montagem, não por bateria: o número de dias de campo é maior que 3 e cresce de 36 para 72 polígonos. Outro ganho medido: a delineação sobre ortomosaico tem CE90 de 1,47 m, contra 3 a 8 m do GNSS de frequência única do aparelho de campo. A tela mostra os três conjuntos da campanha: 72 polígonos de 5,02 ha, 60 a 80 pontos de campo e a confirmação prospectiva.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À esquerda, a Matriz de Treino: sem rótulos humanos consolidados ela fica vazia, em vez de preencher com valores. À direita, a Exportação: planilha, CSV e GeoJSON, e o pacote de reprodutibilidade em ZIP, com a matriz, o confronto radiométrico, o dicionário, o script de avaliação, o manifesto SHA-256 e um verificador independente. Cada valor leva um selo de origem: medido, modelado, tabelado ou indisponível, e a ausência nunca vira zero. Sete invariantes bloqueiam a exportação se forem violados.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menu de Governança reúne a conexão, o registro de decisões (26) e o relatório de erros. O diagnóstico mostra o estado da sessão do GEE, a guarda antissintético (regra 5), a base fundiária local e o relatório de erros. O princípio é que todo parâmetro tem dono, referência e estado registrados, e decisões pendentes geram estado indisponível, não valor assumido.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Fluxo de uso: da área ao pacote auditável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sp>
        <p:nvSpPr>
          <p:cNvPr id="5" name="Shape 2"/>
          <p:cNvSpPr/>
          <p:nvPr/>
        </p:nvSpPr>
        <p:spPr>
          <a:xfrm>
            <a:off x="457200" y="1234440"/>
            <a:ext cx="1965960" cy="1463040"/>
          </a:xfrm>
          <a:prstGeom prst="roundRect">
            <a:avLst>
              <a:gd name="adj" fmla="val 5000"/>
            </a:avLst>
          </a:prstGeom>
          <a:solidFill>
            <a:srgbClr val="EEF3EF"/>
          </a:solidFill>
          <a:ln w="12700">
            <a:solidFill>
              <a:srgbClr val="EEF3EF"/>
            </a:solidFill>
            <a:prstDash val="solid"/>
          </a:ln>
        </p:spPr>
      </p:sp>
      <p:sp>
        <p:nvSpPr>
          <p:cNvPr id="6" name="Shape 3"/>
          <p:cNvSpPr/>
          <p:nvPr/>
        </p:nvSpPr>
        <p:spPr>
          <a:xfrm>
            <a:off x="566928" y="1344168"/>
            <a:ext cx="384048" cy="384048"/>
          </a:xfrm>
          <a:prstGeom prst="ellipse">
            <a:avLst/>
          </a:prstGeom>
          <a:solidFill>
            <a:srgbClr val="2F6B4F"/>
          </a:solidFill>
          <a:ln w="12700">
            <a:solidFill>
              <a:srgbClr val="2F6B4F"/>
            </a:solidFill>
            <a:prstDash val="solid"/>
          </a:ln>
        </p:spPr>
      </p:sp>
      <p:sp>
        <p:nvSpPr>
          <p:cNvPr id="7" name="Text 4"/>
          <p:cNvSpPr txBox="1"/>
          <p:nvPr/>
        </p:nvSpPr>
        <p:spPr>
          <a:xfrm>
            <a:off x="566928" y="13441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566928" y="1828800"/>
            <a:ext cx="1783080" cy="320040"/>
          </a:xfrm>
          <a:prstGeom prst="rect">
            <a:avLst/>
          </a:prstGeom>
          <a:noFill/>
          <a:ln/>
        </p:spPr>
        <p:txBody>
          <a:bodyPr wrap="square" lIns="0" tIns="0" rIns="0" bIns="0" rtlCol="0" anchor="t"/>
          <a:lstStyle/>
          <a:p>
            <a:pPr indent="0" marL="0">
              <a:buNone/>
            </a:pPr>
            <a:r>
              <a:rPr lang="en-US" sz="1250" b="1" dirty="0">
                <a:solidFill>
                  <a:srgbClr val="1B2A22"/>
                </a:solidFill>
                <a:latin typeface="Cambria" pitchFamily="34" charset="0"/>
                <a:ea typeface="Cambria" pitchFamily="34" charset="-122"/>
                <a:cs typeface="Cambria" pitchFamily="34" charset="-120"/>
              </a:rPr>
              <a:t>Área e conexão</a:t>
            </a:r>
            <a:endParaRPr lang="en-US" sz="1250" dirty="0"/>
          </a:p>
        </p:txBody>
      </p:sp>
      <p:sp>
        <p:nvSpPr>
          <p:cNvPr id="9" name="Text 6"/>
          <p:cNvSpPr txBox="1"/>
          <p:nvPr/>
        </p:nvSpPr>
        <p:spPr>
          <a:xfrm>
            <a:off x="566928" y="2148840"/>
            <a:ext cx="1783080" cy="502920"/>
          </a:xfrm>
          <a:prstGeom prst="rect">
            <a:avLst/>
          </a:prstGeom>
          <a:noFill/>
          <a:ln/>
        </p:spPr>
        <p:txBody>
          <a:bodyPr wrap="square" lIns="0" tIns="0" rIns="0" bIns="0" rtlCol="0" anchor="t"/>
          <a:lstStyle/>
          <a:p>
            <a:pPr indent="0" marL="0">
              <a:buNone/>
            </a:pPr>
            <a:r>
              <a:rPr lang="en-US" sz="1150" dirty="0">
                <a:solidFill>
                  <a:srgbClr val="52605A"/>
                </a:solidFill>
                <a:latin typeface="Calibri" pitchFamily="34" charset="0"/>
                <a:ea typeface="Calibri" pitchFamily="34" charset="-122"/>
                <a:cs typeface="Calibri" pitchFamily="34" charset="-120"/>
              </a:rPr>
              <a:t>Conexão &amp; Chaves, Seletor de área</a:t>
            </a:r>
            <a:endParaRPr lang="en-US" sz="1150" dirty="0"/>
          </a:p>
        </p:txBody>
      </p:sp>
      <p:sp>
        <p:nvSpPr>
          <p:cNvPr id="10" name="Shape 7"/>
          <p:cNvSpPr/>
          <p:nvPr/>
        </p:nvSpPr>
        <p:spPr>
          <a:xfrm>
            <a:off x="2560320" y="1234440"/>
            <a:ext cx="1965960" cy="1463040"/>
          </a:xfrm>
          <a:prstGeom prst="roundRect">
            <a:avLst>
              <a:gd name="adj" fmla="val 5000"/>
            </a:avLst>
          </a:prstGeom>
          <a:solidFill>
            <a:srgbClr val="EEF3EF"/>
          </a:solidFill>
          <a:ln w="12700">
            <a:solidFill>
              <a:srgbClr val="EEF3EF"/>
            </a:solidFill>
            <a:prstDash val="solid"/>
          </a:ln>
        </p:spPr>
      </p:sp>
      <p:sp>
        <p:nvSpPr>
          <p:cNvPr id="11" name="Shape 8"/>
          <p:cNvSpPr/>
          <p:nvPr/>
        </p:nvSpPr>
        <p:spPr>
          <a:xfrm>
            <a:off x="2670048" y="1344168"/>
            <a:ext cx="384048" cy="384048"/>
          </a:xfrm>
          <a:prstGeom prst="ellipse">
            <a:avLst/>
          </a:prstGeom>
          <a:solidFill>
            <a:srgbClr val="2F6B4F"/>
          </a:solidFill>
          <a:ln w="12700">
            <a:solidFill>
              <a:srgbClr val="2F6B4F"/>
            </a:solidFill>
            <a:prstDash val="solid"/>
          </a:ln>
        </p:spPr>
      </p:sp>
      <p:sp>
        <p:nvSpPr>
          <p:cNvPr id="12" name="Text 9"/>
          <p:cNvSpPr txBox="1"/>
          <p:nvPr/>
        </p:nvSpPr>
        <p:spPr>
          <a:xfrm>
            <a:off x="2670048" y="13441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2670048" y="1828800"/>
            <a:ext cx="1783080" cy="320040"/>
          </a:xfrm>
          <a:prstGeom prst="rect">
            <a:avLst/>
          </a:prstGeom>
          <a:noFill/>
          <a:ln/>
        </p:spPr>
        <p:txBody>
          <a:bodyPr wrap="square" lIns="0" tIns="0" rIns="0" bIns="0" rtlCol="0" anchor="t"/>
          <a:lstStyle/>
          <a:p>
            <a:pPr indent="0" marL="0">
              <a:buNone/>
            </a:pPr>
            <a:r>
              <a:rPr lang="en-US" sz="1250" b="1" dirty="0">
                <a:solidFill>
                  <a:srgbClr val="1B2A22"/>
                </a:solidFill>
                <a:latin typeface="Cambria" pitchFamily="34" charset="0"/>
                <a:ea typeface="Cambria" pitchFamily="34" charset="-122"/>
                <a:cs typeface="Cambria" pitchFamily="34" charset="-120"/>
              </a:rPr>
              <a:t>Candidatos</a:t>
            </a:r>
            <a:endParaRPr lang="en-US" sz="1250" dirty="0"/>
          </a:p>
        </p:txBody>
      </p:sp>
      <p:sp>
        <p:nvSpPr>
          <p:cNvPr id="14" name="Text 11"/>
          <p:cNvSpPr txBox="1"/>
          <p:nvPr/>
        </p:nvSpPr>
        <p:spPr>
          <a:xfrm>
            <a:off x="2670048" y="2148840"/>
            <a:ext cx="1783080" cy="502920"/>
          </a:xfrm>
          <a:prstGeom prst="rect">
            <a:avLst/>
          </a:prstGeom>
          <a:noFill/>
          <a:ln/>
        </p:spPr>
        <p:txBody>
          <a:bodyPr wrap="square" lIns="0" tIns="0" rIns="0" bIns="0" rtlCol="0" anchor="t"/>
          <a:lstStyle/>
          <a:p>
            <a:pPr indent="0" marL="0">
              <a:buNone/>
            </a:pPr>
            <a:r>
              <a:rPr lang="en-US" sz="1150" dirty="0">
                <a:solidFill>
                  <a:srgbClr val="52605A"/>
                </a:solidFill>
                <a:latin typeface="Calibri" pitchFamily="34" charset="0"/>
                <a:ea typeface="Calibri" pitchFamily="34" charset="-122"/>
                <a:cs typeface="Calibri" pitchFamily="34" charset="-120"/>
              </a:rPr>
              <a:t>Amostragem GEE</a:t>
            </a:r>
            <a:endParaRPr lang="en-US" sz="1150" dirty="0"/>
          </a:p>
        </p:txBody>
      </p:sp>
      <p:sp>
        <p:nvSpPr>
          <p:cNvPr id="15" name="Shape 12"/>
          <p:cNvSpPr/>
          <p:nvPr/>
        </p:nvSpPr>
        <p:spPr>
          <a:xfrm>
            <a:off x="4663440" y="1234440"/>
            <a:ext cx="1965960" cy="1463040"/>
          </a:xfrm>
          <a:prstGeom prst="roundRect">
            <a:avLst>
              <a:gd name="adj" fmla="val 5000"/>
            </a:avLst>
          </a:prstGeom>
          <a:solidFill>
            <a:srgbClr val="EEF3EF"/>
          </a:solidFill>
          <a:ln w="12700">
            <a:solidFill>
              <a:srgbClr val="EEF3EF"/>
            </a:solidFill>
            <a:prstDash val="solid"/>
          </a:ln>
        </p:spPr>
      </p:sp>
      <p:sp>
        <p:nvSpPr>
          <p:cNvPr id="16" name="Shape 13"/>
          <p:cNvSpPr/>
          <p:nvPr/>
        </p:nvSpPr>
        <p:spPr>
          <a:xfrm>
            <a:off x="4773168" y="1344168"/>
            <a:ext cx="384048" cy="384048"/>
          </a:xfrm>
          <a:prstGeom prst="ellipse">
            <a:avLst/>
          </a:prstGeom>
          <a:solidFill>
            <a:srgbClr val="2F6B4F"/>
          </a:solidFill>
          <a:ln w="12700">
            <a:solidFill>
              <a:srgbClr val="2F6B4F"/>
            </a:solidFill>
            <a:prstDash val="solid"/>
          </a:ln>
        </p:spPr>
      </p:sp>
      <p:sp>
        <p:nvSpPr>
          <p:cNvPr id="17" name="Text 14"/>
          <p:cNvSpPr txBox="1"/>
          <p:nvPr/>
        </p:nvSpPr>
        <p:spPr>
          <a:xfrm>
            <a:off x="4773168" y="13441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txBox="1"/>
          <p:nvPr/>
        </p:nvSpPr>
        <p:spPr>
          <a:xfrm>
            <a:off x="4773168" y="1828800"/>
            <a:ext cx="1783080" cy="320040"/>
          </a:xfrm>
          <a:prstGeom prst="rect">
            <a:avLst/>
          </a:prstGeom>
          <a:noFill/>
          <a:ln/>
        </p:spPr>
        <p:txBody>
          <a:bodyPr wrap="square" lIns="0" tIns="0" rIns="0" bIns="0" rtlCol="0" anchor="t"/>
          <a:lstStyle/>
          <a:p>
            <a:pPr indent="0" marL="0">
              <a:buNone/>
            </a:pPr>
            <a:r>
              <a:rPr lang="en-US" sz="1250" b="1" dirty="0">
                <a:solidFill>
                  <a:srgbClr val="1B2A22"/>
                </a:solidFill>
                <a:latin typeface="Cambria" pitchFamily="34" charset="0"/>
                <a:ea typeface="Cambria" pitchFamily="34" charset="-122"/>
                <a:cs typeface="Cambria" pitchFamily="34" charset="-120"/>
              </a:rPr>
              <a:t>Estratos e sorteio</a:t>
            </a:r>
            <a:endParaRPr lang="en-US" sz="1250" dirty="0"/>
          </a:p>
        </p:txBody>
      </p:sp>
      <p:sp>
        <p:nvSpPr>
          <p:cNvPr id="19" name="Text 16"/>
          <p:cNvSpPr txBox="1"/>
          <p:nvPr/>
        </p:nvSpPr>
        <p:spPr>
          <a:xfrm>
            <a:off x="4773168" y="2148840"/>
            <a:ext cx="1783080" cy="502920"/>
          </a:xfrm>
          <a:prstGeom prst="rect">
            <a:avLst/>
          </a:prstGeom>
          <a:noFill/>
          <a:ln/>
        </p:spPr>
        <p:txBody>
          <a:bodyPr wrap="square" lIns="0" tIns="0" rIns="0" bIns="0" rtlCol="0" anchor="t"/>
          <a:lstStyle/>
          <a:p>
            <a:pPr indent="0" marL="0">
              <a:buNone/>
            </a:pPr>
            <a:r>
              <a:rPr lang="en-US" sz="1150" dirty="0">
                <a:solidFill>
                  <a:srgbClr val="52605A"/>
                </a:solidFill>
                <a:latin typeface="Calibri" pitchFamily="34" charset="0"/>
                <a:ea typeface="Calibri" pitchFamily="34" charset="-122"/>
                <a:cs typeface="Calibri" pitchFamily="34" charset="-120"/>
              </a:rPr>
              <a:t>18 estratos, sorteio selado</a:t>
            </a:r>
            <a:endParaRPr lang="en-US" sz="1150" dirty="0"/>
          </a:p>
        </p:txBody>
      </p:sp>
      <p:sp>
        <p:nvSpPr>
          <p:cNvPr id="20" name="Shape 17"/>
          <p:cNvSpPr/>
          <p:nvPr/>
        </p:nvSpPr>
        <p:spPr>
          <a:xfrm>
            <a:off x="6766560" y="1234440"/>
            <a:ext cx="1965960" cy="1463040"/>
          </a:xfrm>
          <a:prstGeom prst="roundRect">
            <a:avLst>
              <a:gd name="adj" fmla="val 5000"/>
            </a:avLst>
          </a:prstGeom>
          <a:solidFill>
            <a:srgbClr val="EEF3EF"/>
          </a:solidFill>
          <a:ln w="12700">
            <a:solidFill>
              <a:srgbClr val="EEF3EF"/>
            </a:solidFill>
            <a:prstDash val="solid"/>
          </a:ln>
        </p:spPr>
      </p:sp>
      <p:sp>
        <p:nvSpPr>
          <p:cNvPr id="21" name="Shape 18"/>
          <p:cNvSpPr/>
          <p:nvPr/>
        </p:nvSpPr>
        <p:spPr>
          <a:xfrm>
            <a:off x="6876288" y="1344168"/>
            <a:ext cx="384048" cy="384048"/>
          </a:xfrm>
          <a:prstGeom prst="ellipse">
            <a:avLst/>
          </a:prstGeom>
          <a:solidFill>
            <a:srgbClr val="2F6B4F"/>
          </a:solidFill>
          <a:ln w="12700">
            <a:solidFill>
              <a:srgbClr val="2F6B4F"/>
            </a:solidFill>
            <a:prstDash val="solid"/>
          </a:ln>
        </p:spPr>
      </p:sp>
      <p:sp>
        <p:nvSpPr>
          <p:cNvPr id="22" name="Text 19"/>
          <p:cNvSpPr txBox="1"/>
          <p:nvPr/>
        </p:nvSpPr>
        <p:spPr>
          <a:xfrm>
            <a:off x="6876288" y="13441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0"/>
          <p:cNvSpPr txBox="1"/>
          <p:nvPr/>
        </p:nvSpPr>
        <p:spPr>
          <a:xfrm>
            <a:off x="6876288" y="1828800"/>
            <a:ext cx="1783080" cy="320040"/>
          </a:xfrm>
          <a:prstGeom prst="rect">
            <a:avLst/>
          </a:prstGeom>
          <a:noFill/>
          <a:ln/>
        </p:spPr>
        <p:txBody>
          <a:bodyPr wrap="square" lIns="0" tIns="0" rIns="0" bIns="0" rtlCol="0" anchor="t"/>
          <a:lstStyle/>
          <a:p>
            <a:pPr indent="0" marL="0">
              <a:buNone/>
            </a:pPr>
            <a:r>
              <a:rPr lang="en-US" sz="1250" b="1" dirty="0">
                <a:solidFill>
                  <a:srgbClr val="1B2A22"/>
                </a:solidFill>
                <a:latin typeface="Cambria" pitchFamily="34" charset="0"/>
                <a:ea typeface="Cambria" pitchFamily="34" charset="-122"/>
                <a:cs typeface="Cambria" pitchFamily="34" charset="-120"/>
              </a:rPr>
              <a:t>Campanha</a:t>
            </a:r>
            <a:endParaRPr lang="en-US" sz="1250" dirty="0"/>
          </a:p>
        </p:txBody>
      </p:sp>
      <p:sp>
        <p:nvSpPr>
          <p:cNvPr id="24" name="Text 21"/>
          <p:cNvSpPr txBox="1"/>
          <p:nvPr/>
        </p:nvSpPr>
        <p:spPr>
          <a:xfrm>
            <a:off x="6876288" y="2148840"/>
            <a:ext cx="1783080" cy="502920"/>
          </a:xfrm>
          <a:prstGeom prst="rect">
            <a:avLst/>
          </a:prstGeom>
          <a:noFill/>
          <a:ln/>
        </p:spPr>
        <p:txBody>
          <a:bodyPr wrap="square" lIns="0" tIns="0" rIns="0" bIns="0" rtlCol="0" anchor="t"/>
          <a:lstStyle/>
          <a:p>
            <a:pPr indent="0" marL="0">
              <a:buNone/>
            </a:pPr>
            <a:r>
              <a:rPr lang="en-US" sz="1150" dirty="0">
                <a:solidFill>
                  <a:srgbClr val="52605A"/>
                </a:solidFill>
                <a:latin typeface="Calibri" pitchFamily="34" charset="0"/>
                <a:ea typeface="Calibri" pitchFamily="34" charset="-122"/>
                <a:cs typeface="Calibri" pitchFamily="34" charset="-120"/>
              </a:rPr>
              <a:t>Campanha &amp; Rótulos: voo e autorização</a:t>
            </a:r>
            <a:endParaRPr lang="en-US" sz="1150" dirty="0"/>
          </a:p>
        </p:txBody>
      </p:sp>
      <p:sp>
        <p:nvSpPr>
          <p:cNvPr id="25" name="Shape 22"/>
          <p:cNvSpPr/>
          <p:nvPr/>
        </p:nvSpPr>
        <p:spPr>
          <a:xfrm>
            <a:off x="1508760" y="2926080"/>
            <a:ext cx="1965960" cy="1463040"/>
          </a:xfrm>
          <a:prstGeom prst="roundRect">
            <a:avLst>
              <a:gd name="adj" fmla="val 5000"/>
            </a:avLst>
          </a:prstGeom>
          <a:solidFill>
            <a:srgbClr val="EEF3EF"/>
          </a:solidFill>
          <a:ln w="12700">
            <a:solidFill>
              <a:srgbClr val="EEF3EF"/>
            </a:solidFill>
            <a:prstDash val="solid"/>
          </a:ln>
        </p:spPr>
      </p:sp>
      <p:sp>
        <p:nvSpPr>
          <p:cNvPr id="26" name="Shape 23"/>
          <p:cNvSpPr/>
          <p:nvPr/>
        </p:nvSpPr>
        <p:spPr>
          <a:xfrm>
            <a:off x="1618488" y="3035808"/>
            <a:ext cx="384048" cy="384048"/>
          </a:xfrm>
          <a:prstGeom prst="ellipse">
            <a:avLst/>
          </a:prstGeom>
          <a:solidFill>
            <a:srgbClr val="2F6B4F"/>
          </a:solidFill>
          <a:ln w="12700">
            <a:solidFill>
              <a:srgbClr val="2F6B4F"/>
            </a:solidFill>
            <a:prstDash val="solid"/>
          </a:ln>
        </p:spPr>
      </p:sp>
      <p:sp>
        <p:nvSpPr>
          <p:cNvPr id="27" name="Text 24"/>
          <p:cNvSpPr txBox="1"/>
          <p:nvPr/>
        </p:nvSpPr>
        <p:spPr>
          <a:xfrm>
            <a:off x="1618488" y="30358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5"/>
          <p:cNvSpPr txBox="1"/>
          <p:nvPr/>
        </p:nvSpPr>
        <p:spPr>
          <a:xfrm>
            <a:off x="1618488" y="3520440"/>
            <a:ext cx="1783080" cy="320040"/>
          </a:xfrm>
          <a:prstGeom prst="rect">
            <a:avLst/>
          </a:prstGeom>
          <a:noFill/>
          <a:ln/>
        </p:spPr>
        <p:txBody>
          <a:bodyPr wrap="square" lIns="0" tIns="0" rIns="0" bIns="0" rtlCol="0" anchor="t"/>
          <a:lstStyle/>
          <a:p>
            <a:pPr indent="0" marL="0">
              <a:buNone/>
            </a:pPr>
            <a:r>
              <a:rPr lang="en-US" sz="1250" b="1" dirty="0">
                <a:solidFill>
                  <a:srgbClr val="1B2A22"/>
                </a:solidFill>
                <a:latin typeface="Cambria" pitchFamily="34" charset="0"/>
                <a:ea typeface="Cambria" pitchFamily="34" charset="-122"/>
                <a:cs typeface="Cambria" pitchFamily="34" charset="-120"/>
              </a:rPr>
              <a:t>Campo</a:t>
            </a:r>
            <a:endParaRPr lang="en-US" sz="1250" dirty="0"/>
          </a:p>
        </p:txBody>
      </p:sp>
      <p:sp>
        <p:nvSpPr>
          <p:cNvPr id="29" name="Text 26"/>
          <p:cNvSpPr txBox="1"/>
          <p:nvPr/>
        </p:nvSpPr>
        <p:spPr>
          <a:xfrm>
            <a:off x="1618488" y="3840480"/>
            <a:ext cx="1783080" cy="502920"/>
          </a:xfrm>
          <a:prstGeom prst="rect">
            <a:avLst/>
          </a:prstGeom>
          <a:noFill/>
          <a:ln/>
        </p:spPr>
        <p:txBody>
          <a:bodyPr wrap="square" lIns="0" tIns="0" rIns="0" bIns="0" rtlCol="0" anchor="t"/>
          <a:lstStyle/>
          <a:p>
            <a:pPr indent="0" marL="0">
              <a:buNone/>
            </a:pPr>
            <a:r>
              <a:rPr lang="en-US" sz="1150" dirty="0">
                <a:solidFill>
                  <a:srgbClr val="52605A"/>
                </a:solidFill>
                <a:latin typeface="Calibri" pitchFamily="34" charset="0"/>
                <a:ea typeface="Calibri" pitchFamily="34" charset="-122"/>
                <a:cs typeface="Calibri" pitchFamily="34" charset="-120"/>
              </a:rPr>
              <a:t>SAREL Coletor (Android)</a:t>
            </a:r>
            <a:endParaRPr lang="en-US" sz="1150" dirty="0"/>
          </a:p>
        </p:txBody>
      </p:sp>
      <p:sp>
        <p:nvSpPr>
          <p:cNvPr id="30" name="Shape 27"/>
          <p:cNvSpPr/>
          <p:nvPr/>
        </p:nvSpPr>
        <p:spPr>
          <a:xfrm>
            <a:off x="3611880" y="2926080"/>
            <a:ext cx="1965960" cy="1463040"/>
          </a:xfrm>
          <a:prstGeom prst="roundRect">
            <a:avLst>
              <a:gd name="adj" fmla="val 5000"/>
            </a:avLst>
          </a:prstGeom>
          <a:solidFill>
            <a:srgbClr val="EEF3EF"/>
          </a:solidFill>
          <a:ln w="12700">
            <a:solidFill>
              <a:srgbClr val="EEF3EF"/>
            </a:solidFill>
            <a:prstDash val="solid"/>
          </a:ln>
        </p:spPr>
      </p:sp>
      <p:sp>
        <p:nvSpPr>
          <p:cNvPr id="31" name="Shape 28"/>
          <p:cNvSpPr/>
          <p:nvPr/>
        </p:nvSpPr>
        <p:spPr>
          <a:xfrm>
            <a:off x="3721608" y="3035808"/>
            <a:ext cx="384048" cy="384048"/>
          </a:xfrm>
          <a:prstGeom prst="ellipse">
            <a:avLst/>
          </a:prstGeom>
          <a:solidFill>
            <a:srgbClr val="2F6B4F"/>
          </a:solidFill>
          <a:ln w="12700">
            <a:solidFill>
              <a:srgbClr val="2F6B4F"/>
            </a:solidFill>
            <a:prstDash val="solid"/>
          </a:ln>
        </p:spPr>
      </p:sp>
      <p:sp>
        <p:nvSpPr>
          <p:cNvPr id="32" name="Text 29"/>
          <p:cNvSpPr txBox="1"/>
          <p:nvPr/>
        </p:nvSpPr>
        <p:spPr>
          <a:xfrm>
            <a:off x="3721608" y="30358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3" name="Text 30"/>
          <p:cNvSpPr txBox="1"/>
          <p:nvPr/>
        </p:nvSpPr>
        <p:spPr>
          <a:xfrm>
            <a:off x="3721608" y="3520440"/>
            <a:ext cx="1783080" cy="320040"/>
          </a:xfrm>
          <a:prstGeom prst="rect">
            <a:avLst/>
          </a:prstGeom>
          <a:noFill/>
          <a:ln/>
        </p:spPr>
        <p:txBody>
          <a:bodyPr wrap="square" lIns="0" tIns="0" rIns="0" bIns="0" rtlCol="0" anchor="t"/>
          <a:lstStyle/>
          <a:p>
            <a:pPr indent="0" marL="0">
              <a:buNone/>
            </a:pPr>
            <a:r>
              <a:rPr lang="en-US" sz="1250" b="1" dirty="0">
                <a:solidFill>
                  <a:srgbClr val="1B2A22"/>
                </a:solidFill>
                <a:latin typeface="Cambria" pitchFamily="34" charset="0"/>
                <a:ea typeface="Cambria" pitchFamily="34" charset="-122"/>
                <a:cs typeface="Cambria" pitchFamily="34" charset="-120"/>
              </a:rPr>
              <a:t>Matriz</a:t>
            </a:r>
            <a:endParaRPr lang="en-US" sz="1250" dirty="0"/>
          </a:p>
        </p:txBody>
      </p:sp>
      <p:sp>
        <p:nvSpPr>
          <p:cNvPr id="34" name="Text 31"/>
          <p:cNvSpPr txBox="1"/>
          <p:nvPr/>
        </p:nvSpPr>
        <p:spPr>
          <a:xfrm>
            <a:off x="3721608" y="3840480"/>
            <a:ext cx="1783080" cy="502920"/>
          </a:xfrm>
          <a:prstGeom prst="rect">
            <a:avLst/>
          </a:prstGeom>
          <a:noFill/>
          <a:ln/>
        </p:spPr>
        <p:txBody>
          <a:bodyPr wrap="square" lIns="0" tIns="0" rIns="0" bIns="0" rtlCol="0" anchor="t"/>
          <a:lstStyle/>
          <a:p>
            <a:pPr indent="0" marL="0">
              <a:buNone/>
            </a:pPr>
            <a:r>
              <a:rPr lang="en-US" sz="1150" dirty="0">
                <a:solidFill>
                  <a:srgbClr val="52605A"/>
                </a:solidFill>
                <a:latin typeface="Calibri" pitchFamily="34" charset="0"/>
                <a:ea typeface="Calibri" pitchFamily="34" charset="-122"/>
                <a:cs typeface="Calibri" pitchFamily="34" charset="-120"/>
              </a:rPr>
              <a:t>Matriz de Treino</a:t>
            </a:r>
            <a:endParaRPr lang="en-US" sz="1150" dirty="0"/>
          </a:p>
        </p:txBody>
      </p:sp>
      <p:sp>
        <p:nvSpPr>
          <p:cNvPr id="35" name="Shape 32"/>
          <p:cNvSpPr/>
          <p:nvPr/>
        </p:nvSpPr>
        <p:spPr>
          <a:xfrm>
            <a:off x="5715000" y="2926080"/>
            <a:ext cx="1965960" cy="1463040"/>
          </a:xfrm>
          <a:prstGeom prst="roundRect">
            <a:avLst>
              <a:gd name="adj" fmla="val 5000"/>
            </a:avLst>
          </a:prstGeom>
          <a:solidFill>
            <a:srgbClr val="EEF3EF"/>
          </a:solidFill>
          <a:ln w="12700">
            <a:solidFill>
              <a:srgbClr val="EEF3EF"/>
            </a:solidFill>
            <a:prstDash val="solid"/>
          </a:ln>
        </p:spPr>
      </p:sp>
      <p:sp>
        <p:nvSpPr>
          <p:cNvPr id="36" name="Shape 33"/>
          <p:cNvSpPr/>
          <p:nvPr/>
        </p:nvSpPr>
        <p:spPr>
          <a:xfrm>
            <a:off x="5824728" y="3035808"/>
            <a:ext cx="384048" cy="384048"/>
          </a:xfrm>
          <a:prstGeom prst="ellipse">
            <a:avLst/>
          </a:prstGeom>
          <a:solidFill>
            <a:srgbClr val="2F6B4F"/>
          </a:solidFill>
          <a:ln w="12700">
            <a:solidFill>
              <a:srgbClr val="2F6B4F"/>
            </a:solidFill>
            <a:prstDash val="solid"/>
          </a:ln>
        </p:spPr>
      </p:sp>
      <p:sp>
        <p:nvSpPr>
          <p:cNvPr id="37" name="Text 34"/>
          <p:cNvSpPr txBox="1"/>
          <p:nvPr/>
        </p:nvSpPr>
        <p:spPr>
          <a:xfrm>
            <a:off x="5824728" y="30358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8" name="Text 35"/>
          <p:cNvSpPr txBox="1"/>
          <p:nvPr/>
        </p:nvSpPr>
        <p:spPr>
          <a:xfrm>
            <a:off x="5824728" y="3520440"/>
            <a:ext cx="1783080" cy="320040"/>
          </a:xfrm>
          <a:prstGeom prst="rect">
            <a:avLst/>
          </a:prstGeom>
          <a:noFill/>
          <a:ln/>
        </p:spPr>
        <p:txBody>
          <a:bodyPr wrap="square" lIns="0" tIns="0" rIns="0" bIns="0" rtlCol="0" anchor="t"/>
          <a:lstStyle/>
          <a:p>
            <a:pPr indent="0" marL="0">
              <a:buNone/>
            </a:pPr>
            <a:r>
              <a:rPr lang="en-US" sz="1250" b="1" dirty="0">
                <a:solidFill>
                  <a:srgbClr val="1B2A22"/>
                </a:solidFill>
                <a:latin typeface="Cambria" pitchFamily="34" charset="0"/>
                <a:ea typeface="Cambria" pitchFamily="34" charset="-122"/>
                <a:cs typeface="Cambria" pitchFamily="34" charset="-120"/>
              </a:rPr>
              <a:t>Pacote</a:t>
            </a:r>
            <a:endParaRPr lang="en-US" sz="1250" dirty="0"/>
          </a:p>
        </p:txBody>
      </p:sp>
      <p:sp>
        <p:nvSpPr>
          <p:cNvPr id="39" name="Text 36"/>
          <p:cNvSpPr txBox="1"/>
          <p:nvPr/>
        </p:nvSpPr>
        <p:spPr>
          <a:xfrm>
            <a:off x="5824728" y="3840480"/>
            <a:ext cx="1783080" cy="502920"/>
          </a:xfrm>
          <a:prstGeom prst="rect">
            <a:avLst/>
          </a:prstGeom>
          <a:noFill/>
          <a:ln/>
        </p:spPr>
        <p:txBody>
          <a:bodyPr wrap="square" lIns="0" tIns="0" rIns="0" bIns="0" rtlCol="0" anchor="t"/>
          <a:lstStyle/>
          <a:p>
            <a:pPr indent="0" marL="0">
              <a:buNone/>
            </a:pPr>
            <a:r>
              <a:rPr lang="en-US" sz="1150" dirty="0">
                <a:solidFill>
                  <a:srgbClr val="52605A"/>
                </a:solidFill>
                <a:latin typeface="Calibri" pitchFamily="34" charset="0"/>
                <a:ea typeface="Calibri" pitchFamily="34" charset="-122"/>
                <a:cs typeface="Calibri" pitchFamily="34" charset="-120"/>
              </a:rPr>
              <a:t>Exportar (ZIP e verificador)</a:t>
            </a:r>
            <a:endParaRPr lang="en-US" sz="1150" dirty="0"/>
          </a:p>
        </p:txBody>
      </p:sp>
      <p:sp>
        <p:nvSpPr>
          <p:cNvPr id="40" name="Text 37"/>
          <p:cNvSpPr txBox="1"/>
          <p:nvPr/>
        </p:nvSpPr>
        <p:spPr>
          <a:xfrm>
            <a:off x="457200" y="4526280"/>
            <a:ext cx="7863840" cy="274320"/>
          </a:xfrm>
          <a:prstGeom prst="rect">
            <a:avLst/>
          </a:prstGeom>
          <a:noFill/>
          <a:ln/>
        </p:spPr>
        <p:txBody>
          <a:bodyPr wrap="square" lIns="0" tIns="0" rIns="0" bIns="0" rtlCol="0" anchor="t"/>
          <a:lstStyle/>
          <a:p>
            <a:pPr indent="0" marL="0">
              <a:buNone/>
            </a:pPr>
            <a:r>
              <a:rPr lang="en-US" sz="1200" i="1" dirty="0">
                <a:solidFill>
                  <a:srgbClr val="C65D3B"/>
                </a:solidFill>
                <a:latin typeface="Calibri" pitchFamily="34" charset="0"/>
                <a:ea typeface="Calibri" pitchFamily="34" charset="-122"/>
                <a:cs typeface="Calibri" pitchFamily="34" charset="-120"/>
              </a:rPr>
              <a:t>Governança (decisões, diagnóstico e logs) acompanha todas as etapas.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 1: conexão e área de estudo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sp>
        <p:nvSpPr>
          <p:cNvPr id="5" name="Shape 2"/>
          <p:cNvSpPr/>
          <p:nvPr/>
        </p:nvSpPr>
        <p:spPr>
          <a:xfrm>
            <a:off x="438912" y="1033272"/>
            <a:ext cx="4059936" cy="2728677"/>
          </a:xfrm>
          <a:prstGeom prst="rect">
            <a:avLst/>
          </a:prstGeom>
          <a:solidFill>
            <a:srgbClr val="FFFFFF"/>
          </a:solidFill>
          <a:ln w="9525">
            <a:solidFill>
              <a:srgbClr val="B8C4BC"/>
            </a:solidFill>
            <a:prstDash val="solid"/>
          </a:ln>
        </p:spPr>
      </p:sp>
      <p:pic>
        <p:nvPicPr>
          <p:cNvPr id="6" name="Image 0" descr="img/conexao.png">    </p:cNvPr>
          <p:cNvPicPr>
            <a:picLocks noChangeAspect="1"/>
          </p:cNvPicPr>
          <p:nvPr/>
        </p:nvPicPr>
        <p:blipFill>
          <a:blip r:embed="rId1"/>
          <a:stretch>
            <a:fillRect/>
          </a:stretch>
        </p:blipFill>
        <p:spPr>
          <a:xfrm>
            <a:off x="457200" y="1051560"/>
            <a:ext cx="4023360" cy="2692101"/>
          </a:xfrm>
          <a:prstGeom prst="rect">
            <a:avLst/>
          </a:prstGeom>
        </p:spPr>
      </p:pic>
      <p:sp>
        <p:nvSpPr>
          <p:cNvPr id="7" name="Shape 3"/>
          <p:cNvSpPr/>
          <p:nvPr/>
        </p:nvSpPr>
        <p:spPr>
          <a:xfrm>
            <a:off x="4645152" y="1033272"/>
            <a:ext cx="3790429" cy="2779776"/>
          </a:xfrm>
          <a:prstGeom prst="rect">
            <a:avLst/>
          </a:prstGeom>
          <a:solidFill>
            <a:srgbClr val="FFFFFF"/>
          </a:solidFill>
          <a:ln w="9525">
            <a:solidFill>
              <a:srgbClr val="B8C4BC"/>
            </a:solidFill>
            <a:prstDash val="solid"/>
          </a:ln>
        </p:spPr>
      </p:sp>
      <p:pic>
        <p:nvPicPr>
          <p:cNvPr id="8" name="Image 1" descr="img/aoi.png">    </p:cNvPr>
          <p:cNvPicPr>
            <a:picLocks noChangeAspect="1"/>
          </p:cNvPicPr>
          <p:nvPr/>
        </p:nvPicPr>
        <p:blipFill>
          <a:blip r:embed="rId2"/>
          <a:stretch>
            <a:fillRect/>
          </a:stretch>
        </p:blipFill>
        <p:spPr>
          <a:xfrm>
            <a:off x="4663440" y="1051560"/>
            <a:ext cx="3753853" cy="2743200"/>
          </a:xfrm>
          <a:prstGeom prst="rect">
            <a:avLst/>
          </a:prstGeom>
        </p:spPr>
      </p:pic>
      <p:sp>
        <p:nvSpPr>
          <p:cNvPr id="9" name="Text 4"/>
          <p:cNvSpPr txBox="1"/>
          <p:nvPr/>
        </p:nvSpPr>
        <p:spPr>
          <a:xfrm>
            <a:off x="457200" y="3886200"/>
            <a:ext cx="4023360" cy="41148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Conexão &amp; Chaves: Service Account do GEE, carregada pela tela.</a:t>
            </a:r>
            <a:endParaRPr lang="en-US" sz="1100" dirty="0"/>
          </a:p>
        </p:txBody>
      </p:sp>
      <p:sp>
        <p:nvSpPr>
          <p:cNvPr id="10" name="Text 5"/>
          <p:cNvSpPr txBox="1"/>
          <p:nvPr/>
        </p:nvSpPr>
        <p:spPr>
          <a:xfrm>
            <a:off x="4663440" y="3886200"/>
            <a:ext cx="4023360" cy="41148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Seletor de área: estado, município, microbacia ou polígono importado.</a:t>
            </a:r>
            <a:endParaRPr lang="en-US" sz="1100" dirty="0"/>
          </a:p>
        </p:txBody>
      </p:sp>
      <p:sp>
        <p:nvSpPr>
          <p:cNvPr id="11" name="Text 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Sem conexão ativa, o app recusa gerar pontos: não existe amostra sintética.</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 2: candidatos no Google Earth Engine</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sp>
        <p:nvSpPr>
          <p:cNvPr id="5" name="Shape 2"/>
          <p:cNvSpPr/>
          <p:nvPr/>
        </p:nvSpPr>
        <p:spPr>
          <a:xfrm>
            <a:off x="438912" y="987552"/>
            <a:ext cx="4242816" cy="2628362"/>
          </a:xfrm>
          <a:prstGeom prst="rect">
            <a:avLst/>
          </a:prstGeom>
          <a:solidFill>
            <a:srgbClr val="FFFFFF"/>
          </a:solidFill>
          <a:ln w="9525">
            <a:solidFill>
              <a:srgbClr val="B8C4BC"/>
            </a:solidFill>
            <a:prstDash val="solid"/>
          </a:ln>
        </p:spPr>
      </p:sp>
      <p:pic>
        <p:nvPicPr>
          <p:cNvPr id="6" name="Image 0" descr="img/gee.png">    </p:cNvPr>
          <p:cNvPicPr>
            <a:picLocks noChangeAspect="1"/>
          </p:cNvPicPr>
          <p:nvPr/>
        </p:nvPicPr>
        <p:blipFill>
          <a:blip r:embed="rId1"/>
          <a:stretch>
            <a:fillRect/>
          </a:stretch>
        </p:blipFill>
        <p:spPr>
          <a:xfrm>
            <a:off x="457200" y="1005840"/>
            <a:ext cx="4206240" cy="2591786"/>
          </a:xfrm>
          <a:prstGeom prst="rect">
            <a:avLst/>
          </a:prstGeom>
        </p:spPr>
      </p:pic>
      <p:sp>
        <p:nvSpPr>
          <p:cNvPr id="7" name="Text 3"/>
          <p:cNvSpPr txBox="1"/>
          <p:nvPr/>
        </p:nvSpPr>
        <p:spPr>
          <a:xfrm>
            <a:off x="4937760" y="1097280"/>
            <a:ext cx="3840480" cy="31089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Declividade de 3 a 20% (relevo suave a ondulado)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Cobertura: pastagem e lavoura (WorldCover 10 m); solo exposto fica fora</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Concordância entre as duas épocas da cobertura</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Espaçamento geodésico mínimo de 1 km entre candidatos</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Elevação: Copernicus DEM GLO-30, a 30 m, sem reamostrar</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D07, D21, P02; Zanaga et al. (2021, 2022) ESA WorldCover; Drusch et al. (2012) Sentinel-2; SiBCS (Embrapa Solos, 2018).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 3: estratificação em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57200" y="1188720"/>
            <a:ext cx="2468880" cy="1463040"/>
          </a:xfrm>
          <a:prstGeom prst="roundRect">
            <a:avLst>
              <a:gd name="adj" fmla="val 5000"/>
            </a:avLst>
          </a:prstGeom>
          <a:solidFill>
            <a:srgbClr val="EEF3EF"/>
          </a:solidFill>
          <a:ln w="12700">
            <a:solidFill>
              <a:srgbClr val="EEF3EF"/>
            </a:solidFill>
            <a:prstDash val="solid"/>
          </a:ln>
        </p:spPr>
      </p:sp>
      <p:sp>
        <p:nvSpPr>
          <p:cNvPr id="6" name="Text 3"/>
          <p:cNvSpPr txBox="1"/>
          <p:nvPr/>
        </p:nvSpPr>
        <p:spPr>
          <a:xfrm>
            <a:off x="457200" y="1261872"/>
            <a:ext cx="2468880" cy="640080"/>
          </a:xfrm>
          <a:prstGeom prst="rect">
            <a:avLst/>
          </a:prstGeom>
          <a:noFill/>
          <a:ln/>
        </p:spPr>
        <p:txBody>
          <a:bodyPr wrap="square" lIns="0" tIns="0" rIns="0" bIns="0" rtlCol="0" anchor="t"/>
          <a:lstStyle/>
          <a:p>
            <a:pPr algn="ctr" indent="0" marL="0">
              <a:buNone/>
            </a:pPr>
            <a:r>
              <a:rPr lang="en-US" sz="2800" b="1" dirty="0">
                <a:solidFill>
                  <a:srgbClr val="2F6B4F"/>
                </a:solidFill>
                <a:latin typeface="Cambria" pitchFamily="34" charset="0"/>
                <a:ea typeface="Cambria" pitchFamily="34" charset="-122"/>
                <a:cs typeface="Cambria" pitchFamily="34" charset="-120"/>
              </a:rPr>
              <a:t>3</a:t>
            </a:r>
            <a:endParaRPr lang="en-US" sz="2800" dirty="0"/>
          </a:p>
        </p:txBody>
      </p:sp>
      <p:sp>
        <p:nvSpPr>
          <p:cNvPr id="7" name="Text 4"/>
          <p:cNvSpPr txBox="1"/>
          <p:nvPr/>
        </p:nvSpPr>
        <p:spPr>
          <a:xfrm>
            <a:off x="457200" y="1920240"/>
            <a:ext cx="2468880" cy="320040"/>
          </a:xfrm>
          <a:prstGeom prst="rect">
            <a:avLst/>
          </a:prstGeom>
          <a:noFill/>
          <a:ln/>
        </p:spPr>
        <p:txBody>
          <a:bodyPr wrap="square" lIns="0" tIns="0" rIns="0" bIns="0" rtlCol="0" anchor="t"/>
          <a:lstStyle/>
          <a:p>
            <a:pPr algn="ctr" indent="0" marL="0">
              <a:buNone/>
            </a:pPr>
            <a:r>
              <a:rPr lang="en-US" sz="1400" b="1" dirty="0">
                <a:solidFill>
                  <a:srgbClr val="1B2A22"/>
                </a:solidFill>
                <a:latin typeface="Calibri" pitchFamily="34" charset="0"/>
                <a:ea typeface="Calibri" pitchFamily="34" charset="-122"/>
                <a:cs typeface="Calibri" pitchFamily="34" charset="-120"/>
              </a:rPr>
              <a:t>tercis de declividade</a:t>
            </a:r>
            <a:endParaRPr lang="en-US" sz="1400" dirty="0"/>
          </a:p>
        </p:txBody>
      </p:sp>
      <p:sp>
        <p:nvSpPr>
          <p:cNvPr id="8" name="Text 5"/>
          <p:cNvSpPr txBox="1"/>
          <p:nvPr/>
        </p:nvSpPr>
        <p:spPr>
          <a:xfrm>
            <a:off x="457200" y="2240280"/>
            <a:ext cx="2468880" cy="320040"/>
          </a:xfrm>
          <a:prstGeom prst="rect">
            <a:avLst/>
          </a:prstGeom>
          <a:noFill/>
          <a:ln/>
        </p:spPr>
        <p:txBody>
          <a:bodyPr wrap="square" lIns="0" tIns="0" rIns="0" bIns="0" rtlCol="0" anchor="t"/>
          <a:lstStyle/>
          <a:p>
            <a:pPr algn="ctr" indent="0" marL="0">
              <a:buNone/>
            </a:pPr>
            <a:r>
              <a:rPr lang="en-US" sz="1200" dirty="0">
                <a:solidFill>
                  <a:srgbClr val="52605A"/>
                </a:solidFill>
                <a:latin typeface="Calibri" pitchFamily="34" charset="0"/>
                <a:ea typeface="Calibri" pitchFamily="34" charset="-122"/>
                <a:cs typeface="Calibri" pitchFamily="34" charset="-120"/>
              </a:rPr>
              <a:t>energia do relevo</a:t>
            </a:r>
            <a:endParaRPr lang="en-US" sz="1200" dirty="0"/>
          </a:p>
        </p:txBody>
      </p:sp>
      <p:sp>
        <p:nvSpPr>
          <p:cNvPr id="9" name="Text 6"/>
          <p:cNvSpPr txBox="1"/>
          <p:nvPr/>
        </p:nvSpPr>
        <p:spPr>
          <a:xfrm>
            <a:off x="2926080" y="160020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1188720"/>
            <a:ext cx="2468880" cy="1463040"/>
          </a:xfrm>
          <a:prstGeom prst="roundRect">
            <a:avLst>
              <a:gd name="adj" fmla="val 5000"/>
            </a:avLst>
          </a:prstGeom>
          <a:solidFill>
            <a:srgbClr val="EEF3EF"/>
          </a:solidFill>
          <a:ln w="12700">
            <a:solidFill>
              <a:srgbClr val="EEF3EF"/>
            </a:solidFill>
            <a:prstDash val="solid"/>
          </a:ln>
        </p:spPr>
      </p:sp>
      <p:sp>
        <p:nvSpPr>
          <p:cNvPr id="11" name="Text 8"/>
          <p:cNvSpPr txBox="1"/>
          <p:nvPr/>
        </p:nvSpPr>
        <p:spPr>
          <a:xfrm>
            <a:off x="3291840" y="1261872"/>
            <a:ext cx="2468880" cy="640080"/>
          </a:xfrm>
          <a:prstGeom prst="rect">
            <a:avLst/>
          </a:prstGeom>
          <a:noFill/>
          <a:ln/>
        </p:spPr>
        <p:txBody>
          <a:bodyPr wrap="square" lIns="0" tIns="0" rIns="0" bIns="0" rtlCol="0" anchor="t"/>
          <a:lstStyle/>
          <a:p>
            <a:pPr algn="ctr" indent="0" marL="0">
              <a:buNone/>
            </a:pPr>
            <a:r>
              <a:rPr lang="en-US" sz="2800" b="1" dirty="0">
                <a:solidFill>
                  <a:srgbClr val="2F6B4F"/>
                </a:solidFill>
                <a:latin typeface="Cambria" pitchFamily="34" charset="0"/>
                <a:ea typeface="Cambria" pitchFamily="34" charset="-122"/>
                <a:cs typeface="Cambria" pitchFamily="34" charset="-120"/>
              </a:rPr>
              <a:t>3</a:t>
            </a:r>
            <a:endParaRPr lang="en-US" sz="2800" dirty="0"/>
          </a:p>
        </p:txBody>
      </p:sp>
      <p:sp>
        <p:nvSpPr>
          <p:cNvPr id="12" name="Text 9"/>
          <p:cNvSpPr txBox="1"/>
          <p:nvPr/>
        </p:nvSpPr>
        <p:spPr>
          <a:xfrm>
            <a:off x="3291840" y="1920240"/>
            <a:ext cx="2468880" cy="320040"/>
          </a:xfrm>
          <a:prstGeom prst="rect">
            <a:avLst/>
          </a:prstGeom>
          <a:noFill/>
          <a:ln/>
        </p:spPr>
        <p:txBody>
          <a:bodyPr wrap="square" lIns="0" tIns="0" rIns="0" bIns="0" rtlCol="0" anchor="t"/>
          <a:lstStyle/>
          <a:p>
            <a:pPr algn="ctr" indent="0" marL="0">
              <a:buNone/>
            </a:pPr>
            <a:r>
              <a:rPr lang="en-US" sz="1400" b="1" dirty="0">
                <a:solidFill>
                  <a:srgbClr val="1B2A22"/>
                </a:solidFill>
                <a:latin typeface="Calibri" pitchFamily="34" charset="0"/>
                <a:ea typeface="Calibri" pitchFamily="34" charset="-122"/>
                <a:cs typeface="Calibri" pitchFamily="34" charset="-120"/>
              </a:rPr>
              <a:t>tercis de solo nu</a:t>
            </a:r>
            <a:endParaRPr lang="en-US" sz="1400" dirty="0"/>
          </a:p>
        </p:txBody>
      </p:sp>
      <p:sp>
        <p:nvSpPr>
          <p:cNvPr id="13" name="Text 10"/>
          <p:cNvSpPr txBox="1"/>
          <p:nvPr/>
        </p:nvSpPr>
        <p:spPr>
          <a:xfrm>
            <a:off x="3291840" y="2240280"/>
            <a:ext cx="2468880" cy="320040"/>
          </a:xfrm>
          <a:prstGeom prst="rect">
            <a:avLst/>
          </a:prstGeom>
          <a:noFill/>
          <a:ln/>
        </p:spPr>
        <p:txBody>
          <a:bodyPr wrap="square" lIns="0" tIns="0" rIns="0" bIns="0" rtlCol="0" anchor="t"/>
          <a:lstStyle/>
          <a:p>
            <a:pPr algn="ctr" indent="0" marL="0">
              <a:buNone/>
            </a:pPr>
            <a:r>
              <a:rPr lang="en-US" sz="1200" dirty="0">
                <a:solidFill>
                  <a:srgbClr val="52605A"/>
                </a:solidFill>
                <a:latin typeface="Calibri" pitchFamily="34" charset="0"/>
                <a:ea typeface="Calibri" pitchFamily="34" charset="-122"/>
                <a:cs typeface="Calibri" pitchFamily="34" charset="-120"/>
              </a:rPr>
              <a:t>tempo de solo descoberto</a:t>
            </a:r>
            <a:endParaRPr lang="en-US" sz="1200" dirty="0"/>
          </a:p>
        </p:txBody>
      </p:sp>
      <p:sp>
        <p:nvSpPr>
          <p:cNvPr id="14" name="Text 11"/>
          <p:cNvSpPr txBox="1"/>
          <p:nvPr/>
        </p:nvSpPr>
        <p:spPr>
          <a:xfrm>
            <a:off x="5760720" y="160020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1188720"/>
            <a:ext cx="2468880" cy="1463040"/>
          </a:xfrm>
          <a:prstGeom prst="roundRect">
            <a:avLst>
              <a:gd name="adj" fmla="val 5000"/>
            </a:avLst>
          </a:prstGeom>
          <a:solidFill>
            <a:srgbClr val="EEF3EF"/>
          </a:solidFill>
          <a:ln w="12700">
            <a:solidFill>
              <a:srgbClr val="EEF3EF"/>
            </a:solidFill>
            <a:prstDash val="solid"/>
          </a:ln>
        </p:spPr>
      </p:sp>
      <p:sp>
        <p:nvSpPr>
          <p:cNvPr id="16" name="Text 13"/>
          <p:cNvSpPr txBox="1"/>
          <p:nvPr/>
        </p:nvSpPr>
        <p:spPr>
          <a:xfrm>
            <a:off x="6126480" y="1261872"/>
            <a:ext cx="2468880" cy="640080"/>
          </a:xfrm>
          <a:prstGeom prst="rect">
            <a:avLst/>
          </a:prstGeom>
          <a:noFill/>
          <a:ln/>
        </p:spPr>
        <p:txBody>
          <a:bodyPr wrap="square" lIns="0" tIns="0" rIns="0" bIns="0" rtlCol="0" anchor="t"/>
          <a:lstStyle/>
          <a:p>
            <a:pPr algn="ctr" indent="0" marL="0">
              <a:buNone/>
            </a:pPr>
            <a:r>
              <a:rPr lang="en-US" sz="2800" b="1" dirty="0">
                <a:solidFill>
                  <a:srgbClr val="2F6B4F"/>
                </a:solidFill>
                <a:latin typeface="Cambria" pitchFamily="34" charset="0"/>
                <a:ea typeface="Cambria" pitchFamily="34" charset="-122"/>
                <a:cs typeface="Cambria" pitchFamily="34" charset="-120"/>
              </a:rPr>
              <a:t>2</a:t>
            </a:r>
            <a:endParaRPr lang="en-US" sz="2800" dirty="0"/>
          </a:p>
        </p:txBody>
      </p:sp>
      <p:sp>
        <p:nvSpPr>
          <p:cNvPr id="17" name="Text 14"/>
          <p:cNvSpPr txBox="1"/>
          <p:nvPr/>
        </p:nvSpPr>
        <p:spPr>
          <a:xfrm>
            <a:off x="6126480" y="1920240"/>
            <a:ext cx="2468880" cy="320040"/>
          </a:xfrm>
          <a:prstGeom prst="rect">
            <a:avLst/>
          </a:prstGeom>
          <a:noFill/>
          <a:ln/>
        </p:spPr>
        <p:txBody>
          <a:bodyPr wrap="square" lIns="0" tIns="0" rIns="0" bIns="0" rtlCol="0" anchor="t"/>
          <a:lstStyle/>
          <a:p>
            <a:pPr algn="ctr" indent="0" marL="0">
              <a:buNone/>
            </a:pPr>
            <a:r>
              <a:rPr lang="en-US" sz="1400" b="1" dirty="0">
                <a:solidFill>
                  <a:srgbClr val="1B2A22"/>
                </a:solidFill>
                <a:latin typeface="Calibri" pitchFamily="34" charset="0"/>
                <a:ea typeface="Calibri" pitchFamily="34" charset="-122"/>
                <a:cs typeface="Calibri" pitchFamily="34" charset="-120"/>
              </a:rPr>
              <a:t>níveis de erodibilidade</a:t>
            </a:r>
            <a:endParaRPr lang="en-US" sz="1400" dirty="0"/>
          </a:p>
        </p:txBody>
      </p:sp>
      <p:sp>
        <p:nvSpPr>
          <p:cNvPr id="18" name="Text 15"/>
          <p:cNvSpPr txBox="1"/>
          <p:nvPr/>
        </p:nvSpPr>
        <p:spPr>
          <a:xfrm>
            <a:off x="6126480" y="2240280"/>
            <a:ext cx="2468880" cy="320040"/>
          </a:xfrm>
          <a:prstGeom prst="rect">
            <a:avLst/>
          </a:prstGeom>
          <a:noFill/>
          <a:ln/>
        </p:spPr>
        <p:txBody>
          <a:bodyPr wrap="square" lIns="0" tIns="0" rIns="0" bIns="0" rtlCol="0" anchor="t"/>
          <a:lstStyle/>
          <a:p>
            <a:pPr algn="ctr" indent="0" marL="0">
              <a:buNone/>
            </a:pPr>
            <a:r>
              <a:rPr lang="en-US" sz="1200" dirty="0">
                <a:solidFill>
                  <a:srgbClr val="52605A"/>
                </a:solidFill>
                <a:latin typeface="Calibri" pitchFamily="34" charset="0"/>
                <a:ea typeface="Calibri" pitchFamily="34" charset="-122"/>
                <a:cs typeface="Calibri" pitchFamily="34" charset="-120"/>
              </a:rPr>
              <a:t>suscetibilidade do solo</a:t>
            </a:r>
            <a:endParaRPr lang="en-US" sz="1200" dirty="0"/>
          </a:p>
        </p:txBody>
      </p:sp>
      <p:sp>
        <p:nvSpPr>
          <p:cNvPr id="19" name="Text 16"/>
          <p:cNvSpPr txBox="1"/>
          <p:nvPr/>
        </p:nvSpPr>
        <p:spPr>
          <a:xfrm>
            <a:off x="457200" y="2926080"/>
            <a:ext cx="8229600" cy="457200"/>
          </a:xfrm>
          <a:prstGeom prst="rect">
            <a:avLst/>
          </a:prstGeom>
          <a:noFill/>
          <a:ln/>
        </p:spPr>
        <p:txBody>
          <a:bodyPr wrap="square" lIns="0" tIns="0" rIns="0" bIns="0" rtlCol="0" anchor="t"/>
          <a:lstStyle/>
          <a:p>
            <a:pPr indent="0" marL="0">
              <a:buNone/>
            </a:pPr>
            <a:r>
              <a:rPr lang="en-US" sz="1800" dirty="0">
                <a:solidFill>
                  <a:srgbClr val="1B2A22"/>
                </a:solidFill>
                <a:latin typeface="Cambria" pitchFamily="34" charset="0"/>
                <a:ea typeface="Cambria" pitchFamily="34" charset="-122"/>
                <a:cs typeface="Cambria" pitchFamily="34" charset="-120"/>
              </a:rPr>
              <a:t>= 18 estratos, com 4 polígonos por estrato: 2 para treino e 2 para held-out</a:t>
            </a:r>
            <a:endParaRPr lang="en-US" sz="1800" dirty="0"/>
          </a:p>
        </p:txBody>
      </p:sp>
      <p:sp>
        <p:nvSpPr>
          <p:cNvPr id="20" name="Text 17"/>
          <p:cNvSpPr txBox="1"/>
          <p:nvPr/>
        </p:nvSpPr>
        <p:spPr>
          <a:xfrm>
            <a:off x="457200" y="3520440"/>
            <a:ext cx="8229600" cy="10972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erodibilidade vem da carta de 2024 (Embrapa Solos, Documentos 246): nível 2 = classes alta, muito alta e extremamente alta (emenda de 19/10/2026 a D09, em registro)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frequência de solo nu é a fração de cenas válidas em que a célula aparece com solo exposto</a:t>
            </a:r>
            <a:endParaRPr lang="en-US" sz="1250" dirty="0"/>
          </a:p>
        </p:txBody>
      </p:sp>
      <p:sp>
        <p:nvSpPr>
          <p:cNvPr id="21" name="Text 1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1: poucos candidatos nos estratos de erodibilidade alta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14300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5 de 90</a:t>
            </a:r>
            <a:endParaRPr lang="en-US" sz="2200" dirty="0"/>
          </a:p>
        </p:txBody>
      </p:sp>
      <p:sp>
        <p:nvSpPr>
          <p:cNvPr id="7" name="Text 4"/>
          <p:cNvSpPr txBox="1"/>
          <p:nvPr/>
        </p:nvSpPr>
        <p:spPr>
          <a:xfrm>
            <a:off x="5486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candidatos em erodibilidade alta, dentro de 3 a 20% (medição de 29/09)</a:t>
            </a:r>
            <a:endParaRPr lang="en-US" sz="1100" dirty="0"/>
          </a:p>
        </p:txBody>
      </p:sp>
      <p:sp>
        <p:nvSpPr>
          <p:cNvPr id="8" name="Shape 5"/>
          <p:cNvSpPr/>
          <p:nvPr/>
        </p:nvSpPr>
        <p:spPr>
          <a:xfrm>
            <a:off x="2514600" y="114300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33</a:t>
            </a:r>
            <a:endParaRPr lang="en-US" sz="2200" dirty="0"/>
          </a:p>
        </p:txBody>
      </p:sp>
      <p:sp>
        <p:nvSpPr>
          <p:cNvPr id="10" name="Text 7"/>
          <p:cNvSpPr txBox="1"/>
          <p:nvPr/>
        </p:nvSpPr>
        <p:spPr>
          <a:xfrm>
            <a:off x="26060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extrapolação para os 593 imóveis do divisor (estimativa)</a:t>
            </a:r>
            <a:endParaRPr lang="en-US" sz="1100" dirty="0"/>
          </a:p>
        </p:txBody>
      </p:sp>
      <p:sp>
        <p:nvSpPr>
          <p:cNvPr id="11" name="Shape 8"/>
          <p:cNvSpPr/>
          <p:nvPr/>
        </p:nvSpPr>
        <p:spPr>
          <a:xfrm>
            <a:off x="4572000" y="114300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25272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36</a:t>
            </a:r>
            <a:endParaRPr lang="en-US" sz="2200" dirty="0"/>
          </a:p>
        </p:txBody>
      </p:sp>
      <p:sp>
        <p:nvSpPr>
          <p:cNvPr id="13" name="Text 10"/>
          <p:cNvSpPr txBox="1"/>
          <p:nvPr/>
        </p:nvSpPr>
        <p:spPr>
          <a:xfrm>
            <a:off x="46634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titulares exigidos hoje nesse nível: 9 estratos × 4</a:t>
            </a:r>
            <a:endParaRPr lang="en-US" sz="1100" dirty="0"/>
          </a:p>
        </p:txBody>
      </p:sp>
      <p:sp>
        <p:nvSpPr>
          <p:cNvPr id="14" name="Shape 11"/>
          <p:cNvSpPr/>
          <p:nvPr/>
        </p:nvSpPr>
        <p:spPr>
          <a:xfrm>
            <a:off x="6629400" y="1143000"/>
            <a:ext cx="201168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252728"/>
            <a:ext cx="20116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reservas</a:t>
            </a:r>
            <a:endParaRPr lang="en-US" sz="2200" dirty="0"/>
          </a:p>
        </p:txBody>
      </p:sp>
      <p:sp>
        <p:nvSpPr>
          <p:cNvPr id="16" name="Text 13"/>
          <p:cNvSpPr txBox="1"/>
          <p:nvPr/>
        </p:nvSpPr>
        <p:spPr>
          <a:xfrm>
            <a:off x="6720840" y="1856232"/>
            <a:ext cx="18288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para repor recusas, no mesmo selo</a:t>
            </a:r>
            <a:endParaRPr lang="en-US" sz="1100" dirty="0"/>
          </a:p>
        </p:txBody>
      </p:sp>
      <p:sp>
        <p:nvSpPr>
          <p:cNvPr id="17" name="Text 14"/>
          <p:cNvSpPr txBox="1"/>
          <p:nvPr/>
        </p:nvSpPr>
        <p:spPr>
          <a:xfrm>
            <a:off x="457200" y="2606040"/>
            <a:ext cx="8229600" cy="210312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É um indício, calculado sobre um artefato pequeno. O pool real ainda não foi medido.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 ferramenta de checagem do pool por estrato está pronta (somente leitura); falta rodá-la com os candidatos reais.</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Não se move o limiar físico de erodibilidade para acomodar a amostra: a decisão vem da fonte e da regra registrada.</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Respostas legítimas: ampliar a área de estudo, usar reservas ordenadas, ou declarar a limitação de potência naquele estrato.</a:t>
            </a:r>
            <a:endParaRPr lang="en-US" sz="1300" dirty="0"/>
          </a:p>
        </p:txBody>
      </p:sp>
      <p:sp>
        <p:nvSpPr>
          <p:cNvPr id="18" name="Text 15"/>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verificação de 29/09/2026 (docs/verificacoes); decisões D09, D12 e D16; ferramenta scripts/verificar_pool_estratos.ts.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2: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 5: sorteio selado e o problema da recusa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500" b="1" dirty="0">
                <a:solidFill>
                  <a:srgbClr val="2F6B4F"/>
                </a:solidFill>
                <a:latin typeface="Cambria" pitchFamily="34" charset="0"/>
                <a:ea typeface="Cambria" pitchFamily="34" charset="-122"/>
                <a:cs typeface="Cambria" pitchFamily="34" charset="-120"/>
              </a:rPr>
              <a:t>O que o selo registra</a:t>
            </a:r>
            <a:endParaRPr lang="en-US" sz="15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Semente do sorteio e commit do código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SHA-256 do conjunto de candidatos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Hash de integridade do resultado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Tabela reversa de códigos opacos, fora do Git</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de candidato sintético e de segunda execução</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500" b="1" dirty="0">
                <a:solidFill>
                  <a:srgbClr val="C65D3B"/>
                </a:solidFill>
                <a:latin typeface="Cambria" pitchFamily="34" charset="0"/>
                <a:ea typeface="Cambria" pitchFamily="34" charset="-122"/>
                <a:cs typeface="Cambria" pitchFamily="34" charset="-120"/>
              </a:rPr>
              <a:t>Se recusar (proposta)</a:t>
            </a:r>
            <a:endParaRPr lang="en-US" sz="15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No mesmo selo: 4 titulares e reservas ordenadas por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aciona a próxima reserva do mesmo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reserva herda o papel (treino ou teste)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Registro append-only, com data e motivo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Parâmetros em aberto: número de reservas, n mínimo e taxa de recusa</a:t>
            </a:r>
            <a:endParaRPr lang="en-US" sz="1250" dirty="0"/>
          </a:p>
        </p:txBody>
      </p:sp>
      <p:sp>
        <p:nvSpPr>
          <p:cNvPr id="11" name="Text 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D23; King &amp; Zeng (2001); Olofsson et al. (2014); Cochran (1977). O protocolo de reservas é proposta, em implementação.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3: logística do voo e posição do rótulo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Shape 2"/>
          <p:cNvSpPr/>
          <p:nvPr/>
        </p:nvSpPr>
        <p:spPr>
          <a:xfrm>
            <a:off x="457200" y="1005840"/>
            <a:ext cx="178308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7830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2,3 ha/min</a:t>
            </a:r>
            <a:endParaRPr lang="en-US" sz="2200" dirty="0"/>
          </a:p>
        </p:txBody>
      </p:sp>
      <p:sp>
        <p:nvSpPr>
          <p:cNvPr id="7" name="Text 4"/>
          <p:cNvSpPr txBox="1"/>
          <p:nvPr/>
        </p:nvSpPr>
        <p:spPr>
          <a:xfrm>
            <a:off x="54864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produtividade medida do voo (≈ 4 cm)</a:t>
            </a:r>
            <a:endParaRPr lang="en-US" sz="1100" dirty="0"/>
          </a:p>
        </p:txBody>
      </p:sp>
      <p:sp>
        <p:nvSpPr>
          <p:cNvPr id="8" name="Shape 5"/>
          <p:cNvSpPr/>
          <p:nvPr/>
        </p:nvSpPr>
        <p:spPr>
          <a:xfrm>
            <a:off x="2377440" y="1005840"/>
            <a:ext cx="178308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377440" y="1115568"/>
            <a:ext cx="17830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2,2 min</a:t>
            </a:r>
            <a:endParaRPr lang="en-US" sz="2200" dirty="0"/>
          </a:p>
        </p:txBody>
      </p:sp>
      <p:sp>
        <p:nvSpPr>
          <p:cNvPr id="10" name="Text 7"/>
          <p:cNvSpPr txBox="1"/>
          <p:nvPr/>
        </p:nvSpPr>
        <p:spPr>
          <a:xfrm>
            <a:off x="246888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voo por polígono</a:t>
            </a:r>
            <a:endParaRPr lang="en-US" sz="1100" dirty="0"/>
          </a:p>
        </p:txBody>
      </p:sp>
      <p:sp>
        <p:nvSpPr>
          <p:cNvPr id="11" name="Shape 8"/>
          <p:cNvSpPr/>
          <p:nvPr/>
        </p:nvSpPr>
        <p:spPr>
          <a:xfrm>
            <a:off x="4297680" y="1005840"/>
            <a:ext cx="178308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297680" y="1115568"/>
            <a:ext cx="178308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3" name="Text 10"/>
          <p:cNvSpPr txBox="1"/>
          <p:nvPr/>
        </p:nvSpPr>
        <p:spPr>
          <a:xfrm>
            <a:off x="438912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e sítios a visitar (eram 36)</a:t>
            </a:r>
            <a:endParaRPr lang="en-US" sz="1100" dirty="0"/>
          </a:p>
        </p:txBody>
      </p:sp>
      <p:sp>
        <p:nvSpPr>
          <p:cNvPr id="14" name="Shape 11"/>
          <p:cNvSpPr/>
          <p:nvPr/>
        </p:nvSpPr>
        <p:spPr>
          <a:xfrm>
            <a:off x="6217920" y="1005840"/>
            <a:ext cx="246888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217920" y="1115568"/>
            <a:ext cx="24688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1,47 vs 3–8 m</a:t>
            </a:r>
            <a:endParaRPr lang="en-US" sz="2200" dirty="0"/>
          </a:p>
        </p:txBody>
      </p:sp>
      <p:sp>
        <p:nvSpPr>
          <p:cNvPr id="16" name="Text 13"/>
          <p:cNvSpPr txBox="1"/>
          <p:nvPr/>
        </p:nvSpPr>
        <p:spPr>
          <a:xfrm>
            <a:off x="6309360" y="1719072"/>
            <a:ext cx="22860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CE90 da delineação vs GNSS do aparelho de campo</a:t>
            </a:r>
            <a:endParaRPr lang="en-US" sz="1100" dirty="0"/>
          </a:p>
        </p:txBody>
      </p:sp>
      <p:sp>
        <p:nvSpPr>
          <p:cNvPr id="17" name="Shape 14"/>
          <p:cNvSpPr/>
          <p:nvPr/>
        </p:nvSpPr>
        <p:spPr>
          <a:xfrm>
            <a:off x="438912" y="2404872"/>
            <a:ext cx="8266176" cy="1754405"/>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457200" y="2423160"/>
            <a:ext cx="8229600" cy="1717829"/>
          </a:xfrm>
          <a:prstGeom prst="rect">
            <a:avLst/>
          </a:prstGeom>
        </p:spPr>
      </p:pic>
      <p:sp>
        <p:nvSpPr>
          <p:cNvPr id="19" name="Text 15"/>
          <p:cNvSpPr txBox="1"/>
          <p:nvPr/>
        </p:nvSpPr>
        <p:spPr>
          <a:xfrm>
            <a:off x="457200" y="4224528"/>
            <a:ext cx="8229600" cy="27432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Central de Campanha: os três conjuntos do desenho (polígonos de VANT, pontos de campo e confirmação prospectiva).</a:t>
            </a:r>
            <a:endParaRPr lang="en-US" sz="11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(docs/verificacoes/voo/cobertura_voos.geojson). Dias de campo: deslocamento e montagem dominam, mais que a bateria.</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Passos 6 e 7: 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14</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 8: 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15</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 9: matriz com proveniência e exportação auditável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16</a:t>
            </a:r>
            <a:endParaRPr lang="en-US" sz="1000" dirty="0"/>
          </a:p>
        </p:txBody>
      </p:sp>
      <p:sp>
        <p:nvSpPr>
          <p:cNvPr id="5" name="Shape 2"/>
          <p:cNvSpPr/>
          <p:nvPr/>
        </p:nvSpPr>
        <p:spPr>
          <a:xfrm>
            <a:off x="438912" y="987552"/>
            <a:ext cx="4242816" cy="2364301"/>
          </a:xfrm>
          <a:prstGeom prst="rect">
            <a:avLst/>
          </a:prstGeom>
          <a:solidFill>
            <a:srgbClr val="FFFFFF"/>
          </a:solidFill>
          <a:ln w="9525">
            <a:solidFill>
              <a:srgbClr val="B8C4BC"/>
            </a:solidFill>
            <a:prstDash val="solid"/>
          </a:ln>
        </p:spPr>
      </p:sp>
      <p:pic>
        <p:nvPicPr>
          <p:cNvPr id="6" name="Image 0" descr="img/matriz.png">    </p:cNvPr>
          <p:cNvPicPr>
            <a:picLocks noChangeAspect="1"/>
          </p:cNvPicPr>
          <p:nvPr/>
        </p:nvPicPr>
        <p:blipFill>
          <a:blip r:embed="rId1"/>
          <a:stretch>
            <a:fillRect/>
          </a:stretch>
        </p:blipFill>
        <p:spPr>
          <a:xfrm>
            <a:off x="457200" y="1005840"/>
            <a:ext cx="4206240" cy="2327725"/>
          </a:xfrm>
          <a:prstGeom prst="rect">
            <a:avLst/>
          </a:prstGeom>
        </p:spPr>
      </p:pic>
      <p:sp>
        <p:nvSpPr>
          <p:cNvPr id="7" name="Shape 3"/>
          <p:cNvSpPr/>
          <p:nvPr/>
        </p:nvSpPr>
        <p:spPr>
          <a:xfrm>
            <a:off x="4873752" y="896112"/>
            <a:ext cx="2276856" cy="2593131"/>
          </a:xfrm>
          <a:prstGeom prst="rect">
            <a:avLst/>
          </a:prstGeom>
          <a:solidFill>
            <a:srgbClr val="FFFFFF"/>
          </a:solidFill>
          <a:ln w="9525">
            <a:solidFill>
              <a:srgbClr val="B8C4BC"/>
            </a:solidFill>
            <a:prstDash val="solid"/>
          </a:ln>
        </p:spPr>
      </p:sp>
      <p:pic>
        <p:nvPicPr>
          <p:cNvPr id="8" name="Image 1" descr="img/exportar.png">    </p:cNvPr>
          <p:cNvPicPr>
            <a:picLocks noChangeAspect="1"/>
          </p:cNvPicPr>
          <p:nvPr/>
        </p:nvPicPr>
        <p:blipFill>
          <a:blip r:embed="rId2"/>
          <a:stretch>
            <a:fillRect/>
          </a:stretch>
        </p:blipFill>
        <p:spPr>
          <a:xfrm>
            <a:off x="4892040" y="914400"/>
            <a:ext cx="2240280" cy="2556555"/>
          </a:xfrm>
          <a:prstGeom prst="rect">
            <a:avLst/>
          </a:prstGeom>
        </p:spPr>
      </p:pic>
      <p:sp>
        <p:nvSpPr>
          <p:cNvPr id="9" name="Text 4"/>
          <p:cNvSpPr txBox="1"/>
          <p:nvPr/>
        </p:nvSpPr>
        <p:spPr>
          <a:xfrm>
            <a:off x="7269480" y="1097280"/>
            <a:ext cx="1554480" cy="320040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1B2A22"/>
                </a:solidFill>
                <a:latin typeface="Calibri" pitchFamily="34" charset="0"/>
                <a:ea typeface="Calibri" pitchFamily="34" charset="-122"/>
                <a:cs typeface="Calibri" pitchFamily="34" charset="-120"/>
              </a:rPr>
              <a:t>Selos: medido, modelado, tabelado ou indisponível</a:t>
            </a:r>
            <a:endParaRPr lang="en-US" sz="1150" dirty="0"/>
          </a:p>
          <a:p>
            <a:pPr marL="342900" indent="-342900">
              <a:spcAft>
                <a:spcPts val="700"/>
              </a:spcAft>
              <a:buSzPct val="100000"/>
              <a:buChar char="•"/>
            </a:pPr>
            <a:r>
              <a:rPr lang="en-US" sz="1150" dirty="0">
                <a:solidFill>
                  <a:srgbClr val="1B2A22"/>
                </a:solidFill>
                <a:latin typeface="Calibri" pitchFamily="34" charset="0"/>
                <a:ea typeface="Calibri" pitchFamily="34" charset="-122"/>
                <a:cs typeface="Calibri" pitchFamily="34" charset="-120"/>
              </a:rPr>
              <a:t>Ausência nunca vira zero</a:t>
            </a:r>
            <a:endParaRPr lang="en-US" sz="1150" dirty="0"/>
          </a:p>
          <a:p>
            <a:pPr marL="342900" indent="-342900">
              <a:spcAft>
                <a:spcPts val="700"/>
              </a:spcAft>
              <a:buSzPct val="100000"/>
              <a:buChar char="•"/>
            </a:pPr>
            <a:r>
              <a:rPr lang="en-US" sz="1150" dirty="0">
                <a:solidFill>
                  <a:srgbClr val="1B2A22"/>
                </a:solidFill>
                <a:latin typeface="Calibri" pitchFamily="34" charset="0"/>
                <a:ea typeface="Calibri" pitchFamily="34" charset="-122"/>
                <a:cs typeface="Calibri" pitchFamily="34" charset="-120"/>
              </a:rPr>
              <a:t>7 invariantes bloqueiam a exportação</a:t>
            </a:r>
            <a:endParaRPr lang="en-US" sz="1150" dirty="0"/>
          </a:p>
        </p:txBody>
      </p:sp>
      <p:sp>
        <p:nvSpPr>
          <p:cNvPr id="10" name="Text 5"/>
          <p:cNvSpPr txBox="1"/>
          <p:nvPr/>
        </p:nvSpPr>
        <p:spPr>
          <a:xfrm>
            <a:off x="457200" y="3401568"/>
            <a:ext cx="4206240" cy="36576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Matriz de Treino: vazia sem rótulos humanos consolidados.</a:t>
            </a:r>
            <a:endParaRPr lang="en-US" sz="1100" dirty="0"/>
          </a:p>
        </p:txBody>
      </p:sp>
      <p:sp>
        <p:nvSpPr>
          <p:cNvPr id="11" name="Text 6"/>
          <p:cNvSpPr txBox="1"/>
          <p:nvPr/>
        </p:nvSpPr>
        <p:spPr>
          <a:xfrm>
            <a:off x="457200" y="3840480"/>
            <a:ext cx="4206240" cy="54864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O pacote ZIP traz o manifesto SHA-256 e o verificador de integridade.</a:t>
            </a:r>
            <a:endParaRPr lang="en-US" sz="1100" dirty="0"/>
          </a:p>
        </p:txBody>
      </p:sp>
      <p:sp>
        <p:nvSpPr>
          <p:cNvPr id="12" name="Text 7"/>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O manifesto prova integridade, não autoria. Refs.: Regras 1 e 5, D13 e D14 (selos modelado e tabelado).</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 10: 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17</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Governança: decisões registradas e diagnóstico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18</a:t>
            </a:r>
            <a:endParaRPr lang="en-US" sz="1000" dirty="0"/>
          </a:p>
        </p:txBody>
      </p:sp>
      <p:sp>
        <p:nvSpPr>
          <p:cNvPr id="5" name="Shape 2"/>
          <p:cNvSpPr/>
          <p:nvPr/>
        </p:nvSpPr>
        <p:spPr>
          <a:xfrm>
            <a:off x="438912" y="1033272"/>
            <a:ext cx="2678176" cy="2414016"/>
          </a:xfrm>
          <a:prstGeom prst="rect">
            <a:avLst/>
          </a:prstGeom>
          <a:solidFill>
            <a:srgbClr val="FFFFFF"/>
          </a:solidFill>
          <a:ln w="9525">
            <a:solidFill>
              <a:srgbClr val="B8C4BC"/>
            </a:solidFill>
            <a:prstDash val="solid"/>
          </a:ln>
        </p:spPr>
      </p:sp>
      <p:pic>
        <p:nvPicPr>
          <p:cNvPr id="6" name="Image 0" descr="img/menu_gov.png">    </p:cNvPr>
          <p:cNvPicPr>
            <a:picLocks noChangeAspect="1"/>
          </p:cNvPicPr>
          <p:nvPr/>
        </p:nvPicPr>
        <p:blipFill>
          <a:blip r:embed="rId1"/>
          <a:stretch>
            <a:fillRect/>
          </a:stretch>
        </p:blipFill>
        <p:spPr>
          <a:xfrm>
            <a:off x="457200" y="1051560"/>
            <a:ext cx="2641600" cy="2377440"/>
          </a:xfrm>
          <a:prstGeom prst="rect">
            <a:avLst/>
          </a:prstGeom>
        </p:spPr>
      </p:pic>
      <p:sp>
        <p:nvSpPr>
          <p:cNvPr id="7" name="Shape 3"/>
          <p:cNvSpPr/>
          <p:nvPr/>
        </p:nvSpPr>
        <p:spPr>
          <a:xfrm>
            <a:off x="3273552" y="1033272"/>
            <a:ext cx="5385816" cy="2779776"/>
          </a:xfrm>
          <a:prstGeom prst="rect">
            <a:avLst/>
          </a:prstGeom>
          <a:solidFill>
            <a:srgbClr val="FFFFFF"/>
          </a:solidFill>
          <a:ln w="9525">
            <a:solidFill>
              <a:srgbClr val="B8C4BC"/>
            </a:solidFill>
            <a:prstDash val="solid"/>
          </a:ln>
        </p:spPr>
      </p:sp>
      <p:pic>
        <p:nvPicPr>
          <p:cNvPr id="8" name="Image 1" descr="img/diag.png">    </p:cNvPr>
          <p:cNvPicPr>
            <a:picLocks noChangeAspect="1"/>
          </p:cNvPicPr>
          <p:nvPr/>
        </p:nvPicPr>
        <p:blipFill>
          <a:blip r:embed="rId2"/>
          <a:stretch>
            <a:fillRect/>
          </a:stretch>
        </p:blipFill>
        <p:spPr>
          <a:xfrm>
            <a:off x="3291840" y="1051560"/>
            <a:ext cx="5349240" cy="2743200"/>
          </a:xfrm>
          <a:prstGeom prst="rect">
            <a:avLst/>
          </a:prstGeom>
        </p:spPr>
      </p:pic>
      <p:sp>
        <p:nvSpPr>
          <p:cNvPr id="9" name="Text 4"/>
          <p:cNvSpPr txBox="1"/>
          <p:nvPr/>
        </p:nvSpPr>
        <p:spPr>
          <a:xfrm>
            <a:off x="457200" y="3520440"/>
            <a:ext cx="2651760" cy="54864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Menu de Governança: conexão, decisões (26) e relatório de erros.</a:t>
            </a:r>
            <a:endParaRPr lang="en-US" sz="1100" dirty="0"/>
          </a:p>
        </p:txBody>
      </p:sp>
      <p:sp>
        <p:nvSpPr>
          <p:cNvPr id="10" name="Text 5"/>
          <p:cNvSpPr txBox="1"/>
          <p:nvPr/>
        </p:nvSpPr>
        <p:spPr>
          <a:xfrm>
            <a:off x="3291840" y="3886200"/>
            <a:ext cx="5394960" cy="36576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Diagnóstico: sessão do GEE, guarda antissintético e base fundiária local.</a:t>
            </a:r>
            <a:endParaRPr lang="en-US" sz="1100" dirty="0"/>
          </a:p>
        </p:txBody>
      </p:sp>
      <p:sp>
        <p:nvSpPr>
          <p:cNvPr id="11" name="Text 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Todo parâmetro tem dono, referência e estado; decisão pendente gera estado indisponível, não valor assumido.</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19</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20</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2026-10-19T02:49:27Z</dcterms:created>
  <dcterms:modified xsi:type="dcterms:W3CDTF">2026-10-19T02:49:27Z</dcterms:modified>
</cp:coreProperties>
</file>