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Apresentação formal da reestruturação metodológica e epistemológica do SAREL v2.0. Explique a transição entre o paradigma v1 (baseado em amostragem ad-hoc e fotointerpretação a 10m) e o paradigma v2 (amostragem probabilística estratificada em 18 estratos biofísicos com VANT como Padrão Ouro).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Destaque o contraste claro entre a vulnerabilidade do modelo v1 e a solidez do modelo v2. A mudança não foi um ajuste estético, mas uma refundação científica para eliminar qualquer risco de circularidade, pseudorreplicação e ruído de rotulagem.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Explique detalhadamente cada uma das quatro falhas. Mostre que o autor teve a coragem acadêmica de auditar seu próprio trabalho com honestidade brutal antes que a banca o fizesse.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slide central da inversão metodológica. Explique como a Decisão D16 inverteu os papéis para colocar a melhor tecnologia de observação (o VANT centimétrico) no núcleo do treinamento e teste.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Apresente as especificações empíricas do VANT. Os números de GSD, CE90 e produtividade não são teóricos, mas saíram das missões de voo reais já executadas em Céu Azul e Medianeira e arquivadas no repositório.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Explique a partição biofísica tridimensional. Mostre que os 18 estratos cobrem todo o espaço ortogonal de relevo, manejo/tempo de exposição e tipo de solo da Bacia do Paraná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Mostre como a matemática resolveu um problema logístico e ético real: o tamanho de 5,02 ha permitiu que pequenos produtores pudessem participar do sorteio, evitando o viés elitista de só amostrar grandes fazendas.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Explique o conceito de unidades espacialmente independentes. Mostre que o SAREL v2.0 não comete o erro ingênuo de tratar 36.000 pixels como 36.000 amostras independentes.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regra EPV &gt;= 20 e o teto por bloco da Decisão D24 são proteções técnicas contra o vício comum em IA agrícola de colocar 50 variáveis em um XGBoost e achar que obteve 99% de acurácia.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Explique a genialidade da guarda temporal de 2 anos: impede que uma imagem tirada 2 dias antes do evento vaze a informação da terra já mexida, forçando o Modelo P a ser uma ferramenta real de prevenção agronômica.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Apresente os cinco fatores da RUSLE. Destaque que todos foram extraídos de suas obras primárias (todas arquivadas em docs/verificacoes/fontes) e integrados nativamente no código sem mocks.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Invariante 1 é o selo de honestidade científica do SAREL v2.0: se o dado não existe, o sistema assume que não existe, em vez de inventar um número que pareça plausível.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Apresente as Sete Travas. Elas garantem que a pesquisa não seja apenas robusta em código, mas completamente blindada contra fraudes científicas e erros metodológicos clássicos.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Mostre o nível de rigor da engenharia de software da pesquisa: o código possui linters personalizados que impedem o próprio pesquisador de cometer erros de imputação.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tabela resume toda a defesa metodológica do mestrado. Ela demonstra à banca que a pesquisa evoluiu de uma abordagem exploratória preliminar para um padrão pericial de excelência.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Encerre destacando que todas as obras citadas possuem PDFs originais, scripts de extração automatizados e saídas brutas arquivados na pasta docs/verificacoes/fontes/, garantindo reproducibilidade total e auditabilidade.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UNIVERSIDADE TECNOLÓGICA FEDERAL DO PARANÁ • PPGTCA 2026 • APOIO: ITAIPU PARQUETEC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5156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REFORMULAÇÃO METODOLÓGICA RADICAL DO SAREL (v2.0)</a:t>
            </a:r>
          </a:p>
          <a:p>
            <a:pPr>
              <a:spcBef>
                <a:spcPts val="800"/>
              </a:spcBef>
              <a:defRPr sz="1400">
                <a:solidFill>
                  <a:srgbClr val="CBD5E1"/>
                </a:solidFill>
              </a:defRPr>
            </a:pPr>
            <a:r>
              <a:t>Da Amostragem Heurística ao Padrão Ouro de Sensoriamento Remoto Multiescala, Desenho Fatorial e Blindagem Anti-Viés na Bacia do Paraná 3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931920"/>
            <a:ext cx="10058400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Autor: Luís Alfredo Ferreira da Silva (RedZardoz)</a:t>
            </a:r>
          </a:p>
          <a:p>
            <a:pPr>
              <a:defRPr sz="1050">
                <a:solidFill>
                  <a:srgbClr val="E2E8F0"/>
                </a:solidFill>
              </a:defRPr>
            </a:pPr>
            <a:r>
              <a:t>Pesquisa: Metodologia Híbrida de Localização e Predição de Erosão Laminar em Lavouras de Plantio Direto</a:t>
            </a:r>
          </a:p>
          <a:p>
            <a:pPr>
              <a:spcBef>
                <a:spcPts val="600"/>
              </a:spcBef>
              <a:defRPr sz="950">
                <a:solidFill>
                  <a:srgbClr val="10B981"/>
                </a:solidFill>
              </a:defRPr>
            </a:pPr>
            <a:r>
              <a:t>Auditoria Formal: Setembro/Outubro de 2026 • 54 Suítes de Testes Automatizados • Versão Canônica v2.0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058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REFORMULAÇÃO METODOLÓGICA • SAREL v2.0 • PPGTCA 2026 / UTFPR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Resumo Executivo da Mudança Radical: Por Que a Metodologia Mudou?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Pesquisa: Predição de Erosão Laminar na BP3 • Autor: Luís Alfredo Ferreira da Silva • Mestrado PPGTCA / UTFPR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1052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65F46"/>
                </a:solidFill>
              </a:defRPr>
            </a:pPr>
            <a:r>
              <a:t>2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280160"/>
            <a:ext cx="5303520" cy="4937760"/>
          </a:xfrm>
          <a:prstGeom prst="roundRect">
            <a:avLst/>
          </a:prstGeom>
          <a:solidFill>
            <a:srgbClr val="FFF1F2"/>
          </a:solidFill>
          <a:ln w="1524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280160"/>
            <a:ext cx="5303520" cy="365760"/>
          </a:xfrm>
          <a:prstGeom prst="roundRect">
            <a:avLst/>
          </a:prstGeom>
          <a:solidFill>
            <a:srgbClr val="BE123C"/>
          </a:solidFill>
          <a:ln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PARADIGMA ANTERIOR (v1.0) — VULNERÁVEL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91640"/>
            <a:ext cx="50292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Amostragem Intencional: Coleta focada onde havia suspeita visual de erosão (BSI alto).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Rótulo por Fotointerpretação: Observador humano tentava identificar erosão laminar no pixel de 10 m do Sentinel-2.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GPS Sem Aferição: Coletas de campo com GPS de celular (CE90 de 3 a 8 m; acerto posicional &lt; 37%).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Confusão de Suporte Espacial: Pixels de 30m do DEM e manchas 1:250k de solo replicados como células de 10m.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Imputação Numérica Silenciosa: Desmascaramento com zero nulo, cortes artificiais com max/min e defaults arbitrários.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Risco Iminente: Reprovação em banca de qualificação por circularidade amostral e viés de confirmação.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80160"/>
            <a:ext cx="5303520" cy="493776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280160"/>
            <a:ext cx="5303520" cy="365760"/>
          </a:xfrm>
          <a:prstGeom prst="roundRect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PARADIGMA ATUAL (v2.0) — RIGOR CIENTÍFICO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691640"/>
            <a:ext cx="50292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Padrão Ouro Centimétrico: VANT Multiespectral (GSD ~3,8 cm, CE90 = 1,47 m) como massa de treino e teste.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Estratificação Fatorial: 18 estratos biofísicos canônicos (Ŝ relevo x Ê exposição x K̂ solo) com pi_i conhecido.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Desenho Fundiário Real: 72 polígonos de 5,02 ha ajustados aos minifúndios da BP3 (71,8% de elegibilidade).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Suporte Nativo Declarado: Preditores respeitam sua resolução nativa; tetos estritos por bloco contra overfitting (EPV &gt;= 20).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Guarda Temporal Estrita: Modelo D (detecção t0) segregado do Modelo P (predição prospectiva com 2 anos de guarda).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Linha de Base RUSLE Desbloqueada: Equações completas conferidas na fonte primária (D01, D13, D14, D15) sob Invariante 1.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058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REFORMULAÇÃO METODOLÓGICA • SAREL v2.0 • PPGTCA 2026 / UTFPR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Diagnóstico da Auditoria: As Quatro Falhas Estruturais da v1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Pesquisa: Predição de Erosão Laminar na BP3 • Autor: Luís Alfredo Ferreira da Silva • Mestrado PPGTCA / UTFPR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1052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65F46"/>
                </a:solidFill>
              </a:defRPr>
            </a:pPr>
            <a:r>
              <a:t>3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280160"/>
            <a:ext cx="530352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280160"/>
            <a:ext cx="5303520" cy="365760"/>
          </a:xfrm>
          <a:prstGeom prst="roundRect">
            <a:avLst/>
          </a:prstGeom>
          <a:solidFill>
            <a:srgbClr val="BE123C"/>
          </a:solidFill>
          <a:ln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1. CIRCULARIDADE E VIÉS DE CONFIRMAÇÃO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91640"/>
            <a:ext cx="5029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A amostragem selecionava pontos onde índices espectrais (BSI/NDVI) já indicavam solo degradado.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O modelo aprendia a imitar a regra de seleção do pesquisador, e não o fenômeno biofísico de erosão.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Totalmente indefensável perante banca examinadora de estatística ou sensoriamento remoto.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80160"/>
            <a:ext cx="530352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280160"/>
            <a:ext cx="5303520" cy="365760"/>
          </a:xfrm>
          <a:prstGeom prst="roundRect">
            <a:avLst/>
          </a:prstGeom>
          <a:solidFill>
            <a:srgbClr val="BE123C"/>
          </a:solidFill>
          <a:ln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2. A FALÁCIA DO PIXEL ORBITAL DE 10 METROS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691640"/>
            <a:ext cx="5029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Erosão laminar manifesta-se como microrrelevo métrico e decapagem difusa do horizonte superficial.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Em 100 m² (célula Sentinel-2), o sinal mistura palhada, solo e biomassa vizinha.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Fotointerpretação humana a 10m injetava ruído massivo de rotulagem e alta discordância.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40480"/>
            <a:ext cx="530352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3840480"/>
            <a:ext cx="5303520" cy="365760"/>
          </a:xfrm>
          <a:prstGeom prst="roundRect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3. CONFUSÃO DE SUPORTE ESPACIAL (MAUP)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251960"/>
            <a:ext cx="5029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DEM de 30m e polígonos de solo 1:250k eram injetados como se fossem 36.000 medições a 10m.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Pseudorreplicação grave: inflava artificialmente graus de liberdade no treinamento de ensembles.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Tratar dados de resoluções discrepantes como idênticos viola o princípio fundamental do suporte espacial.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840480"/>
            <a:ext cx="530352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0" y="3840480"/>
            <a:ext cx="5303520" cy="365760"/>
          </a:xfrm>
          <a:prstGeom prst="roundRect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4. PRÁTICAS DE IMPUTAÇÃO E PISOS ARTIFICIAIS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251960"/>
            <a:ext cx="5029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Desmascaramento forçado transformava ausência de dado em 'sem erosão', criando falsos negativos.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Cortes arbitrários com funções de piso e teto mascaravam inconsistências das fórmulas.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Falta de rastreabilidade de proveniência impedia saber a origem real de cada número no banco.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058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REFORMULAÇÃO METODOLÓGICA • SAREL v2.0 • PPGTCA 2026 / UTFPR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A Grande Inversão Epistemológica: VANT Promovido a Padrão Ouro (D16)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Pesquisa: Predição de Erosão Laminar na BP3 • Autor: Luís Alfredo Ferreira da Silva • Mestrado PPGTCA / UTFPR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1052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65F46"/>
                </a:solidFill>
              </a:defRPr>
            </a:pPr>
            <a:r>
              <a:t>4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280160"/>
            <a:ext cx="3474720" cy="493776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280160"/>
            <a:ext cx="3474720" cy="365760"/>
          </a:xfrm>
          <a:prstGeom prst="roundRect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VANT MULTIESPECTRAL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9164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PAPEL ANTERIOR: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Held-out secundário de validação.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NOVO PAPEL CANÔNICO: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&lt;b&gt;MASSA PRINCIPAL DE TREINO E TESTE INDEPENDENTE&lt;/b&gt;.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POR QUE?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Única fonte com resolução centimétrica capaz de delinear manchas reais de erosão laminar.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Elimina a subjetividade humana da fotointerpretação orbital.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Acurácia posicional CE90 = 1,47 m garante acerto de 78% na célula de 10m.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280160"/>
            <a:ext cx="3474720" cy="493776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80" y="1280160"/>
            <a:ext cx="3474720" cy="365760"/>
          </a:xfrm>
          <a:prstGeom prst="roundRect">
            <a:avLst/>
          </a:prstGeom>
          <a:solidFill>
            <a:srgbClr val="0369A1"/>
          </a:solidFill>
          <a:ln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PONTOS DE CAMPO (APP)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69164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PAPEL ANTERIOR: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Massa de treino principal dispersa.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NOVO PAPEL CANÔNICO: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&lt;b&gt;ÂNCORA DE PREVALÊNCIA E CALIBRAÇÃO PROSPECTIVA&lt;/b&gt;.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POR QUE?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GPS de smartphone tem erro de 3 a 8 m (acerto &lt; 37% na célula de 10m).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Usar campo para treinar injetaria erro de deslocalização espacial no modelo.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Campo passa a calibrar a prevalência real sob protocolo cego duplo.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280160"/>
            <a:ext cx="3474720" cy="4937760"/>
          </a:xfrm>
          <a:prstGeom prst="roundRect">
            <a:avLst/>
          </a:prstGeom>
          <a:solidFill>
            <a:srgbClr val="FFF1F2"/>
          </a:solidFill>
          <a:ln w="1524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46720" y="1280160"/>
            <a:ext cx="3474720" cy="365760"/>
          </a:xfrm>
          <a:prstGeom prst="roundRect">
            <a:avLst/>
          </a:prstGeom>
          <a:solidFill>
            <a:srgbClr val="BE123C"/>
          </a:solidFill>
          <a:ln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FOTOINTERPRETAÇÃO 10m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169164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PAPEL ANTERIOR: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Rótulo de verdade terrestre na Fase A.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NOVO PAPEL CANÔNICO: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&lt;b&gt;APOSENTADA DEFINITIVAMENTE&lt;/b&gt;.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POR QUE?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Resolução de 10m não permite discernir erosão incipiente de variação espectral de solo.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Custaria dois intérpretes e maquinário de concordância para gerar rótulo inferior.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O sorteio dos 72 polígonos de VANT cobre todo o espaço de covariáveis.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058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REFORMULAÇÃO METODOLÓGICA • SAREL v2.0 • PPGTCA 2026 / UTFPR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O Padrão Ouro Centimétrico: VANT Nuvem UAV Spectral 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Pesquisa: Predição de Erosão Laminar na BP3 • Autor: Luís Alfredo Ferreira da Silva • Mestrado PPGTCA / UTFPR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1052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65F46"/>
                </a:solidFill>
              </a:defRPr>
            </a:pPr>
            <a:r>
              <a:t>5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280160"/>
            <a:ext cx="530352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280160"/>
            <a:ext cx="5303520" cy="36576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PARÂMETROS TÉCNICOS MEDIDOS EM VOO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91640"/>
            <a:ext cx="50292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Aeronave: VANT Asa Fixa Nuvem UAV Spectral 2 com RTK pós-processado.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Sensor Multiespectral: Micasense Altum com 5 bandas óticas calibradas: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Azul (475 nm), Verde (560 nm), Vermelho (668 nm)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RedEdge (717 nm) e Infravermelho Próximo NIR (842 nm)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Resolução Espacial no Terreno (GSD Medido):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3,59 cm/pixel (Missão 009 - Céu Azul)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3,96 cm/pixel (Missão 010 - Medianeira)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Acurácia Posicional Horizontal (CE90):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&lt;b&gt;1,47 metros&lt;/b&gt; medidos contra pontos de controle terrestres.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Produtividade de Mapeamento: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2,3 ha/minuto a 120 metros de altitude de voo AGL.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Tempo de voo por polígono de 5,02 ha: ~2,2 minutos.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80160"/>
            <a:ext cx="5303520" cy="493776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280160"/>
            <a:ext cx="5303520" cy="365760"/>
          </a:xfrm>
          <a:prstGeom prst="roundRect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IMPACTO NA QUALIDADE DO RÓTULO SUPERVISIONADO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691640"/>
            <a:ext cx="50292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Resolução Centimétrica vs Decamétrica: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A 4 cm, microrravinas, canais de erosão laminar e crostas de solo são visíveis diretamente sem inferência.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A máscara de erosão é delineada com polígonos vetoriais contínuos de alta precisão.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Mitigação do Erro de Deslocalização Espacial: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GPS de smartphone (erro 3-8m) =&gt; Acerto na célula de 10m: &lt;b&gt;~37%&lt;/b&gt;.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Ortomosaico VANT (erro 1,47m) =&gt; Acerto na célula de 10m: &lt;b&gt;~78%&lt;/b&gt;.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O salto de qualidade viabiliza pela primeira vez um classificador verdadeiramente supervisionado.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Rastreabilidade Fotogramétrica: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Calibração radiométrica com painel refletivo antes e após cada voo.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Sensor de irradiância solar (DLS 2) para correção de variações de luminosidade.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058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REFORMULAÇÃO METODOLÓGICA • SAREL v2.0 • PPGTCA 2026 / UTFPR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Desenho Amostral: Matriz Fatorial em 18 Estratos Canônicos (D12)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Pesquisa: Predição de Erosão Laminar na BP3 • Autor: Luís Alfredo Ferreira da Silva • Mestrado PPGTCA / UTFPR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1052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65F46"/>
                </a:solidFill>
              </a:defRPr>
            </a:pPr>
            <a:r>
              <a:t>6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280160"/>
            <a:ext cx="3474720" cy="493776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280160"/>
            <a:ext cx="3474720" cy="365760"/>
          </a:xfrm>
          <a:prstGeom prst="roundRect">
            <a:avLst/>
          </a:prstGeom>
          <a:solidFill>
            <a:srgbClr val="0369A1"/>
          </a:solidFill>
          <a:ln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EIXO Ŝ — ENERGIA TOPOGRÁFICA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9164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Fonte: Copernicus DEM GLO-30 a 30m nativo.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Partição: 3 tercis empíricos de declividade (%):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Ŝ1 (Suave Ondulado):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Declividade &lt; 5% (baixa energia potencial de fluxo).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Ŝ2 (Ondulado Médio):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5% &lt;= Declividade &lt; 10% (faixa de transição do Sistema Plantio Direto).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Ŝ3 (Ondulado Forte):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Declividade &gt;= 10% (alta suscetibilidade a escoamento superficial concentrado).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280160"/>
            <a:ext cx="3474720" cy="493776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80" y="1280160"/>
            <a:ext cx="3474720" cy="365760"/>
          </a:xfrm>
          <a:prstGeom prst="roundRect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EIXO Ê — EXPOSIÇÃO DO SOLO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69164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Fonte: Frequência de solo nu Sentinel-2 L2A (2018-2023).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Critério: Mínimo 6 observações válidas/ano (D11).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Ê1 (Baixa Exposição):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Frequência &lt; 15% de solo nu (lavouras com excelente cobertura permanente e palhada).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Ê2 (Média Exposição):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15% &lt;= Frequência &lt; 30% (janela típica de dessecação entre safras).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Ê3 (Alta Exposição):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Frequência &gt;= 30% (manejo inadequado ou solos frequentemente descobertos).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280160"/>
            <a:ext cx="3474720" cy="493776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46720" y="1280160"/>
            <a:ext cx="3474720" cy="365760"/>
          </a:xfrm>
          <a:prstGeom prst="roundRect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EIXO K̂ — ERODIBILIDADE DO SOLO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169164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Fonte: Campo k_solos da Carta de Erodibilidade Embrapa 2024 (D14).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Partição: 2 níveis canônicos (D09):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K̂1 (Baixa / Muito Baixa):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k_solos &lt;= 0,015 t.h/(MJ.mm) (Latossolos Vermelhos argilosos e muito argilosos).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K̂2 (Média / Alta):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k_solos &gt; 0,015 t.h/(MJ.mm) (Nitossolos, Neossolos Regolíticos e solos com textura média).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TOTAL: 3 x 3 x 2 = &lt;b&gt;18 ESTRATOS CANÔNICOS&lt;/b&gt;.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058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REFORMULAÇÃO METODOLÓGICA • SAREL v2.0 • PPGTCA 2026 / UTFPR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Ajuste Fundiário aos Minifúndios: 72 Polígonos de 5,02 ha (D16)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Pesquisa: Predição de Erosão Laminar na BP3 • Autor: Luís Alfredo Ferreira da Silva • Mestrado PPGTCA / UTFPR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1052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65F46"/>
                </a:solidFill>
              </a:defRPr>
            </a:pPr>
            <a:r>
              <a:t>7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280160"/>
            <a:ext cx="5303520" cy="493776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280160"/>
            <a:ext cx="5303520" cy="365760"/>
          </a:xfrm>
          <a:prstGeom prst="roundRect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O DILEMA FUNDIÁRIO DA BACIA DO PARANÁ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91640"/>
            <a:ext cx="50292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Estrutura Fundiária da BP3 (73.643 Imóveis no CAR):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Mediana de área dos imóveis rurais: &lt;b&gt;11,7 hectares&lt;/b&gt;.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Perfil típico de minifúndio e agricultura familiar.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A Proposta Original (10 ha em Quadrado de 316 x 316 m):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Exigia que o polígono coubesse num único imóvel (para permitir autorização de voo).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Medição sobre banco fundiário revelou: apenas &lt;b&gt;43,4%&lt;/b&gt; dos imóveis eram elegíveis.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Exclusão de 57% da bacia gerava viés grave em direção a grandes proprietários.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A Solução Técnica (Polígonos de 5,02 ha):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Quadrado de 224 x 224 m ou retângulos até 1:2 (ex.: 160 x 314 m).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A elegibilidade salta para &lt;b&gt;71,8%&lt;/b&gt; dos imóveis rurais da bacia.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Redução drástica da exclusão amostral de 57% para 28%.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80160"/>
            <a:ext cx="5303520" cy="493776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280160"/>
            <a:ext cx="5303520" cy="365760"/>
          </a:xfrm>
          <a:prstGeom prst="roundRect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ALOCAÇÃO AMOSTRAL E BALANCEAMENTO TREINO/TESTE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691640"/>
            <a:ext cx="50292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Distribuição da Amostra: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&lt;b&gt;4 polígonos por estrato&lt;/b&gt; sobre os 18 estratos biofísicos.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Total de &lt;b&gt;72 polígonos de VANT&lt;/b&gt; mapeados na bacia.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Área total: 361 hectares (idêntica à proposta original de 360 ha).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Balanceamento Rigoroso Treino / Teste (Held-out):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De cada quarteto de estrato, &lt;b&gt;2 vão para Treino&lt;/b&gt; e &lt;b&gt;2 para Teste&lt;/b&gt;.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Garante que tanto o treino quanto o teste tenham réplicas dentro de TODOS os 18 estratos.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Permite calcular a variância entre paisagens dentro do mesmo estrato.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Probabilidade de Inclusão pi_i Registrada: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Cada polígono sorteado carrega pi_i conhecido (Cochran, 1977).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Garante estimativas populacionais não viciadas (Horvitz-Thompson).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058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REFORMULAÇÃO METODOLÓGICA • SAREL v2.0 • PPGTCA 2026 / UTFPR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Suporte Espacial Nativo e Autocorrelação (D06 &amp; D24)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Pesquisa: Predição de Erosão Laminar na BP3 • Autor: Luís Alfredo Ferreira da Silva • Mestrado PPGTCA / UTFPR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1052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65F46"/>
                </a:solidFill>
              </a:defRPr>
            </a:pPr>
            <a:r>
              <a:t>8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280160"/>
            <a:ext cx="5303520" cy="493776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280160"/>
            <a:ext cx="5303520" cy="365760"/>
          </a:xfrm>
          <a:prstGeom prst="roundRect">
            <a:avLst/>
          </a:prstGeom>
          <a:solidFill>
            <a:srgbClr val="0369A1"/>
          </a:solidFill>
          <a:ln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AUTOCORRELAÇÃO ESPACIAL E UNIDADES EFETIVAS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91640"/>
            <a:ext cx="50292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O Problema da Dependência Espacial: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Pixels contíguos de 10m não são observações estatisticamente independentes.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Em 5,02 ha existem ~500 células de 10m, mas elas apresentam autocorrelação.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Alcance de Autocorrelação Medido: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Variogramas empíricos na BP3 indicam alcance prático de &lt;b&gt;50 metros&lt;/b&gt;.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Células separadas por menos de 50m compartilham sinal de vertente e solo.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Unidades Espacialmente Independentes por Polígono: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Bloco Espectro-Temporal (10m): &lt;b&gt;~51 unidades efetivas&lt;/b&gt; por polígono.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Bloco de Terreno (30m): &lt;b&gt;~11 unidades efetivas&lt;/b&gt; por polígono.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Bloco Pedológico (Carta 1:250k): &lt;b&gt;~1 unidade efetiva&lt;/b&gt; por polígono.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Total Populacional da Campanha: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72 polígonos x 51 unidades = &lt;b&gt;~1.845 unidades independentes&lt;/b&gt; no conjunto todo.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80160"/>
            <a:ext cx="530352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280160"/>
            <a:ext cx="5303520" cy="36576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DECLARAÇÃO MANDATÓRIA DO SUPORTE NATIVO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691640"/>
            <a:ext cx="50292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Fim da Reamostragem Simulada (D06):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A unidade de predição é a célula de 10m do Sentinel-2.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Porém, É VEDADO reamostrar MDE de 30m para fingir resolução de 10m.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Cada covariável carrega no metadado o suporte espacial de sua fonte.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Consequência Estatística Decisiva: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Reconhecer que há apenas 11 unidades de terreno por polígono impede inflar artificialmente o peso do relevo.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Evita que o algoritmo aprenda relações espúrias baseadas em pseudorreplicação.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Alinhamento com a Teoria da Amostragem Espacial: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Conforme Cressie (1993) e Legendre (1993), a inferência estatística sobre dados espaciais só é válida se a estrutura de covariância for respeitada.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058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REFORMULAÇÃO METODOLÓGICA • SAREL v2.0 • PPGTCA 2026 / UTFPR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Controle de Overfitting: Tetos por Bloco e Regra EPV &gt;= 20 (D24)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Pesquisa: Predição de Erosão Laminar na BP3 • Autor: Luís Alfredo Ferreira da Silva • Mestrado PPGTCA / UTFPR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1052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65F46"/>
                </a:solidFill>
              </a:defRPr>
            </a:pPr>
            <a:r>
              <a:t>9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280160"/>
            <a:ext cx="5303520" cy="4937760"/>
          </a:xfrm>
          <a:prstGeom prst="roundRect">
            <a:avLst/>
          </a:prstGeom>
          <a:solidFill>
            <a:srgbClr val="FFF1F2"/>
          </a:solidFill>
          <a:ln w="1524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280160"/>
            <a:ext cx="5303520" cy="365760"/>
          </a:xfrm>
          <a:prstGeom prst="roundRect">
            <a:avLst/>
          </a:prstGeom>
          <a:solidFill>
            <a:srgbClr val="BE123C"/>
          </a:solidFill>
          <a:ln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CRITÉRIO EPV DE VAN DER PLOEG ET AL. (2014)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91640"/>
            <a:ext cx="50292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Regra de Ouro da Modelagem Preditiva: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&lt;i&gt;Events Per Variable (EPV)&lt;/i&gt; &gt;= 20 para modelos de árvore (XGBoost / Random Forest).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Para cada preditor inserido no modelo, exige-se no mínimo 20 eventos positivos independentes.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Orçamento Amostral da Pesquisa: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Com ~1.845 unidades independentes e prevalência esperada de 10% a 15%: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Número de positivos independentes esperados: &lt;b&gt;~200 eventos&lt;/b&gt;.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Dividido por 2 (treino held-out 50/50): &lt;b&gt;~100 eventos de treino&lt;/b&gt;.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Teto Máximo Global de Preditores: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100 eventos / 20 EPV = &lt;b&gt;Máximo de 5 a 8 preditores principais&lt;/b&gt;.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Tentar ajustar modelos com 30 ou 40 preditores geraria memorização espúria e colapso na generalização.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80160"/>
            <a:ext cx="5303520" cy="493776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280160"/>
            <a:ext cx="5303520" cy="365760"/>
          </a:xfrm>
          <a:prstGeom prst="roundRect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TETOS NORMATIVOS POR BLOCO (DECISÃO D24)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691640"/>
            <a:ext cx="50292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Bloco Espectro-Temporal (Sentinel-2 L2A):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&lt;b&gt;TETO MÁXIMO: 8 PREDITORES&lt;/b&gt;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Variáveis autorizadas: B12 (SWIR-2), B11 (SWIR-1), B4 (Red), B8 (NIR), BSI, NDVI, Frequência Nu e Persistência.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Bloco de Terreno (Copernicus DEM 30m):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&lt;b&gt;TETO MÁXIMO: 4 PREDITORES&lt;/b&gt;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Variáveis autorizadas: Declividade, Índice de Umidade Topográfica (TWI), Curvatura e Elevação.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Bloco de Solo e Clima: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&lt;b&gt;1 preditor de erodibilidade (k_solos)&lt;/b&gt; e &lt;b&gt;1 regional de chuva (R)&lt;/b&gt;.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Garantia de Generalização: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O teto normativo blinda o mestrado contra o clássico erro de 'pesca de correlações' (p-hacking).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058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REFORMULAÇÃO METODOLÓGICA • SAREL v2.0 • PPGTCA 2026 / UTFPR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Separação Funcional: Modelo D vs Modelo P com Guarda Temporal (D04)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Pesquisa: Predição de Erosão Laminar na BP3 • Autor: Luís Alfredo Ferreira da Silva • Mestrado PPGTCA / UTFPR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1052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65F46"/>
                </a:solidFill>
              </a:defRPr>
            </a:pPr>
            <a:r>
              <a:t>10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280160"/>
            <a:ext cx="5303520" cy="493776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280160"/>
            <a:ext cx="5303520" cy="365760"/>
          </a:xfrm>
          <a:prstGeom prst="roundRect">
            <a:avLst/>
          </a:prstGeom>
          <a:solidFill>
            <a:srgbClr val="0369A1"/>
          </a:solidFill>
          <a:ln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MODELO D — DETECÇÃO CONTEMPORÂNEA (t0)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91640"/>
            <a:ext cx="50292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Objetivo Científico e Prático: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Mapear feições ativas e cicatrizes de erosão presentes no momento do voo.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Janela Temporal dos Preditores: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Imagens e índices contemporâneos à data do sobrevoo de VANT ($t_0$).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Combina bandas espectrais de curto prazo (SWIR B12, BSI, NDVI contemporâneo).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Utilidade Agronômica: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Fiscalização ambiental, auditoria de conservação de estradas rurais e mapeamento pós-chuva crítica.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Relação Causal: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O sinal reflete o dano físico já consumado no solo.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80160"/>
            <a:ext cx="5303520" cy="493776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280160"/>
            <a:ext cx="5303520" cy="365760"/>
          </a:xfrm>
          <a:prstGeom prst="roundRect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MODELO P — PREDIÇÃO PROSPECTIVA COM GUARDA (t0 - 24m)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691640"/>
            <a:ext cx="50292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Objetivo Científico e Prático: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Predizer a suscetibilidade a erosão ANTES que as ravinas se formem.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INTERVALO DE GUARDA TEMPORAL ESTRITO (2 ANOS):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Todos os preditores são encerrados &lt;b&gt;24 meses antes&lt;/b&gt; da data de avaliação ($t_0 - 24\text{ meses}$).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Elimina vazamento temporal de dados (&lt;i&gt;temporal data leakage&lt;/i&gt;, Kaufman et al., 2012).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Coincidência com a Rotação Bienal do SPD: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24 meses cobrem o ciclo completo Soja/Milho Safrinha/Trigo/Adubação Verde (Franchini et al., 2011).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Avalia se o histórico acumulado de manejo explica a ocorrência de erosão futura.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058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REFORMULAÇÃO METODOLÓGICA • SAREL v2.0 • PPGTCA 2026 / UTFPR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A Linha de Base Física RUSLE Desbloqueada (D01, D13, D14, D15)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Pesquisa: Predição de Erosão Laminar na BP3 • Autor: Luís Alfredo Ferreira da Silva • Mestrado PPGTCA / UTFPR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1052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65F46"/>
                </a:solidFill>
              </a:defRPr>
            </a:pPr>
            <a:r>
              <a:t>11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280160"/>
            <a:ext cx="1097280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280160"/>
            <a:ext cx="10972800" cy="36576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EQUAÇÃO UNIVERSAL DE PERDA DE SOLO REVISADA: A = R · K · LS · C · P [t/ha/ano]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FATOR C (USO E MANEJO) — Decisão D01 (Durigon et al., 2014):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Fórmula linear canônica: C = (1 - NDVI) / 2, concebida para séries temporais tropicais sem corte artificial.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Modulação híbrida por BSI para discriminar solo mineral exposto de palhada protetora do Plantio Direto.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FATOR P (PRÁTICAS CONSERVACIONISTAS) — Renard et al. (1997, USDA AH 703):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Valor padrão conservador: P = 1,0 (tabelado) para ausência de terraço cadastrado. NUNCA medido.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FATOR K (ERODIBILIDADE) — Decisão D14 emendada (Embrapa Solos 2024, Doc. 246):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Leitura contínua do campo k_solos oficial da carta geonode:bra_erodibilidade_2024_sirgas2000.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Proibição estrita de k_solos = 0 (áreas urbanas/água forçam status 'fora-do-dominio', e não K=0).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FATOR R (EROSIVIDADE DA CHUVA) — Decisão D13 (Rufino et al., 1993; Waltrick et al., 2015):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Equação regional do Paraná: EI30_m = 107,52 + 46,89 * (p_m^2 / P_anual) sobre CHIRPS 0,05° climatológico.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Sucedâneo formal declarado do EI30 contínuo de 30 minutos (limitação metodológica expressa).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FATOR LS (TOPOGRÁFICO 2D) — Decisão D15 (Desmet &amp; Govers, 1996; Renard et al., 1997 AH 703):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Algoritmo bidimensional de área de contribuição específica sobre Copernicus DEM GLO-30 nativo de 30 m.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Expoente m dependente da declividade e fator de rampa S analítico (Eqs. [4-2] a [4-5], pp. 105-107).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Distorção de escala linear da projeção UTM 22S medida no extremo oeste da BP3: 0,11% (&lt; 0,5% tolerância).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058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REFORMULAÇÃO METODOLÓGICA • SAREL v2.0 • PPGTCA 2026 / UTFPR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Invariante 1: Perda de Solo Sem Imputação ou Corte Artificial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Pesquisa: Predição de Erosão Laminar na BP3 • Autor: Luís Alfredo Ferreira da Silva • Mestrado PPGTCA / UTFPR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1052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65F46"/>
                </a:solidFill>
              </a:defRPr>
            </a:pPr>
            <a:r>
              <a:t>12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280160"/>
            <a:ext cx="5303520" cy="493776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280160"/>
            <a:ext cx="5303520" cy="365760"/>
          </a:xfrm>
          <a:prstGeom prst="roundRect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A REGRA INVIOLÁVEL DO INVARIANTE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91640"/>
            <a:ext cx="50292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Definição Formal da Lei Fundamental: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'perdaSolo só existe se TODOS os cinco fatores (R, K, LS, C, P) e a memória de cálculo existirem simultaneamente com valores finitos positivos.'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Comportamento com Todos os Fatores Providos: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perdaSolo recebe proveniência 'modelado'.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Registra as decisões ativas: ['D01', 'D13', 'D14', 'D15'].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Gera memória de cálculo auditável: 'RUSLE A = R * K * LS * C * P = ... t/ha/ano'.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Comportamento na Falha de Qualquer Fator: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perdaSolo é obrigatoriamente &lt;b&gt;indisponivel&lt;/b&gt;.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Agrega e reporta honestamente as causas pendentes: 'insuficiente', 'fora-do-dominio' ou 'decisao-pendente'.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Proibição de preenchimento artificial com zeros ou médias.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80160"/>
            <a:ext cx="530352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280160"/>
            <a:ext cx="5303520" cy="36576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AUDITORIA CONTRA EFEITOS DE BORDA E PITS TOPOGRÁFICOS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691640"/>
            <a:ext cx="50292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Tratamento de Células de Borda Truncada (D15 / P12):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Células localizadas no limite do tile DEM ou da bacia hidrográfica não possuem bacia de drenagem a montante integrável.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O sistema recusa calcular LS e devolve status 'indisponivel' com causa 'fora-do-dominio'.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Tratamento de Depressões Sem Saída (Pit Cells):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Células de afundamento topográfico onde o fluxo superficial é interrompido.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O SAREL v2.0 proíbe o 'preenchimento artificial cego' (fill sinks) sem justificativa.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Retém o cálculo e alerta o usuário no dossiê de auditoria.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Conformidade Matemática com a Fonte: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Eliminação de 'pisos' artificiais (Math.max) que mascaravam falhas numéricas no algoritmo.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058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REFORMULAÇÃO METODOLÓGICA • SAREL v2.0 • PPGTCA 2026 / UTFPR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Blindagem Ética e Estatística: As Sete Travas de Integridade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Pesquisa: Predição de Erosão Laminar na BP3 • Autor: Luís Alfredo Ferreira da Silva • Mestrado PPGTCA / UTFPR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1052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65F46"/>
                </a:solidFill>
              </a:defRPr>
            </a:pPr>
            <a:r>
              <a:t>13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280160"/>
            <a:ext cx="1097280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280160"/>
            <a:ext cx="10972800" cy="36576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SISTEMA DE TRAVAS FORMAIS DA ARQUITETURA SAREL v2.0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&lt;b&gt;Invariante 1 — Completude da Linha de Base:&lt;/b&gt; perdaSolo bloqueada a menos que todos os cinco fatores existam com memória de cálculo.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&lt;b&gt;Invariante 2 — Blindagem Epistêmica da Matriz:&lt;/b&gt; Metadados administrativos (código, proprietário, datas de visita) são estritamente excluídos do treinamento do XGBoost.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&lt;b&gt;Invariante 3 — Segregação Treino / Held-Out:&lt;/b&gt; Polígonos sorteados para teste jamais entram no ajuste de hiperparâmetros ou validação cruzada interna.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&lt;b&gt;Invariante 4 — Rastreabilidade Total de Proveniência:&lt;/b&gt; Todo número possui estado tipado ('medido', 'modelado', 'tabelado' ou 'indisponivel') com data, sensor e método.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&lt;b&gt;Invariante 5 — Proibição Absoluta de Fabricação Numérica (Regra P12):&lt;/b&gt; Tolerância zero com dados sintéticos gerados aleatoriamente sem conexão física real.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&lt;b&gt;Invariante 6 — Protocolo Cego com Cegamento Duplo:&lt;/b&gt; Intérpretes de VANT rotulam polígonos através de hashes anônimos (ex.: VANT-BLIND-15840AA020) sem conhecer localização ou estrato.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&lt;b&gt;Invariante 7 — Preservação do Suporte Espacial Nativo (D06):&lt;/b&gt; Proibição de reamostragem simulada para resolução que o sensor não entregou fisicamente.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058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REFORMULAÇÃO METODOLÓGICA • SAREL v2.0 • PPGTCA 2026 / UTFPR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Verificação Mecânica Contínua: 54 Suítes de Testes (409 Aprovados)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Pesquisa: Predição de Erosão Laminar na BP3 • Autor: Luís Alfredo Ferreira da Silva • Mestrado PPGTCA / UTFPR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1052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65F46"/>
                </a:solidFill>
              </a:defRPr>
            </a:pPr>
            <a:r>
              <a:t>14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280160"/>
            <a:ext cx="5303520" cy="493776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280160"/>
            <a:ext cx="5303520" cy="365760"/>
          </a:xfrm>
          <a:prstGeom prst="roundRect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ESTATÍSTICAS DA SUÍTE DE TESTES (CI/CD)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91640"/>
            <a:ext cx="50292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Verificação Estática de Tipagem: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&lt;code&gt;npx tsc --noEmit&lt;/code&gt;: &lt;b&gt;Zero erros de tipagem&lt;/b&gt; em todo o repositório.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Cobertura de Testes Automatizados (Vitest):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&lt;b&gt;54 arquivos de teste aprovados (54/54)&lt;/b&gt;.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&lt;b&gt;409 testes unitários e de integração aprovados (409/409)&lt;/b&gt;.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Duração da suíte completa: ~15 a 18 segundos.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Módulos Específicos da Fase 8 e 9: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Fator C (Durigon 2014 / BSI): 16 testes passando.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Fator K (Embrapa 2024 / k_solos): 16 testes passando.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Fator R (CHIRPS regional): 9 testes passando.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Fator LS (Desmet &amp; Govers 2D): 11 testes passando.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Linha de Base RUSLE e Invariante 1: 16 testes passando.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80160"/>
            <a:ext cx="530352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280160"/>
            <a:ext cx="5303520" cy="36576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VARREDOR DE PADRÕES PROIBIDOS (ANTI-FABRICAÇÃO)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691640"/>
            <a:ext cx="50292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Teste Automatizado padroesProibidos.test.ts: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Varre estaticamente todos os arquivos em &lt;code&gt;src/lib&lt;/code&gt;, &lt;code&gt;src/app/api&lt;/code&gt; e &lt;code&gt;src/store&lt;/code&gt;.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Padrões Estritamente Impedidos no Código: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Desmascaramento com valor nulo: Proibido mascaramento com literal.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Coalescência silenciosa: Proibida coalescência de fallbacks com números literais.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Pisos e cortes arbitrários: Proibidas funções min/max com literais disfarçados.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Data de aquisição forjada: Proibida data gerada em tempo de execução dinâmico.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Síntese aleatória em Python: Proibida geração aleatória sem justificativa documental.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Relatório Pericial Automatizado: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Script &lt;code&gt;gerar_relatorio_fase.ts&lt;/code&gt; audita hashes SHA-256 e gera laudo pericial mecânico a cada fase.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058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REFORMULAÇÃO METODOLÓGICA • SAREL v2.0 • PPGTCA 2026 / UTFPR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Síntese da Evolução: Paradigma v1 vs Paradigma v2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Pesquisa: Predição de Erosão Laminar na BP3 • Autor: Luís Alfredo Ferreira da Silva • Mestrado PPGTCA / UTFPR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1052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65F46"/>
                </a:solidFill>
              </a:defRPr>
            </a:pPr>
            <a:r>
              <a:t>15 / 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280160"/>
          <a:ext cx="11094415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14800"/>
                <a:gridCol w="4236415"/>
              </a:tblGrid>
              <a:tr h="61722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Dimensão Metodológica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Paradigma v1.0 (Superado)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Paradigma v2.0 (Canônico Atual)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Estratégia Amostral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BE123C"/>
                          </a:solidFill>
                        </a:defRPr>
                      </a:pPr>
                      <a:r>
                        <a:t>Intencional por suspeita visual (viés alto).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065F46"/>
                          </a:solidFill>
                        </a:defRPr>
                      </a:pPr>
                      <a:r>
                        <a:t>Probabilística em 18 estratos biofísicos com pi_i conhecido.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Fonte Primária do Rótulo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BE123C"/>
                          </a:solidFill>
                        </a:defRPr>
                      </a:pPr>
                      <a:r>
                        <a:t>Fotointerpretação humana no pixel de 10m.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065F46"/>
                          </a:solidFill>
                        </a:defRPr>
                      </a:pPr>
                      <a:r>
                        <a:t>Delineação centimétrica sobre VANT (GSD ~3,8 cm, CE90 1,47m).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Função dos Pontos de Campo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BE123C"/>
                          </a:solidFill>
                        </a:defRPr>
                      </a:pPr>
                      <a:r>
                        <a:t>Treinamento primário (com erro de GPS 3-8m).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065F46"/>
                          </a:solidFill>
                        </a:defRPr>
                      </a:pPr>
                      <a:r>
                        <a:t>Âncora de prevalência e teste confirmatório sob protocolo cego.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Controle de Overfitting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BE123C"/>
                          </a:solidFill>
                        </a:defRPr>
                      </a:pPr>
                      <a:r>
                        <a:t>Dezenas de preditores sem checagem de suporte.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065F46"/>
                          </a:solidFill>
                        </a:defRPr>
                      </a:pPr>
                      <a:r>
                        <a:t>Tetos estritos por bloco baseados na regra EPV &gt;= 20.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Guarda Temporal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BE123C"/>
                          </a:solidFill>
                        </a:defRPr>
                      </a:pPr>
                      <a:r>
                        <a:t>Janelas sobrepostas com risco de data leakage.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065F46"/>
                          </a:solidFill>
                        </a:defRPr>
                      </a:pPr>
                      <a:r>
                        <a:t>Intervalo de guarda estrito de 2 anos (24 meses) no Modelo P.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Linha de Base Física RUSLE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BE123C"/>
                          </a:solidFill>
                        </a:defRPr>
                      </a:pPr>
                      <a:r>
                        <a:t>Incompleta, com valores pendentes ou mockados.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065F46"/>
                          </a:solidFill>
                        </a:defRPr>
                      </a:pPr>
                      <a:r>
                        <a:t>100% integrada e conferida na fonte primária (D01, D13, D14, D15).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Auditoria e Verificação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BE123C"/>
                          </a:solidFill>
                        </a:defRPr>
                      </a:pPr>
                      <a:r>
                        <a:t>Inspeção manual pontual sem travas no CI.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065F46"/>
                          </a:solidFill>
                        </a:defRPr>
                      </a:pPr>
                      <a:r>
                        <a:t>54 suítes de teste (409 aprovados) e varredor anti-fabricação.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058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REFORMULAÇÃO METODOLÓGICA • SAREL v2.0 • PPGTCA 2026 / UTFPR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Referências Bibliográficas Primárias Auditadas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Pesquisa: Predição de Erosão Laminar na BP3 • Autor: Luís Alfredo Ferreira da Silva • Mestrado PPGTCA / UTFPR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1052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65F46"/>
                </a:solidFill>
              </a:defRPr>
            </a:pPr>
            <a:r>
              <a:t>16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280160"/>
            <a:ext cx="1097280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280160"/>
            <a:ext cx="10972800" cy="36576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OBRAS NORMATIVAS COM LOCALIZAÇÃO CONFERIDA NA FONTE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&lt;b&gt;Amostragem e Estatística Espacial:&lt;/b&gt;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COCHRAN, W. G. &lt;i&gt;Sampling Techniques&lt;/i&gt;. 3. ed. New York: John Wiley &amp; Sons, 1977. 428 p.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VAN DER PLOEG, T.; AUSTIN, P. C.; STEYERBERG, E. W. Modern modelling techniques are data hungry: a simulation study for predicting dichotomous endpoints. &lt;i&gt;BMC Med. Res. Methodol.&lt;/i&gt;, v. 14, p. 137, 2014.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KAUFMAN, S. et al. Leakage in data mining: Formulation, detection, and avoidance. &lt;i&gt;ACM TKDD&lt;/i&gt;, v. 6, n. 4, p. 15:1-15:21, 2012.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&lt;b&gt;Sensoriamento Remoto e VANT:&lt;/b&gt;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DRUSCH, M. et al. Sentinel-2: ESA's optical high-resolution mission for GMES operational services. &lt;i&gt;RSE&lt;/i&gt;, v. 120, p. 25-36, 2012.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NUVEM UAV. Relatórios de Aferição Fotogramétrica e Calibração Espectral — VANT Spectral 2. 2024.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► &lt;b&gt;Modelagem Física RUSLE (Linha de Base):&lt;/b&gt;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RENARD, K. G. et al. &lt;i&gt;Predicting soil erosion by water (RUSLE)&lt;/i&gt;. Washington: USDA-ARS, 1997. 404 p. (AH 703).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DESMET, P. J. J.; GOVERS, G. A GIS procedure for automatically calculating USLE LS factor. &lt;i&gt;J. Soil Water Conserv.&lt;/i&gt;, v. 51, n. 5, p. 427-433, 1996.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DURIGON, V. L. et al. NDVI time series for monitoring RUSLE cover management factor. &lt;i&gt;IJRS&lt;/i&gt;, v. 35, n. 2, p. 441-453, 2014.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COELHO, M. R. et al. &lt;i&gt;Erodibilidade dos solos do Brasil&lt;/i&gt;. Rio de Janeiro: Embrapa Solos, 2024. 40 p. (Documentos 246).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WALTRICK, P. C. et al. Estimativa do potencial erosivo das chuvas no Estado do Paraná. &lt;i&gt;RBCS&lt;/i&gt;, v. 39, n. 1, p. 256-267, 2015.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•    • RUFINO, R. L. et al. Determinação do potencial erosivo da chuva para o Paraná. &lt;i&gt;RBCS&lt;/i&gt;, v. 17, n. 3, p. 439-444, 1993.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