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 estratos vêm do produto de três dimensões: tercis de declividade (energia do relevo), tercis de frequência de solo nu (tempo de solo descoberto) e dois níveis de erodibilidade (suscetibilidade do solo). São 3 x 3 x 2 = 18. A erodibilidade vem da carta da Embrapa de 2024, com nível 1 nas classes baixa a média e nível 2 nas classes alta a extremamente alta. O desenho prevê quatro polígonos por estrato, dois para treino e dois para teste. A decisão sobre a classe 6 foi aprovada em 19/10 e está sendo registrada.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Esta é a primeira dificuldade real. Numa medição preliminar de 29/09/2026 sobre 90 candidatos, só 5 estavam no nível de erodibilidade alta dentro da faixa de declividade do método. A extrapolação para os 593 imóveis do divisor de águas dava cerca de 33. Hoje o desenho pede 36 titulares nesse nível (9 estratos vezes 4), mais reservas. Atenção: é um indício, calculado sobre um artefato pequeno, e o pool real ainda não foi medido. Há uma ferramenta pronta para medir. A tentação de mover o limiar de erodibilidade para acomodar a amostra foi recusada: o limiar é físico e vem da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Cada polígono dá cerca de 2,2 minutos de voo, com produtividade medida de 2,3 ha/min a GSD de cerca de 4 cm. Mas campanha de sítios dispersos é dominada por deslocamento e montagem, não por bateria: o número de dias de campo é maior que 3 e cresce de 36 para 72 polígonos. Outro ganho medido: a delineação sobre ortomosaico tem CE90 de 1,47 m, contra 3 a 8 m do GNSS de frequência única do aparelho de campo. A tela mostra os três conjuntos da campanha: 72 polígonos de 5,02 ha, 60 a 80 pontos de campo e a confirmação prospectiva.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3: estratificação em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1188720"/>
            <a:ext cx="2468880" cy="1463040"/>
          </a:xfrm>
          <a:prstGeom prst="roundRect">
            <a:avLst>
              <a:gd name="adj" fmla="val 5000"/>
            </a:avLst>
          </a:prstGeom>
          <a:solidFill>
            <a:srgbClr val="EEF3EF"/>
          </a:solidFill>
          <a:ln w="12700">
            <a:solidFill>
              <a:srgbClr val="EEF3EF"/>
            </a:solidFill>
            <a:prstDash val="solid"/>
          </a:ln>
        </p:spPr>
      </p:sp>
      <p:sp>
        <p:nvSpPr>
          <p:cNvPr id="6" name="Text 3"/>
          <p:cNvSpPr txBox="1"/>
          <p:nvPr/>
        </p:nvSpPr>
        <p:spPr>
          <a:xfrm>
            <a:off x="457200" y="1261872"/>
            <a:ext cx="2468880" cy="640080"/>
          </a:xfrm>
          <a:prstGeom prst="rect">
            <a:avLst/>
          </a:prstGeom>
          <a:noFill/>
          <a:ln/>
        </p:spPr>
        <p:txBody>
          <a:bodyPr wrap="square" lIns="0" tIns="0" rIns="0" bIns="0" rtlCol="0" anchor="t"/>
          <a:lstStyle/>
          <a:p>
            <a:pPr algn="ctr" indent="0" marL="0">
              <a:buNone/>
            </a:pPr>
            <a:r>
              <a:rPr lang="en-US" sz="2800" b="1" dirty="0">
                <a:solidFill>
                  <a:srgbClr val="2F6B4F"/>
                </a:solidFill>
                <a:latin typeface="Cambria" pitchFamily="34" charset="0"/>
                <a:ea typeface="Cambria" pitchFamily="34" charset="-122"/>
                <a:cs typeface="Cambria" pitchFamily="34" charset="-120"/>
              </a:rPr>
              <a:t>3</a:t>
            </a:r>
            <a:endParaRPr lang="en-US" sz="2800" dirty="0"/>
          </a:p>
        </p:txBody>
      </p:sp>
      <p:sp>
        <p:nvSpPr>
          <p:cNvPr id="7" name="Text 4"/>
          <p:cNvSpPr txBox="1"/>
          <p:nvPr/>
        </p:nvSpPr>
        <p:spPr>
          <a:xfrm>
            <a:off x="457200" y="1920240"/>
            <a:ext cx="2468880" cy="320040"/>
          </a:xfrm>
          <a:prstGeom prst="rect">
            <a:avLst/>
          </a:prstGeom>
          <a:noFill/>
          <a:ln/>
        </p:spPr>
        <p:txBody>
          <a:bodyPr wrap="square" lIns="0" tIns="0" rIns="0" bIns="0" rtlCol="0" anchor="t"/>
          <a:lstStyle/>
          <a:p>
            <a:pPr algn="ctr" indent="0" marL="0">
              <a:buNone/>
            </a:pPr>
            <a:r>
              <a:rPr lang="en-US" sz="1400" b="1" dirty="0">
                <a:solidFill>
                  <a:srgbClr val="1B2A22"/>
                </a:solidFill>
                <a:latin typeface="Calibri" pitchFamily="34" charset="0"/>
                <a:ea typeface="Calibri" pitchFamily="34" charset="-122"/>
                <a:cs typeface="Calibri" pitchFamily="34" charset="-120"/>
              </a:rPr>
              <a:t>tercis de declividade</a:t>
            </a:r>
            <a:endParaRPr lang="en-US" sz="1400" dirty="0"/>
          </a:p>
        </p:txBody>
      </p:sp>
      <p:sp>
        <p:nvSpPr>
          <p:cNvPr id="8" name="Text 5"/>
          <p:cNvSpPr txBox="1"/>
          <p:nvPr/>
        </p:nvSpPr>
        <p:spPr>
          <a:xfrm>
            <a:off x="457200" y="2240280"/>
            <a:ext cx="2468880" cy="320040"/>
          </a:xfrm>
          <a:prstGeom prst="rect">
            <a:avLst/>
          </a:prstGeom>
          <a:noFill/>
          <a:ln/>
        </p:spPr>
        <p:txBody>
          <a:bodyPr wrap="square" lIns="0" tIns="0" rIns="0" bIns="0" rtlCol="0" anchor="t"/>
          <a:lstStyle/>
          <a:p>
            <a:pPr algn="ctr" indent="0" marL="0">
              <a:buNone/>
            </a:pPr>
            <a:r>
              <a:rPr lang="en-US" sz="1200" dirty="0">
                <a:solidFill>
                  <a:srgbClr val="52605A"/>
                </a:solidFill>
                <a:latin typeface="Calibri" pitchFamily="34" charset="0"/>
                <a:ea typeface="Calibri" pitchFamily="34" charset="-122"/>
                <a:cs typeface="Calibri" pitchFamily="34" charset="-120"/>
              </a:rPr>
              <a:t>energia do relevo</a:t>
            </a:r>
            <a:endParaRPr lang="en-US" sz="1200" dirty="0"/>
          </a:p>
        </p:txBody>
      </p:sp>
      <p:sp>
        <p:nvSpPr>
          <p:cNvPr id="9" name="Text 6"/>
          <p:cNvSpPr txBox="1"/>
          <p:nvPr/>
        </p:nvSpPr>
        <p:spPr>
          <a:xfrm>
            <a:off x="2926080" y="160020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188720"/>
            <a:ext cx="2468880" cy="1463040"/>
          </a:xfrm>
          <a:prstGeom prst="roundRect">
            <a:avLst>
              <a:gd name="adj" fmla="val 5000"/>
            </a:avLst>
          </a:prstGeom>
          <a:solidFill>
            <a:srgbClr val="EEF3EF"/>
          </a:solidFill>
          <a:ln w="12700">
            <a:solidFill>
              <a:srgbClr val="EEF3EF"/>
            </a:solidFill>
            <a:prstDash val="solid"/>
          </a:ln>
        </p:spPr>
      </p:sp>
      <p:sp>
        <p:nvSpPr>
          <p:cNvPr id="11" name="Text 8"/>
          <p:cNvSpPr txBox="1"/>
          <p:nvPr/>
        </p:nvSpPr>
        <p:spPr>
          <a:xfrm>
            <a:off x="3291840" y="1261872"/>
            <a:ext cx="2468880" cy="640080"/>
          </a:xfrm>
          <a:prstGeom prst="rect">
            <a:avLst/>
          </a:prstGeom>
          <a:noFill/>
          <a:ln/>
        </p:spPr>
        <p:txBody>
          <a:bodyPr wrap="square" lIns="0" tIns="0" rIns="0" bIns="0" rtlCol="0" anchor="t"/>
          <a:lstStyle/>
          <a:p>
            <a:pPr algn="ctr" indent="0" marL="0">
              <a:buNone/>
            </a:pPr>
            <a:r>
              <a:rPr lang="en-US" sz="2800" b="1" dirty="0">
                <a:solidFill>
                  <a:srgbClr val="2F6B4F"/>
                </a:solidFill>
                <a:latin typeface="Cambria" pitchFamily="34" charset="0"/>
                <a:ea typeface="Cambria" pitchFamily="34" charset="-122"/>
                <a:cs typeface="Cambria" pitchFamily="34" charset="-120"/>
              </a:rPr>
              <a:t>3</a:t>
            </a:r>
            <a:endParaRPr lang="en-US" sz="2800" dirty="0"/>
          </a:p>
        </p:txBody>
      </p:sp>
      <p:sp>
        <p:nvSpPr>
          <p:cNvPr id="12" name="Text 9"/>
          <p:cNvSpPr txBox="1"/>
          <p:nvPr/>
        </p:nvSpPr>
        <p:spPr>
          <a:xfrm>
            <a:off x="3291840" y="1920240"/>
            <a:ext cx="2468880" cy="320040"/>
          </a:xfrm>
          <a:prstGeom prst="rect">
            <a:avLst/>
          </a:prstGeom>
          <a:noFill/>
          <a:ln/>
        </p:spPr>
        <p:txBody>
          <a:bodyPr wrap="square" lIns="0" tIns="0" rIns="0" bIns="0" rtlCol="0" anchor="t"/>
          <a:lstStyle/>
          <a:p>
            <a:pPr algn="ctr" indent="0" marL="0">
              <a:buNone/>
            </a:pPr>
            <a:r>
              <a:rPr lang="en-US" sz="1400" b="1" dirty="0">
                <a:solidFill>
                  <a:srgbClr val="1B2A22"/>
                </a:solidFill>
                <a:latin typeface="Calibri" pitchFamily="34" charset="0"/>
                <a:ea typeface="Calibri" pitchFamily="34" charset="-122"/>
                <a:cs typeface="Calibri" pitchFamily="34" charset="-120"/>
              </a:rPr>
              <a:t>tercis de solo nu</a:t>
            </a:r>
            <a:endParaRPr lang="en-US" sz="1400" dirty="0"/>
          </a:p>
        </p:txBody>
      </p:sp>
      <p:sp>
        <p:nvSpPr>
          <p:cNvPr id="13" name="Text 10"/>
          <p:cNvSpPr txBox="1"/>
          <p:nvPr/>
        </p:nvSpPr>
        <p:spPr>
          <a:xfrm>
            <a:off x="3291840" y="2240280"/>
            <a:ext cx="2468880" cy="320040"/>
          </a:xfrm>
          <a:prstGeom prst="rect">
            <a:avLst/>
          </a:prstGeom>
          <a:noFill/>
          <a:ln/>
        </p:spPr>
        <p:txBody>
          <a:bodyPr wrap="square" lIns="0" tIns="0" rIns="0" bIns="0" rtlCol="0" anchor="t"/>
          <a:lstStyle/>
          <a:p>
            <a:pPr algn="ctr" indent="0" marL="0">
              <a:buNone/>
            </a:pPr>
            <a:r>
              <a:rPr lang="en-US" sz="1200" dirty="0">
                <a:solidFill>
                  <a:srgbClr val="52605A"/>
                </a:solidFill>
                <a:latin typeface="Calibri" pitchFamily="34" charset="0"/>
                <a:ea typeface="Calibri" pitchFamily="34" charset="-122"/>
                <a:cs typeface="Calibri" pitchFamily="34" charset="-120"/>
              </a:rPr>
              <a:t>tempo de solo descoberto</a:t>
            </a:r>
            <a:endParaRPr lang="en-US" sz="1200" dirty="0"/>
          </a:p>
        </p:txBody>
      </p:sp>
      <p:sp>
        <p:nvSpPr>
          <p:cNvPr id="14" name="Text 11"/>
          <p:cNvSpPr txBox="1"/>
          <p:nvPr/>
        </p:nvSpPr>
        <p:spPr>
          <a:xfrm>
            <a:off x="5760720" y="160020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188720"/>
            <a:ext cx="2468880" cy="1463040"/>
          </a:xfrm>
          <a:prstGeom prst="roundRect">
            <a:avLst>
              <a:gd name="adj" fmla="val 5000"/>
            </a:avLst>
          </a:prstGeom>
          <a:solidFill>
            <a:srgbClr val="EEF3EF"/>
          </a:solidFill>
          <a:ln w="12700">
            <a:solidFill>
              <a:srgbClr val="EEF3EF"/>
            </a:solidFill>
            <a:prstDash val="solid"/>
          </a:ln>
        </p:spPr>
      </p:sp>
      <p:sp>
        <p:nvSpPr>
          <p:cNvPr id="16" name="Text 13"/>
          <p:cNvSpPr txBox="1"/>
          <p:nvPr/>
        </p:nvSpPr>
        <p:spPr>
          <a:xfrm>
            <a:off x="6126480" y="1261872"/>
            <a:ext cx="2468880" cy="640080"/>
          </a:xfrm>
          <a:prstGeom prst="rect">
            <a:avLst/>
          </a:prstGeom>
          <a:noFill/>
          <a:ln/>
        </p:spPr>
        <p:txBody>
          <a:bodyPr wrap="square" lIns="0" tIns="0" rIns="0" bIns="0" rtlCol="0" anchor="t"/>
          <a:lstStyle/>
          <a:p>
            <a:pPr algn="ctr" indent="0" marL="0">
              <a:buNone/>
            </a:pPr>
            <a:r>
              <a:rPr lang="en-US" sz="2800" b="1" dirty="0">
                <a:solidFill>
                  <a:srgbClr val="2F6B4F"/>
                </a:solidFill>
                <a:latin typeface="Cambria" pitchFamily="34" charset="0"/>
                <a:ea typeface="Cambria" pitchFamily="34" charset="-122"/>
                <a:cs typeface="Cambria" pitchFamily="34" charset="-120"/>
              </a:rPr>
              <a:t>2</a:t>
            </a:r>
            <a:endParaRPr lang="en-US" sz="2800" dirty="0"/>
          </a:p>
        </p:txBody>
      </p:sp>
      <p:sp>
        <p:nvSpPr>
          <p:cNvPr id="17" name="Text 14"/>
          <p:cNvSpPr txBox="1"/>
          <p:nvPr/>
        </p:nvSpPr>
        <p:spPr>
          <a:xfrm>
            <a:off x="6126480" y="1920240"/>
            <a:ext cx="2468880" cy="320040"/>
          </a:xfrm>
          <a:prstGeom prst="rect">
            <a:avLst/>
          </a:prstGeom>
          <a:noFill/>
          <a:ln/>
        </p:spPr>
        <p:txBody>
          <a:bodyPr wrap="square" lIns="0" tIns="0" rIns="0" bIns="0" rtlCol="0" anchor="t"/>
          <a:lstStyle/>
          <a:p>
            <a:pPr algn="ctr" indent="0" marL="0">
              <a:buNone/>
            </a:pPr>
            <a:r>
              <a:rPr lang="en-US" sz="1400" b="1" dirty="0">
                <a:solidFill>
                  <a:srgbClr val="1B2A22"/>
                </a:solidFill>
                <a:latin typeface="Calibri" pitchFamily="34" charset="0"/>
                <a:ea typeface="Calibri" pitchFamily="34" charset="-122"/>
                <a:cs typeface="Calibri" pitchFamily="34" charset="-120"/>
              </a:rPr>
              <a:t>níveis de erodibilidade</a:t>
            </a:r>
            <a:endParaRPr lang="en-US" sz="1400" dirty="0"/>
          </a:p>
        </p:txBody>
      </p:sp>
      <p:sp>
        <p:nvSpPr>
          <p:cNvPr id="18" name="Text 15"/>
          <p:cNvSpPr txBox="1"/>
          <p:nvPr/>
        </p:nvSpPr>
        <p:spPr>
          <a:xfrm>
            <a:off x="6126480" y="2240280"/>
            <a:ext cx="2468880" cy="320040"/>
          </a:xfrm>
          <a:prstGeom prst="rect">
            <a:avLst/>
          </a:prstGeom>
          <a:noFill/>
          <a:ln/>
        </p:spPr>
        <p:txBody>
          <a:bodyPr wrap="square" lIns="0" tIns="0" rIns="0" bIns="0" rtlCol="0" anchor="t"/>
          <a:lstStyle/>
          <a:p>
            <a:pPr algn="ctr" indent="0" marL="0">
              <a:buNone/>
            </a:pPr>
            <a:r>
              <a:rPr lang="en-US" sz="1200" dirty="0">
                <a:solidFill>
                  <a:srgbClr val="52605A"/>
                </a:solidFill>
                <a:latin typeface="Calibri" pitchFamily="34" charset="0"/>
                <a:ea typeface="Calibri" pitchFamily="34" charset="-122"/>
                <a:cs typeface="Calibri" pitchFamily="34" charset="-120"/>
              </a:rPr>
              <a:t>suscetibilidade do solo</a:t>
            </a:r>
            <a:endParaRPr lang="en-US" sz="1200" dirty="0"/>
          </a:p>
        </p:txBody>
      </p:sp>
      <p:sp>
        <p:nvSpPr>
          <p:cNvPr id="19" name="Text 16"/>
          <p:cNvSpPr txBox="1"/>
          <p:nvPr/>
        </p:nvSpPr>
        <p:spPr>
          <a:xfrm>
            <a:off x="457200" y="2926080"/>
            <a:ext cx="8229600" cy="457200"/>
          </a:xfrm>
          <a:prstGeom prst="rect">
            <a:avLst/>
          </a:prstGeom>
          <a:noFill/>
          <a:ln/>
        </p:spPr>
        <p:txBody>
          <a:bodyPr wrap="square" lIns="0" tIns="0" rIns="0" bIns="0" rtlCol="0" anchor="t"/>
          <a:lstStyle/>
          <a:p>
            <a:pPr indent="0" marL="0">
              <a:buNone/>
            </a:pPr>
            <a:r>
              <a:rPr lang="en-US" sz="1800" dirty="0">
                <a:solidFill>
                  <a:srgbClr val="1B2A22"/>
                </a:solidFill>
                <a:latin typeface="Cambria" pitchFamily="34" charset="0"/>
                <a:ea typeface="Cambria" pitchFamily="34" charset="-122"/>
                <a:cs typeface="Cambria" pitchFamily="34" charset="-120"/>
              </a:rPr>
              <a:t>= 18 estratos, com 4 polígonos por estrato: 2 para treino e 2 para held-out</a:t>
            </a:r>
            <a:endParaRPr lang="en-US" sz="18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erodibilidade vem da carta de 2024 (Embrapa Solos, Documentos 246): nível 2 = classes alta, muito alta e extremamente alta (emenda de 19/10/2026 a D09, em registro)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frequência de solo nu é a fração de cenas válidas em que a célula aparece com solo exposto</a:t>
            </a:r>
            <a:endParaRPr lang="en-US" sz="125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1: poucos candidatos nos estratos de erodibilidade alta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sp>
        <p:nvSpPr>
          <p:cNvPr id="5" name="Shape 2"/>
          <p:cNvSpPr/>
          <p:nvPr/>
        </p:nvSpPr>
        <p:spPr>
          <a:xfrm>
            <a:off x="457200" y="114300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5 de 90</a:t>
            </a:r>
            <a:endParaRPr lang="en-US" sz="2200" dirty="0"/>
          </a:p>
        </p:txBody>
      </p:sp>
      <p:sp>
        <p:nvSpPr>
          <p:cNvPr id="7" name="Text 4"/>
          <p:cNvSpPr txBox="1"/>
          <p:nvPr/>
        </p:nvSpPr>
        <p:spPr>
          <a:xfrm>
            <a:off x="5486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candidatos em erodibilidade alta, dentro de 3 a 20% (medição de 29/09)</a:t>
            </a:r>
            <a:endParaRPr lang="en-US" sz="1100" dirty="0"/>
          </a:p>
        </p:txBody>
      </p:sp>
      <p:sp>
        <p:nvSpPr>
          <p:cNvPr id="8" name="Shape 5"/>
          <p:cNvSpPr/>
          <p:nvPr/>
        </p:nvSpPr>
        <p:spPr>
          <a:xfrm>
            <a:off x="2514600" y="114300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33</a:t>
            </a:r>
            <a:endParaRPr lang="en-US" sz="2200" dirty="0"/>
          </a:p>
        </p:txBody>
      </p:sp>
      <p:sp>
        <p:nvSpPr>
          <p:cNvPr id="10" name="Text 7"/>
          <p:cNvSpPr txBox="1"/>
          <p:nvPr/>
        </p:nvSpPr>
        <p:spPr>
          <a:xfrm>
            <a:off x="26060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extrapolação para os 593 imóveis do divisor (estimativa)</a:t>
            </a:r>
            <a:endParaRPr lang="en-US" sz="1100" dirty="0"/>
          </a:p>
        </p:txBody>
      </p:sp>
      <p:sp>
        <p:nvSpPr>
          <p:cNvPr id="11" name="Shape 8"/>
          <p:cNvSpPr/>
          <p:nvPr/>
        </p:nvSpPr>
        <p:spPr>
          <a:xfrm>
            <a:off x="4572000" y="114300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25272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36</a:t>
            </a:r>
            <a:endParaRPr lang="en-US" sz="2200" dirty="0"/>
          </a:p>
        </p:txBody>
      </p:sp>
      <p:sp>
        <p:nvSpPr>
          <p:cNvPr id="13" name="Text 10"/>
          <p:cNvSpPr txBox="1"/>
          <p:nvPr/>
        </p:nvSpPr>
        <p:spPr>
          <a:xfrm>
            <a:off x="46634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titulares exigidos hoje nesse nível: 9 estratos × 4</a:t>
            </a:r>
            <a:endParaRPr lang="en-US" sz="1100" dirty="0"/>
          </a:p>
        </p:txBody>
      </p:sp>
      <p:sp>
        <p:nvSpPr>
          <p:cNvPr id="14" name="Shape 11"/>
          <p:cNvSpPr/>
          <p:nvPr/>
        </p:nvSpPr>
        <p:spPr>
          <a:xfrm>
            <a:off x="6629400" y="1143000"/>
            <a:ext cx="20116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252728"/>
            <a:ext cx="20116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reservas</a:t>
            </a:r>
            <a:endParaRPr lang="en-US" sz="2200" dirty="0"/>
          </a:p>
        </p:txBody>
      </p:sp>
      <p:sp>
        <p:nvSpPr>
          <p:cNvPr id="16" name="Text 13"/>
          <p:cNvSpPr txBox="1"/>
          <p:nvPr/>
        </p:nvSpPr>
        <p:spPr>
          <a:xfrm>
            <a:off x="6720840" y="1856232"/>
            <a:ext cx="18288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para repor recusas, no mesmo selo</a:t>
            </a:r>
            <a:endParaRPr lang="en-US" sz="1100" dirty="0"/>
          </a:p>
        </p:txBody>
      </p:sp>
      <p:sp>
        <p:nvSpPr>
          <p:cNvPr id="17" name="Text 14"/>
          <p:cNvSpPr txBox="1"/>
          <p:nvPr/>
        </p:nvSpPr>
        <p:spPr>
          <a:xfrm>
            <a:off x="457200" y="2606040"/>
            <a:ext cx="8229600" cy="210312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É um indício, calculado sobre um artefato pequeno. O pool real ainda não foi medido.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 ferramenta de checagem do pool por estrato está pronta (somente leitura); falta rodá-la com os candidatos reais.</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Não se move o limiar físico de erodibilidade para acomodar a amostra: a decisão vem da fonte e da regra registrada.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Respostas legítimas: ampliar a área de estudo, usar reservas ordenadas, ou declarar a limitação de potência naquele estrato.</a:t>
            </a:r>
            <a:endParaRPr lang="en-US" sz="1300" dirty="0"/>
          </a:p>
        </p:txBody>
      </p:sp>
      <p:sp>
        <p:nvSpPr>
          <p:cNvPr id="18" name="Text 15"/>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verificação de 29/09/2026 (docs/verificacoes); decisões D09, D12 e D16; ferramenta scripts/verificar_pool_estratos.ts.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2: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5: 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3: logística do voo e posição do rótulo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05840"/>
            <a:ext cx="178308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7830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2,3 ha/min</a:t>
            </a:r>
            <a:endParaRPr lang="en-US" sz="2200" dirty="0"/>
          </a:p>
        </p:txBody>
      </p:sp>
      <p:sp>
        <p:nvSpPr>
          <p:cNvPr id="7" name="Text 4"/>
          <p:cNvSpPr txBox="1"/>
          <p:nvPr/>
        </p:nvSpPr>
        <p:spPr>
          <a:xfrm>
            <a:off x="54864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produtividade medida do voo (≈ 4 cm)</a:t>
            </a:r>
            <a:endParaRPr lang="en-US" sz="1100" dirty="0"/>
          </a:p>
        </p:txBody>
      </p:sp>
      <p:sp>
        <p:nvSpPr>
          <p:cNvPr id="8" name="Shape 5"/>
          <p:cNvSpPr/>
          <p:nvPr/>
        </p:nvSpPr>
        <p:spPr>
          <a:xfrm>
            <a:off x="2377440" y="1005840"/>
            <a:ext cx="178308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377440" y="1115568"/>
            <a:ext cx="17830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2,2 min</a:t>
            </a:r>
            <a:endParaRPr lang="en-US" sz="2200" dirty="0"/>
          </a:p>
        </p:txBody>
      </p:sp>
      <p:sp>
        <p:nvSpPr>
          <p:cNvPr id="10" name="Text 7"/>
          <p:cNvSpPr txBox="1"/>
          <p:nvPr/>
        </p:nvSpPr>
        <p:spPr>
          <a:xfrm>
            <a:off x="246888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a:t>
            </a:r>
            <a:endParaRPr lang="en-US" sz="1100" dirty="0"/>
          </a:p>
        </p:txBody>
      </p:sp>
      <p:sp>
        <p:nvSpPr>
          <p:cNvPr id="11" name="Shape 8"/>
          <p:cNvSpPr/>
          <p:nvPr/>
        </p:nvSpPr>
        <p:spPr>
          <a:xfrm>
            <a:off x="4297680" y="1005840"/>
            <a:ext cx="178308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297680" y="1115568"/>
            <a:ext cx="178308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3" name="Text 10"/>
          <p:cNvSpPr txBox="1"/>
          <p:nvPr/>
        </p:nvSpPr>
        <p:spPr>
          <a:xfrm>
            <a:off x="438912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e sítios a visitar (eram 36)</a:t>
            </a:r>
            <a:endParaRPr lang="en-US" sz="1100" dirty="0"/>
          </a:p>
        </p:txBody>
      </p:sp>
      <p:sp>
        <p:nvSpPr>
          <p:cNvPr id="14" name="Shape 11"/>
          <p:cNvSpPr/>
          <p:nvPr/>
        </p:nvSpPr>
        <p:spPr>
          <a:xfrm>
            <a:off x="6217920" y="1005840"/>
            <a:ext cx="24688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217920" y="1115568"/>
            <a:ext cx="24688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1,47 vs 3–8 m</a:t>
            </a:r>
            <a:endParaRPr lang="en-US" sz="2200" dirty="0"/>
          </a:p>
        </p:txBody>
      </p:sp>
      <p:sp>
        <p:nvSpPr>
          <p:cNvPr id="16" name="Text 13"/>
          <p:cNvSpPr txBox="1"/>
          <p:nvPr/>
        </p:nvSpPr>
        <p:spPr>
          <a:xfrm>
            <a:off x="6309360" y="1719072"/>
            <a:ext cx="22860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CE90 da delineação vs GNSS do aparelho de campo</a:t>
            </a:r>
            <a:endParaRPr lang="en-US" sz="1100" dirty="0"/>
          </a:p>
        </p:txBody>
      </p:sp>
      <p:sp>
        <p:nvSpPr>
          <p:cNvPr id="17" name="Shape 14"/>
          <p:cNvSpPr/>
          <p:nvPr/>
        </p:nvSpPr>
        <p:spPr>
          <a:xfrm>
            <a:off x="438912" y="2404872"/>
            <a:ext cx="8266176" cy="1754405"/>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457200" y="2423160"/>
            <a:ext cx="8229600" cy="1717829"/>
          </a:xfrm>
          <a:prstGeom prst="rect">
            <a:avLst/>
          </a:prstGeom>
        </p:spPr>
      </p:pic>
      <p:sp>
        <p:nvSpPr>
          <p:cNvPr id="19" name="Text 15"/>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Central de Campanha: os três conjuntos do desenho (polígonos de VANT, pontos de campo e confirmação prospectiva).</a:t>
            </a:r>
            <a:endParaRPr lang="en-US" sz="11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(docs/verificacoes/voo/cobertura_voos.geojson). Dias de campo: deslocamento e montagem dominam, mais que a bateria.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Passos 6 e 7: 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8: 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Passo 10: 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15</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2026-10-19T02:51:13Z</dcterms:created>
  <dcterms:modified xsi:type="dcterms:W3CDTF">2026-10-19T02:51:13Z</dcterms:modified>
</cp:coreProperties>
</file>