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68" r:id="rId2"/>
    <p:sldId id="257" r:id="rId3"/>
    <p:sldId id="269" r:id="rId4"/>
    <p:sldId id="258" r:id="rId5"/>
    <p:sldId id="259" r:id="rId6"/>
    <p:sldId id="260" r:id="rId7"/>
    <p:sldId id="261" r:id="rId8"/>
    <p:sldId id="262" r:id="rId9"/>
    <p:sldId id="263" r:id="rId10"/>
    <p:sldId id="264" r:id="rId11"/>
    <p:sldId id="265" r:id="rId12"/>
    <p:sldId id="256" r:id="rId13"/>
    <p:sldId id="266" r:id="rId14"/>
    <p:sldId id="267"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3" d="100"/>
          <a:sy n="133" d="100"/>
        </p:scale>
        <p:origin x="126"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pt-PT"/>
  <c:roundedCorners val="1"/>
  <c:style val="2"/>
  <c:chart>
    <c:title>
      <c:tx>
        <c:rich>
          <a:bodyPr/>
          <a:lstStyle/>
          <a:p>
            <a:pPr>
              <a:defRPr sz="1200" b="0" i="0" u="none" strike="noStrike">
                <a:solidFill>
                  <a:srgbClr val="1B2A22"/>
                </a:solidFill>
                <a:latin typeface="Arial"/>
              </a:defRPr>
            </a:pPr>
            <a:r>
              <a:rPr lang="pt-BR" sz="1200" b="0" i="0" u="none" strike="noStrike">
                <a:solidFill>
                  <a:srgbClr val="1B2A22"/>
                </a:solidFill>
                <a:latin typeface="Arial"/>
              </a:rPr>
              <a:t>Elegibilidade (limite superior, %)</a:t>
            </a:r>
          </a:p>
        </c:rich>
      </c:tx>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spPr>
              <a:noFill/>
              <a:ln>
                <a:noFill/>
              </a:ln>
              <a:effectLst/>
            </c:spPr>
            <c:txPr>
              <a:bodyPr/>
              <a:lstStyle/>
              <a:p>
                <a:pPr>
                  <a:defRPr sz="1200" b="0" i="0" u="none" strike="noStrike">
                    <a:solidFill>
                      <a:srgbClr val="1B2A22"/>
                    </a:solidFill>
                    <a:latin typeface="Arial"/>
                  </a:defRPr>
                </a:pPr>
                <a:endParaRPr lang="pt-B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10 ha (quadrado)</c:v>
                </c:pt>
                <c:pt idx="1">
                  <c:v>5,02 ha (quadrado)</c:v>
                </c:pt>
                <c:pt idx="2">
                  <c:v>5,02 ha (retângulo até 1:2)</c:v>
                </c:pt>
              </c:strCache>
            </c:strRef>
          </c:cat>
          <c:val>
            <c:numRef>
              <c:f>Sheet1!$B$2:$B$4</c:f>
              <c:numCache>
                <c:formatCode>General</c:formatCode>
                <c:ptCount val="3"/>
                <c:pt idx="0">
                  <c:v>43.4</c:v>
                </c:pt>
                <c:pt idx="1">
                  <c:v>64.7</c:v>
                </c:pt>
                <c:pt idx="2">
                  <c:v>71.8</c:v>
                </c:pt>
              </c:numCache>
            </c:numRef>
          </c:val>
          <c:extLst>
            <c:ext xmlns:c16="http://schemas.microsoft.com/office/drawing/2014/chart" uri="{C3380CC4-5D6E-409C-BE32-E72D297353CC}">
              <c16:uniqueId val="{00000000-0D91-451B-A021-45317E1C330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0119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Apresentar o tema: não é uma apresentação de resultados, é do arcabouço: como desenhar a amostragem e o teste para que cada número seja rastreável e o critério de sucesso seja fixado antes dos dados.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Para quem pergunta como o SAREL foi construído. A interface e as regras do método estão em TypeScript, com Next.js e React; são cerca de 36 mil linhas em 138 arquivos, mais 85 arquivos de teste automatizado, o que sustenta a ideia de arcabouço auditável: as regras são testadas. O Python cuida do que é dado geoespacial e estatística: a ingestão das bases fundiárias para um banco SQLite local, a chuva do CHIRPS, o relevo Copernicus, o verificador do pacote exportado e a geração de relatórios. O aplicativo de campo, o SAREL Coletor, é um app Android em Kotlin com Jetpack Compose e Room, que funciona offline; o código dele não está neste repositório. Há ainda um instalador do Windows em C#, lançadores em PowerShell e Batch, e o Google Earth Engine para o Sentinel-2. O sistema roda localmente no Windows, e a rede só é necessária para o Earth Engine. Ressalva: a contagem de linhas inclui comentários.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 Onde entra a série temporal: a frequência de solo nu, calculada sobre a fração de cenas Sentinel-2 válidas de 2016 a 2026, é o eixo de solo nu dos estratos; há um mínimo de 6 observações válidas por célula e janela, abaixo do qual a métrica é indisponível, não deflacionada. A frequência de solo nu ainda não foi medida, por falta da credencial do Google Earth Engine.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Aeronave: Spectral 2, da Nuvem UAV, com a câmera multiespectral MicaSense Altum; há 3 baterias disponíveis. Quantidade de voos: são 72 polígonos de 5,02 ha, ou seja, 72 missões de mapeamento, uma por polígono; eram 36 no desenho anterior. Por que 72: é a estrutura de 18 estratos com 4 polígonos cada. A área total, de cerca de 361 ha, é o que o custo de voo suporta e rende cerca de 1.845 unidades espacialmente independentes (D24), no limite para o bloco espectral e abaixo do recomendado para solo, chuva e terreno. Tempo: o plano de voo para 4 cm de resolução usa altitude de 92,8 m, cerca de 7 linhas e 123 disparos por polígono, com velocidade medida de 8,7 a 9,2 m/s nos logs reais; isso dá cerca de 3 minutos de mapeamento por polígono, mais as curvas. Em horas, são pelo menos 3,6 h de mapeamento nos 72 polígonos, sem contar decolagem, pouso, troca de bateria e deslocamento, que dominam a campanha. Com teto padrão de 6 polígonos por jornada, são cerca de 12 jornadas e dois polígonos por bateria; isso é compatível com as duas missões já voadas, de 9 a 13 minutos, mas a autonomia útil de cada bateria ainda precisa ser confirmada. Nas duas missões medidas a produtividade foi de 2,3 ha/min na Missão 009 e 0,53 ha/min na 000, de modo que o tempo real pode ser maior que o planejado. Há ainda 72 autorizações de proprietário a obter.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SAREL Coletor é o aplicativo Android usado nos 60 a 80 pontos de campo, no lugar do KoboCollect; funciona offline. Cada ponto vira uma linha de um CSV de 28 colunas, que o SAREL lê e valida. Seis grupos de informação. Um: identificação e protocolo; o observador recebe só um código opaco e não vê estrato nem predição, isto é, a coleta é cega. Dois: a posição, com latitude, longitude, altitude, a acurácia que o aparelho informa e a distância ao ponto planejado; a posição simulada é rejeitada na ingestão, e o método pode ser média estática ou fix único. Três: o rótulo, em escala ordinal de quatro níveis, ausente, incipiente, moderada ou severa, com a confiança do observador; o binário é derivado, com ausente igual a zero e o restante igual a um, e o incipiente conta como positivo. Quatro: indicadores diagnósticos de erosão laminar, como pedestais e raízes expostas, exposição do horizonte B, espessura do horizonte A, crosta e selamento, microssulcos iniciais e sedimentação no sopé. Cinco: manejo e conservação, sistema de manejo, cobertura vegetal, sentido de plantio e terraço, que alimentam o fator P do RUSLE, com coeficientes ainda provisórios. Seis: fotos nadir e panorâmica e observações. Lembrar: o campo é âncora de prevalência e calibração de posição, não massa de treino. Ressalvas: não conferi se a versão atual do aplicativo já implementa a média estática e as métricas de satélites; a ingestão do SAREL já aceita o método de posição e o erro padrão.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41C"/>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Arcabouço computacional auditável para amostragem estratificada de erosão laminar</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txBox="1"/>
          <p:nvPr/>
        </p:nvSpPr>
        <p:spPr>
          <a:xfrm>
            <a:off x="548640" y="1371600"/>
            <a:ext cx="804672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DB596"/>
                </a:solidFill>
                <a:effectLst/>
                <a:uLnTx/>
                <a:uFillTx/>
                <a:latin typeface="Calibri" pitchFamily="34" charset="0"/>
                <a:ea typeface="Calibri" pitchFamily="34" charset="-122"/>
                <a:cs typeface="Calibri" pitchFamily="34" charset="-120"/>
              </a:rPr>
              <a:t>SAREL v2: </a:t>
            </a:r>
            <a:r>
              <a:rPr kumimoji="0" lang="pt-BR" sz="1600" b="0" i="0" u="none" strike="noStrike" kern="1200" cap="none" spc="0" normalizeH="0" baseline="0" noProof="0" dirty="0">
                <a:ln>
                  <a:noFill/>
                </a:ln>
                <a:solidFill>
                  <a:srgbClr val="8DB596"/>
                </a:solidFill>
                <a:effectLst/>
                <a:uLnTx/>
                <a:uFillTx/>
                <a:latin typeface="Calibri" pitchFamily="34" charset="0"/>
                <a:ea typeface="Calibri" pitchFamily="34" charset="-122"/>
                <a:cs typeface="Calibri" pitchFamily="34" charset="-120"/>
              </a:rPr>
              <a:t>Sistema de Amostragem e Rotulagem para Erosão Laminar</a:t>
            </a:r>
            <a:r>
              <a:rPr kumimoji="0" lang="en-US" sz="1600" b="0" i="0" u="none" strike="noStrike" kern="1200" cap="none" spc="0" normalizeH="0" baseline="0" noProof="0" dirty="0">
                <a:ln>
                  <a:noFill/>
                </a:ln>
                <a:solidFill>
                  <a:srgbClr val="8DB596"/>
                </a:solidFill>
                <a:effectLst/>
                <a:uLnTx/>
                <a:uFillTx/>
                <a:latin typeface="Calibri" pitchFamily="34" charset="0"/>
                <a:ea typeface="Calibri" pitchFamily="34" charset="-122"/>
                <a:cs typeface="Calibri" pitchFamily="34" charset="-120"/>
              </a:rPr>
              <a:t>  </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548640" y="1794240"/>
            <a:ext cx="80467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Luis Alfredo Ferreira da Silva</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Fabiana Costa de Araujo Schutz</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Kiria Vitoria Nakahati</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txBox="1"/>
          <p:nvPr/>
        </p:nvSpPr>
        <p:spPr>
          <a:xfrm>
            <a:off x="548640" y="2514060"/>
            <a:ext cx="8046720" cy="3200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4E9E3"/>
                </a:solidFill>
                <a:effectLst/>
                <a:uLnTx/>
                <a:uFillTx/>
                <a:latin typeface="Calibri" pitchFamily="34" charset="0"/>
                <a:ea typeface="Calibri" pitchFamily="34" charset="-122"/>
                <a:cs typeface="Calibri" pitchFamily="34" charset="-120"/>
              </a:rPr>
              <a:t>Orientador: Claudio Leones Bazzi</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txBox="1"/>
          <p:nvPr/>
        </p:nvSpPr>
        <p:spPr>
          <a:xfrm>
            <a:off x="548640" y="2913840"/>
            <a:ext cx="804672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4E9E3"/>
                </a:solidFill>
                <a:effectLst/>
                <a:uLnTx/>
                <a:uFillTx/>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8" name="Imagem 7">
            <a:extLst>
              <a:ext uri="{FF2B5EF4-FFF2-40B4-BE49-F238E27FC236}">
                <a16:creationId xmlns:a16="http://schemas.microsoft.com/office/drawing/2014/main" id="{79E08353-1B18-589A-EA17-C95342BA46D0}"/>
              </a:ext>
            </a:extLst>
          </p:cNvPr>
          <p:cNvPicPr>
            <a:picLocks noChangeAspect="1"/>
          </p:cNvPicPr>
          <p:nvPr/>
        </p:nvPicPr>
        <p:blipFill>
          <a:blip r:embed="rId3"/>
          <a:stretch>
            <a:fillRect/>
          </a:stretch>
        </p:blipFill>
        <p:spPr>
          <a:xfrm>
            <a:off x="3672540" y="3876614"/>
            <a:ext cx="2317860" cy="706186"/>
          </a:xfrm>
          <a:prstGeom prst="rect">
            <a:avLst/>
          </a:prstGeom>
          <a:effectLst>
            <a:glow rad="76200">
              <a:schemeClr val="bg2">
                <a:lumMod val="90000"/>
              </a:schemeClr>
            </a:glow>
          </a:effectLst>
        </p:spPr>
      </p:pic>
      <p:pic>
        <p:nvPicPr>
          <p:cNvPr id="10" name="Imagem 9">
            <a:extLst>
              <a:ext uri="{FF2B5EF4-FFF2-40B4-BE49-F238E27FC236}">
                <a16:creationId xmlns:a16="http://schemas.microsoft.com/office/drawing/2014/main" id="{25D28C00-B63A-F73B-3CED-979CA623FDEB}"/>
              </a:ext>
            </a:extLst>
          </p:cNvPr>
          <p:cNvPicPr>
            <a:picLocks noChangeAspect="1"/>
          </p:cNvPicPr>
          <p:nvPr/>
        </p:nvPicPr>
        <p:blipFill>
          <a:blip r:embed="rId4"/>
          <a:stretch>
            <a:fillRect/>
          </a:stretch>
        </p:blipFill>
        <p:spPr>
          <a:xfrm>
            <a:off x="720000" y="3899533"/>
            <a:ext cx="1836000" cy="610016"/>
          </a:xfrm>
          <a:prstGeom prst="rect">
            <a:avLst/>
          </a:prstGeom>
          <a:effectLst>
            <a:glow rad="114300">
              <a:schemeClr val="bg1">
                <a:alpha val="88000"/>
              </a:schemeClr>
            </a:glo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marL="0" indent="0" algn="r">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marL="0" indent="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marL="0" indent="0">
              <a:buNone/>
            </a:pPr>
            <a:r>
              <a:rPr lang="en-US" sz="1400" dirty="0">
                <a:solidFill>
                  <a:srgbClr val="1B2A22"/>
                </a:solidFill>
                <a:latin typeface="Calibri" pitchFamily="34" charset="0"/>
                <a:ea typeface="Calibri" pitchFamily="34" charset="-122"/>
                <a:cs typeface="Calibri" pitchFamily="34" charset="-120"/>
              </a:rPr>
              <a:t>A erosão laminar é uma </a:t>
            </a:r>
            <a:r>
              <a:rPr lang="en-US" sz="1400" dirty="0" err="1">
                <a:solidFill>
                  <a:srgbClr val="1B2A22"/>
                </a:solidFill>
                <a:latin typeface="Calibri" pitchFamily="34" charset="0"/>
                <a:ea typeface="Calibri" pitchFamily="34" charset="-122"/>
                <a:cs typeface="Calibri" pitchFamily="34" charset="-120"/>
              </a:rPr>
              <a:t>mancha</a:t>
            </a:r>
            <a:r>
              <a:rPr lang="en-US" sz="1400" dirty="0">
                <a:solidFill>
                  <a:srgbClr val="1B2A22"/>
                </a:solidFill>
                <a:latin typeface="Calibri" pitchFamily="34" charset="0"/>
                <a:ea typeface="Calibri" pitchFamily="34" charset="-122"/>
                <a:cs typeface="Calibri" pitchFamily="34" charset="-120"/>
              </a:rPr>
              <a:t> </a:t>
            </a:r>
            <a:r>
              <a:rPr lang="en-US" sz="1400" dirty="0" err="1">
                <a:solidFill>
                  <a:srgbClr val="1B2A22"/>
                </a:solidFill>
                <a:latin typeface="Calibri" pitchFamily="34" charset="0"/>
                <a:ea typeface="Calibri" pitchFamily="34" charset="-122"/>
                <a:cs typeface="Calibri" pitchFamily="34" charset="-120"/>
              </a:rPr>
              <a:t>contínua</a:t>
            </a:r>
            <a:r>
              <a:rPr lang="en-US" sz="1400" dirty="0">
                <a:solidFill>
                  <a:srgbClr val="1B2A22"/>
                </a:solidFill>
                <a:latin typeface="Calibri" pitchFamily="34" charset="0"/>
                <a:ea typeface="Calibri" pitchFamily="34" charset="-122"/>
                <a:cs typeface="Calibri" pitchFamily="34" charset="-120"/>
              </a:rPr>
              <a:t>, e não uma ocorrência </a:t>
            </a:r>
            <a:r>
              <a:rPr lang="en-US" sz="1400" dirty="0" err="1">
                <a:solidFill>
                  <a:srgbClr val="1B2A22"/>
                </a:solidFill>
                <a:latin typeface="Calibri" pitchFamily="34" charset="0"/>
                <a:ea typeface="Calibri" pitchFamily="34" charset="-122"/>
                <a:cs typeface="Calibri" pitchFamily="34" charset="-120"/>
              </a:rPr>
              <a:t>pontual.</a:t>
            </a:r>
            <a:r>
              <a:rPr lang="en-US" sz="1400" dirty="0">
                <a:solidFill>
                  <a:srgbClr val="1B2A22"/>
                </a:solidFill>
                <a:latin typeface="Calibri" pitchFamily="34" charset="0"/>
                <a:ea typeface="Calibri" pitchFamily="34" charset="-122"/>
                <a:cs typeface="Calibri" pitchFamily="34" charset="-120"/>
              </a:rPr>
              <a:t> </a:t>
            </a:r>
            <a:br>
              <a:rPr lang="en-US" sz="1400" dirty="0">
                <a:solidFill>
                  <a:srgbClr val="1B2A22"/>
                </a:solidFill>
                <a:latin typeface="Calibri" pitchFamily="34" charset="0"/>
                <a:ea typeface="Calibri" pitchFamily="34" charset="-122"/>
                <a:cs typeface="Calibri" pitchFamily="34" charset="-120"/>
              </a:rPr>
            </a:br>
            <a:r>
              <a:rPr lang="en-US" sz="1400" dirty="0" err="1">
                <a:solidFill>
                  <a:srgbClr val="1B2A22"/>
                </a:solidFill>
                <a:latin typeface="Calibri" pitchFamily="34" charset="0"/>
                <a:ea typeface="Calibri" pitchFamily="34" charset="-122"/>
                <a:cs typeface="Calibri" pitchFamily="34" charset="-120"/>
              </a:rPr>
              <a:t>Sutil</a:t>
            </a:r>
            <a:r>
              <a:rPr lang="en-US" sz="1400" dirty="0">
                <a:solidFill>
                  <a:srgbClr val="1B2A22"/>
                </a:solidFill>
                <a:latin typeface="Calibri" pitchFamily="34" charset="0"/>
                <a:ea typeface="Calibri" pitchFamily="34" charset="-122"/>
                <a:cs typeface="Calibri" pitchFamily="34" charset="-120"/>
              </a:rPr>
              <a:t>, de </a:t>
            </a:r>
            <a:r>
              <a:rPr lang="en-US" sz="1400" dirty="0" err="1">
                <a:solidFill>
                  <a:srgbClr val="1B2A22"/>
                </a:solidFill>
                <a:latin typeface="Calibri" pitchFamily="34" charset="0"/>
                <a:ea typeface="Calibri" pitchFamily="34" charset="-122"/>
                <a:cs typeface="Calibri" pitchFamily="34" charset="-120"/>
              </a:rPr>
              <a:t>difícil</a:t>
            </a:r>
            <a:r>
              <a:rPr lang="en-US" sz="1400" dirty="0">
                <a:solidFill>
                  <a:srgbClr val="1B2A22"/>
                </a:solidFill>
                <a:latin typeface="Calibri" pitchFamily="34" charset="0"/>
                <a:ea typeface="Calibri" pitchFamily="34" charset="-122"/>
                <a:cs typeface="Calibri" pitchFamily="34" charset="-120"/>
              </a:rPr>
              <a:t> </a:t>
            </a:r>
            <a:r>
              <a:rPr lang="en-US" sz="1400" dirty="0" err="1">
                <a:solidFill>
                  <a:srgbClr val="1B2A22"/>
                </a:solidFill>
                <a:latin typeface="Calibri" pitchFamily="34" charset="0"/>
                <a:ea typeface="Calibri" pitchFamily="34" charset="-122"/>
                <a:cs typeface="Calibri" pitchFamily="34" charset="-120"/>
              </a:rPr>
              <a:t>localização</a:t>
            </a:r>
            <a:r>
              <a:rPr lang="en-US" sz="1400" dirty="0">
                <a:solidFill>
                  <a:srgbClr val="1B2A22"/>
                </a:solidFill>
                <a:latin typeface="Calibri" pitchFamily="34" charset="0"/>
                <a:ea typeface="Calibri" pitchFamily="34" charset="-122"/>
                <a:cs typeface="Calibri" pitchFamily="34" charset="-120"/>
              </a:rPr>
              <a:t> e de </a:t>
            </a:r>
            <a:r>
              <a:rPr lang="en-US" sz="1400" dirty="0" err="1">
                <a:solidFill>
                  <a:srgbClr val="1B2A22"/>
                </a:solidFill>
                <a:latin typeface="Calibri" pitchFamily="34" charset="0"/>
                <a:ea typeface="Calibri" pitchFamily="34" charset="-122"/>
                <a:cs typeface="Calibri" pitchFamily="34" charset="-120"/>
              </a:rPr>
              <a:t>prejuízo</a:t>
            </a:r>
            <a:r>
              <a:rPr lang="en-US" sz="1400" dirty="0">
                <a:solidFill>
                  <a:srgbClr val="1B2A22"/>
                </a:solidFill>
                <a:latin typeface="Calibri" pitchFamily="34" charset="0"/>
                <a:ea typeface="Calibri" pitchFamily="34" charset="-122"/>
                <a:cs typeface="Calibri" pitchFamily="34" charset="-120"/>
              </a:rPr>
              <a:t> </a:t>
            </a:r>
            <a:r>
              <a:rPr lang="en-US" sz="1400" dirty="0" err="1">
                <a:solidFill>
                  <a:srgbClr val="1B2A22"/>
                </a:solidFill>
                <a:latin typeface="Calibri" pitchFamily="34" charset="0"/>
                <a:ea typeface="Calibri" pitchFamily="34" charset="-122"/>
                <a:cs typeface="Calibri" pitchFamily="34" charset="-120"/>
              </a:rPr>
              <a:t>agrícola</a:t>
            </a:r>
            <a:r>
              <a:rPr lang="en-US" sz="1400" dirty="0">
                <a:solidFill>
                  <a:srgbClr val="1B2A22"/>
                </a:solidFill>
                <a:latin typeface="Calibri" pitchFamily="34" charset="0"/>
                <a:ea typeface="Calibri" pitchFamily="34" charset="-122"/>
                <a:cs typeface="Calibri" pitchFamily="34" charset="-120"/>
              </a:rPr>
              <a:t> </a:t>
            </a:r>
            <a:r>
              <a:rPr lang="en-US" sz="1400" dirty="0" err="1">
                <a:solidFill>
                  <a:srgbClr val="1B2A22"/>
                </a:solidFill>
                <a:latin typeface="Calibri" pitchFamily="34" charset="0"/>
                <a:ea typeface="Calibri" pitchFamily="34" charset="-122"/>
                <a:cs typeface="Calibri" pitchFamily="34" charset="-120"/>
              </a:rPr>
              <a:t>considerável</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marL="0" indent="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marL="0" indent="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marL="0" indent="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marL="0" indent="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marL="0" indent="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09160"/>
            <a:ext cx="7863840" cy="384048"/>
          </a:xfrm>
          <a:prstGeom prst="rect">
            <a:avLst/>
          </a:prstGeom>
          <a:noFill/>
          <a:ln/>
        </p:spPr>
        <p:txBody>
          <a:bodyPr wrap="square" lIns="0" tIns="0" rIns="0" bIns="0" rtlCol="0" anchor="ctr"/>
          <a:lstStyle/>
          <a:p>
            <a:pPr marL="0" indent="0">
              <a:buNone/>
            </a:pPr>
            <a:r>
              <a:rPr lang="en-US" sz="900" i="1" dirty="0">
                <a:solidFill>
                  <a:srgbClr val="52605A"/>
                </a:solidFill>
                <a:latin typeface="Calibri" pitchFamily="34" charset="0"/>
                <a:ea typeface="Calibri" pitchFamily="34" charset="-122"/>
                <a:cs typeface="Calibri" pitchFamily="34" charset="-120"/>
              </a:rPr>
              <a:t>Fontes: SILVA (2026a, D16 e D26); levantamento de 29/09/2026 sobre 73.643 imóveis rurais do envelope da bacia (SILVA, 2026b).</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Linguagens e tecnologias do SAREL</a:t>
            </a:r>
            <a:endParaRPr lang="en-US" sz="2200" dirty="0"/>
          </a:p>
        </p:txBody>
      </p:sp>
      <p:sp>
        <p:nvSpPr>
          <p:cNvPr id="3" name="Text 1"/>
          <p:cNvSpPr txBox="1"/>
          <p:nvPr/>
        </p:nvSpPr>
        <p:spPr>
          <a:xfrm>
            <a:off x="457200" y="621792"/>
            <a:ext cx="8229600" cy="219456"/>
          </a:xfrm>
          <a:prstGeom prst="rect">
            <a:avLst/>
          </a:prstGeom>
          <a:noFill/>
          <a:ln/>
        </p:spPr>
        <p:txBody>
          <a:bodyPr wrap="square" lIns="0" tIns="0" rIns="0" bIns="0" rtlCol="0" anchor="t"/>
          <a:lstStyle/>
          <a:p>
            <a:pPr marL="0" indent="0">
              <a:buNone/>
            </a:pPr>
            <a:r>
              <a:rPr lang="en-US" sz="1200" i="1" dirty="0">
                <a:solidFill>
                  <a:srgbClr val="52605A"/>
                </a:solidFill>
                <a:latin typeface="Calibri" pitchFamily="34" charset="0"/>
                <a:ea typeface="Calibri" pitchFamily="34" charset="-122"/>
                <a:cs typeface="Calibri" pitchFamily="34" charset="-120"/>
              </a:rPr>
              <a:t>Roda localmente no Windows; a rede só é usada para o Google Earth Engine.</a:t>
            </a:r>
            <a:endParaRPr lang="en-US" sz="1200" dirty="0"/>
          </a:p>
        </p:txBody>
      </p:sp>
      <p:sp>
        <p:nvSpPr>
          <p:cNvPr id="4" name="Shape 2"/>
          <p:cNvSpPr/>
          <p:nvPr/>
        </p:nvSpPr>
        <p:spPr>
          <a:xfrm>
            <a:off x="457200" y="1188720"/>
            <a:ext cx="2651760" cy="2423160"/>
          </a:xfrm>
          <a:prstGeom prst="roundRect">
            <a:avLst>
              <a:gd name="adj" fmla="val 3019"/>
            </a:avLst>
          </a:prstGeom>
          <a:solidFill>
            <a:srgbClr val="EEF3EF"/>
          </a:solidFill>
          <a:ln w="12700">
            <a:solidFill>
              <a:srgbClr val="EEF3EF"/>
            </a:solidFill>
            <a:prstDash val="solid"/>
          </a:ln>
        </p:spPr>
      </p:sp>
      <p:sp>
        <p:nvSpPr>
          <p:cNvPr id="5" name="Text 3"/>
          <p:cNvSpPr txBox="1"/>
          <p:nvPr/>
        </p:nvSpPr>
        <p:spPr>
          <a:xfrm>
            <a:off x="594360" y="1280160"/>
            <a:ext cx="2377440" cy="347472"/>
          </a:xfrm>
          <a:prstGeom prst="rect">
            <a:avLst/>
          </a:prstGeom>
          <a:noFill/>
          <a:ln/>
        </p:spPr>
        <p:txBody>
          <a:bodyPr wrap="square" lIns="0" tIns="0" rIns="0" bIns="0" rtlCol="0" anchor="t"/>
          <a:lstStyle/>
          <a:p>
            <a:pPr marL="0" indent="0">
              <a:buNone/>
            </a:pPr>
            <a:r>
              <a:rPr lang="en-US" sz="1800" b="1" dirty="0">
                <a:solidFill>
                  <a:srgbClr val="2F6B4F"/>
                </a:solidFill>
                <a:latin typeface="Cambria" pitchFamily="34" charset="0"/>
                <a:ea typeface="Cambria" pitchFamily="34" charset="-122"/>
                <a:cs typeface="Cambria" pitchFamily="34" charset="-120"/>
              </a:rPr>
              <a:t>TypeScript</a:t>
            </a:r>
            <a:endParaRPr lang="en-US" sz="1800" dirty="0"/>
          </a:p>
        </p:txBody>
      </p:sp>
      <p:sp>
        <p:nvSpPr>
          <p:cNvPr id="6" name="Text 4"/>
          <p:cNvSpPr txBox="1"/>
          <p:nvPr/>
        </p:nvSpPr>
        <p:spPr>
          <a:xfrm>
            <a:off x="594360" y="1645920"/>
            <a:ext cx="2377440" cy="256032"/>
          </a:xfrm>
          <a:prstGeom prst="rect">
            <a:avLst/>
          </a:prstGeom>
          <a:noFill/>
          <a:ln/>
        </p:spPr>
        <p:txBody>
          <a:bodyPr wrap="square" lIns="0" tIns="0" rIns="0" bIns="0" rtlCol="0" anchor="t"/>
          <a:lstStyle/>
          <a:p>
            <a:pPr marL="0" indent="0">
              <a:buNone/>
            </a:pPr>
            <a:r>
              <a:rPr lang="en-US" sz="1150" b="1" dirty="0">
                <a:solidFill>
                  <a:srgbClr val="C65D3B"/>
                </a:solidFill>
                <a:latin typeface="Calibri" pitchFamily="34" charset="0"/>
                <a:ea typeface="Calibri" pitchFamily="34" charset="-122"/>
                <a:cs typeface="Calibri" pitchFamily="34" charset="-120"/>
              </a:rPr>
              <a:t>interface e regras</a:t>
            </a:r>
            <a:endParaRPr lang="en-US" sz="1150" dirty="0"/>
          </a:p>
        </p:txBody>
      </p:sp>
      <p:sp>
        <p:nvSpPr>
          <p:cNvPr id="7" name="Text 5"/>
          <p:cNvSpPr txBox="1"/>
          <p:nvPr/>
        </p:nvSpPr>
        <p:spPr>
          <a:xfrm>
            <a:off x="594360" y="1965960"/>
            <a:ext cx="2377440" cy="160020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Next.js 14, React 18, Tailwind</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MapLibre (mapas), Zustand, Zod</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Cliente do Earth Engine</a:t>
            </a:r>
          </a:p>
          <a:p>
            <a:pPr>
              <a:spcAft>
                <a:spcPts val="200"/>
              </a:spcAft>
              <a:buSzPct val="100000"/>
            </a:pPr>
            <a:endParaRPr lang="en-US" sz="1050" dirty="0"/>
          </a:p>
        </p:txBody>
      </p:sp>
      <p:sp>
        <p:nvSpPr>
          <p:cNvPr id="8" name="Shape 6"/>
          <p:cNvSpPr/>
          <p:nvPr/>
        </p:nvSpPr>
        <p:spPr>
          <a:xfrm>
            <a:off x="3246120" y="1188720"/>
            <a:ext cx="2651760" cy="2423160"/>
          </a:xfrm>
          <a:prstGeom prst="roundRect">
            <a:avLst>
              <a:gd name="adj" fmla="val 3019"/>
            </a:avLst>
          </a:prstGeom>
          <a:solidFill>
            <a:srgbClr val="EEF3EF"/>
          </a:solidFill>
          <a:ln w="12700">
            <a:solidFill>
              <a:srgbClr val="EEF3EF"/>
            </a:solidFill>
            <a:prstDash val="solid"/>
          </a:ln>
        </p:spPr>
      </p:sp>
      <p:sp>
        <p:nvSpPr>
          <p:cNvPr id="9" name="Text 7"/>
          <p:cNvSpPr txBox="1"/>
          <p:nvPr/>
        </p:nvSpPr>
        <p:spPr>
          <a:xfrm>
            <a:off x="3383280" y="1280160"/>
            <a:ext cx="2377440" cy="347472"/>
          </a:xfrm>
          <a:prstGeom prst="rect">
            <a:avLst/>
          </a:prstGeom>
          <a:noFill/>
          <a:ln/>
        </p:spPr>
        <p:txBody>
          <a:bodyPr wrap="square" lIns="0" tIns="0" rIns="0" bIns="0" rtlCol="0" anchor="t"/>
          <a:lstStyle/>
          <a:p>
            <a:pPr marL="0" indent="0">
              <a:buNone/>
            </a:pPr>
            <a:r>
              <a:rPr lang="en-US" sz="1800" b="1" dirty="0">
                <a:solidFill>
                  <a:srgbClr val="2F6B4F"/>
                </a:solidFill>
                <a:latin typeface="Cambria" pitchFamily="34" charset="0"/>
                <a:ea typeface="Cambria" pitchFamily="34" charset="-122"/>
                <a:cs typeface="Cambria" pitchFamily="34" charset="-120"/>
              </a:rPr>
              <a:t>Python</a:t>
            </a:r>
            <a:endParaRPr lang="en-US" sz="1800" dirty="0"/>
          </a:p>
        </p:txBody>
      </p:sp>
      <p:sp>
        <p:nvSpPr>
          <p:cNvPr id="10" name="Text 8"/>
          <p:cNvSpPr txBox="1"/>
          <p:nvPr/>
        </p:nvSpPr>
        <p:spPr>
          <a:xfrm>
            <a:off x="3383280" y="1645920"/>
            <a:ext cx="2377440" cy="256032"/>
          </a:xfrm>
          <a:prstGeom prst="rect">
            <a:avLst/>
          </a:prstGeom>
          <a:noFill/>
          <a:ln/>
        </p:spPr>
        <p:txBody>
          <a:bodyPr wrap="square" lIns="0" tIns="0" rIns="0" bIns="0" rtlCol="0" anchor="t"/>
          <a:lstStyle/>
          <a:p>
            <a:pPr marL="0" indent="0">
              <a:buNone/>
            </a:pPr>
            <a:r>
              <a:rPr lang="en-US" sz="1150" b="1" dirty="0">
                <a:solidFill>
                  <a:srgbClr val="C65D3B"/>
                </a:solidFill>
                <a:latin typeface="Calibri" pitchFamily="34" charset="0"/>
                <a:ea typeface="Calibri" pitchFamily="34" charset="-122"/>
                <a:cs typeface="Calibri" pitchFamily="34" charset="-120"/>
              </a:rPr>
              <a:t>dados e estatística</a:t>
            </a:r>
            <a:endParaRPr lang="en-US" sz="1150" dirty="0"/>
          </a:p>
        </p:txBody>
      </p:sp>
      <p:sp>
        <p:nvSpPr>
          <p:cNvPr id="11" name="Text 9"/>
          <p:cNvSpPr txBox="1"/>
          <p:nvPr/>
        </p:nvSpPr>
        <p:spPr>
          <a:xfrm>
            <a:off x="3383280" y="1965960"/>
            <a:ext cx="2377440" cy="160020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Ingestão fundiária (SICAR, SIGEF, SNCR) em SQLite</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CHIRPS, relevo Copernicus</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Verificador do pacote exportado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Geração de relatórios e documentos</a:t>
            </a:r>
            <a:endParaRPr lang="en-US" sz="1050" dirty="0"/>
          </a:p>
          <a:p>
            <a:pPr>
              <a:spcAft>
                <a:spcPts val="200"/>
              </a:spcAft>
              <a:buSzPct val="100000"/>
            </a:pPr>
            <a:endParaRPr lang="en-US" sz="1050" dirty="0"/>
          </a:p>
        </p:txBody>
      </p:sp>
      <p:sp>
        <p:nvSpPr>
          <p:cNvPr id="12" name="Shape 10"/>
          <p:cNvSpPr/>
          <p:nvPr/>
        </p:nvSpPr>
        <p:spPr>
          <a:xfrm>
            <a:off x="6035040" y="1188720"/>
            <a:ext cx="2651760" cy="2423160"/>
          </a:xfrm>
          <a:prstGeom prst="roundRect">
            <a:avLst>
              <a:gd name="adj" fmla="val 3019"/>
            </a:avLst>
          </a:prstGeom>
          <a:solidFill>
            <a:srgbClr val="EEF3EF"/>
          </a:solidFill>
          <a:ln w="12700">
            <a:solidFill>
              <a:srgbClr val="EEF3EF"/>
            </a:solidFill>
            <a:prstDash val="solid"/>
          </a:ln>
        </p:spPr>
      </p:sp>
      <p:sp>
        <p:nvSpPr>
          <p:cNvPr id="13" name="Text 11"/>
          <p:cNvSpPr txBox="1"/>
          <p:nvPr/>
        </p:nvSpPr>
        <p:spPr>
          <a:xfrm>
            <a:off x="6172200" y="1280160"/>
            <a:ext cx="2377440" cy="347472"/>
          </a:xfrm>
          <a:prstGeom prst="rect">
            <a:avLst/>
          </a:prstGeom>
          <a:noFill/>
          <a:ln/>
        </p:spPr>
        <p:txBody>
          <a:bodyPr wrap="square" lIns="0" tIns="0" rIns="0" bIns="0" rtlCol="0" anchor="t"/>
          <a:lstStyle/>
          <a:p>
            <a:pPr marL="0" indent="0">
              <a:buNone/>
            </a:pPr>
            <a:r>
              <a:rPr lang="en-US" sz="1800" b="1" dirty="0">
                <a:solidFill>
                  <a:srgbClr val="C65D3B"/>
                </a:solidFill>
                <a:latin typeface="Cambria" pitchFamily="34" charset="0"/>
                <a:ea typeface="Cambria" pitchFamily="34" charset="-122"/>
                <a:cs typeface="Cambria" pitchFamily="34" charset="-120"/>
              </a:rPr>
              <a:t>Kotlin</a:t>
            </a:r>
            <a:endParaRPr lang="en-US" sz="1800" dirty="0"/>
          </a:p>
        </p:txBody>
      </p:sp>
      <p:sp>
        <p:nvSpPr>
          <p:cNvPr id="14" name="Text 12"/>
          <p:cNvSpPr txBox="1"/>
          <p:nvPr/>
        </p:nvSpPr>
        <p:spPr>
          <a:xfrm>
            <a:off x="6172200" y="1645920"/>
            <a:ext cx="2377440" cy="256032"/>
          </a:xfrm>
          <a:prstGeom prst="rect">
            <a:avLst/>
          </a:prstGeom>
          <a:noFill/>
          <a:ln/>
        </p:spPr>
        <p:txBody>
          <a:bodyPr wrap="square" lIns="0" tIns="0" rIns="0" bIns="0" rtlCol="0" anchor="t"/>
          <a:lstStyle/>
          <a:p>
            <a:pPr marL="0" indent="0">
              <a:buNone/>
            </a:pPr>
            <a:r>
              <a:rPr lang="en-US" sz="1150" b="1" dirty="0">
                <a:solidFill>
                  <a:srgbClr val="C65D3B"/>
                </a:solidFill>
                <a:latin typeface="Calibri" pitchFamily="34" charset="0"/>
                <a:ea typeface="Calibri" pitchFamily="34" charset="-122"/>
                <a:cs typeface="Calibri" pitchFamily="34" charset="-120"/>
              </a:rPr>
              <a:t>SAREL Coletor (Android)</a:t>
            </a:r>
            <a:endParaRPr lang="en-US" sz="1150" dirty="0"/>
          </a:p>
        </p:txBody>
      </p:sp>
      <p:sp>
        <p:nvSpPr>
          <p:cNvPr id="15" name="Text 13"/>
          <p:cNvSpPr txBox="1"/>
          <p:nvPr/>
        </p:nvSpPr>
        <p:spPr>
          <a:xfrm>
            <a:off x="6172200" y="1965960"/>
            <a:ext cx="2377440" cy="160020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Jetpack Compose e Room</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Offline, em campo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GNSS do aparelho, fotos e CSV</a:t>
            </a:r>
            <a:endParaRPr lang="en-US" sz="1050" dirty="0"/>
          </a:p>
          <a:p>
            <a:pPr>
              <a:spcAft>
                <a:spcPts val="200"/>
              </a:spcAft>
              <a:buSzPct val="100000"/>
            </a:pPr>
            <a:endParaRPr lang="en-US" sz="1050" dirty="0"/>
          </a:p>
        </p:txBody>
      </p:sp>
      <p:sp>
        <p:nvSpPr>
          <p:cNvPr id="16" name="Shape 14"/>
          <p:cNvSpPr/>
          <p:nvPr/>
        </p:nvSpPr>
        <p:spPr>
          <a:xfrm>
            <a:off x="457200" y="3749040"/>
            <a:ext cx="8229600" cy="868680"/>
          </a:xfrm>
          <a:prstGeom prst="roundRect">
            <a:avLst>
              <a:gd name="adj" fmla="val 8421"/>
            </a:avLst>
          </a:prstGeom>
          <a:solidFill>
            <a:srgbClr val="EEF3EF"/>
          </a:solidFill>
          <a:ln w="12700">
            <a:solidFill>
              <a:srgbClr val="EEF3EF"/>
            </a:solidFill>
            <a:prstDash val="solid"/>
          </a:ln>
        </p:spPr>
      </p:sp>
      <p:sp>
        <p:nvSpPr>
          <p:cNvPr id="17" name="Text 15"/>
          <p:cNvSpPr txBox="1"/>
          <p:nvPr/>
        </p:nvSpPr>
        <p:spPr>
          <a:xfrm>
            <a:off x="594360" y="3803904"/>
            <a:ext cx="7955280" cy="228600"/>
          </a:xfrm>
          <a:prstGeom prst="rect">
            <a:avLst/>
          </a:prstGeom>
          <a:noFill/>
          <a:ln/>
        </p:spPr>
        <p:txBody>
          <a:bodyPr wrap="square" lIns="0" tIns="0" rIns="0" bIns="0" rtlCol="0" anchor="t"/>
          <a:lstStyle/>
          <a:p>
            <a:pPr marL="0" indent="0">
              <a:buNone/>
            </a:pPr>
            <a:r>
              <a:rPr lang="en-US" sz="1200" b="1" dirty="0">
                <a:solidFill>
                  <a:srgbClr val="2F6B4F"/>
                </a:solidFill>
                <a:latin typeface="Cambria" pitchFamily="34" charset="0"/>
                <a:ea typeface="Cambria" pitchFamily="34" charset="-122"/>
                <a:cs typeface="Cambria" pitchFamily="34" charset="-120"/>
              </a:rPr>
              <a:t>Também no projeto</a:t>
            </a:r>
            <a:endParaRPr lang="en-US" sz="1200" dirty="0"/>
          </a:p>
        </p:txBody>
      </p:sp>
      <p:sp>
        <p:nvSpPr>
          <p:cNvPr id="18" name="Text 16"/>
          <p:cNvSpPr txBox="1"/>
          <p:nvPr/>
        </p:nvSpPr>
        <p:spPr>
          <a:xfrm>
            <a:off x="594360" y="4069080"/>
            <a:ext cx="7955280" cy="502920"/>
          </a:xfrm>
          <a:prstGeom prst="rect">
            <a:avLst/>
          </a:prstGeom>
          <a:noFill/>
          <a:ln/>
        </p:spPr>
        <p:txBody>
          <a:bodyPr wrap="square" lIns="0" tIns="0" rIns="0" bIns="0" rtlCol="0" anchor="t"/>
          <a:lstStyle/>
          <a:p>
            <a:pPr marL="0" indent="0">
              <a:buNone/>
            </a:pPr>
            <a:r>
              <a:rPr lang="en-US" sz="1100" dirty="0">
                <a:solidFill>
                  <a:srgbClr val="1B2A22"/>
                </a:solidFill>
                <a:latin typeface="Calibri" pitchFamily="34" charset="0"/>
                <a:ea typeface="Calibri" pitchFamily="34" charset="-122"/>
                <a:cs typeface="Calibri" pitchFamily="34" charset="-120"/>
              </a:rPr>
              <a:t>C# (Windows Forms) no instalador  ·  PowerShell e Batch nos lançadores  ·  JavaScript (Node) em scripts de apoio  ·  SQL (SQLite) para a base fundiária local  ·  Google Earth Engine (GORELICK et al., 2017; API JavaScript/REST) para Sentinel-2</a:t>
            </a:r>
            <a:endParaRPr lang="en-US" sz="1100" dirty="0"/>
          </a:p>
        </p:txBody>
      </p:sp>
      <p:sp>
        <p:nvSpPr>
          <p:cNvPr id="20" name="Text 1">
            <a:extLst>
              <a:ext uri="{FF2B5EF4-FFF2-40B4-BE49-F238E27FC236}">
                <a16:creationId xmlns:a16="http://schemas.microsoft.com/office/drawing/2014/main" id="{DBF0BDA0-EC2E-D4CA-FD5D-6CC876F6A448}"/>
              </a:ext>
            </a:extLst>
          </p:cNvPr>
          <p:cNvSpPr txBox="1"/>
          <p:nvPr/>
        </p:nvSpPr>
        <p:spPr>
          <a:xfrm>
            <a:off x="457200" y="852336"/>
            <a:ext cx="8229600" cy="320040"/>
          </a:xfrm>
          <a:prstGeom prst="rect">
            <a:avLst/>
          </a:prstGeom>
          <a:noFill/>
          <a:ln/>
        </p:spPr>
        <p:txBody>
          <a:bodyPr wrap="square" lIns="0" tIns="0" rIns="0" bIns="0" rtlCol="0" anchor="t"/>
          <a:lstStyle/>
          <a:p>
            <a:pPr marL="0" indent="0">
              <a:buNone/>
            </a:pPr>
            <a:r>
              <a:rPr lang="en-US" sz="1200" i="1" dirty="0">
                <a:solidFill>
                  <a:srgbClr val="52605A"/>
                </a:solidFill>
                <a:latin typeface="Calibri" pitchFamily="34" charset="0"/>
                <a:ea typeface="Calibri" pitchFamily="34" charset="-122"/>
                <a:cs typeface="Calibri" pitchFamily="34" charset="-120"/>
              </a:rPr>
              <a:t>Feito com o </a:t>
            </a:r>
            <a:r>
              <a:rPr lang="en-US" sz="1200" i="1" dirty="0" err="1">
                <a:solidFill>
                  <a:srgbClr val="52605A"/>
                </a:solidFill>
                <a:latin typeface="Calibri" pitchFamily="34" charset="0"/>
                <a:ea typeface="Calibri" pitchFamily="34" charset="-122"/>
                <a:cs typeface="Calibri" pitchFamily="34" charset="-120"/>
              </a:rPr>
              <a:t>uso</a:t>
            </a:r>
            <a:r>
              <a:rPr lang="en-US" sz="1200" i="1" dirty="0">
                <a:solidFill>
                  <a:srgbClr val="52605A"/>
                </a:solidFill>
                <a:latin typeface="Calibri" pitchFamily="34" charset="0"/>
                <a:ea typeface="Calibri" pitchFamily="34" charset="-122"/>
                <a:cs typeface="Calibri" pitchFamily="34" charset="-120"/>
              </a:rPr>
              <a:t> do Gemini 3.8 </a:t>
            </a:r>
            <a:r>
              <a:rPr lang="en-US" sz="1200" i="1" dirty="0" err="1">
                <a:solidFill>
                  <a:srgbClr val="52605A"/>
                </a:solidFill>
                <a:latin typeface="Calibri" pitchFamily="34" charset="0"/>
                <a:ea typeface="Calibri" pitchFamily="34" charset="-122"/>
                <a:cs typeface="Calibri" pitchFamily="34" charset="-120"/>
              </a:rPr>
              <a:t>como</a:t>
            </a:r>
            <a:r>
              <a:rPr lang="en-US" sz="1200" i="1" dirty="0">
                <a:solidFill>
                  <a:srgbClr val="52605A"/>
                </a:solidFill>
                <a:latin typeface="Calibri" pitchFamily="34" charset="0"/>
                <a:ea typeface="Calibri" pitchFamily="34" charset="-122"/>
                <a:cs typeface="Calibri" pitchFamily="34" charset="-120"/>
              </a:rPr>
              <a:t> executor e </a:t>
            </a:r>
            <a:r>
              <a:rPr lang="en-US" sz="1200" i="1" dirty="0" err="1">
                <a:solidFill>
                  <a:srgbClr val="52605A"/>
                </a:solidFill>
                <a:latin typeface="Calibri" pitchFamily="34" charset="0"/>
                <a:ea typeface="Calibri" pitchFamily="34" charset="-122"/>
                <a:cs typeface="Calibri" pitchFamily="34" charset="-120"/>
              </a:rPr>
              <a:t>auditado</a:t>
            </a:r>
            <a:r>
              <a:rPr lang="en-US" sz="1200" i="1" dirty="0">
                <a:solidFill>
                  <a:srgbClr val="52605A"/>
                </a:solidFill>
                <a:latin typeface="Calibri" pitchFamily="34" charset="0"/>
                <a:ea typeface="Calibri" pitchFamily="34" charset="-122"/>
                <a:cs typeface="Calibri" pitchFamily="34" charset="-120"/>
              </a:rPr>
              <a:t> </a:t>
            </a:r>
            <a:r>
              <a:rPr lang="en-US" sz="1200" i="1" dirty="0" err="1">
                <a:solidFill>
                  <a:srgbClr val="52605A"/>
                </a:solidFill>
                <a:latin typeface="Calibri" pitchFamily="34" charset="0"/>
                <a:ea typeface="Calibri" pitchFamily="34" charset="-122"/>
                <a:cs typeface="Calibri" pitchFamily="34" charset="-120"/>
              </a:rPr>
              <a:t>pelo</a:t>
            </a:r>
            <a:r>
              <a:rPr lang="en-US" sz="1200" i="1" dirty="0">
                <a:solidFill>
                  <a:srgbClr val="52605A"/>
                </a:solidFill>
                <a:latin typeface="Calibri" pitchFamily="34" charset="0"/>
                <a:ea typeface="Calibri" pitchFamily="34" charset="-122"/>
                <a:cs typeface="Calibri" pitchFamily="34" charset="-120"/>
              </a:rPr>
              <a:t> Claude Sonnet 5.5.</a:t>
            </a:r>
            <a:endParaRPr lang="en-US" sz="1200" dirty="0"/>
          </a:p>
        </p:txBody>
      </p:sp>
      <p:sp>
        <p:nvSpPr>
          <p:cNvPr id="15" name="Text 12"/>
          <p:cNvSpPr txBox="1"/>
          <p:nvPr/>
        </p:nvSpPr>
        <p:spPr>
          <a:xfrm>
            <a:off x="457200" y="4709160"/>
            <a:ext cx="7863840" cy="384048"/>
          </a:xfrm>
          <a:prstGeom prst="rect">
            <a:avLst/>
          </a:prstGeom>
          <a:noFill/>
          <a:ln/>
        </p:spPr>
        <p:txBody>
          <a:bodyPr wrap="square" lIns="0" tIns="0" rIns="0" bIns="0" rtlCol="0" anchor="ctr"/>
          <a:lstStyle/>
          <a:p>
            <a:pPr marL="0" indent="0">
              <a:buNone/>
            </a:pPr>
            <a:r>
              <a:rPr lang="en-US" sz="900" i="1" dirty="0">
                <a:solidFill>
                  <a:srgbClr val="52605A"/>
                </a:solidFill>
                <a:latin typeface="Calibri" pitchFamily="34" charset="0"/>
                <a:ea typeface="Calibri" pitchFamily="34" charset="-122"/>
                <a:cs typeface="Calibri" pitchFamily="34" charset="-120"/>
              </a:rPr>
              <a:t>Fontes: código-fonte do SAREL v2 (SILVA, 2026c), contagem de linhas em 19/10/2026; Google Earth Engine: Gorelick et al. (2017).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marL="0" indent="0" algn="r">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icPr>
            <a:picLocks noChangeAspect="1"/>
          </p:cNvPicPr>
          <p:nvPr/>
        </p:nvPicPr>
        <p:blipFill>
          <a:blip r:embed="rId3"/>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marL="0" indent="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 GORELICK et al., 2017)</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a:t>
            </a:r>
            <a:r>
              <a:rPr lang="en-US" sz="1400" dirty="0" err="1">
                <a:solidFill>
                  <a:srgbClr val="1B2A22"/>
                </a:solidFill>
                <a:latin typeface="Calibri" pitchFamily="34" charset="0"/>
                <a:ea typeface="Calibri" pitchFamily="34" charset="-122"/>
                <a:cs typeface="Calibri" pitchFamily="34" charset="-120"/>
              </a:rPr>
              <a:t>pacote</a:t>
            </a:r>
            <a:r>
              <a:rPr lang="en-US" sz="1400" dirty="0">
                <a:solidFill>
                  <a:srgbClr val="1B2A22"/>
                </a:solidFill>
                <a:latin typeface="Calibri" pitchFamily="34" charset="0"/>
                <a:ea typeface="Calibri" pitchFamily="34" charset="-122"/>
                <a:cs typeface="Calibri" pitchFamily="34" charset="-120"/>
              </a:rPr>
              <a:t> </a:t>
            </a:r>
            <a:r>
              <a:rPr lang="en-US" sz="1400" dirty="0" err="1">
                <a:solidFill>
                  <a:srgbClr val="1B2A22"/>
                </a:solidFill>
                <a:latin typeface="Calibri" pitchFamily="34" charset="0"/>
                <a:ea typeface="Calibri" pitchFamily="34" charset="-122"/>
                <a:cs typeface="Calibri" pitchFamily="34" charset="-120"/>
              </a:rPr>
              <a:t>verificável</a:t>
            </a:r>
            <a:endParaRPr lang="en-US" sz="1400" dirty="0"/>
          </a:p>
        </p:txBody>
      </p:sp>
      <p:sp>
        <p:nvSpPr>
          <p:cNvPr id="15" name="Text 12"/>
          <p:cNvSpPr txBox="1"/>
          <p:nvPr/>
        </p:nvSpPr>
        <p:spPr>
          <a:xfrm>
            <a:off x="457200" y="4709160"/>
            <a:ext cx="7863840" cy="384048"/>
          </a:xfrm>
          <a:prstGeom prst="rect">
            <a:avLst/>
          </a:prstGeom>
          <a:noFill/>
          <a:ln/>
        </p:spPr>
        <p:txBody>
          <a:bodyPr wrap="square" lIns="0" tIns="0" rIns="0" bIns="0" rtlCol="0" anchor="ctr"/>
          <a:lstStyle/>
          <a:p>
            <a:pPr marL="0" indent="0">
              <a:buNone/>
            </a:pPr>
            <a:r>
              <a:rPr lang="en-US" sz="900" i="1" dirty="0">
                <a:solidFill>
                  <a:srgbClr val="52605A"/>
                </a:solidFill>
                <a:latin typeface="Calibri" pitchFamily="34" charset="0"/>
                <a:ea typeface="Calibri" pitchFamily="34" charset="-122"/>
                <a:cs typeface="Calibri" pitchFamily="34" charset="-120"/>
              </a:rPr>
              <a:t>Fontes: captura de tela do SAREL v2 (SILVA, 2026c); Google Earth Engine: Gorelick et al. (2017).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marL="0" indent="0" algn="r">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3970444391"/>
              </p:ext>
            </p:extLst>
          </p:nvPr>
        </p:nvGraphicFramePr>
        <p:xfrm>
          <a:off x="457200" y="1051560"/>
          <a:ext cx="8229600" cy="3017520"/>
        </p:xfrm>
        <a:graphic>
          <a:graphicData uri="http://schemas.openxmlformats.org/drawingml/2006/table">
            <a:tbl>
              <a:tblPr/>
              <a:tblGrid>
                <a:gridCol w="21031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50292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extLst>
                  <a:ext uri="{0D108BD9-81ED-4DB2-BD59-A6C34878D82A}">
                    <a16:rowId xmlns:a16="http://schemas.microsoft.com/office/drawing/2014/main" val="10000"/>
                  </a:ext>
                </a:extLst>
              </a:tr>
              <a:tr h="502920">
                <a:tc>
                  <a:txBody>
                    <a:bodyPr/>
                    <a:lstStyle/>
                    <a:p>
                      <a:pPr marL="0" indent="0">
                        <a:buNone/>
                      </a:pPr>
                      <a:r>
                        <a:rPr lang="en-US" sz="11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100" dirty="0">
                          <a:solidFill>
                            <a:srgbClr val="1B2A22"/>
                          </a:solidFill>
                          <a:latin typeface="Calibri" pitchFamily="34" charset="0"/>
                          <a:ea typeface="Calibri" pitchFamily="34" charset="-122"/>
                          <a:cs typeface="Calibri" pitchFamily="34" charset="-120"/>
                        </a:rPr>
                        <a:t>Só se amostra onde o método vale: declividade 3 a 20%, lavoura e pastagem (D07; ZANAGA et al., 2021, 2022).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1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1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1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1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1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100" dirty="0">
                          <a:solidFill>
                            <a:srgbClr val="1B2A22"/>
                          </a:solidFill>
                          <a:latin typeface="Calibri" pitchFamily="34" charset="0"/>
                          <a:ea typeface="Calibri" pitchFamily="34" charset="-122"/>
                          <a:cs typeface="Calibri" pitchFamily="34" charset="-120"/>
                        </a:rPr>
                        <a:t>Declividade × solo nu × erodibilidade (COELHO et al., 2024; COCHRAN, 1977).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100" dirty="0">
                          <a:solidFill>
                            <a:srgbClr val="1B2A22"/>
                          </a:solidFill>
                          <a:latin typeface="Calibri" pitchFamily="34" charset="0"/>
                          <a:ea typeface="Calibri" pitchFamily="34" charset="-122"/>
                          <a:cs typeface="Calibri" pitchFamily="34" charset="-120"/>
                        </a:rPr>
                        <a:t>Define o que o sorteio </a:t>
                      </a:r>
                      <a:r>
                        <a:rPr lang="en-US" sz="1100" dirty="0" err="1">
                          <a:solidFill>
                            <a:srgbClr val="1B2A22"/>
                          </a:solidFill>
                          <a:latin typeface="Calibri" pitchFamily="34" charset="0"/>
                          <a:ea typeface="Calibri" pitchFamily="34" charset="-122"/>
                          <a:cs typeface="Calibri" pitchFamily="34" charset="-120"/>
                        </a:rPr>
                        <a:t>precisa</a:t>
                      </a:r>
                      <a:r>
                        <a:rPr lang="en-US" sz="1100" dirty="0">
                          <a:solidFill>
                            <a:srgbClr val="1B2A22"/>
                          </a:solidFill>
                          <a:latin typeface="Calibri" pitchFamily="34" charset="0"/>
                          <a:ea typeface="Calibri" pitchFamily="34" charset="-122"/>
                          <a:cs typeface="Calibri" pitchFamily="34" charset="-120"/>
                        </a:rPr>
                        <a:t> </a:t>
                      </a:r>
                      <a:r>
                        <a:rPr lang="en-US" sz="1100" dirty="0" err="1">
                          <a:solidFill>
                            <a:srgbClr val="1B2A22"/>
                          </a:solidFill>
                          <a:latin typeface="Calibri" pitchFamily="34" charset="0"/>
                          <a:ea typeface="Calibri" pitchFamily="34" charset="-122"/>
                          <a:cs typeface="Calibri" pitchFamily="34" charset="-120"/>
                        </a:rPr>
                        <a:t>cobrir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1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1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1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1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100" dirty="0">
                          <a:solidFill>
                            <a:srgbClr val="1B2A22"/>
                          </a:solidFill>
                          <a:latin typeface="Calibri" pitchFamily="34" charset="0"/>
                          <a:ea typeface="Calibri" pitchFamily="34" charset="-122"/>
                          <a:cs typeface="Calibri" pitchFamily="34" charset="-120"/>
                        </a:rPr>
                        <a:t>4 por estrato, probabilidade de inclusão registrada (KING; ZENG, 2001).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1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2"/>
          <p:cNvSpPr txBox="1"/>
          <p:nvPr/>
        </p:nvSpPr>
        <p:spPr>
          <a:xfrm>
            <a:off x="457200" y="4663440"/>
            <a:ext cx="7863840" cy="457200"/>
          </a:xfrm>
          <a:prstGeom prst="rect">
            <a:avLst/>
          </a:prstGeom>
          <a:noFill/>
          <a:ln/>
        </p:spPr>
        <p:txBody>
          <a:bodyPr wrap="square" lIns="0" tIns="0" rIns="0" bIns="0" rtlCol="0" anchor="ctr"/>
          <a:lstStyle/>
          <a:p>
            <a:pPr marL="0" indent="0">
              <a:buNone/>
            </a:pPr>
            <a:r>
              <a:rPr lang="en-US" sz="9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 Fontes: SILVA (2026a, D07, P02, D12 e D23); Zanaga et al. (2021, 2022); Cochran (1977); King e Zeng (2001); Coelho et al. (2024).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marL="0" indent="0" algn="r">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654544946"/>
              </p:ext>
            </p:extLst>
          </p:nvPr>
        </p:nvGraphicFramePr>
        <p:xfrm>
          <a:off x="468000" y="1051560"/>
          <a:ext cx="8218800" cy="3017520"/>
        </p:xfrm>
        <a:graphic>
          <a:graphicData uri="http://schemas.openxmlformats.org/drawingml/2006/table">
            <a:tbl>
              <a:tblPr/>
              <a:tblGrid>
                <a:gridCol w="20923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50292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extLst>
                  <a:ext uri="{0D108BD9-81ED-4DB2-BD59-A6C34878D82A}">
                    <a16:rowId xmlns:a16="http://schemas.microsoft.com/office/drawing/2014/main" val="10000"/>
                  </a:ext>
                </a:extLst>
              </a:tr>
              <a:tr h="502920">
                <a:tc>
                  <a:txBody>
                    <a:bodyPr/>
                    <a:lstStyle/>
                    <a:p>
                      <a:pPr marL="0" indent="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(ALTMAN; ROYSTON, 2006).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(OLOFSSON et al., 2014).</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marL="0" indent="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2"/>
          <p:cNvSpPr txBox="1"/>
          <p:nvPr/>
        </p:nvSpPr>
        <p:spPr>
          <a:xfrm>
            <a:off x="457200" y="4663440"/>
            <a:ext cx="7863840" cy="457200"/>
          </a:xfrm>
          <a:prstGeom prst="rect">
            <a:avLst/>
          </a:prstGeom>
          <a:noFill/>
          <a:ln/>
        </p:spPr>
        <p:txBody>
          <a:bodyPr wrap="square" lIns="0" tIns="0" rIns="0" bIns="0" rtlCol="0" anchor="ctr"/>
          <a:lstStyle/>
          <a:p>
            <a:pPr marL="0" indent="0">
              <a:buNone/>
            </a:pPr>
            <a:r>
              <a:rPr lang="en-US" sz="9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 Fontes: SILVA (2026a, D16, D23, D25 e D26); Altman e Royston (2006); Olofsson et al. (2014); pré-registro da avaliação: Nosek et al. (2018).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marL="0" indent="0" algn="r">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914400"/>
            <a:ext cx="2468880" cy="1783080"/>
          </a:xfrm>
          <a:prstGeom prst="roundRect">
            <a:avLst>
              <a:gd name="adj" fmla="val 4103"/>
            </a:avLst>
          </a:prstGeom>
          <a:solidFill>
            <a:srgbClr val="EEF3EF"/>
          </a:solidFill>
          <a:ln w="12700">
            <a:solidFill>
              <a:srgbClr val="EEF3EF"/>
            </a:solidFill>
            <a:prstDash val="solid"/>
          </a:ln>
        </p:spPr>
      </p:sp>
      <p:sp>
        <p:nvSpPr>
          <p:cNvPr id="6" name="Text 3"/>
          <p:cNvSpPr txBox="1"/>
          <p:nvPr/>
        </p:nvSpPr>
        <p:spPr>
          <a:xfrm>
            <a:off x="594360" y="987552"/>
            <a:ext cx="2194560" cy="365760"/>
          </a:xfrm>
          <a:prstGeom prst="rect">
            <a:avLst/>
          </a:prstGeom>
          <a:noFill/>
          <a:ln/>
        </p:spPr>
        <p:txBody>
          <a:bodyPr wrap="square" lIns="0" tIns="0" rIns="0" bIns="0" rtlCol="0" anchor="t"/>
          <a:lstStyle/>
          <a:p>
            <a:pPr marL="0" indent="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325880"/>
            <a:ext cx="2194560" cy="274320"/>
          </a:xfrm>
          <a:prstGeom prst="rect">
            <a:avLst/>
          </a:prstGeom>
          <a:noFill/>
          <a:ln/>
        </p:spPr>
        <p:txBody>
          <a:bodyPr wrap="square" lIns="0" tIns="0" rIns="0" bIns="0" rtlCol="0" anchor="t"/>
          <a:lstStyle/>
          <a:p>
            <a:pPr marL="0" indent="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627632"/>
            <a:ext cx="2194560" cy="1051560"/>
          </a:xfrm>
          <a:prstGeom prst="rect">
            <a:avLst/>
          </a:prstGeom>
          <a:noFill/>
          <a:ln/>
        </p:spPr>
        <p:txBody>
          <a:bodyPr wrap="square" lIns="0" tIns="0" rIns="0" bIns="0" rtlCol="0" anchor="t"/>
          <a:lstStyle/>
          <a:p>
            <a:pPr marL="0" indent="0">
              <a:buNone/>
            </a:pPr>
            <a:r>
              <a:rPr lang="en-US" sz="10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050" dirty="0"/>
          </a:p>
        </p:txBody>
      </p:sp>
      <p:sp>
        <p:nvSpPr>
          <p:cNvPr id="9" name="Text 6"/>
          <p:cNvSpPr txBox="1"/>
          <p:nvPr/>
        </p:nvSpPr>
        <p:spPr>
          <a:xfrm>
            <a:off x="2926080" y="1554480"/>
            <a:ext cx="365760" cy="548640"/>
          </a:xfrm>
          <a:prstGeom prst="rect">
            <a:avLst/>
          </a:prstGeom>
          <a:noFill/>
          <a:ln/>
        </p:spPr>
        <p:txBody>
          <a:bodyPr wrap="square" lIns="0" tIns="0" rIns="0" bIns="0" rtlCol="0" anchor="t"/>
          <a:lstStyle/>
          <a:p>
            <a:pPr marL="0" indent="0" algn="ctr">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914400"/>
            <a:ext cx="2468880" cy="1783080"/>
          </a:xfrm>
          <a:prstGeom prst="roundRect">
            <a:avLst>
              <a:gd name="adj" fmla="val 4103"/>
            </a:avLst>
          </a:prstGeom>
          <a:solidFill>
            <a:srgbClr val="EEF3EF"/>
          </a:solidFill>
          <a:ln w="12700">
            <a:solidFill>
              <a:srgbClr val="EEF3EF"/>
            </a:solidFill>
            <a:prstDash val="solid"/>
          </a:ln>
        </p:spPr>
      </p:sp>
      <p:sp>
        <p:nvSpPr>
          <p:cNvPr id="11" name="Text 8"/>
          <p:cNvSpPr txBox="1"/>
          <p:nvPr/>
        </p:nvSpPr>
        <p:spPr>
          <a:xfrm>
            <a:off x="3429000" y="987552"/>
            <a:ext cx="2194560" cy="365760"/>
          </a:xfrm>
          <a:prstGeom prst="rect">
            <a:avLst/>
          </a:prstGeom>
          <a:noFill/>
          <a:ln/>
        </p:spPr>
        <p:txBody>
          <a:bodyPr wrap="square" lIns="0" tIns="0" rIns="0" bIns="0" rtlCol="0" anchor="t"/>
          <a:lstStyle/>
          <a:p>
            <a:pPr marL="0" indent="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325880"/>
            <a:ext cx="2194560" cy="274320"/>
          </a:xfrm>
          <a:prstGeom prst="rect">
            <a:avLst/>
          </a:prstGeom>
          <a:noFill/>
          <a:ln/>
        </p:spPr>
        <p:txBody>
          <a:bodyPr wrap="square" lIns="0" tIns="0" rIns="0" bIns="0" rtlCol="0" anchor="t"/>
          <a:lstStyle/>
          <a:p>
            <a:pPr marL="0" indent="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627632"/>
            <a:ext cx="2194560" cy="1051560"/>
          </a:xfrm>
          <a:prstGeom prst="rect">
            <a:avLst/>
          </a:prstGeom>
          <a:noFill/>
          <a:ln/>
        </p:spPr>
        <p:txBody>
          <a:bodyPr wrap="square" lIns="0" tIns="0" rIns="0" bIns="0" rtlCol="0" anchor="t"/>
          <a:lstStyle/>
          <a:p>
            <a:pPr marL="0" indent="0">
              <a:buNone/>
            </a:pPr>
            <a:r>
              <a:rPr lang="en-US" sz="10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050" dirty="0"/>
          </a:p>
        </p:txBody>
      </p:sp>
      <p:sp>
        <p:nvSpPr>
          <p:cNvPr id="14" name="Text 11"/>
          <p:cNvSpPr txBox="1"/>
          <p:nvPr/>
        </p:nvSpPr>
        <p:spPr>
          <a:xfrm>
            <a:off x="5760720" y="1554480"/>
            <a:ext cx="365760" cy="548640"/>
          </a:xfrm>
          <a:prstGeom prst="rect">
            <a:avLst/>
          </a:prstGeom>
          <a:noFill/>
          <a:ln/>
        </p:spPr>
        <p:txBody>
          <a:bodyPr wrap="square" lIns="0" tIns="0" rIns="0" bIns="0" rtlCol="0" anchor="t"/>
          <a:lstStyle/>
          <a:p>
            <a:pPr marL="0" indent="0" algn="ctr">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914400"/>
            <a:ext cx="2468880" cy="1783080"/>
          </a:xfrm>
          <a:prstGeom prst="roundRect">
            <a:avLst>
              <a:gd name="adj" fmla="val 4103"/>
            </a:avLst>
          </a:prstGeom>
          <a:solidFill>
            <a:srgbClr val="EEF3EF"/>
          </a:solidFill>
          <a:ln w="12700">
            <a:solidFill>
              <a:srgbClr val="EEF3EF"/>
            </a:solidFill>
            <a:prstDash val="solid"/>
          </a:ln>
        </p:spPr>
      </p:sp>
      <p:sp>
        <p:nvSpPr>
          <p:cNvPr id="16" name="Text 13"/>
          <p:cNvSpPr txBox="1"/>
          <p:nvPr/>
        </p:nvSpPr>
        <p:spPr>
          <a:xfrm>
            <a:off x="6263640" y="987552"/>
            <a:ext cx="2194560" cy="365760"/>
          </a:xfrm>
          <a:prstGeom prst="rect">
            <a:avLst/>
          </a:prstGeom>
          <a:noFill/>
          <a:ln/>
        </p:spPr>
        <p:txBody>
          <a:bodyPr wrap="square" lIns="0" tIns="0" rIns="0" bIns="0" rtlCol="0" anchor="t"/>
          <a:lstStyle/>
          <a:p>
            <a:pPr marL="0" indent="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325880"/>
            <a:ext cx="2194560" cy="274320"/>
          </a:xfrm>
          <a:prstGeom prst="rect">
            <a:avLst/>
          </a:prstGeom>
          <a:noFill/>
          <a:ln/>
        </p:spPr>
        <p:txBody>
          <a:bodyPr wrap="square" lIns="0" tIns="0" rIns="0" bIns="0" rtlCol="0" anchor="t"/>
          <a:lstStyle/>
          <a:p>
            <a:pPr marL="0" indent="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627632"/>
            <a:ext cx="2194560" cy="1051560"/>
          </a:xfrm>
          <a:prstGeom prst="rect">
            <a:avLst/>
          </a:prstGeom>
          <a:noFill/>
          <a:ln/>
        </p:spPr>
        <p:txBody>
          <a:bodyPr wrap="square" lIns="0" tIns="0" rIns="0" bIns="0" rtlCol="0" anchor="t"/>
          <a:lstStyle/>
          <a:p>
            <a:pPr marL="0" indent="0">
              <a:buNone/>
            </a:pPr>
            <a:r>
              <a:rPr lang="en-US" sz="1050" dirty="0">
                <a:solidFill>
                  <a:srgbClr val="1B2A22"/>
                </a:solidFill>
                <a:latin typeface="Calibri" pitchFamily="34" charset="0"/>
                <a:ea typeface="Calibri" pitchFamily="34" charset="-122"/>
                <a:cs typeface="Calibri" pitchFamily="34" charset="-120"/>
              </a:rPr>
              <a:t>Carta Embrapa (COELHO et al., 2024). Nível 1: muito baixa a média (K ≤ 0,0285). Nível 2: alta e muito alta (K ≥ 0,0300); a extremamente alta entra por emenda em registro.</a:t>
            </a:r>
            <a:endParaRPr lang="en-US" sz="1050" dirty="0"/>
          </a:p>
        </p:txBody>
      </p:sp>
      <p:sp>
        <p:nvSpPr>
          <p:cNvPr id="19" name="Text 16"/>
          <p:cNvSpPr txBox="1"/>
          <p:nvPr/>
        </p:nvSpPr>
        <p:spPr>
          <a:xfrm>
            <a:off x="457200" y="2788920"/>
            <a:ext cx="8229600" cy="320040"/>
          </a:xfrm>
          <a:prstGeom prst="rect">
            <a:avLst/>
          </a:prstGeom>
          <a:noFill/>
          <a:ln/>
        </p:spPr>
        <p:txBody>
          <a:bodyPr wrap="square" lIns="0" tIns="0" rIns="0" bIns="0" rtlCol="0" anchor="t"/>
          <a:lstStyle/>
          <a:p>
            <a:pPr marL="0" indent="0">
              <a:buNone/>
            </a:pPr>
            <a:r>
              <a:rPr lang="en-US" sz="14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400" dirty="0"/>
          </a:p>
        </p:txBody>
      </p:sp>
      <p:sp>
        <p:nvSpPr>
          <p:cNvPr id="20" name="Text 17"/>
          <p:cNvSpPr txBox="1"/>
          <p:nvPr/>
        </p:nvSpPr>
        <p:spPr>
          <a:xfrm>
            <a:off x="457200" y="3154680"/>
            <a:ext cx="8229600" cy="73152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 maior interesse (COCHRAN, 1977)</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Tercil: três grupos de tamanho aproximado; o corte é calculado sobre os candidatos da própria área e empates caem no grupo mais baixo</a:t>
            </a:r>
            <a:endParaRPr lang="en-US" sz="1050" dirty="0"/>
          </a:p>
        </p:txBody>
      </p:sp>
      <p:sp>
        <p:nvSpPr>
          <p:cNvPr id="21" name="Shape 18"/>
          <p:cNvSpPr/>
          <p:nvPr/>
        </p:nvSpPr>
        <p:spPr>
          <a:xfrm>
            <a:off x="457200" y="3886200"/>
            <a:ext cx="8229600" cy="822960"/>
          </a:xfrm>
          <a:prstGeom prst="roundRect">
            <a:avLst>
              <a:gd name="adj" fmla="val 8889"/>
            </a:avLst>
          </a:prstGeom>
          <a:solidFill>
            <a:srgbClr val="FBEFE6"/>
          </a:solidFill>
          <a:ln w="12700">
            <a:solidFill>
              <a:srgbClr val="FBEFE6"/>
            </a:solidFill>
            <a:prstDash val="solid"/>
          </a:ln>
        </p:spPr>
      </p:sp>
      <p:sp>
        <p:nvSpPr>
          <p:cNvPr id="22" name="Text 19"/>
          <p:cNvSpPr txBox="1"/>
          <p:nvPr/>
        </p:nvSpPr>
        <p:spPr>
          <a:xfrm>
            <a:off x="594360" y="3922776"/>
            <a:ext cx="7955280" cy="228600"/>
          </a:xfrm>
          <a:prstGeom prst="rect">
            <a:avLst/>
          </a:prstGeom>
          <a:noFill/>
          <a:ln/>
        </p:spPr>
        <p:txBody>
          <a:bodyPr wrap="square" lIns="0" tIns="0" rIns="0" bIns="0" rtlCol="0" anchor="t"/>
          <a:lstStyle/>
          <a:p>
            <a:pPr marL="0" indent="0">
              <a:buNone/>
            </a:pPr>
            <a:r>
              <a:rPr lang="en-US" sz="1150" b="1" dirty="0">
                <a:solidFill>
                  <a:srgbClr val="C65D3B"/>
                </a:solidFill>
                <a:latin typeface="Cambria" pitchFamily="34" charset="0"/>
                <a:ea typeface="Cambria" pitchFamily="34" charset="-122"/>
                <a:cs typeface="Cambria" pitchFamily="34" charset="-120"/>
              </a:rPr>
              <a:t>Onde entra a série temporal (Sentinel-2, 2016–2026; DRUSCH et al., 2012)</a:t>
            </a:r>
            <a:endParaRPr lang="en-US" sz="1150" dirty="0"/>
          </a:p>
        </p:txBody>
      </p:sp>
      <p:sp>
        <p:nvSpPr>
          <p:cNvPr id="23" name="Text 20"/>
          <p:cNvSpPr txBox="1"/>
          <p:nvPr/>
        </p:nvSpPr>
        <p:spPr>
          <a:xfrm>
            <a:off x="594360" y="4160520"/>
            <a:ext cx="7955280" cy="548640"/>
          </a:xfrm>
          <a:prstGeom prst="rect">
            <a:avLst/>
          </a:prstGeom>
          <a:noFill/>
          <a:ln/>
        </p:spPr>
        <p:txBody>
          <a:bodyPr wrap="square" lIns="0" tIns="0" rIns="0" bIns="0" rtlCol="0" anchor="t"/>
          <a:lstStyle/>
          <a:p>
            <a:pPr marL="0" indent="0">
              <a:buNone/>
            </a:pPr>
            <a:r>
              <a:rPr lang="en-US" sz="1000" dirty="0">
                <a:solidFill>
                  <a:srgbClr val="1B2A22"/>
                </a:solidFill>
                <a:latin typeface="Calibri" pitchFamily="34" charset="0"/>
                <a:ea typeface="Calibri" pitchFamily="34" charset="-122"/>
                <a:cs typeface="Calibri" pitchFamily="34" charset="-120"/>
              </a:rPr>
              <a:t>1) Solo nu: fração de cenas válidas em que a célula está exposta = eixo dos estratos.  2) Qualidade: mínimo de 6 observações válidas por célula e janela; abaixo disso a métrica é “indisponível”. A frequência de solo nu ainda não foi medida (falta a credencial do GEE).</a:t>
            </a:r>
            <a:endParaRPr lang="en-US" sz="1000" dirty="0"/>
          </a:p>
        </p:txBody>
      </p:sp>
      <p:sp>
        <p:nvSpPr>
          <p:cNvPr id="24" name="Text 21"/>
          <p:cNvSpPr txBox="1"/>
          <p:nvPr/>
        </p:nvSpPr>
        <p:spPr>
          <a:xfrm>
            <a:off x="457200" y="4709160"/>
            <a:ext cx="7863840" cy="384048"/>
          </a:xfrm>
          <a:prstGeom prst="rect">
            <a:avLst/>
          </a:prstGeom>
          <a:noFill/>
          <a:ln/>
        </p:spPr>
        <p:txBody>
          <a:bodyPr wrap="square" lIns="0" tIns="0" rIns="0" bIns="0" rtlCol="0" anchor="ctr"/>
          <a:lstStyle/>
          <a:p>
            <a:pPr marL="0" indent="0">
              <a:buNone/>
            </a:pPr>
            <a:r>
              <a:rPr lang="en-US" sz="900" i="1" dirty="0">
                <a:solidFill>
                  <a:srgbClr val="52605A"/>
                </a:solidFill>
                <a:latin typeface="Calibri" pitchFamily="34" charset="0"/>
                <a:ea typeface="Calibri" pitchFamily="34" charset="-122"/>
                <a:cs typeface="Calibri" pitchFamily="34" charset="-120"/>
              </a:rPr>
              <a:t>Fontes: COELHO et al. (2024); COCHRAN (1977); DRUSCH et al. (2012); SILVA (2026a, D05, D09, D10, D11 e D12).</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Dificuldade: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marL="0" indent="0" algn="r">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graphicFrame>
        <p:nvGraphicFramePr>
          <p:cNvPr id="5" name="Chart 0"/>
          <p:cNvGraphicFramePr/>
          <p:nvPr/>
        </p:nvGraphicFramePr>
        <p:xfrm>
          <a:off x="457200" y="1005840"/>
          <a:ext cx="475488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t>
            </a:r>
            <a:r>
              <a:rPr lang="en-US" sz="1250" dirty="0" err="1">
                <a:solidFill>
                  <a:srgbClr val="1B2A22"/>
                </a:solidFill>
                <a:latin typeface="Calibri" pitchFamily="34" charset="0"/>
                <a:ea typeface="Calibri" pitchFamily="34" charset="-122"/>
                <a:cs typeface="Calibri" pitchFamily="34" charset="-120"/>
              </a:rPr>
              <a:t>autorizações</a:t>
            </a:r>
            <a:r>
              <a:rPr lang="en-US" sz="1250" dirty="0">
                <a:solidFill>
                  <a:srgbClr val="1B2A22"/>
                </a:solidFill>
                <a:latin typeface="Calibri" pitchFamily="34" charset="0"/>
                <a:ea typeface="Calibri" pitchFamily="34" charset="-122"/>
                <a:cs typeface="Calibri" pitchFamily="34" charset="-120"/>
              </a:rPr>
              <a:t> </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09160"/>
            <a:ext cx="7863840" cy="384048"/>
          </a:xfrm>
          <a:prstGeom prst="rect">
            <a:avLst/>
          </a:prstGeom>
          <a:noFill/>
          <a:ln/>
        </p:spPr>
        <p:txBody>
          <a:bodyPr wrap="square" lIns="0" tIns="0" rIns="0" bIns="0" rtlCol="0" anchor="ctr"/>
          <a:lstStyle/>
          <a:p>
            <a:pPr marL="0" indent="0">
              <a:buNone/>
            </a:pPr>
            <a:r>
              <a:rPr lang="en-US" sz="900" i="1" dirty="0">
                <a:solidFill>
                  <a:srgbClr val="52605A"/>
                </a:solidFill>
                <a:latin typeface="Calibri" pitchFamily="34" charset="0"/>
                <a:ea typeface="Calibri" pitchFamily="34" charset="-122"/>
                <a:cs typeface="Calibri" pitchFamily="34" charset="-120"/>
              </a:rPr>
              <a:t>Fonte: SILVA (2026a, D16); medição de 29/09/2026 sobre a base fundiária local (SILVA, 2026b).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Dificuldade: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marL="0" indent="0" algn="r">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sp>
        <p:nvSpPr>
          <p:cNvPr id="5" name="Shape 2"/>
          <p:cNvSpPr/>
          <p:nvPr/>
        </p:nvSpPr>
        <p:spPr>
          <a:xfrm>
            <a:off x="457200" y="720922"/>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830650"/>
            <a:ext cx="1920240" cy="594360"/>
          </a:xfrm>
          <a:prstGeom prst="rect">
            <a:avLst/>
          </a:prstGeom>
          <a:noFill/>
          <a:ln/>
        </p:spPr>
        <p:txBody>
          <a:bodyPr wrap="square" lIns="0" tIns="0" rIns="0" bIns="0" rtlCol="0" anchor="t"/>
          <a:lstStyle/>
          <a:p>
            <a:pPr marL="0" indent="0" algn="ctr">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434154"/>
            <a:ext cx="1737360" cy="457200"/>
          </a:xfrm>
          <a:prstGeom prst="rect">
            <a:avLst/>
          </a:prstGeom>
          <a:noFill/>
          <a:ln/>
        </p:spPr>
        <p:txBody>
          <a:bodyPr wrap="square" lIns="0" tIns="0" rIns="0" bIns="0" rtlCol="0" anchor="t"/>
          <a:lstStyle/>
          <a:p>
            <a:pPr marL="0" indent="0" algn="ctr">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720922"/>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830650"/>
            <a:ext cx="1920240" cy="594360"/>
          </a:xfrm>
          <a:prstGeom prst="rect">
            <a:avLst/>
          </a:prstGeom>
          <a:noFill/>
          <a:ln/>
        </p:spPr>
        <p:txBody>
          <a:bodyPr wrap="square" lIns="0" tIns="0" rIns="0" bIns="0" rtlCol="0" anchor="t"/>
          <a:lstStyle/>
          <a:p>
            <a:pPr marL="0" indent="0" algn="ctr">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434154"/>
            <a:ext cx="1737360" cy="457200"/>
          </a:xfrm>
          <a:prstGeom prst="rect">
            <a:avLst/>
          </a:prstGeom>
          <a:noFill/>
          <a:ln/>
        </p:spPr>
        <p:txBody>
          <a:bodyPr wrap="square" lIns="0" tIns="0" rIns="0" bIns="0" rtlCol="0" anchor="t"/>
          <a:lstStyle/>
          <a:p>
            <a:pPr marL="0" indent="0" algn="ctr">
              <a:buNone/>
            </a:pPr>
            <a:r>
              <a:rPr lang="en-US" sz="1100" dirty="0">
                <a:solidFill>
                  <a:srgbClr val="52605A"/>
                </a:solidFill>
                <a:latin typeface="Calibri" pitchFamily="34" charset="0"/>
                <a:ea typeface="Calibri" pitchFamily="34" charset="-122"/>
                <a:cs typeface="Calibri" pitchFamily="34" charset="-120"/>
              </a:rPr>
              <a:t>jornadas, com até 6 polígonos e 3 baterias cada (proposta)</a:t>
            </a:r>
            <a:endParaRPr lang="en-US" sz="1100" dirty="0"/>
          </a:p>
        </p:txBody>
      </p:sp>
      <p:sp>
        <p:nvSpPr>
          <p:cNvPr id="11" name="Shape 8"/>
          <p:cNvSpPr/>
          <p:nvPr/>
        </p:nvSpPr>
        <p:spPr>
          <a:xfrm>
            <a:off x="4572000" y="720922"/>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830650"/>
            <a:ext cx="1920240" cy="594360"/>
          </a:xfrm>
          <a:prstGeom prst="rect">
            <a:avLst/>
          </a:prstGeom>
          <a:noFill/>
          <a:ln/>
        </p:spPr>
        <p:txBody>
          <a:bodyPr wrap="square" lIns="0" tIns="0" rIns="0" bIns="0" rtlCol="0" anchor="t"/>
          <a:lstStyle/>
          <a:p>
            <a:pPr marL="0" indent="0" algn="ctr">
              <a:buNone/>
            </a:pPr>
            <a:r>
              <a:rPr lang="en-US" sz="2200" b="1" dirty="0">
                <a:solidFill>
                  <a:srgbClr val="2F6B4F"/>
                </a:solidFill>
                <a:latin typeface="Cambria" pitchFamily="34" charset="0"/>
                <a:ea typeface="Cambria" pitchFamily="34" charset="-122"/>
                <a:cs typeface="Cambria" pitchFamily="34" charset="-120"/>
              </a:rPr>
              <a:t>≈ 3 min</a:t>
            </a:r>
            <a:endParaRPr lang="en-US" sz="2200" dirty="0"/>
          </a:p>
        </p:txBody>
      </p:sp>
      <p:sp>
        <p:nvSpPr>
          <p:cNvPr id="13" name="Text 10"/>
          <p:cNvSpPr txBox="1"/>
          <p:nvPr/>
        </p:nvSpPr>
        <p:spPr>
          <a:xfrm>
            <a:off x="4663440" y="1434154"/>
            <a:ext cx="1737360" cy="457200"/>
          </a:xfrm>
          <a:prstGeom prst="rect">
            <a:avLst/>
          </a:prstGeom>
          <a:noFill/>
          <a:ln/>
        </p:spPr>
        <p:txBody>
          <a:bodyPr wrap="square" lIns="0" tIns="0" rIns="0" bIns="0" rtlCol="0" anchor="t"/>
          <a:lstStyle/>
          <a:p>
            <a:pPr marL="0" indent="0" algn="ctr">
              <a:buNone/>
            </a:pPr>
            <a:r>
              <a:rPr lang="en-US" sz="1100" dirty="0">
                <a:solidFill>
                  <a:srgbClr val="52605A"/>
                </a:solidFill>
                <a:latin typeface="Calibri" pitchFamily="34" charset="0"/>
                <a:ea typeface="Calibri" pitchFamily="34" charset="-122"/>
                <a:cs typeface="Calibri" pitchFamily="34" charset="-120"/>
              </a:rPr>
              <a:t>de mapeamento por polígono, mais curvas (plano de voo)</a:t>
            </a:r>
            <a:endParaRPr lang="en-US" sz="1100" dirty="0"/>
          </a:p>
        </p:txBody>
      </p:sp>
      <p:sp>
        <p:nvSpPr>
          <p:cNvPr id="14" name="Shape 11"/>
          <p:cNvSpPr/>
          <p:nvPr/>
        </p:nvSpPr>
        <p:spPr>
          <a:xfrm>
            <a:off x="6629400" y="720922"/>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830650"/>
            <a:ext cx="2057400" cy="594360"/>
          </a:xfrm>
          <a:prstGeom prst="rect">
            <a:avLst/>
          </a:prstGeom>
          <a:noFill/>
          <a:ln/>
        </p:spPr>
        <p:txBody>
          <a:bodyPr wrap="square" lIns="0" tIns="0" rIns="0" bIns="0" rtlCol="0" anchor="t"/>
          <a:lstStyle/>
          <a:p>
            <a:pPr marL="0" indent="0" algn="ctr">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434154"/>
            <a:ext cx="1874520" cy="457200"/>
          </a:xfrm>
          <a:prstGeom prst="rect">
            <a:avLst/>
          </a:prstGeom>
          <a:noFill/>
          <a:ln/>
        </p:spPr>
        <p:txBody>
          <a:bodyPr wrap="square" lIns="0" tIns="0" rIns="0" bIns="0" rtlCol="0" anchor="t"/>
          <a:lstStyle/>
          <a:p>
            <a:pPr marL="0" indent="0" algn="ctr">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pic>
        <p:nvPicPr>
          <p:cNvPr id="18" name="Image 0" descr="img/camp_cards.png"/>
          <p:cNvPicPr>
            <a:picLocks noChangeAspect="1"/>
          </p:cNvPicPr>
          <p:nvPr/>
        </p:nvPicPr>
        <p:blipFill>
          <a:blip r:embed="rId3"/>
          <a:stretch>
            <a:fillRect/>
          </a:stretch>
        </p:blipFill>
        <p:spPr>
          <a:xfrm>
            <a:off x="757982" y="2019370"/>
            <a:ext cx="7353716" cy="1534999"/>
          </a:xfrm>
          <a:prstGeom prst="rect">
            <a:avLst/>
          </a:prstGeom>
        </p:spPr>
      </p:pic>
      <p:sp>
        <p:nvSpPr>
          <p:cNvPr id="19" name="Text 15"/>
          <p:cNvSpPr txBox="1"/>
          <p:nvPr/>
        </p:nvSpPr>
        <p:spPr>
          <a:xfrm>
            <a:off x="457200" y="3674430"/>
            <a:ext cx="8229600" cy="1042416"/>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Aeronave: Spectral 2 (Nuvem UAV), câmera MicaSense Altum; 3 baterias. Plano: 4 cm de GSD, 92,8 m de altitude, 8,7 a 9,2 m/s (medido), cerca de 7 linhas e 123 disparos por polígono</a:t>
            </a:r>
            <a:endParaRPr lang="en-US" sz="1000" dirty="0"/>
          </a:p>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Por que 72: 18 estratos × 4 polígonos (2 treino + 2 teste); a área total, cerca de 361 ha, é o que o custo de voo suporta e rende cerca de 1.845 unidades independentes (D24; PLOEG; AUSTIN; STEYERBERG, 2014)</a:t>
            </a:r>
            <a:endParaRPr lang="en-US" sz="1000" dirty="0"/>
          </a:p>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Tempo: pelo menos 3,6 h de mapeamento nos 72; 6 polígonos por jornada = 2 por bateria, compatível com as missões já voadas (9 a 13 min); autonomia útil a confirmar. Produtividade medida: 2,3 ha/min (Missão 009) e 0,53 (000)</a:t>
            </a:r>
            <a:endParaRPr lang="en-US" sz="1000" dirty="0"/>
          </a:p>
        </p:txBody>
      </p:sp>
      <p:sp>
        <p:nvSpPr>
          <p:cNvPr id="20" name="Text 16"/>
          <p:cNvSpPr txBox="1"/>
          <p:nvPr/>
        </p:nvSpPr>
        <p:spPr>
          <a:xfrm>
            <a:off x="457200" y="4709160"/>
            <a:ext cx="7863840" cy="384048"/>
          </a:xfrm>
          <a:prstGeom prst="rect">
            <a:avLst/>
          </a:prstGeom>
          <a:noFill/>
          <a:ln/>
        </p:spPr>
        <p:txBody>
          <a:bodyPr wrap="square" lIns="0" tIns="0" rIns="0" bIns="0" rtlCol="0" anchor="ctr"/>
          <a:lstStyle/>
          <a:p>
            <a:pPr marL="0" indent="0">
              <a:buNone/>
            </a:pPr>
            <a:r>
              <a:rPr lang="en-US" sz="900" i="1" dirty="0">
                <a:solidFill>
                  <a:srgbClr val="52605A"/>
                </a:solidFill>
                <a:latin typeface="Calibri" pitchFamily="34" charset="0"/>
                <a:ea typeface="Calibri" pitchFamily="34" charset="-122"/>
                <a:cs typeface="Calibri" pitchFamily="34" charset="-120"/>
              </a:rPr>
              <a:t>Fontes: SILVA (2026a, D16 e D24); plano de voo e cobertura das missões 000 e 009 (SILVA, 2026b); Ploeg, Austin e Steyerberg (2014).</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marL="0" indent="0" algn="r">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icPr>
            <a:picLocks noChangeAspect="1"/>
          </p:cNvPicPr>
          <p:nvPr/>
        </p:nvPicPr>
        <p:blipFill>
          <a:blip r:embed="rId3"/>
          <a:stretch>
            <a:fillRect/>
          </a:stretch>
        </p:blipFill>
        <p:spPr>
          <a:xfrm>
            <a:off x="524256" y="7772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ALTMAN; ROYSTON, 2006)</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09160"/>
            <a:ext cx="7863840" cy="384048"/>
          </a:xfrm>
          <a:prstGeom prst="rect">
            <a:avLst/>
          </a:prstGeom>
          <a:noFill/>
          <a:ln/>
        </p:spPr>
        <p:txBody>
          <a:bodyPr wrap="square" lIns="0" tIns="0" rIns="0" bIns="0" rtlCol="0" anchor="ctr"/>
          <a:lstStyle/>
          <a:p>
            <a:pPr marL="0" indent="0">
              <a:buNone/>
            </a:pPr>
            <a:r>
              <a:rPr lang="en-US" sz="900" i="1" dirty="0">
                <a:solidFill>
                  <a:srgbClr val="52605A"/>
                </a:solidFill>
                <a:latin typeface="Calibri" pitchFamily="34" charset="0"/>
                <a:ea typeface="Calibri" pitchFamily="34" charset="-122"/>
                <a:cs typeface="Calibri" pitchFamily="34" charset="-120"/>
              </a:rPr>
              <a:t>Fontes: SILVA (2026a, D02, D16 e D26); Altman e Royston (2006).</a:t>
            </a:r>
            <a:endParaRPr lang="en-US" sz="1000" dirty="0"/>
          </a:p>
        </p:txBody>
      </p:sp>
      <p:pic>
        <p:nvPicPr>
          <p:cNvPr id="9" name="Imagem 8">
            <a:extLst>
              <a:ext uri="{FF2B5EF4-FFF2-40B4-BE49-F238E27FC236}">
                <a16:creationId xmlns:a16="http://schemas.microsoft.com/office/drawing/2014/main" id="{7AF6C1AA-E29A-F8E9-433B-DB507D146D51}"/>
              </a:ext>
            </a:extLst>
          </p:cNvPr>
          <p:cNvPicPr>
            <a:picLocks noChangeAspect="1"/>
          </p:cNvPicPr>
          <p:nvPr/>
        </p:nvPicPr>
        <p:blipFill>
          <a:blip r:embed="rId4"/>
          <a:stretch>
            <a:fillRect/>
          </a:stretch>
        </p:blipFill>
        <p:spPr>
          <a:xfrm>
            <a:off x="812140" y="1762427"/>
            <a:ext cx="2105319" cy="2476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marL="0" indent="0" algn="r">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marL="0" indent="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marL="0" indent="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marL="0" indent="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marL="0" indent="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marL="0" indent="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marL="0" indent="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 (OLOFSSON et al., 2014)</a:t>
            </a:r>
            <a:endParaRPr lang="en-US" sz="1300" dirty="0"/>
          </a:p>
        </p:txBody>
      </p:sp>
      <p:sp>
        <p:nvSpPr>
          <p:cNvPr id="14" name="Text 11"/>
          <p:cNvSpPr txBox="1"/>
          <p:nvPr/>
        </p:nvSpPr>
        <p:spPr>
          <a:xfrm>
            <a:off x="457200" y="3154680"/>
            <a:ext cx="8229600" cy="292608"/>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t>
            </a:r>
            <a:r>
              <a:rPr lang="en-US" sz="1300" dirty="0" err="1">
                <a:solidFill>
                  <a:srgbClr val="1B2A22"/>
                </a:solidFill>
                <a:latin typeface="Calibri" pitchFamily="34" charset="0"/>
                <a:ea typeface="Calibri" pitchFamily="34" charset="-122"/>
                <a:cs typeface="Calibri" pitchFamily="34" charset="-120"/>
              </a:rPr>
              <a:t>ao</a:t>
            </a:r>
            <a:r>
              <a:rPr lang="en-US" sz="1300" dirty="0">
                <a:solidFill>
                  <a:srgbClr val="1B2A22"/>
                </a:solidFill>
                <a:latin typeface="Calibri" pitchFamily="34" charset="0"/>
                <a:ea typeface="Calibri" pitchFamily="34" charset="-122"/>
                <a:cs typeface="Calibri" pitchFamily="34" charset="-120"/>
              </a:rPr>
              <a:t> </a:t>
            </a:r>
            <a:r>
              <a:rPr lang="en-US" sz="1300" dirty="0" err="1">
                <a:solidFill>
                  <a:srgbClr val="1B2A22"/>
                </a:solidFill>
                <a:latin typeface="Calibri" pitchFamily="34" charset="0"/>
                <a:ea typeface="Calibri" pitchFamily="34" charset="-122"/>
                <a:cs typeface="Calibri" pitchFamily="34" charset="-120"/>
              </a:rPr>
              <a:t>KoboCollect</a:t>
            </a:r>
            <a:endParaRPr lang="en-US" sz="1300" dirty="0"/>
          </a:p>
        </p:txBody>
      </p:sp>
      <p:sp>
        <p:nvSpPr>
          <p:cNvPr id="15" name="Text 12"/>
          <p:cNvSpPr txBox="1"/>
          <p:nvPr/>
        </p:nvSpPr>
        <p:spPr>
          <a:xfrm>
            <a:off x="457200" y="4709160"/>
            <a:ext cx="7863840" cy="384048"/>
          </a:xfrm>
          <a:prstGeom prst="rect">
            <a:avLst/>
          </a:prstGeom>
          <a:noFill/>
          <a:ln/>
        </p:spPr>
        <p:txBody>
          <a:bodyPr wrap="square" lIns="0" tIns="0" rIns="0" bIns="0" rtlCol="0" anchor="ctr"/>
          <a:lstStyle/>
          <a:p>
            <a:pPr marL="0" indent="0">
              <a:buNone/>
            </a:pPr>
            <a:r>
              <a:rPr lang="en-US" sz="900" i="1" dirty="0">
                <a:solidFill>
                  <a:srgbClr val="52605A"/>
                </a:solidFill>
                <a:latin typeface="Calibri" pitchFamily="34" charset="0"/>
                <a:ea typeface="Calibri" pitchFamily="34" charset="-122"/>
                <a:cs typeface="Calibri" pitchFamily="34" charset="-120"/>
              </a:rPr>
              <a:t>Fontes: SILVA (2026a, D16 e D23); Olofsson et al. (2014).</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56032"/>
            <a:ext cx="8229600" cy="54864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SAREL Coletor: o que se registra em cada ponto</a:t>
            </a:r>
            <a:endParaRPr lang="en-US" sz="2200" dirty="0"/>
          </a:p>
        </p:txBody>
      </p:sp>
      <p:sp>
        <p:nvSpPr>
          <p:cNvPr id="3" name="Text 1"/>
          <p:cNvSpPr txBox="1"/>
          <p:nvPr/>
        </p:nvSpPr>
        <p:spPr>
          <a:xfrm>
            <a:off x="457200" y="749808"/>
            <a:ext cx="8229600" cy="365760"/>
          </a:xfrm>
          <a:prstGeom prst="rect">
            <a:avLst/>
          </a:prstGeom>
          <a:noFill/>
          <a:ln/>
        </p:spPr>
        <p:txBody>
          <a:bodyPr wrap="square" lIns="0" tIns="0" rIns="0" bIns="0" rtlCol="0" anchor="t"/>
          <a:lstStyle/>
          <a:p>
            <a:pPr marL="0" indent="0">
              <a:buNone/>
            </a:pPr>
            <a:r>
              <a:rPr lang="en-US" sz="1200" i="1" dirty="0">
                <a:solidFill>
                  <a:srgbClr val="52605A"/>
                </a:solidFill>
                <a:latin typeface="Calibri" pitchFamily="34" charset="0"/>
                <a:ea typeface="Calibri" pitchFamily="34" charset="-122"/>
                <a:cs typeface="Calibri" pitchFamily="34" charset="-120"/>
              </a:rPr>
              <a:t>Android, offline, no lugar do KoboCollect. Cada ponto vira uma linha de CSV (28 colunas) lida pelo SAREL.</a:t>
            </a:r>
            <a:endParaRPr lang="en-US" sz="1200" dirty="0"/>
          </a:p>
        </p:txBody>
      </p:sp>
      <p:sp>
        <p:nvSpPr>
          <p:cNvPr id="4" name="Shape 2"/>
          <p:cNvSpPr/>
          <p:nvPr/>
        </p:nvSpPr>
        <p:spPr>
          <a:xfrm>
            <a:off x="457200" y="1280160"/>
            <a:ext cx="2651760" cy="1627632"/>
          </a:xfrm>
          <a:prstGeom prst="roundRect">
            <a:avLst>
              <a:gd name="adj" fmla="val 4494"/>
            </a:avLst>
          </a:prstGeom>
          <a:solidFill>
            <a:srgbClr val="EEF3EF"/>
          </a:solidFill>
          <a:ln w="12700">
            <a:solidFill>
              <a:srgbClr val="EEF3EF"/>
            </a:solidFill>
            <a:prstDash val="solid"/>
          </a:ln>
        </p:spPr>
      </p:sp>
      <p:sp>
        <p:nvSpPr>
          <p:cNvPr id="5" name="Text 3"/>
          <p:cNvSpPr txBox="1"/>
          <p:nvPr/>
        </p:nvSpPr>
        <p:spPr>
          <a:xfrm>
            <a:off x="594360" y="1371600"/>
            <a:ext cx="2377440" cy="274320"/>
          </a:xfrm>
          <a:prstGeom prst="rect">
            <a:avLst/>
          </a:prstGeom>
          <a:noFill/>
          <a:ln/>
        </p:spPr>
        <p:txBody>
          <a:bodyPr wrap="square" lIns="0" tIns="0" rIns="0" bIns="0" rtlCol="0" anchor="t"/>
          <a:lstStyle/>
          <a:p>
            <a:pPr marL="0" indent="0">
              <a:buNone/>
            </a:pPr>
            <a:r>
              <a:rPr lang="en-US" sz="1300" b="1" dirty="0">
                <a:solidFill>
                  <a:srgbClr val="2F6B4F"/>
                </a:solidFill>
                <a:latin typeface="Cambria" pitchFamily="34" charset="0"/>
                <a:ea typeface="Cambria" pitchFamily="34" charset="-122"/>
                <a:cs typeface="Cambria" pitchFamily="34" charset="-120"/>
              </a:rPr>
              <a:t>1. Identificação</a:t>
            </a:r>
            <a:endParaRPr lang="en-US" sz="1300" dirty="0"/>
          </a:p>
        </p:txBody>
      </p:sp>
      <p:sp>
        <p:nvSpPr>
          <p:cNvPr id="6" name="Text 4"/>
          <p:cNvSpPr txBox="1"/>
          <p:nvPr/>
        </p:nvSpPr>
        <p:spPr>
          <a:xfrm>
            <a:off x="594360" y="1691640"/>
            <a:ext cx="2377440" cy="1170432"/>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Código opaco do ponto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Observador, data e hora</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Protocolo cego: sem estrato nem predição</a:t>
            </a:r>
            <a:endParaRPr lang="en-US" sz="1050" dirty="0"/>
          </a:p>
        </p:txBody>
      </p:sp>
      <p:sp>
        <p:nvSpPr>
          <p:cNvPr id="7" name="Shape 5"/>
          <p:cNvSpPr/>
          <p:nvPr/>
        </p:nvSpPr>
        <p:spPr>
          <a:xfrm>
            <a:off x="3246120" y="1280160"/>
            <a:ext cx="2651760" cy="1627632"/>
          </a:xfrm>
          <a:prstGeom prst="roundRect">
            <a:avLst>
              <a:gd name="adj" fmla="val 4494"/>
            </a:avLst>
          </a:prstGeom>
          <a:solidFill>
            <a:srgbClr val="EEF3EF"/>
          </a:solidFill>
          <a:ln w="12700">
            <a:solidFill>
              <a:srgbClr val="EEF3EF"/>
            </a:solidFill>
            <a:prstDash val="solid"/>
          </a:ln>
        </p:spPr>
      </p:sp>
      <p:sp>
        <p:nvSpPr>
          <p:cNvPr id="8" name="Text 6"/>
          <p:cNvSpPr txBox="1"/>
          <p:nvPr/>
        </p:nvSpPr>
        <p:spPr>
          <a:xfrm>
            <a:off x="3383280" y="1371600"/>
            <a:ext cx="2377440" cy="274320"/>
          </a:xfrm>
          <a:prstGeom prst="rect">
            <a:avLst/>
          </a:prstGeom>
          <a:noFill/>
          <a:ln/>
        </p:spPr>
        <p:txBody>
          <a:bodyPr wrap="square" lIns="0" tIns="0" rIns="0" bIns="0" rtlCol="0" anchor="t"/>
          <a:lstStyle/>
          <a:p>
            <a:pPr marL="0" indent="0">
              <a:buNone/>
            </a:pPr>
            <a:r>
              <a:rPr lang="en-US" sz="1300" b="1" dirty="0">
                <a:solidFill>
                  <a:srgbClr val="2F6B4F"/>
                </a:solidFill>
                <a:latin typeface="Cambria" pitchFamily="34" charset="0"/>
                <a:ea typeface="Cambria" pitchFamily="34" charset="-122"/>
                <a:cs typeface="Cambria" pitchFamily="34" charset="-120"/>
              </a:rPr>
              <a:t>2. Posição (GNSS)</a:t>
            </a:r>
            <a:endParaRPr lang="en-US" sz="1300" dirty="0"/>
          </a:p>
        </p:txBody>
      </p:sp>
      <p:sp>
        <p:nvSpPr>
          <p:cNvPr id="9" name="Text 7"/>
          <p:cNvSpPr txBox="1"/>
          <p:nvPr/>
        </p:nvSpPr>
        <p:spPr>
          <a:xfrm>
            <a:off x="3383280" y="1691640"/>
            <a:ext cx="2377440" cy="1170432"/>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Latitude, longitude, altitude</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Acurácia do aparelho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Distância ao ponto planejado (tolerância; CONGALTON; GREEN, 2019)</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Média estática ou fix único; posição simulada é rejeitada</a:t>
            </a:r>
            <a:endParaRPr lang="en-US" sz="1050" dirty="0"/>
          </a:p>
        </p:txBody>
      </p:sp>
      <p:sp>
        <p:nvSpPr>
          <p:cNvPr id="10" name="Shape 8"/>
          <p:cNvSpPr/>
          <p:nvPr/>
        </p:nvSpPr>
        <p:spPr>
          <a:xfrm>
            <a:off x="6035040" y="1280160"/>
            <a:ext cx="2651760" cy="1627632"/>
          </a:xfrm>
          <a:prstGeom prst="roundRect">
            <a:avLst>
              <a:gd name="adj" fmla="val 4494"/>
            </a:avLst>
          </a:prstGeom>
          <a:solidFill>
            <a:srgbClr val="EEF3EF"/>
          </a:solidFill>
          <a:ln w="12700">
            <a:solidFill>
              <a:srgbClr val="EEF3EF"/>
            </a:solidFill>
            <a:prstDash val="solid"/>
          </a:ln>
        </p:spPr>
      </p:sp>
      <p:sp>
        <p:nvSpPr>
          <p:cNvPr id="11" name="Text 9"/>
          <p:cNvSpPr txBox="1"/>
          <p:nvPr/>
        </p:nvSpPr>
        <p:spPr>
          <a:xfrm>
            <a:off x="6231835" y="1353312"/>
            <a:ext cx="2377440" cy="274320"/>
          </a:xfrm>
          <a:prstGeom prst="rect">
            <a:avLst/>
          </a:prstGeom>
          <a:noFill/>
          <a:ln/>
        </p:spPr>
        <p:txBody>
          <a:bodyPr wrap="square" lIns="0" tIns="0" rIns="0" bIns="0" rtlCol="0" anchor="t"/>
          <a:lstStyle/>
          <a:p>
            <a:pPr marL="0" indent="0">
              <a:buNone/>
            </a:pPr>
            <a:r>
              <a:rPr lang="en-US" sz="1300" b="1" dirty="0">
                <a:latin typeface="Cambria" pitchFamily="34" charset="0"/>
                <a:ea typeface="Cambria" pitchFamily="34" charset="-122"/>
                <a:cs typeface="Cambria" pitchFamily="34" charset="-120"/>
              </a:rPr>
              <a:t>3. Rótulo de erosão</a:t>
            </a:r>
            <a:endParaRPr lang="en-US" sz="1300" dirty="0"/>
          </a:p>
        </p:txBody>
      </p:sp>
      <p:sp>
        <p:nvSpPr>
          <p:cNvPr id="12" name="Text 10"/>
          <p:cNvSpPr txBox="1"/>
          <p:nvPr/>
        </p:nvSpPr>
        <p:spPr>
          <a:xfrm>
            <a:off x="6172200" y="1691640"/>
            <a:ext cx="2377440" cy="1170432"/>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Ordinal: ausente, incipiente, moderada, </a:t>
            </a:r>
            <a:r>
              <a:rPr lang="en-US" sz="1050" dirty="0" err="1">
                <a:solidFill>
                  <a:srgbClr val="1B2A22"/>
                </a:solidFill>
                <a:latin typeface="Calibri" pitchFamily="34" charset="0"/>
                <a:ea typeface="Calibri" pitchFamily="34" charset="-122"/>
                <a:cs typeface="Calibri" pitchFamily="34" charset="-120"/>
              </a:rPr>
              <a:t>severa</a:t>
            </a:r>
            <a:r>
              <a:rPr lang="en-US" sz="1050" dirty="0">
                <a:solidFill>
                  <a:srgbClr val="1B2A22"/>
                </a:solidFill>
                <a:latin typeface="Calibri" pitchFamily="34" charset="0"/>
                <a:ea typeface="Calibri" pitchFamily="34" charset="-122"/>
                <a:cs typeface="Calibri" pitchFamily="34" charset="-120"/>
              </a:rPr>
              <a:t> </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Confiança: alta, média ou baixa</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Binário derivado: ausente = 0; demais = 1</a:t>
            </a:r>
            <a:endParaRPr lang="en-US" sz="1050" dirty="0"/>
          </a:p>
        </p:txBody>
      </p:sp>
      <p:sp>
        <p:nvSpPr>
          <p:cNvPr id="13" name="Shape 11"/>
          <p:cNvSpPr/>
          <p:nvPr/>
        </p:nvSpPr>
        <p:spPr>
          <a:xfrm>
            <a:off x="457200" y="2971800"/>
            <a:ext cx="2651760" cy="1627632"/>
          </a:xfrm>
          <a:prstGeom prst="roundRect">
            <a:avLst>
              <a:gd name="adj" fmla="val 4494"/>
            </a:avLst>
          </a:prstGeom>
          <a:solidFill>
            <a:srgbClr val="EEF3EF"/>
          </a:solidFill>
          <a:ln w="12700">
            <a:solidFill>
              <a:srgbClr val="EEF3EF"/>
            </a:solidFill>
            <a:prstDash val="solid"/>
          </a:ln>
        </p:spPr>
      </p:sp>
      <p:sp>
        <p:nvSpPr>
          <p:cNvPr id="14" name="Text 12"/>
          <p:cNvSpPr txBox="1"/>
          <p:nvPr/>
        </p:nvSpPr>
        <p:spPr>
          <a:xfrm>
            <a:off x="594360" y="3063240"/>
            <a:ext cx="2377440" cy="274320"/>
          </a:xfrm>
          <a:prstGeom prst="rect">
            <a:avLst/>
          </a:prstGeom>
          <a:noFill/>
          <a:ln/>
        </p:spPr>
        <p:txBody>
          <a:bodyPr wrap="square" lIns="0" tIns="0" rIns="0" bIns="0" rtlCol="0" anchor="t"/>
          <a:lstStyle/>
          <a:p>
            <a:pPr marL="0" indent="0">
              <a:buNone/>
            </a:pPr>
            <a:r>
              <a:rPr lang="en-US" sz="1300" b="1" dirty="0">
                <a:solidFill>
                  <a:srgbClr val="2F6B4F"/>
                </a:solidFill>
                <a:latin typeface="Cambria" pitchFamily="34" charset="0"/>
                <a:ea typeface="Cambria" pitchFamily="34" charset="-122"/>
                <a:cs typeface="Cambria" pitchFamily="34" charset="-120"/>
              </a:rPr>
              <a:t>4. Diagnóstico de erosão</a:t>
            </a:r>
            <a:endParaRPr lang="en-US" sz="1300" dirty="0"/>
          </a:p>
        </p:txBody>
      </p:sp>
      <p:sp>
        <p:nvSpPr>
          <p:cNvPr id="15" name="Text 13"/>
          <p:cNvSpPr txBox="1"/>
          <p:nvPr/>
        </p:nvSpPr>
        <p:spPr>
          <a:xfrm>
            <a:off x="594360" y="3383280"/>
            <a:ext cx="2377440" cy="1170432"/>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Pedestais e raízes expostas</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Exposição do horizonte B</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Espessura do horizonte A (cm)</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Crosta e selamento superficial</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Microssulcos iniciais; sedimentação no sopé</a:t>
            </a:r>
            <a:endParaRPr lang="en-US" sz="1050" dirty="0"/>
          </a:p>
        </p:txBody>
      </p:sp>
      <p:sp>
        <p:nvSpPr>
          <p:cNvPr id="16" name="Shape 14"/>
          <p:cNvSpPr/>
          <p:nvPr/>
        </p:nvSpPr>
        <p:spPr>
          <a:xfrm>
            <a:off x="3246120" y="2971800"/>
            <a:ext cx="2651760" cy="1627632"/>
          </a:xfrm>
          <a:prstGeom prst="roundRect">
            <a:avLst>
              <a:gd name="adj" fmla="val 4494"/>
            </a:avLst>
          </a:prstGeom>
          <a:solidFill>
            <a:srgbClr val="EEF3EF"/>
          </a:solidFill>
          <a:ln w="12700">
            <a:solidFill>
              <a:srgbClr val="EEF3EF"/>
            </a:solidFill>
            <a:prstDash val="solid"/>
          </a:ln>
        </p:spPr>
      </p:sp>
      <p:sp>
        <p:nvSpPr>
          <p:cNvPr id="17" name="Text 15"/>
          <p:cNvSpPr txBox="1"/>
          <p:nvPr/>
        </p:nvSpPr>
        <p:spPr>
          <a:xfrm>
            <a:off x="3383280" y="3063240"/>
            <a:ext cx="2377440" cy="274320"/>
          </a:xfrm>
          <a:prstGeom prst="rect">
            <a:avLst/>
          </a:prstGeom>
          <a:noFill/>
          <a:ln/>
        </p:spPr>
        <p:txBody>
          <a:bodyPr wrap="square" lIns="0" tIns="0" rIns="0" bIns="0" rtlCol="0" anchor="t"/>
          <a:lstStyle/>
          <a:p>
            <a:pPr marL="0" indent="0">
              <a:buNone/>
            </a:pPr>
            <a:r>
              <a:rPr lang="en-US" sz="1300" b="1" dirty="0">
                <a:solidFill>
                  <a:srgbClr val="2F6B4F"/>
                </a:solidFill>
                <a:latin typeface="Cambria" pitchFamily="34" charset="0"/>
                <a:ea typeface="Cambria" pitchFamily="34" charset="-122"/>
                <a:cs typeface="Cambria" pitchFamily="34" charset="-120"/>
              </a:rPr>
              <a:t>5. Manejo e conservação</a:t>
            </a:r>
            <a:endParaRPr lang="en-US" sz="1300" dirty="0"/>
          </a:p>
        </p:txBody>
      </p:sp>
      <p:sp>
        <p:nvSpPr>
          <p:cNvPr id="18" name="Text 16"/>
          <p:cNvSpPr txBox="1"/>
          <p:nvPr/>
        </p:nvSpPr>
        <p:spPr>
          <a:xfrm>
            <a:off x="3383280" y="3383280"/>
            <a:ext cx="2377440" cy="1170432"/>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Sistema de manejo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Cobertura vegetal (%)</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Sentido de plantio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Presença e estado do terraço</a:t>
            </a:r>
            <a:endParaRPr lang="en-US" sz="1050" dirty="0"/>
          </a:p>
          <a:p>
            <a:pPr marL="342900" indent="-342900">
              <a:spcAft>
                <a:spcPts val="200"/>
              </a:spcAft>
              <a:buSzPct val="100000"/>
              <a:buChar char="•"/>
            </a:pPr>
            <a:r>
              <a:rPr lang="en-US" sz="900" dirty="0">
                <a:solidFill>
                  <a:srgbClr val="1B2A22"/>
                </a:solidFill>
                <a:latin typeface="Calibri" pitchFamily="34" charset="0"/>
                <a:ea typeface="Calibri" pitchFamily="34" charset="-122"/>
                <a:cs typeface="Calibri" pitchFamily="34" charset="-120"/>
              </a:rPr>
              <a:t>Alimentam o fator P da RUSLE (WISCHMEIER; SMITH, 1978; RENARD et al., 1997; D22, provisório)</a:t>
            </a:r>
            <a:endParaRPr lang="en-US" sz="1050" dirty="0"/>
          </a:p>
        </p:txBody>
      </p:sp>
      <p:sp>
        <p:nvSpPr>
          <p:cNvPr id="19" name="Shape 17"/>
          <p:cNvSpPr/>
          <p:nvPr/>
        </p:nvSpPr>
        <p:spPr>
          <a:xfrm>
            <a:off x="6035040" y="2971800"/>
            <a:ext cx="2651760" cy="1627632"/>
          </a:xfrm>
          <a:prstGeom prst="roundRect">
            <a:avLst>
              <a:gd name="adj" fmla="val 4494"/>
            </a:avLst>
          </a:prstGeom>
          <a:solidFill>
            <a:srgbClr val="EEF3EF"/>
          </a:solidFill>
          <a:ln w="12700">
            <a:solidFill>
              <a:srgbClr val="EEF3EF"/>
            </a:solidFill>
            <a:prstDash val="solid"/>
          </a:ln>
        </p:spPr>
      </p:sp>
      <p:sp>
        <p:nvSpPr>
          <p:cNvPr id="20" name="Text 18"/>
          <p:cNvSpPr txBox="1"/>
          <p:nvPr/>
        </p:nvSpPr>
        <p:spPr>
          <a:xfrm>
            <a:off x="6172200" y="3063240"/>
            <a:ext cx="2377440" cy="274320"/>
          </a:xfrm>
          <a:prstGeom prst="rect">
            <a:avLst/>
          </a:prstGeom>
          <a:noFill/>
          <a:ln/>
        </p:spPr>
        <p:txBody>
          <a:bodyPr wrap="square" lIns="0" tIns="0" rIns="0" bIns="0" rtlCol="0" anchor="t"/>
          <a:lstStyle/>
          <a:p>
            <a:pPr marL="0" indent="0">
              <a:buNone/>
            </a:pPr>
            <a:r>
              <a:rPr lang="en-US" sz="1300" b="1" dirty="0">
                <a:solidFill>
                  <a:srgbClr val="2F6B4F"/>
                </a:solidFill>
                <a:latin typeface="Cambria" pitchFamily="34" charset="0"/>
                <a:ea typeface="Cambria" pitchFamily="34" charset="-122"/>
                <a:cs typeface="Cambria" pitchFamily="34" charset="-120"/>
              </a:rPr>
              <a:t>6. Evidências</a:t>
            </a:r>
            <a:endParaRPr lang="en-US" sz="1300" dirty="0"/>
          </a:p>
        </p:txBody>
      </p:sp>
      <p:sp>
        <p:nvSpPr>
          <p:cNvPr id="21" name="Text 19"/>
          <p:cNvSpPr txBox="1"/>
          <p:nvPr/>
        </p:nvSpPr>
        <p:spPr>
          <a:xfrm>
            <a:off x="6172200" y="3383280"/>
            <a:ext cx="2377440" cy="1170432"/>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Foto nadir</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Foto panorâmica</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Observações do observador</a:t>
            </a:r>
            <a:endParaRPr lang="en-US" sz="1050" dirty="0"/>
          </a:p>
        </p:txBody>
      </p:sp>
      <p:sp>
        <p:nvSpPr>
          <p:cNvPr id="22" name="Text 20"/>
          <p:cNvSpPr txBox="1"/>
          <p:nvPr/>
        </p:nvSpPr>
        <p:spPr>
          <a:xfrm>
            <a:off x="457200" y="4681728"/>
            <a:ext cx="7863840" cy="457200"/>
          </a:xfrm>
          <a:prstGeom prst="rect">
            <a:avLst/>
          </a:prstGeom>
          <a:noFill/>
          <a:ln/>
        </p:spPr>
        <p:txBody>
          <a:bodyPr wrap="square" lIns="0" tIns="0" rIns="0" bIns="0" rtlCol="0" anchor="ctr"/>
          <a:lstStyle/>
          <a:p>
            <a:pPr marL="0" indent="0">
              <a:buNone/>
            </a:pPr>
            <a:r>
              <a:rPr lang="en-US" sz="900" i="1" dirty="0" err="1">
                <a:solidFill>
                  <a:srgbClr val="52605A"/>
                </a:solidFill>
                <a:latin typeface="Calibri" pitchFamily="34" charset="0"/>
                <a:ea typeface="Calibri" pitchFamily="34" charset="-122"/>
                <a:cs typeface="Calibri" pitchFamily="34" charset="-120"/>
              </a:rPr>
              <a:t>Fontes: SILVA (2026a, D03, D22 e P03); exportação do SAREL Coletor e módulo de ingestão (SILVA, 2026c); Wischmeier e Smith (1978); Renard et al. (1997); Congalton e Green (2019). Métricas de qualidade posicional são colunas acrescentadas ao final.</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marL="0" indent="0" algn="r">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marL="0" indent="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 (NOSEK et al., 2018)</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marL="0" indent="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err="1">
                <a:solidFill>
                  <a:srgbClr val="1B2A22"/>
                </a:solidFill>
                <a:latin typeface="Calibri" pitchFamily="34" charset="0"/>
                <a:ea typeface="Calibri" pitchFamily="34" charset="-122"/>
                <a:cs typeface="Calibri" pitchFamily="34" charset="-120"/>
              </a:rPr>
              <a:t>Autorizações</a:t>
            </a:r>
            <a:r>
              <a:rPr lang="en-US" sz="1250" dirty="0">
                <a:solidFill>
                  <a:srgbClr val="1B2A22"/>
                </a:solidFill>
                <a:latin typeface="Calibri" pitchFamily="34" charset="0"/>
                <a:ea typeface="Calibri" pitchFamily="34" charset="-122"/>
                <a:cs typeface="Calibri" pitchFamily="34" charset="-120"/>
              </a:rPr>
              <a:t>, voos e </a:t>
            </a:r>
            <a:r>
              <a:rPr lang="en-US" sz="1250" dirty="0" err="1">
                <a:solidFill>
                  <a:srgbClr val="1B2A22"/>
                </a:solidFill>
                <a:latin typeface="Calibri" pitchFamily="34" charset="0"/>
                <a:ea typeface="Calibri" pitchFamily="34" charset="-122"/>
                <a:cs typeface="Calibri" pitchFamily="34" charset="-120"/>
              </a:rPr>
              <a:t>delineação</a:t>
            </a:r>
            <a:endParaRPr lang="en-US" sz="1250" dirty="0"/>
          </a:p>
        </p:txBody>
      </p:sp>
      <p:sp>
        <p:nvSpPr>
          <p:cNvPr id="15" name="Text 12"/>
          <p:cNvSpPr txBox="1"/>
          <p:nvPr/>
        </p:nvSpPr>
        <p:spPr>
          <a:xfrm>
            <a:off x="457200" y="4709160"/>
            <a:ext cx="7863840" cy="384048"/>
          </a:xfrm>
          <a:prstGeom prst="rect">
            <a:avLst/>
          </a:prstGeom>
          <a:noFill/>
          <a:ln/>
        </p:spPr>
        <p:txBody>
          <a:bodyPr wrap="square" lIns="0" tIns="0" rIns="0" bIns="0" rtlCol="0" anchor="ctr"/>
          <a:lstStyle/>
          <a:p>
            <a:pPr marL="0" indent="0">
              <a:buNone/>
            </a:pPr>
            <a:r>
              <a:rPr lang="en-US" sz="900" i="1" dirty="0">
                <a:solidFill>
                  <a:srgbClr val="52605A"/>
                </a:solidFill>
                <a:latin typeface="Calibri" pitchFamily="34" charset="0"/>
                <a:ea typeface="Calibri" pitchFamily="34" charset="-122"/>
                <a:cs typeface="Calibri" pitchFamily="34" charset="-120"/>
              </a:rPr>
              <a:t>Fontes: SILVA (2026a, 2026b); Nosek et al. (2018).</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marL="0" indent="0">
              <a:buNone/>
            </a:pPr>
            <a:r>
              <a:rPr lang="en-US" sz="2200" b="1" dirty="0">
                <a:solidFill>
                  <a:srgbClr val="1B2A22"/>
                </a:solidFill>
                <a:latin typeface="Cambria" pitchFamily="34" charset="0"/>
                <a:ea typeface="Cambria" pitchFamily="34" charset="-122"/>
                <a:cs typeface="Cambria" pitchFamily="34" charset="-120"/>
              </a:rPr>
              <a:t>Referências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marL="0" indent="0" algn="r">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Text 2"/>
          <p:cNvSpPr txBox="1"/>
          <p:nvPr/>
        </p:nvSpPr>
        <p:spPr>
          <a:xfrm>
            <a:off x="365760" y="868680"/>
            <a:ext cx="4206240" cy="3840480"/>
          </a:xfrm>
          <a:prstGeom prst="rect">
            <a:avLst/>
          </a:prstGeom>
          <a:noFill/>
          <a:ln/>
        </p:spPr>
        <p:txBody>
          <a:bodyPr wrap="square" lIns="0" tIns="0" rIns="0" bIns="0" rtlCol="0" anchor="t"/>
          <a:lstStyle/>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ALTMAN, D. G.; ROYSTON, P. </a:t>
            </a:r>
            <a:endParaRPr lang="en-US" sz="1050" dirty="0"/>
            <a:r>
              <a:rPr lang="en-US" sz="850" dirty="0" i="0" b="1">
                <a:solidFill>
                  <a:srgbClr val="1B2A22"/>
                </a:solidFill>
                <a:latin typeface="Calibri" pitchFamily="34" charset="0"/>
                <a:ea typeface="Calibri" pitchFamily="34" charset="-122"/>
                <a:cs typeface="Calibri" pitchFamily="34" charset="-120"/>
              </a:rPr>
              <a:t>The cost of dichotomising continuous variables</a:t>
            </a:r>
            <a:r>
              <a:rPr lang="en-US" sz="850" dirty="0" i="0" b="0">
                <a:solidFill>
                  <a:srgbClr val="1B2A22"/>
                </a:solidFill>
                <a:latin typeface="Calibri" pitchFamily="34" charset="0"/>
                <a:ea typeface="Calibri" pitchFamily="34" charset="-122"/>
                <a:cs typeface="Calibri" pitchFamily="34" charset="-120"/>
              </a:rPr>
              <a:t>. BMJ, v. 332, n. 7549, p. 1080, 2006. DOI 10.1136/bmj.332.7549.1080.</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COCHRAN, W. G. </a:t>
            </a:r>
            <a:endParaRPr lang="en-US" sz="1050" dirty="0"/>
            <a:r>
              <a:rPr lang="en-US" sz="850" dirty="0" i="0" b="1">
                <a:solidFill>
                  <a:srgbClr val="1B2A22"/>
                </a:solidFill>
                <a:latin typeface="Calibri" pitchFamily="34" charset="0"/>
                <a:ea typeface="Calibri" pitchFamily="34" charset="-122"/>
                <a:cs typeface="Calibri" pitchFamily="34" charset="-120"/>
              </a:rPr>
              <a:t>Sampling techniques</a:t>
            </a:r>
            <a:r>
              <a:rPr lang="en-US" sz="850" dirty="0" i="0" b="0">
                <a:solidFill>
                  <a:srgbClr val="1B2A22"/>
                </a:solidFill>
                <a:latin typeface="Calibri" pitchFamily="34" charset="0"/>
                <a:ea typeface="Calibri" pitchFamily="34" charset="-122"/>
                <a:cs typeface="Calibri" pitchFamily="34" charset="-120"/>
              </a:rPr>
              <a:t>. 3. ed. New York: John Wiley &amp; Sons, 1977. 428 p.</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COELHO, M. R. et al. </a:t>
            </a:r>
            <a:endParaRPr lang="en-US" sz="1050" dirty="0"/>
            <a:r>
              <a:rPr lang="en-US" sz="850" dirty="0" i="0" b="1">
                <a:solidFill>
                  <a:srgbClr val="1B2A22"/>
                </a:solidFill>
                <a:latin typeface="Calibri" pitchFamily="34" charset="0"/>
                <a:ea typeface="Calibri" pitchFamily="34" charset="-122"/>
                <a:cs typeface="Calibri" pitchFamily="34" charset="-120"/>
              </a:rPr>
              <a:t>Erodibilidade dos solos do Brasil</a:t>
            </a:r>
            <a:r>
              <a:rPr lang="en-US" sz="850" dirty="0" i="0" b="0">
                <a:solidFill>
                  <a:srgbClr val="1B2A22"/>
                </a:solidFill>
                <a:latin typeface="Calibri" pitchFamily="34" charset="0"/>
                <a:ea typeface="Calibri" pitchFamily="34" charset="-122"/>
                <a:cs typeface="Calibri" pitchFamily="34" charset="-120"/>
              </a:rPr>
              <a:t>. Rio de Janeiro: Embrapa Solos, 2024. 40 p. (Documentos, 246).</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CONGALTON, R. G.; GREEN, K. </a:t>
            </a:r>
            <a:endParaRPr lang="en-US" sz="1050" dirty="0"/>
            <a:r>
              <a:rPr lang="en-US" sz="850" dirty="0" i="0" b="1">
                <a:solidFill>
                  <a:srgbClr val="1B2A22"/>
                </a:solidFill>
                <a:latin typeface="Calibri" pitchFamily="34" charset="0"/>
                <a:ea typeface="Calibri" pitchFamily="34" charset="-122"/>
                <a:cs typeface="Calibri" pitchFamily="34" charset="-120"/>
              </a:rPr>
              <a:t>Assessing the accuracy of remotely sensed data</a:t>
            </a:r>
            <a:r>
              <a:rPr lang="en-US" sz="850" dirty="0" i="0" b="0">
                <a:solidFill>
                  <a:srgbClr val="1B2A22"/>
                </a:solidFill>
                <a:latin typeface="Calibri" pitchFamily="34" charset="0"/>
                <a:ea typeface="Calibri" pitchFamily="34" charset="-122"/>
                <a:cs typeface="Calibri" pitchFamily="34" charset="-120"/>
              </a:rPr>
              <a:t>: principles and practices. 3. ed. [S. l.]: CRC Press, 2019.</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DRUSCH, M. et al. Sentinel-2: ESA's optical high-resolution mission for GMES operational services. </a:t>
            </a:r>
            <a:endParaRPr lang="en-US" sz="1050" dirty="0"/>
            <a:r>
              <a:rPr lang="en-US" sz="850" dirty="0" i="0" b="1">
                <a:solidFill>
                  <a:srgbClr val="1B2A22"/>
                </a:solidFill>
                <a:latin typeface="Calibri" pitchFamily="34" charset="0"/>
                <a:ea typeface="Calibri" pitchFamily="34" charset="-122"/>
                <a:cs typeface="Calibri" pitchFamily="34" charset="-120"/>
              </a:rPr>
              <a:t>Remote Sensing of Environment</a:t>
            </a:r>
            <a:r>
              <a:rPr lang="en-US" sz="850" dirty="0" i="0" b="0">
                <a:solidFill>
                  <a:srgbClr val="1B2A22"/>
                </a:solidFill>
                <a:latin typeface="Calibri" pitchFamily="34" charset="0"/>
                <a:ea typeface="Calibri" pitchFamily="34" charset="-122"/>
                <a:cs typeface="Calibri" pitchFamily="34" charset="-120"/>
              </a:rPr>
              <a:t>, v. 120, p. 25-36, 2012.</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GORELICK, N. et al. Google Earth Engine: planetary-scale geospatial analysis for everyone. </a:t>
            </a:r>
            <a:endParaRPr lang="en-US" sz="1050" dirty="0"/>
            <a:r>
              <a:rPr lang="en-US" sz="850" dirty="0" i="0" b="1">
                <a:solidFill>
                  <a:srgbClr val="1B2A22"/>
                </a:solidFill>
                <a:latin typeface="Calibri" pitchFamily="34" charset="0"/>
                <a:ea typeface="Calibri" pitchFamily="34" charset="-122"/>
                <a:cs typeface="Calibri" pitchFamily="34" charset="-120"/>
              </a:rPr>
              <a:t>Remote Sensing of Environment</a:t>
            </a:r>
            <a:r>
              <a:rPr lang="en-US" sz="850" dirty="0" i="0" b="0">
                <a:solidFill>
                  <a:srgbClr val="1B2A22"/>
                </a:solidFill>
                <a:latin typeface="Calibri" pitchFamily="34" charset="0"/>
                <a:ea typeface="Calibri" pitchFamily="34" charset="-122"/>
                <a:cs typeface="Calibri" pitchFamily="34" charset="-120"/>
              </a:rPr>
              <a:t>, v. 202, p. 18-27, 2017. DOI 10.1016/j.rse.2017.06.031.</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KING, G.; ZENG, L. Logistic regression in rare events data. </a:t>
            </a:r>
            <a:endParaRPr lang="en-US" sz="1050" dirty="0"/>
            <a:r>
              <a:rPr lang="en-US" sz="850" dirty="0" i="0" b="1">
                <a:solidFill>
                  <a:srgbClr val="1B2A22"/>
                </a:solidFill>
                <a:latin typeface="Calibri" pitchFamily="34" charset="0"/>
                <a:ea typeface="Calibri" pitchFamily="34" charset="-122"/>
                <a:cs typeface="Calibri" pitchFamily="34" charset="-120"/>
              </a:rPr>
              <a:t>Political Analysis</a:t>
            </a:r>
            <a:r>
              <a:rPr lang="en-US" sz="850" dirty="0" i="0" b="0">
                <a:solidFill>
                  <a:srgbClr val="1B2A22"/>
                </a:solidFill>
                <a:latin typeface="Calibri" pitchFamily="34" charset="0"/>
                <a:ea typeface="Calibri" pitchFamily="34" charset="-122"/>
                <a:cs typeface="Calibri" pitchFamily="34" charset="-120"/>
              </a:rPr>
              <a:t>, v. 9, n. 2, p. 137-163, 2001.</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NOSEK, B. A. et al. The preregistration revolution. </a:t>
            </a:r>
            <a:endParaRPr lang="en-US" sz="1050" dirty="0"/>
            <a:r>
              <a:rPr lang="en-US" sz="850" dirty="0" i="0" b="1">
                <a:solidFill>
                  <a:srgbClr val="1B2A22"/>
                </a:solidFill>
                <a:latin typeface="Calibri" pitchFamily="34" charset="0"/>
                <a:ea typeface="Calibri" pitchFamily="34" charset="-122"/>
                <a:cs typeface="Calibri" pitchFamily="34" charset="-120"/>
              </a:rPr>
              <a:t>Proceedings of the National Academy of Sciences</a:t>
            </a:r>
            <a:r>
              <a:rPr lang="en-US" sz="850" dirty="0" i="0" b="0">
                <a:solidFill>
                  <a:srgbClr val="1B2A22"/>
                </a:solidFill>
                <a:latin typeface="Calibri" pitchFamily="34" charset="0"/>
                <a:ea typeface="Calibri" pitchFamily="34" charset="-122"/>
                <a:cs typeface="Calibri" pitchFamily="34" charset="-120"/>
              </a:rPr>
              <a:t>, v. 115, n. 11, p. 2600-2606, 2018. DOI 10.1073/pnas.1708274114.</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OLOFSSON, P. et al. Good practices for estimating area and assessing accuracy of land change. </a:t>
            </a:r>
            <a:endParaRPr lang="en-US" sz="1050" dirty="0"/>
            <a:r>
              <a:rPr lang="en-US" sz="850" dirty="0" i="0" b="1">
                <a:solidFill>
                  <a:srgbClr val="1B2A22"/>
                </a:solidFill>
                <a:latin typeface="Calibri" pitchFamily="34" charset="0"/>
                <a:ea typeface="Calibri" pitchFamily="34" charset="-122"/>
                <a:cs typeface="Calibri" pitchFamily="34" charset="-120"/>
              </a:rPr>
              <a:t>Remote Sensing of Environment</a:t>
            </a:r>
            <a:r>
              <a:rPr lang="en-US" sz="850" dirty="0" i="0" b="0">
                <a:solidFill>
                  <a:srgbClr val="1B2A22"/>
                </a:solidFill>
                <a:latin typeface="Calibri" pitchFamily="34" charset="0"/>
                <a:ea typeface="Calibri" pitchFamily="34" charset="-122"/>
                <a:cs typeface="Calibri" pitchFamily="34" charset="-120"/>
              </a:rPr>
              <a:t>, v. 148, p. 42-57, 2014.</a:t>
            </a:r>
          </a:p>
        </p:txBody>
      </p:sp>
      <p:sp>
        <p:nvSpPr>
          <p:cNvPr id="6" name="Text 3"/>
          <p:cNvSpPr txBox="1"/>
          <p:nvPr/>
        </p:nvSpPr>
        <p:spPr>
          <a:xfrm>
            <a:off x="4663440" y="868680"/>
            <a:ext cx="4114800" cy="3840480"/>
          </a:xfrm>
          <a:prstGeom prst="rect">
            <a:avLst/>
          </a:prstGeom>
          <a:noFill/>
          <a:ln/>
        </p:spPr>
        <p:txBody>
          <a:bodyPr wrap="square" lIns="0" tIns="0" rIns="0" bIns="0" rtlCol="0" anchor="t"/>
          <a:lstStyle/>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PLOEG, T. van der; AUSTIN, P. C.; STEYERBERG, E. W. Modern modelling techniques are data hungry: a simulation study for predicting dichotomous endpoints. </a:t>
            </a:r>
            <a:endParaRPr lang="en-US" sz="1050" dirty="0"/>
            <a:r>
              <a:rPr lang="en-US" sz="850" dirty="0" i="0" b="1">
                <a:solidFill>
                  <a:srgbClr val="1B2A22"/>
                </a:solidFill>
                <a:latin typeface="Calibri" pitchFamily="34" charset="0"/>
                <a:ea typeface="Calibri" pitchFamily="34" charset="-122"/>
                <a:cs typeface="Calibri" pitchFamily="34" charset="-120"/>
              </a:rPr>
              <a:t>BMC Medical Research Methodology</a:t>
            </a:r>
            <a:r>
              <a:rPr lang="en-US" sz="850" dirty="0" i="0" b="0">
                <a:solidFill>
                  <a:srgbClr val="1B2A22"/>
                </a:solidFill>
                <a:latin typeface="Calibri" pitchFamily="34" charset="0"/>
                <a:ea typeface="Calibri" pitchFamily="34" charset="-122"/>
                <a:cs typeface="Calibri" pitchFamily="34" charset="-120"/>
              </a:rPr>
              <a:t>, v. 14, art. 137, 2014. DOI 10.1186/1471-2288-14-137.</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RENARD, K. G.; FOSTER, G. R.; WEESIES, G. A.; McCOOL, D. K.; YODER, D. C. </a:t>
            </a:r>
            <a:endParaRPr lang="en-US" sz="1050" dirty="0"/>
            <a:r>
              <a:rPr lang="en-US" sz="850" dirty="0" i="0" b="1">
                <a:solidFill>
                  <a:srgbClr val="1B2A22"/>
                </a:solidFill>
                <a:latin typeface="Calibri" pitchFamily="34" charset="0"/>
                <a:ea typeface="Calibri" pitchFamily="34" charset="-122"/>
                <a:cs typeface="Calibri" pitchFamily="34" charset="-120"/>
              </a:rPr>
              <a:t>Predicting soil erosion by water</a:t>
            </a:r>
            <a:r>
              <a:rPr lang="en-US" sz="850" dirty="0" i="0" b="0">
                <a:solidFill>
                  <a:srgbClr val="1B2A22"/>
                </a:solidFill>
                <a:latin typeface="Calibri" pitchFamily="34" charset="0"/>
                <a:ea typeface="Calibri" pitchFamily="34" charset="-122"/>
                <a:cs typeface="Calibri" pitchFamily="34" charset="-120"/>
              </a:rPr>
              <a:t>: a guide to conservation planning with the Revised Universal Soil Loss Equation (RUSLE). [S. l.]: United States Department of Agriculture, 1997. 404 p. (Agriculture Handbook, 703).</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SILVA, L. A. F. da. </a:t>
            </a:r>
            <a:endParaRPr lang="en-US" sz="1050" dirty="0"/>
            <a:r>
              <a:rPr lang="en-US" sz="850" dirty="0" i="0" b="1">
                <a:solidFill>
                  <a:srgbClr val="1B2A22"/>
                </a:solidFill>
                <a:latin typeface="Calibri" pitchFamily="34" charset="0"/>
                <a:ea typeface="Calibri" pitchFamily="34" charset="-122"/>
                <a:cs typeface="Calibri" pitchFamily="34" charset="-120"/>
              </a:rPr>
              <a:t>Registro de decisões metodológicas do SAREL v2</a:t>
            </a:r>
            <a:r>
              <a:rPr lang="en-US" sz="850" dirty="0" i="0" b="0">
                <a:solidFill>
                  <a:srgbClr val="1B2A22"/>
                </a:solidFill>
                <a:latin typeface="Calibri" pitchFamily="34" charset="0"/>
                <a:ea typeface="Calibri" pitchFamily="34" charset="-122"/>
                <a:cs typeface="Calibri" pitchFamily="34" charset="-120"/>
              </a:rPr>
              <a:t>: decisões D01 a D26 e parâmetros P01 a P24. Medianeira: UTFPR, 2026a. Documento eletrônico (DECISOES.md), gerado em 16 out. 2026. Não publicado.</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SILVA, L. A. F. da. </a:t>
            </a:r>
            <a:endParaRPr lang="en-US" sz="1050" dirty="0"/>
            <a:r>
              <a:rPr lang="en-US" sz="850" dirty="0" i="0" b="1">
                <a:solidFill>
                  <a:srgbClr val="1B2A22"/>
                </a:solidFill>
                <a:latin typeface="Calibri" pitchFamily="34" charset="0"/>
                <a:ea typeface="Calibri" pitchFamily="34" charset="-122"/>
                <a:cs typeface="Calibri" pitchFamily="34" charset="-120"/>
              </a:rPr>
              <a:t>Verificações metodológicas do SAREL v2</a:t>
            </a:r>
            <a:r>
              <a:rPr lang="en-US" sz="850" dirty="0" i="0" b="0">
                <a:solidFill>
                  <a:srgbClr val="1B2A22"/>
                </a:solidFill>
                <a:latin typeface="Calibri" pitchFamily="34" charset="0"/>
                <a:ea typeface="Calibri" pitchFamily="34" charset="-122"/>
                <a:cs typeface="Calibri" pitchFamily="34" charset="-120"/>
              </a:rPr>
              <a:t>: levantamento fundiário e gargalo dos estratos (29 set. 2026); remedição dos candidatos da BP3 (30 set. 2026); cobertura dos voos (27 set. 2026). Medianeira: UTFPR, 2026b. Documentos eletrônicos. Não publicado.</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SILVA, L. A. F. da. </a:t>
            </a:r>
            <a:endParaRPr lang="en-US" sz="1050" dirty="0"/>
            <a:r>
              <a:rPr lang="en-US" sz="850" dirty="0" i="0" b="1">
                <a:solidFill>
                  <a:srgbClr val="1B2A22"/>
                </a:solidFill>
                <a:latin typeface="Calibri" pitchFamily="34" charset="0"/>
                <a:ea typeface="Calibri" pitchFamily="34" charset="-122"/>
                <a:cs typeface="Calibri" pitchFamily="34" charset="-120"/>
              </a:rPr>
              <a:t>SAREL v2</a:t>
            </a:r>
            <a:r>
              <a:rPr lang="en-US" sz="850" dirty="0" i="0" b="0">
                <a:solidFill>
                  <a:srgbClr val="1B2A22"/>
                </a:solidFill>
                <a:latin typeface="Calibri" pitchFamily="34" charset="0"/>
                <a:ea typeface="Calibri" pitchFamily="34" charset="-122"/>
                <a:cs typeface="Calibri" pitchFamily="34" charset="-120"/>
              </a:rPr>
              <a:t>: Sistema de Amostragem e Rotulagem para Erosão Laminar. Medianeira: UTFPR, 2026c. Software (versão 2.0.0). Código-fonte não publicado.</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WISCHMEIER, W. H.; SMITH, D. D. </a:t>
            </a:r>
            <a:endParaRPr lang="en-US" sz="1050" dirty="0"/>
            <a:r>
              <a:rPr lang="en-US" sz="850" dirty="0" i="0" b="1">
                <a:solidFill>
                  <a:srgbClr val="1B2A22"/>
                </a:solidFill>
                <a:latin typeface="Calibri" pitchFamily="34" charset="0"/>
                <a:ea typeface="Calibri" pitchFamily="34" charset="-122"/>
                <a:cs typeface="Calibri" pitchFamily="34" charset="-120"/>
              </a:rPr>
              <a:t>Predicting rainfall erosion losses</a:t>
            </a:r>
            <a:r>
              <a:rPr lang="en-US" sz="850" dirty="0" i="0" b="0">
                <a:solidFill>
                  <a:srgbClr val="1B2A22"/>
                </a:solidFill>
                <a:latin typeface="Calibri" pitchFamily="34" charset="0"/>
                <a:ea typeface="Calibri" pitchFamily="34" charset="-122"/>
                <a:cs typeface="Calibri" pitchFamily="34" charset="-120"/>
              </a:rPr>
              <a:t>: a guide to conservation planning. [S. l.]: U.S. Department of Agriculture, Science and Education Administration, 1978. (Agriculture Handbook, 537).</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ZANAGA, D. et al. </a:t>
            </a:r>
            <a:endParaRPr lang="en-US" sz="1050" dirty="0"/>
            <a:r>
              <a:rPr lang="en-US" sz="850" dirty="0" i="0" b="1">
                <a:solidFill>
                  <a:srgbClr val="1B2A22"/>
                </a:solidFill>
                <a:latin typeface="Calibri" pitchFamily="34" charset="0"/>
                <a:ea typeface="Calibri" pitchFamily="34" charset="-122"/>
                <a:cs typeface="Calibri" pitchFamily="34" charset="-120"/>
              </a:rPr>
              <a:t>ESA WorldCover 10 m 2020 v100</a:t>
            </a:r>
            <a:r>
              <a:rPr lang="en-US" sz="850" dirty="0" i="0" b="0">
                <a:solidFill>
                  <a:srgbClr val="1B2A22"/>
                </a:solidFill>
                <a:latin typeface="Calibri" pitchFamily="34" charset="0"/>
                <a:ea typeface="Calibri" pitchFamily="34" charset="-122"/>
                <a:cs typeface="Calibri" pitchFamily="34" charset="-120"/>
              </a:rPr>
              <a:t>. [S. l.]: Zenodo, 2021. DOI 10.5281/zenodo.5571936.</a:t>
            </a:r>
          </a:p>
          <a:p>
            <a:pPr marL="0" indent="0">
              <a:spcAft>
                <a:spcPts val="300"/>
              </a:spcAft>
              <a:buNone/>
            </a:pPr>
            <a:r>
              <a:rPr lang="en-US" sz="850" dirty="0" i="0" b="0">
                <a:solidFill>
                  <a:srgbClr val="1B2A22"/>
                </a:solidFill>
                <a:latin typeface="Calibri" pitchFamily="34" charset="0"/>
                <a:ea typeface="Calibri" pitchFamily="34" charset="-122"/>
                <a:cs typeface="Calibri" pitchFamily="34" charset="-120"/>
              </a:rPr>
              <a:t>ZANAGA, D. et al. </a:t>
            </a:r>
            <a:endParaRPr lang="en-US" sz="1050" dirty="0"/>
            <a:r>
              <a:rPr lang="en-US" sz="850" dirty="0" i="0" b="1">
                <a:solidFill>
                  <a:srgbClr val="1B2A22"/>
                </a:solidFill>
                <a:latin typeface="Calibri" pitchFamily="34" charset="0"/>
                <a:ea typeface="Calibri" pitchFamily="34" charset="-122"/>
                <a:cs typeface="Calibri" pitchFamily="34" charset="-120"/>
              </a:rPr>
              <a:t>ESA WorldCover 10 m 2021 v200</a:t>
            </a:r>
            <a:r>
              <a:rPr lang="en-US" sz="850" dirty="0" i="0" b="0">
                <a:solidFill>
                  <a:srgbClr val="1B2A22"/>
                </a:solidFill>
                <a:latin typeface="Calibri" pitchFamily="34" charset="0"/>
                <a:ea typeface="Calibri" pitchFamily="34" charset="-122"/>
                <a:cs typeface="Calibri" pitchFamily="34" charset="-120"/>
              </a:rPr>
              <a:t>. [S. l.]: Zenodo, 2022. DOI 10.5281/zenodo.7254221.</a:t>
            </a:r>
          </a:p>
        </p:txBody>
      </p:sp>
      <p:sp>
        <p:nvSpPr>
          <p:cNvPr id="7" name="Text 4"/>
          <p:cNvSpPr txBox="1"/>
          <p:nvPr/>
        </p:nvSpPr>
        <p:spPr>
          <a:xfrm>
            <a:off x="457200" y="4736592"/>
            <a:ext cx="7863840" cy="365760"/>
          </a:xfrm>
          <a:prstGeom prst="rect">
            <a:avLst/>
          </a:prstGeom>
          <a:noFill/>
          <a:ln/>
        </p:spPr>
        <p:txBody>
          <a:bodyPr wrap="square" lIns="0" tIns="0" rIns="0" bIns="0" rtlCol="0" anchor="ctr"/>
          <a:lstStyle/>
          <a:p>
            <a:pPr marL="0" indent="0">
              <a:buNone/>
            </a:pPr>
            <a:r>
              <a:rPr lang="en-US" sz="850" i="1" dirty="0">
                <a:solidFill>
                  <a:srgbClr val="52605A"/>
                </a:solidFill>
                <a:latin typeface="Calibri" pitchFamily="34" charset="0"/>
                <a:ea typeface="Calibri" pitchFamily="34" charset="-122"/>
                <a:cs typeface="Calibri" pitchFamily="34" charset="-120"/>
              </a:rPr>
              <a:t>Obras externas conferidas (PDF arquivado no projeto ou registro bibliográfico consultado em 19/10/2026). Documentos internos do SAREL não publicados. Citações: NBR 10520; referências: NBR 6023.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116</TotalTime>
  <Words>4023</Words>
  <Application>Microsoft Office PowerPoint</Application>
  <PresentationFormat>Apresentação no Ecrã (16:9)</PresentationFormat>
  <Paragraphs>231</Paragraphs>
  <Slides>14</Slides>
  <Notes>14</Notes>
  <HiddenSlides>0</HiddenSlides>
  <MMClips>0</MMClips>
  <ScaleCrop>false</ScaleCrop>
  <HeadingPairs>
    <vt:vector size="6" baseType="variant">
      <vt:variant>
        <vt:lpstr>Tipos de letra usados</vt:lpstr>
      </vt:variant>
      <vt:variant>
        <vt:i4>3</vt:i4>
      </vt:variant>
      <vt:variant>
        <vt:lpstr>Tema</vt:lpstr>
      </vt:variant>
      <vt:variant>
        <vt:i4>1</vt:i4>
      </vt:variant>
      <vt:variant>
        <vt:lpstr>Títulos dos diapositivos</vt:lpstr>
      </vt:variant>
      <vt:variant>
        <vt:i4>14</vt:i4>
      </vt:variant>
    </vt:vector>
  </HeadingPairs>
  <TitlesOfParts>
    <vt:vector size="18" baseType="lpstr">
      <vt:lpstr>Arial</vt:lpstr>
      <vt:lpstr>Calibri</vt:lpstr>
      <vt:lpstr>Cambria</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Luis Alfredo</cp:lastModifiedBy>
  <cp:revision>8</cp:revision>
  <dcterms:created xsi:type="dcterms:W3CDTF">2026-10-19T09:41:39Z</dcterms:created>
  <dcterms:modified xsi:type="dcterms:W3CDTF">2026-10-19T12:36:37Z</dcterms:modified>
</cp:coreProperties>
</file>