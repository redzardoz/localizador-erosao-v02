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0:00 a 0:45 — 45 segundos]</a:t>
            </a:r>
          </a:p>
          <a:p>
            <a:r>
              <a:t>Olá a todos. Meu nome é Luis Alfredo da Silva, sou mestrando do Programa de Pós-Graduação em Tecnologias Computacionais para o Agronegócio (PPGTCA) da UTFPR Campus Medianeira.</a:t>
            </a:r>
          </a:p>
          <a:p>
            <a:r>
              <a:t>Neste vídeo de cerca de 7 minutos, vou apresentar o desenvolvimento do nosso projeto de pesquisa: um arcabouço computacional auditável — batizado de SAREL — projetado para realizar a amostragem estratificada e localizar focos prováveis de erosão hídrica laminar na Bacia Hidrográfica do Paraná 3, combinando sensoriamento remoto orbital e bases territoriais oficiais.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0:45 a 1:40 — 55 segundos]</a:t>
            </a:r>
          </a:p>
          <a:p>
            <a:r>
              <a:t>Por que estudar erosão laminar na Bacia do Paraná 3? Mesmo sendo uma região referência em Sistema Plantio Direto, o relevo ondulado e as chuvas intensas provocam escoamento superficial que decapita lentamente o horizonte superficial do solo.</a:t>
            </a:r>
          </a:p>
          <a:p>
            <a:r>
              <a:t>Diferente de uma voçoroca, a erosão laminar é difusa e silenciosa. E os mapas tradicionais baseados em médias regionais não conseguem dizer ao pesquisador ou ao gestor exatamente em qual talhão ou encosta o problema está acontecendo.</a:t>
            </a:r>
          </a:p>
          <a:p>
            <a:r>
              <a:t>Por isso nós desenvolvemos o SAREL: para usar 10 anos de imagens de satélite de 10 metros de resolução e apontar automaticamente os pontos de erosão provável antes de ir a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1:40 a 2:35 — 55 segundos]</a:t>
            </a:r>
          </a:p>
          <a:p>
            <a:r>
              <a:t>Aqui na tela vocês veem a interface principal do aplicativo SAREL que desenvolvemos no mestrado.</a:t>
            </a:r>
          </a:p>
          <a:p>
            <a:r>
              <a:t>À esquerda temos o painel de controle de áreas de amostragem, filtros biofísicos e conexão autenticada com as APIs científicas.</a:t>
            </a:r>
          </a:p>
          <a:p>
            <a:r>
              <a:t>À direita, o visualizador cartográfico 3D permite inspecionar o relevo real das vertentes agrícolas da Bacia do Paraná 3. Toda a plataforma foi construída para transformar dados brutos de satélite em candidatos auditáveis de erosão.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2:35 a 3:35 — 60 segundos]</a:t>
            </a:r>
          </a:p>
          <a:p>
            <a:r>
              <a:t>Um ponto crucial que resolvemos no sistema é a exatidão territorial da Bacia Hidrográfica do Paraná 3.</a:t>
            </a:r>
          </a:p>
          <a:p>
            <a:r>
              <a:t>Como mostra a tela do aplicativo, o SAREL implementa uma solução híbrida inédita que sobrepõe três recortes oficiais:</a:t>
            </a:r>
          </a:p>
          <a:p>
            <a:r>
              <a:t>Primeiro, o divisor hidrológico estrito do Instituto Água e Terra, de quase 8 mil km², que drena para o Lago de Itaipu.</a:t>
            </a:r>
          </a:p>
          <a:p>
            <a:r>
              <a:t>Segundo, a malha legal oficial do IBGE dos 28 municípios que integram a bacia.</a:t>
            </a:r>
          </a:p>
          <a:p>
            <a:r>
              <a:t>E terceiro, o destaque para o Corredor Experimental de 6 municípios entre Foz do Iguaçu, Medianeira e Céu Azul, onde saímos de 180 metros de altitude na beira do lago até 750 metros no rebordo do Terceiro Planalto.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3:35 a 4:40 — 65 segundos]</a:t>
            </a:r>
          </a:p>
          <a:p>
            <a:r>
              <a:t>Mas como o software decide que um determinado ponto da bacia tem alta probabilidade de erosão laminar?</a:t>
            </a:r>
          </a:p>
          <a:p>
            <a:r>
              <a:t>O SAREL cruza três evidências físicas reais:</a:t>
            </a:r>
          </a:p>
          <a:p>
            <a:r>
              <a:t>Primeiro, a declividade medida pelo modelo digital de elevação Copernicus de 30 metros, focando nas rampas críticas de 3% a 20%.</a:t>
            </a:r>
          </a:p>
          <a:p>
            <a:r>
              <a:t>Segundo, a série histórica do satélite Sentinel-2 a 10 metros: locais que sofrem erosão laminar apresentam exposição recorrente de solo nu — medida pelo índice BSI — e cicatrizes de baixo vigor vegetativo no índice NDVI.</a:t>
            </a:r>
          </a:p>
          <a:p>
            <a:r>
              <a:t>E terceiro, o sistema cruza essa coordenada com o mapa de erodibilidade de solos da Embrapa e com o polígono oficial do imóvel no Cadastro Ambiental Rural (SICAR), garantindo que cada ponto candidato pertença a uma área agrícola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4:40 a 5:45 — 65 segundos]</a:t>
            </a:r>
          </a:p>
          <a:p>
            <a:r>
              <a:t>Para que a seleção desses pontos de erosão provável seja cientificamente válida e sem viés, implementamos esta janela de Eleição Amostral no Google Earth Engine.</a:t>
            </a:r>
          </a:p>
          <a:p>
            <a:r>
              <a:t>Primeiro, o algoritmo divide a bacia em 18 estratos ortogonais combinando declividade, frequência de solo exposto e erodibilidade.</a:t>
            </a:r>
          </a:p>
          <a:p>
            <a:r>
              <a:t>Segundo, aplicamos o Thinning Geodésico de Haversine: o sistema impõe um raio mínimo de 1 a 5 quilômetros entre um ponto e outro, evitando selecionar pixels vizinhos no mesmo talhão.</a:t>
            </a:r>
          </a:p>
          <a:p>
            <a:r>
              <a:t>E terceiro, veja no painel inferior do modal: ao pedir o sorteio na Bacia do Paraná 3, o sistema já reserva automaticamente uma proporção — por padrão 20% da amostra — dentro do corredor entre Foz do Iguaçu e Céu Azul para a verificação presencial em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5:45 a 6:30 — 45 segundos]</a:t>
            </a:r>
          </a:p>
          <a:p>
            <a:r>
              <a:t>Todo esse processo de seleção conta com 270 testes automatizados no código e um bloqueio estrito contra dados sintéticos: cada ponto selecionado gera um dossiê auditável com a data da imagem e a matrícula do CAR.</a:t>
            </a:r>
          </a:p>
          <a:p>
            <a:r>
              <a:t>Com os pontos de erosão provável já selecionados pelo sistema, nossas próximas etapas na pesquisa são a campanha presencial duplo-cega no corredor Foz–Céu Azul e o sobrevoo com drone multiespectral de precisão centimétrica em quatro sítios de referência de 50 hectares em Medianeira e Céu Azul.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6:30 a 7:00 — 30 segundos]</a:t>
            </a:r>
          </a:p>
          <a:p>
            <a:r>
              <a:t>Concluindo, o arcabouço SAREL demonstra que é possível unir rigor estatístico, sensoriamento remoto gratuito e bases oficiais brasileiras para guiar a conservação de solos na Bacia do Paraná 3 com total rastreabilidade.</a:t>
            </a:r>
          </a:p>
          <a:p>
            <a:r>
              <a:t>Agradeço ao PPGTCA da UTFPR Campus Medianeira, ao meu orientador, ao Itaipu Parquetec pelo financiamento e apoio à pesquisa, e a todos vocês pela atenção. Muito obrigado!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50" b="1">
                <a:solidFill>
                  <a:srgbClr val="10B981"/>
                </a:solidFill>
              </a:defRPr>
            </a:pPr>
            <a:r>
              <a:t>UNIVERSIDADE TECNOLÓGICA FEDERAL DO PARANÁ (UTFPR) • CAMPUS MEDIANEIRA</a:t>
            </a:r>
            <a:br/>
            <a:r>
              <a:t>PROGRAMA DE PÓS-GRADUAÇÃO EM TECNOLOGIAS COMPUTACIONAIS PARA O AGRONEGÓCIO (PPGTCA)</a:t>
            </a:r>
          </a:p>
          <a:p>
            <a:pPr>
              <a:spcAft>
                <a:spcPts val="1400"/>
              </a:spcAft>
              <a:defRPr sz="2600" b="1">
                <a:solidFill>
                  <a:srgbClr val="FFFFFF"/>
                </a:solidFill>
              </a:defRPr>
            </a:pPr>
            <a:r>
              <a:t>Arcabouço Computacional Auditável para Amostragem Estratificada e Localização de Focos Prováveis de Erosão Laminar em Bacia Agrícola</a:t>
            </a:r>
          </a:p>
          <a:p>
            <a:pPr>
              <a:spcAft>
                <a:spcPts val="2400"/>
              </a:spcAft>
              <a:defRPr sz="1500">
                <a:solidFill>
                  <a:srgbClr val="E2E8F0"/>
                </a:solidFill>
              </a:defRPr>
            </a:pPr>
            <a:r>
              <a:t>Integração Multi-Sensor (Sentinel-2, Copernicus DEM e Bases Oficiais) para Triagem Territorial na Bacia Hidrográfica do Paraná 3</a:t>
            </a:r>
          </a:p>
          <a:p>
            <a:pPr>
              <a:spcAft>
                <a:spcPts val="1800"/>
              </a:spcAft>
              <a:defRPr sz="1200" b="1">
                <a:solidFill>
                  <a:srgbClr val="F59E0B"/>
                </a:solidFill>
              </a:defRPr>
            </a:pPr>
            <a:r>
              <a:t>Autor: Luis Alfredo da Silva¹  |  Coautor²  |  Orientador³</a:t>
            </a:r>
            <a:br/>
            <a:r>
              <a:t>¹Mestrando PPGTCA/UTFPR  •  ²Coautor  •  ³Docente Orientador PPGTCA/UTFPR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Apoio Institucional e Financiamento: PPGTCA / UTFPR  •  Itaipu Parquetec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SIMPÓSIO ESTUDANTIL • PPGTCA / UTFPR MEDIANEIRA • APOIO ITAIPU PARQUETEC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64592"/>
            <a:ext cx="2011680" cy="329184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⏱ 0:45 – 1:40 (55s)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FFFFFF"/>
                </a:solidFill>
              </a:defRPr>
            </a:pPr>
            <a:r>
              <a:t>1. Contextualização: O Desafio da Erosão Laminar na Bacia do Paraná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Luis Alfredo da Silva • PPGTCA / UTFPR (Campus Medianeira) • Projeto SAREL (Bacia do Paraná 3)   |   Slide 2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2423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53312"/>
            <a:ext cx="82296" cy="2276856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371600"/>
            <a:ext cx="5084064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E123C"/>
                </a:solidFill>
              </a:defRPr>
            </a:pPr>
            <a:r>
              <a:t>A Erosão Silenciosa sob Sistema Plantio Direto (SPD)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Mesmo em lavouras tecnificadas sob Plantio Direto no Oeste do Paraná, eventos extremos de precipitação causam escoamento superficial concentrado (Dieckow et al., 2009).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A erosão laminar remove seletivamente a fração coloidal mais fértil (argila, matéria orgânica e fósforo) sem formar crateras óbvias de imediato.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Impacto direto: perda de produtividade agrícola e assoreamento/eutrofização dos tributários do Reservatório de Itaipu.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94960" cy="2423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53312"/>
            <a:ext cx="82296" cy="2276856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371600"/>
            <a:ext cx="5084064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Limitação das Abordagens Cartográficas Clássicas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Modelos empíricos tradicionais (como a RUSLE aplicada em escala macro) apoiam-se em médias generalizadas que suavizam feições locais.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Vistorias presenciais às cegas em uma bacia de mais de 8.000 km² têm custo logístico proibitivo.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Pergunta da Pesquisa: Como filtrar milhões de pixels orbitais para apontar, com precisão métrica (10 m) e lastro jurídico, onde estão os pontos de erosão provável?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11064240" cy="233172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05072"/>
            <a:ext cx="82296" cy="2185415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023359"/>
            <a:ext cx="10753344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5F46"/>
                </a:solidFill>
              </a:defRPr>
            </a:pPr>
            <a:r>
              <a:t>A Solução Proposta: Plataforma Computacional SAREL (Triagem Multi-Sensor Auditável)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Integração em nuvem via Google Earth Engine (GEE): varredura histórica de 10 anos da constelação Sentinel-2 MSI (10 m) combinada ao relevo Copernicus DEM (30 m).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Ancoragem Oficial: cruzamento automático com imóveis rurais do SICAR/CAR, malhas legais do IBGE/ITCG e erodibilidade pedológica da Embrapa Solos (Coelho et al., 2024).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Objetivo desta etapa: apresentar a arquitetura territorial e o motor matemático de seleção dos pontos candidatos de erosão laminar provável.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SIMPÓSIO ESTUDANTIL • PPGTCA / UTFPR MEDIANEIRA • APOIO ITAIPU PARQUETEC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64592"/>
            <a:ext cx="2011680" cy="329184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⏱ 1:40 – 2:35 (55s)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FFFFFF"/>
                </a:solidFill>
              </a:defRPr>
            </a:pPr>
            <a:r>
              <a:t>2. O Arcabouço Computacional SAREL: Visão Geral da Plataforma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Luis Alfredo da Silva • PPGTCA / UTFPR (Campus Medianeira) • Projeto SAREL (Bacia do Paraná 3)   |   Slide 3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4754880" cy="4983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53312"/>
            <a:ext cx="82296" cy="48371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371600"/>
            <a:ext cx="4443984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Arquitetura WebGIS 3D &amp; Motor Científico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Ambiente Interativo Tridimensional: renderização topográfica exagerada (DEM 3D) sobre imagens orbitais de alta definição.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Conexão Direta com Serviços Oficiais: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 1. Google Earth Engine (GEE) para redução de séries temporais Sentinel-2 L2A;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 2. API Oficial de Malhas do IBGE e Instituto Água e Terra (IAT-PR);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 3. Banco geoespacial local com milhares de polígonos reais do SICAR/CAR e SIGEF;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 4. Integração com parâmetros pedológicos da Embrapa (SiBCS).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Fluxo de Trabalho Guiado: Delimitação da Área (AOI) → Eleição Estratificada de Candidatos → Inspeção Multi-Sensor → Exportação para Campo.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325880"/>
            <a:ext cx="6108192" cy="4983480"/>
          </a:xfrm>
          <a:prstGeom prst="round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32120" y="1280160"/>
            <a:ext cx="6108192" cy="49834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32120" y="1280160"/>
            <a:ext cx="6108192" cy="384048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335024"/>
            <a:ext cx="5833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🟢 🟡 🔴   SAREL v2.0 — ESPAÇO PARA TELA DO APP #1: Visão Geral do SAREL e Mapa 3D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96712" y="1792224"/>
            <a:ext cx="5779007" cy="3959352"/>
          </a:xfrm>
          <a:prstGeom prst="rect">
            <a:avLst/>
          </a:prstGeom>
          <a:solidFill>
            <a:srgbClr val="1621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2994660"/>
            <a:ext cx="5376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[ COLE AQUI O PRINT / VÍDEO DA TELA #1 DO APP ]</a:t>
            </a:r>
          </a:p>
          <a:p>
            <a:pPr algn="ctr">
              <a:defRPr sz="1050">
                <a:solidFill>
                  <a:srgbClr val="E2E8F0"/>
                </a:solidFill>
              </a:defRPr>
            </a:pPr>
            <a:r>
              <a:t>Sugestão de print: Tela inicial do SAREL mostrando o Mapa 3D (Google Earth + Relevo 3D ativado), a Sidebar esquerda com os controles e os indicadores superiores.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5824727"/>
            <a:ext cx="57790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10B981"/>
                </a:solidFill>
              </a:defRPr>
            </a:pPr>
            <a:r>
              <a:t>Figura 1: Interface principal do sistema SAREL v2.0 com renderização topográfica 3D.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SIMPÓSIO ESTUDANTIL • PPGTCA / UTFPR MEDIANEIRA • APOIO ITAIPU PARQUETEC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64592"/>
            <a:ext cx="2011680" cy="329184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⏱ 2:35 – 3:35 (60s)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FFFFFF"/>
                </a:solidFill>
              </a:defRPr>
            </a:pPr>
            <a:r>
              <a:t>3. Recorte Espacial Híbrido: Bacia Hidrográfica do Paraná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Luis Alfredo da Silva • PPGTCA / UTFPR (Campus Medianeira) • Projeto SAREL (Bacia do Paraná 3)   |   Slide 4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4754880" cy="4983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53312"/>
            <a:ext cx="82296" cy="4837176"/>
          </a:xfrm>
          <a:prstGeom prst="rect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371600"/>
            <a:ext cx="4443984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369A1"/>
                </a:solidFill>
              </a:defRPr>
            </a:pPr>
            <a:r>
              <a:t>Solução Cartográfica em 3 Camadas Oficiais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Superamos polígonos simplificados unindo a hidrografia física aos limites legais municipais (SIRGAS 2000):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1. Divisor Hidrológico Oficial (IAT — 7.979 km²): área exata de drenagem direta ao Reservatório de Itaipu.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2. Limite Legal dos 28 Municípios (IBGE/ITCG — 13.350 km²): de Guaíra (06) e Cascavel (01) até Medianeira (24) e Foz do Iguaçu (28).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3. Corredor Experimental Foz do Iguaçu – Céu Azul (6 Municípios — 2.920 km²): eixo que captura o gradiente completo de altitude (180 m a 750 m), declividade (2% a 20%) e transição Latossolo/Nitossolo para verificação presencial.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325880"/>
            <a:ext cx="6108192" cy="4983480"/>
          </a:xfrm>
          <a:prstGeom prst="round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32120" y="1280160"/>
            <a:ext cx="6108192" cy="49834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32120" y="1280160"/>
            <a:ext cx="6108192" cy="384048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335024"/>
            <a:ext cx="5833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🟢 🟡 🔴   SAREL v2.0 — ESPAÇO PARA TELA DO APP #2: Recorte Híbrido da Bacia do Paraná 3 no 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96712" y="1792224"/>
            <a:ext cx="5779007" cy="3959352"/>
          </a:xfrm>
          <a:prstGeom prst="rect">
            <a:avLst/>
          </a:prstGeom>
          <a:solidFill>
            <a:srgbClr val="1621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2994660"/>
            <a:ext cx="5376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[ COLE AQUI O PRINT / VÍDEO DA TELA #2 DO APP ]</a:t>
            </a:r>
          </a:p>
          <a:p>
            <a:pPr algn="ctr">
              <a:defRPr sz="1050">
                <a:solidFill>
                  <a:srgbClr val="E2E8F0"/>
                </a:solidFill>
              </a:defRPr>
            </a:pPr>
            <a:r>
              <a:t>Sugestão de print: Janela 'Gerenciar Áreas (AOI)' na aba Microbacias Hidrográficas (mostrando o Combo Híbrido BP3 e os 28 municípios) OU o mapa com o Divisor IAT (rosa), os 28 municípios (verde/tracejado) e o Corredor Foz–Céu Azul (âmbar).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5824727"/>
            <a:ext cx="57790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10B981"/>
                </a:solidFill>
              </a:defRPr>
            </a:pPr>
            <a:r>
              <a:t>Figura 2: Sobreposição oficial do Divisor Hidrológico (IAT), 28 Municípios (IBGE) e Corredor Foz–Céu Azul.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SIMPÓSIO ESTUDANTIL • PPGTCA / UTFPR MEDIANEIRA • APOIO ITAIPU PARQUETEC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64592"/>
            <a:ext cx="2011680" cy="329184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⏱ 3:35 – 4:40 (65s)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FFFFFF"/>
                </a:solidFill>
              </a:defRPr>
            </a:pPr>
            <a:r>
              <a:t>4. Critérios Biofísicos: Como Localizar um Ponto de Erosão Provável?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Luis Alfredo da Silva • PPGTCA / UTFPR (Campus Medianeira) • Projeto SAREL (Bacia do Paraná 3)   |   Slide 5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4754880" cy="4983480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53312"/>
            <a:ext cx="82296" cy="4837176"/>
          </a:xfrm>
          <a:prstGeom prst="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371600"/>
            <a:ext cx="4443984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45309"/>
                </a:solidFill>
              </a:defRPr>
            </a:pPr>
            <a:r>
              <a:t>Fusão de Evidências Físicas e Espectrais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O satélite não vê a 'lâmina de terra' isolada, mas sim a assinatura física deixada pela erosão ao longo do tempo: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• Critério 1 — Energia Topográfica (Copernicus DEM 30 m): seleção de rampas agrícolas com declividade entre 3% e 20% (projeção métrica UTM 22S).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• Critério 2 — Frequência Histórica de Solo Exposto (Sentinel-2, 10 m): cálculo multitemporal do Bare Soil Index (BSI) e queda crônica do NDVI (Fator C de Durigon et al., 2014) onde a enxurrada expõe o horizonte subsuperficial.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• Critério 3 — Erodibilidade Pedológica (Fator K — Embrapa) + Restrição SICAR/CAR: garante que todo ponto candidato caia dentro de uma lavoura real cadastrada.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325880"/>
            <a:ext cx="6108192" cy="4983480"/>
          </a:xfrm>
          <a:prstGeom prst="round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32120" y="1280160"/>
            <a:ext cx="6108192" cy="49834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32120" y="1280160"/>
            <a:ext cx="6108192" cy="384048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335024"/>
            <a:ext cx="5833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🟢 🟡 🔴   SAREL v2.0 — ESPAÇO PARA TELA DO APP #3: Inspetor de Ponto e Série Temporal Espectral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96712" y="1792224"/>
            <a:ext cx="5779007" cy="3959352"/>
          </a:xfrm>
          <a:prstGeom prst="rect">
            <a:avLst/>
          </a:prstGeom>
          <a:solidFill>
            <a:srgbClr val="1621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2994660"/>
            <a:ext cx="5376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[ COLE AQUI O PRINT / VÍDEO DA TELA #3 DO APP ]</a:t>
            </a:r>
          </a:p>
          <a:p>
            <a:pPr algn="ctr">
              <a:defRPr sz="1050">
                <a:solidFill>
                  <a:srgbClr val="E2E8F0"/>
                </a:solidFill>
              </a:defRPr>
            </a:pPr>
            <a:r>
              <a:t>Sugestão de print: Aba 'Inspetor de Ponto' ou 'Popup de Ponto no Mapa' exibindo as métricas topográficas (declividade, altitude), o código do imóvel CAR/SICAR, o solo da Embrapa e o Gráfico da Série Temporal NDVI / BSI.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5824727"/>
            <a:ext cx="57790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10B981"/>
                </a:solidFill>
              </a:defRPr>
            </a:pPr>
            <a:r>
              <a:t>Figura 3: Inspeção biofísica e série temporal multiespectral de um ponto candidato a erosão laminar.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SIMPÓSIO ESTUDANTIL • PPGTCA / UTFPR MEDIANEIRA • APOIO ITAIPU PARQUETEC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64592"/>
            <a:ext cx="2011680" cy="329184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⏱ 4:40 – 5:45 (65s)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FFFFFF"/>
                </a:solidFill>
              </a:defRPr>
            </a:pPr>
            <a:r>
              <a:t>5. Eleição Amostral no GEE: 18 Estratos, Thinning e Partição In-Loco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Luis Alfredo da Silva • PPGTCA / UTFPR (Campus Medianeira) • Projeto SAREL (Bacia do Paraná 3)   |   Slide 6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4754880" cy="4983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53312"/>
            <a:ext cx="82296" cy="48371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371600"/>
            <a:ext cx="4443984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5F46"/>
                </a:solidFill>
              </a:defRPr>
            </a:pPr>
            <a:r>
              <a:t>Amostragem Sem Viés e Sem Autocorrelação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1. Grade de 18 Estratos Biofísicos Ortogonais: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  • 3 classes de Declividade (S) × 3 faixas de Frequência de Solo Nu (E) × 2 classes de Erodibilidade (K).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  • Garante seleção equilibrada tanto de focos críticos de erosão provável quanto de áreas estáveis de controle.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2. Thinning Geodésico Haversine (1 a 5 km):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  • Aplica a 1ª Lei da Geografia (Tobler, 1970), exigindo distância mínima entre candidatos para não repetir o mesmo talhão.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3. Partição Proporcional Acoplada (80% / 20%):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  • Do total de pontos sorteados na bacia (Fase A), 20% já são automaticamente alocados no Corredor Foz–Céu Azul para vistoria presencial (Fase 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325880"/>
            <a:ext cx="6108192" cy="4983480"/>
          </a:xfrm>
          <a:prstGeom prst="round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32120" y="1280160"/>
            <a:ext cx="6108192" cy="49834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32120" y="1280160"/>
            <a:ext cx="6108192" cy="384048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335024"/>
            <a:ext cx="5833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🟢 🟡 🔴   SAREL v2.0 — ESPAÇO PARA TELA DO APP #4: Modal de Eleição Amostral GEE e Pontos Eleitos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96712" y="1792224"/>
            <a:ext cx="5779007" cy="3959352"/>
          </a:xfrm>
          <a:prstGeom prst="rect">
            <a:avLst/>
          </a:prstGeom>
          <a:solidFill>
            <a:srgbClr val="1621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2994660"/>
            <a:ext cx="5376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[ COLE AQUI O PRINT / VÍDEO DA TELA #4 DO APP ]</a:t>
            </a:r>
          </a:p>
          <a:p>
            <a:pPr algn="ctr">
              <a:defRPr sz="1050">
                <a:solidFill>
                  <a:srgbClr val="E2E8F0"/>
                </a:solidFill>
              </a:defRPr>
            </a:pPr>
            <a:r>
              <a:t>Sugestão de print: Modal 'Eleição Amostral no Google Earth Engine (GEE)' mostrando os parâmetros (Quantidade, Raio de Thinning, Subamostra In-Loco 20% no Corredor Foz–Céu Azul) e os pontos distribuídos no mapa.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5824727"/>
            <a:ext cx="57790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10B981"/>
                </a:solidFill>
              </a:defRPr>
            </a:pPr>
            <a:r>
              <a:t>Figura 4: Motor de eleição amostral estratificada no GEE com partição automática Bacia (80%) + Corredor In-Loco (20%).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SIMPÓSIO ESTUDANTIL • PPGTCA / UTFPR MEDIANEIRA • APOIO ITAIPU PARQUETEC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64592"/>
            <a:ext cx="2011680" cy="329184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⏱ 5:45 – 6:30 (45s)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50" b="1">
                <a:solidFill>
                  <a:srgbClr val="FFFFFF"/>
                </a:solidFill>
              </a:defRPr>
            </a:pPr>
            <a:r>
              <a:t>6. Rastreabilidade Pericial e Próximas Etapas de Validação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Luis Alfredo da Silva • PPGTCA / UTFPR (Campus Medianeira) • Projeto SAREL (Bacia do Paraná 3)   |   Slide 7 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4754880" cy="4983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53312"/>
            <a:ext cx="82296" cy="4837176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371600"/>
            <a:ext cx="4443984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Infraestrutura Auditável &amp; Validação Multiescala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Rigor de Engenharia de Software Científica: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 • 270 testes automatizados validando a integridade geométrica, geodésica e radiométrica do pipeline;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 • Regra Estrita Anti-Sintético: todo atributo carrega selo de proveniência (fonte oficial, satélite e data); ausência de dado nunca é inventada.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Próximos Passos sobre os Pontos Selecionados: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 • Campanha Duplo-Cega em Campo: exportação da planilha cega para vistoria presencial dos pontos do corredor Foz–Céu Azul;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 • Sítios Padrão-Ouro com VANT/Drone: 4 polígonos contínuos (~50 ha cada) em Medianeira e Céu Azul com câmera multiespectral de 5 bandas (GSD 3 a 7,5 cm, RTK/PPK) para aferição final.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325880"/>
            <a:ext cx="6108192" cy="4983480"/>
          </a:xfrm>
          <a:prstGeom prst="round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32120" y="1280160"/>
            <a:ext cx="6108192" cy="49834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32120" y="1280160"/>
            <a:ext cx="6108192" cy="384048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335024"/>
            <a:ext cx="5833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🟢 🟡 🔴   SAREL v2.0 — ESPAÇO PARA TELA DO APP #5: Sítios de Voo de Drone (Padrão-Ouro) ou Dossiê de Auditoria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96712" y="1792224"/>
            <a:ext cx="5779007" cy="3959352"/>
          </a:xfrm>
          <a:prstGeom prst="rect">
            <a:avLst/>
          </a:prstGeom>
          <a:solidFill>
            <a:srgbClr val="1621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2994660"/>
            <a:ext cx="5376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[ COLE AQUI O PRINT / VÍDEO DA TELA #5 DO APP ]</a:t>
            </a:r>
          </a:p>
          <a:p>
            <a:pPr algn="ctr">
              <a:defRPr sz="1050">
                <a:solidFill>
                  <a:srgbClr val="E2E8F0"/>
                </a:solidFill>
              </a:defRPr>
            </a:pPr>
            <a:r>
              <a:t>Sugestão de print: Mapa aproximado nos polígonos cianos dos Sítios Padrão-Ouro de Drone (Medianeira / Céu Azul ~50 ha) OU tela de Exportação da Planilha de Campo Cega / Selo de Proveniência.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5824727"/>
            <a:ext cx="57790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10B981"/>
                </a:solidFill>
              </a:defRPr>
            </a:pPr>
            <a:r>
              <a:t>Figura 5: Polígonos contínuos de referência para sobrevoo VANT/Drone e exportação auditável para campo.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94360"/>
            <a:ext cx="10789920" cy="25146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67512"/>
            <a:ext cx="82296" cy="236829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685800"/>
            <a:ext cx="1047902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Considerações Finais &amp; Contribuições do Projeto SAREL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Reprodutibilidade e Governança de Bacias: O SAREL entrega uma ferramenta pronta e transparente para localizar focos prováveis de erosão laminar na Bacia Hidrográfica do Paraná 3 com amparo nos limites legais do IBGE e hidrográficos do IAT.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Redução de Custos de Campo: A triagem estratificada (18 estratos + Thinning Haversine) direciona o esforço de equipes técnicas e drones exatamente para as rampas agrícolas de maior risco.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Impacto Regional: Apoio direto a programas de conservação de solo e água no Oeste do Paraná e proteção da vida útil do Reservatório de Itaipu.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37560"/>
            <a:ext cx="10789920" cy="21488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410712"/>
            <a:ext cx="82296" cy="200253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429000"/>
            <a:ext cx="104790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Referências Principais (Normas APA 7ª Edição)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Coelho, M. R., et al. (2024). Erodibilidade dos solos do Brasil (Documentos 246). Embrapa Solos.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Dieckow, J., et al. (2009). Land use, tillage, texture and organic matter stock in Brazilian soils. European Journal of Soil Science, 60(2), 240–249.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Durigon, V. L., et al. (2014). NDVI time series for monitoring RUSLE cover management factor. Int. Journal of Remote Sensing, 35(2), 441–453.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Roberts, D. R., et al. (2017). Cross-validation strategies for data with spatial or temporal structure. Ecography, 40(8), 913–929.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Tobler, W. R. (1970). A computer movie simulating urban growth in the Detroit region. Economic Geography, 46, 234–240.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Agradecimentos: Programa de Pós-Graduação em Tecnologias Computacionais para o Agronegócio (PPGTCA — UTFPR Campus Medianeira) e Itaipu Parquetec pelo financiamento e apoio ao desenvolvimento tecnológico.</a:t>
            </a:r>
            <a:br/>
            <a:r>
              <a:t>Obrigado pela atenção!  •  Luis Alfredo da Silva (PPGTCA / UTFPR)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