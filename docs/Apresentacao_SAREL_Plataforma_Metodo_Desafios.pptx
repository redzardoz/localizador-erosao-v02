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Esta é a primeira dificuldade real. Numa medição preliminar de 29/09/2026 sobre 90 candidatos, só 5 estavam no nível de erodibilidade alta dentro da faixa de declividade do método. A extrapolação para os 593 imóveis do divisor de águas dava cerca de 33. Hoje o desenho pede 36 titulares nesse nível (9 estratos vezes 4), mais reservas. Atenção: é um indício, calculado sobre um artefato pequeno, e o pool real ainda não foi medido. Há uma ferramenta pronta para medir. A tentação de mover o limiar de erodibilidade para acomodar a amostra foi recusada: o limiar é físico e vem da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Quantidade de voos: são 72 polígonos de 5,02 ha, ou seja, 72 missões de mapeamento, uma por polígono; eram 36 no desenho anterior. Elas não precisam ser 72 saídas: o planejador agrupa polígonos próximos em jornadas de campo, com teto padrão de 6 polígonos por jornada, ajustável, o que dá cerca de 12 jornadas. Esse agrupamento é uma proposta do planejador, ainda não validada em campo. Tempo de voo: a produtividade medida foi de 2,3 ha/min na Missão 009, o que dá cerca de 2,2 min por polígono; mas a única outra missão válida, a 000, teve 0,53 ha/min, o que dá cerca de 9,5 min. Com duas missões medidas, a faixa honesta é de 2 a 10 minutos por polígono, ou de 2,6 a 11 horas de voo no total, sem contar deslocamento. O que domina a campanha é deslocamento, montagem e as 72 autorizações. O número de baterias e de decolagens não está definido: depende da aeronave e do agrupamento, e não tenho esse dado. A tela mostra os três conjuntos da campanha.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1005840"/>
            <a:ext cx="2468880" cy="1874520"/>
          </a:xfrm>
          <a:prstGeom prst="roundRect">
            <a:avLst>
              <a:gd name="adj" fmla="val 3902"/>
            </a:avLst>
          </a:prstGeom>
          <a:solidFill>
            <a:srgbClr val="EEF3EF"/>
          </a:solidFill>
          <a:ln w="12700">
            <a:solidFill>
              <a:srgbClr val="EEF3EF"/>
            </a:solidFill>
            <a:prstDash val="solid"/>
          </a:ln>
        </p:spPr>
      </p:sp>
      <p:sp>
        <p:nvSpPr>
          <p:cNvPr id="6" name="Text 3"/>
          <p:cNvSpPr txBox="1"/>
          <p:nvPr/>
        </p:nvSpPr>
        <p:spPr>
          <a:xfrm>
            <a:off x="59436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150" dirty="0"/>
          </a:p>
        </p:txBody>
      </p:sp>
      <p:sp>
        <p:nvSpPr>
          <p:cNvPr id="9" name="Text 6"/>
          <p:cNvSpPr txBox="1"/>
          <p:nvPr/>
        </p:nvSpPr>
        <p:spPr>
          <a:xfrm>
            <a:off x="292608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005840"/>
            <a:ext cx="2468880" cy="1874520"/>
          </a:xfrm>
          <a:prstGeom prst="roundRect">
            <a:avLst>
              <a:gd name="adj" fmla="val 3902"/>
            </a:avLst>
          </a:prstGeom>
          <a:solidFill>
            <a:srgbClr val="EEF3EF"/>
          </a:solidFill>
          <a:ln w="12700">
            <a:solidFill>
              <a:srgbClr val="EEF3EF"/>
            </a:solidFill>
            <a:prstDash val="solid"/>
          </a:ln>
        </p:spPr>
      </p:sp>
      <p:sp>
        <p:nvSpPr>
          <p:cNvPr id="11" name="Text 8"/>
          <p:cNvSpPr txBox="1"/>
          <p:nvPr/>
        </p:nvSpPr>
        <p:spPr>
          <a:xfrm>
            <a:off x="342900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150" dirty="0"/>
          </a:p>
        </p:txBody>
      </p:sp>
      <p:sp>
        <p:nvSpPr>
          <p:cNvPr id="14" name="Text 11"/>
          <p:cNvSpPr txBox="1"/>
          <p:nvPr/>
        </p:nvSpPr>
        <p:spPr>
          <a:xfrm>
            <a:off x="576072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005840"/>
            <a:ext cx="2468880" cy="1874520"/>
          </a:xfrm>
          <a:prstGeom prst="roundRect">
            <a:avLst>
              <a:gd name="adj" fmla="val 3902"/>
            </a:avLst>
          </a:prstGeom>
          <a:solidFill>
            <a:srgbClr val="EEF3EF"/>
          </a:solidFill>
          <a:ln w="12700">
            <a:solidFill>
              <a:srgbClr val="EEF3EF"/>
            </a:solidFill>
            <a:prstDash val="solid"/>
          </a:ln>
        </p:spPr>
      </p:sp>
      <p:sp>
        <p:nvSpPr>
          <p:cNvPr id="16" name="Text 13"/>
          <p:cNvSpPr txBox="1"/>
          <p:nvPr/>
        </p:nvSpPr>
        <p:spPr>
          <a:xfrm>
            <a:off x="626364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Suscetibilidade do solo (carta Embrapa 2024, 6 classes). Nível 1: classes 1–3, baixa a média. Nível 2: classes 4–6, alta a extremamente alta.</a:t>
            </a:r>
            <a:endParaRPr lang="en-US" sz="1150" dirty="0"/>
          </a:p>
        </p:txBody>
      </p:sp>
      <p:sp>
        <p:nvSpPr>
          <p:cNvPr id="19" name="Text 16"/>
          <p:cNvSpPr txBox="1"/>
          <p:nvPr/>
        </p:nvSpPr>
        <p:spPr>
          <a:xfrm>
            <a:off x="457200" y="3017520"/>
            <a:ext cx="8229600" cy="365760"/>
          </a:xfrm>
          <a:prstGeom prst="rect">
            <a:avLst/>
          </a:prstGeom>
          <a:noFill/>
          <a:ln/>
        </p:spPr>
        <p:txBody>
          <a:bodyPr wrap="square" lIns="0" tIns="0" rIns="0" bIns="0" rtlCol="0" anchor="t"/>
          <a:lstStyle/>
          <a:p>
            <a:pPr indent="0" marL="0">
              <a:buNone/>
            </a:pPr>
            <a:r>
              <a:rPr lang="en-US" sz="15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5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(declive alto, muito solo nu, solo erodível), que são justamente os de maior interesse</a:t>
            </a:r>
            <a:endParaRPr lang="en-US" sz="1200" dirty="0"/>
          </a:p>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Tercil: divide em três grupos de tamanho aproximado; o corte é calculado sobre os candidatos da própria área e empates caem no grupo mais baixo</a:t>
            </a:r>
            <a:endParaRPr lang="en-US" sz="120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1: poucos candidatos nos estratos de erodibilidade alta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sp>
        <p:nvSpPr>
          <p:cNvPr id="5" name="Shape 2"/>
          <p:cNvSpPr/>
          <p:nvPr/>
        </p:nvSpPr>
        <p:spPr>
          <a:xfrm>
            <a:off x="457200" y="114300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5 de 90</a:t>
            </a:r>
            <a:endParaRPr lang="en-US" sz="2200" dirty="0"/>
          </a:p>
        </p:txBody>
      </p:sp>
      <p:sp>
        <p:nvSpPr>
          <p:cNvPr id="7" name="Text 4"/>
          <p:cNvSpPr txBox="1"/>
          <p:nvPr/>
        </p:nvSpPr>
        <p:spPr>
          <a:xfrm>
            <a:off x="5486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candidatos em erodibilidade alta, dentro de 3 a 20% (medição de 29/09)</a:t>
            </a:r>
            <a:endParaRPr lang="en-US" sz="1100" dirty="0"/>
          </a:p>
        </p:txBody>
      </p:sp>
      <p:sp>
        <p:nvSpPr>
          <p:cNvPr id="8" name="Shape 5"/>
          <p:cNvSpPr/>
          <p:nvPr/>
        </p:nvSpPr>
        <p:spPr>
          <a:xfrm>
            <a:off x="2514600" y="114300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33</a:t>
            </a:r>
            <a:endParaRPr lang="en-US" sz="2200" dirty="0"/>
          </a:p>
        </p:txBody>
      </p:sp>
      <p:sp>
        <p:nvSpPr>
          <p:cNvPr id="10" name="Text 7"/>
          <p:cNvSpPr txBox="1"/>
          <p:nvPr/>
        </p:nvSpPr>
        <p:spPr>
          <a:xfrm>
            <a:off x="26060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extrapolação para os 593 imóveis do divisor (estimativa)</a:t>
            </a:r>
            <a:endParaRPr lang="en-US" sz="1100" dirty="0"/>
          </a:p>
        </p:txBody>
      </p:sp>
      <p:sp>
        <p:nvSpPr>
          <p:cNvPr id="11" name="Shape 8"/>
          <p:cNvSpPr/>
          <p:nvPr/>
        </p:nvSpPr>
        <p:spPr>
          <a:xfrm>
            <a:off x="4572000" y="114300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25272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36</a:t>
            </a:r>
            <a:endParaRPr lang="en-US" sz="2200" dirty="0"/>
          </a:p>
        </p:txBody>
      </p:sp>
      <p:sp>
        <p:nvSpPr>
          <p:cNvPr id="13" name="Text 10"/>
          <p:cNvSpPr txBox="1"/>
          <p:nvPr/>
        </p:nvSpPr>
        <p:spPr>
          <a:xfrm>
            <a:off x="46634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titulares exigidos hoje nesse nível: 9 estratos × 4</a:t>
            </a:r>
            <a:endParaRPr lang="en-US" sz="1100" dirty="0"/>
          </a:p>
        </p:txBody>
      </p:sp>
      <p:sp>
        <p:nvSpPr>
          <p:cNvPr id="14" name="Shape 11"/>
          <p:cNvSpPr/>
          <p:nvPr/>
        </p:nvSpPr>
        <p:spPr>
          <a:xfrm>
            <a:off x="6629400" y="1143000"/>
            <a:ext cx="20116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252728"/>
            <a:ext cx="20116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reservas</a:t>
            </a:r>
            <a:endParaRPr lang="en-US" sz="2200" dirty="0"/>
          </a:p>
        </p:txBody>
      </p:sp>
      <p:sp>
        <p:nvSpPr>
          <p:cNvPr id="16" name="Text 13"/>
          <p:cNvSpPr txBox="1"/>
          <p:nvPr/>
        </p:nvSpPr>
        <p:spPr>
          <a:xfrm>
            <a:off x="6720840" y="1856232"/>
            <a:ext cx="18288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para repor recusas, no mesmo selo</a:t>
            </a:r>
            <a:endParaRPr lang="en-US" sz="1100" dirty="0"/>
          </a:p>
        </p:txBody>
      </p:sp>
      <p:sp>
        <p:nvSpPr>
          <p:cNvPr id="17" name="Text 14"/>
          <p:cNvSpPr txBox="1"/>
          <p:nvPr/>
        </p:nvSpPr>
        <p:spPr>
          <a:xfrm>
            <a:off x="457200" y="2606040"/>
            <a:ext cx="8229600" cy="210312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É um indício, calculado sobre um artefato pequeno. O pool real ainda não foi medido.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 ferramenta de checagem do pool por estrato está pronta (somente leitura); falta rodá-la com os candidatos reais.</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Não se move o limiar físico de erodibilidade para acomodar a amostra: a decisão vem da fonte e da regra registrada.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Respostas legítimas: ampliar a área de estudo, usar reservas ordenadas, ou declarar a limitação de potência naquele estrato.</a:t>
            </a:r>
            <a:endParaRPr lang="en-US" sz="1300" dirty="0"/>
          </a:p>
        </p:txBody>
      </p:sp>
      <p:sp>
        <p:nvSpPr>
          <p:cNvPr id="18" name="Text 15"/>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verificação de 29/09/2026 (docs/verificacoes); decisões D09, D12 e D16; ferramenta scripts/verificar_pool_estratos.ts.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2: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3: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de campo, com até 6 polígonos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 a 10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 (2,3 ha/min na Missão 009; 0,53 na 000)</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1158736" y="2313432"/>
            <a:ext cx="6826528" cy="145389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1177024" y="2331720"/>
            <a:ext cx="6789952" cy="1417320"/>
          </a:xfrm>
          <a:prstGeom prst="rect">
            <a:avLst/>
          </a:prstGeom>
        </p:spPr>
      </p:pic>
      <p:sp>
        <p:nvSpPr>
          <p:cNvPr id="19" name="Text 15"/>
          <p:cNvSpPr txBox="1"/>
          <p:nvPr/>
        </p:nvSpPr>
        <p:spPr>
          <a:xfrm>
            <a:off x="457200" y="3794760"/>
            <a:ext cx="8229600" cy="91440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Tempo total de voo: de 2,6 h a 11 h, sem contar o deslocamento, que domina a campanha</a:t>
            </a:r>
            <a:endParaRPr lang="en-US" sz="1100" dirty="0"/>
          </a:p>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Nº de baterias e de decolagens: ainda não definido; depende da aeronave e do agrupamento</a:t>
            </a:r>
            <a:endParaRPr lang="en-US" sz="1100" dirty="0"/>
          </a:p>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Base: 2 missões medidas (uma terceira foi excluída por ortomosaico degenerado); é uma faixa, não uma estimativa precisa</a:t>
            </a:r>
            <a:endParaRPr lang="en-US" sz="11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cobertura_voos.geojson (Missões 000 e 009); agrupamento: planejador de jornadas (teto padrão 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15</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2026-10-19T08:09:22Z</dcterms:created>
  <dcterms:modified xsi:type="dcterms:W3CDTF">2026-10-19T08:09:22Z</dcterms:modified>
</cp:coreProperties>
</file>