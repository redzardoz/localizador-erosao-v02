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68" r:id="rId2"/>
    <p:sldId id="257" r:id="rId3"/>
    <p:sldId id="269" r:id="rId4"/>
    <p:sldId id="258" r:id="rId5"/>
    <p:sldId id="259" r:id="rId6"/>
    <p:sldId id="260" r:id="rId7"/>
    <p:sldId id="261" r:id="rId8"/>
    <p:sldId id="262" r:id="rId9"/>
    <p:sldId id="263" r:id="rId10"/>
    <p:sldId id="264" r:id="rId11"/>
    <p:sldId id="265" r:id="rId12"/>
    <p:sldId id="256" r:id="rId13"/>
    <p:sldId id="266" r:id="rId14"/>
    <p:sldId id="267"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33" d="100"/>
          <a:sy n="133" d="100"/>
        </p:scale>
        <p:origin x="126" y="3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PT"/>
  <c:roundedCorners val="1"/>
  <c:style val="2"/>
  <c:chart>
    <c:title>
      <c:tx>
        <c:rich>
          <a:bodyPr/>
          <a:lstStyle/>
          <a:p>
            <a:pPr>
              <a:defRPr sz="1200" b="0" i="0" u="none" strike="noStrike">
                <a:solidFill>
                  <a:srgbClr val="1B2A22"/>
                </a:solidFill>
                <a:latin typeface="Arial"/>
              </a:defRPr>
            </a:pPr>
            <a:r>
              <a:rPr lang="pt-BR" sz="1200" b="0" i="0" u="none" strike="noStrike">
                <a:solidFill>
                  <a:srgbClr val="1B2A22"/>
                </a:solidFill>
                <a:latin typeface="Arial"/>
              </a:rPr>
              <a:t>Elegibilidade (limite superior, %)</a:t>
            </a:r>
          </a:p>
        </c:rich>
      </c:tx>
      <c:overlay val="0"/>
    </c:title>
    <c:autoTitleDeleted val="0"/>
    <c:plotArea>
      <c:layout/>
      <c:barChart>
        <c:barDir val="col"/>
        <c:grouping val="clustered"/>
        <c:varyColors val="0"/>
        <c:ser>
          <c:idx val="0"/>
          <c:order val="0"/>
          <c:tx>
            <c:strRef>
              <c:f>Sheet1!$B$1</c:f>
              <c:strCache>
                <c:ptCount val="1"/>
                <c:pt idx="0">
                  <c:v>Imóveis elegíveis (%)</c:v>
                </c:pt>
              </c:strCache>
            </c:strRef>
          </c:tx>
          <c:spPr>
            <a:solidFill>
              <a:srgbClr val="2F6B4F"/>
            </a:solidFill>
            <a:effectLst/>
          </c:spPr>
          <c:invertIfNegative val="0"/>
          <c:dLbls>
            <c:numFmt formatCode="0.0" sourceLinked="0"/>
            <c:spPr>
              <a:noFill/>
              <a:ln>
                <a:noFill/>
              </a:ln>
              <a:effectLst/>
            </c:spPr>
            <c:txPr>
              <a:bodyPr/>
              <a:lstStyle/>
              <a:p>
                <a:pPr>
                  <a:defRPr sz="1200" b="0" i="0" u="none" strike="noStrike">
                    <a:solidFill>
                      <a:srgbClr val="1B2A22"/>
                    </a:solidFill>
                    <a:latin typeface="Arial"/>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10 ha (quadrado)</c:v>
                </c:pt>
                <c:pt idx="1">
                  <c:v>5,02 ha (quadrado)</c:v>
                </c:pt>
                <c:pt idx="2">
                  <c:v>5,02 ha (retângulo até 1:2)</c:v>
                </c:pt>
              </c:strCache>
            </c:strRef>
          </c:cat>
          <c:val>
            <c:numRef>
              <c:f>Sheet1!$B$2:$B$4</c:f>
              <c:numCache>
                <c:formatCode>General</c:formatCode>
                <c:ptCount val="3"/>
                <c:pt idx="0">
                  <c:v>43.4</c:v>
                </c:pt>
                <c:pt idx="1">
                  <c:v>64.7</c:v>
                </c:pt>
                <c:pt idx="2">
                  <c:v>71.8</c:v>
                </c:pt>
              </c:numCache>
            </c:numRef>
          </c:val>
          <c:extLst>
            <c:ext xmlns:c16="http://schemas.microsoft.com/office/drawing/2014/chart" uri="{C3380CC4-5D6E-409C-BE32-E72D297353CC}">
              <c16:uniqueId val="{00000000-0D91-451B-A021-45317E1C330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A22"/>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D5DDD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2605A"/>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501194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Apresentar o tema: não é uma apresentação de resultados, é do arcabouço: como desenhar a amostragem e o teste para que cada número seja rastreável e o critério de sucesso seja fixado antes dos dados.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Três restrições moldam tudo. A erosão laminar é uma mancha contínua na vertente, então um ponto de campo representa mal o fenômeno. O rótulo só vale se vier de observação humana sobre imagem de alta resolução; o que é calculado nunca vira rótulo. E o acesso depende de proprietários de áreas pequenas: a mediana dos imóveis rurais da bacia é de 11,7 ha. A pergunta do trabalho: como obter uma amostra defensável sob essas restrições e registrar cada passo de forma auditável.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Para quem pergunta como o SAREL foi construído. A interface e as regras do método estão em TypeScript, com Next.js e React; são cerca de 36 mil linhas em 138 arquivos, mais 85 arquivos de teste automatizado, o que sustenta a ideia de arcabouço auditável: as regras são testadas. O Python cuida do que é dado geoespacial e estatística: a ingestão das bases fundiárias para um banco SQLite local, a chuva do CHIRPS, o relevo Copernicus, o verificador do pacote exportado e a geração de relatórios. O aplicativo de campo, o SAREL Coletor, é um app Android em Kotlin com Jetpack Compose e Room, que funciona offline; o código dele não está neste repositório. Há ainda um instalador do Windows em C#, lançadores em PowerShell e Batch, e o Google Earth Engine para o Sentinel-2. O sistema roda localmente no Windows, e a rede só é necessária para o Earth Engine. Ressalva: a contagem de linhas inclui comentários.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Tela inicial do aplicativo, versão atual. No topo, os módulos na ordem de uso: Amostragem GEE, Campanha e Rótulos, Matriz de Treino, Exportar, mais Configurações e Governança. À esquerda, as áreas de amostragem; no mapa, a legenda deixa claro que BSI e NDVI geram apenas candidatos espectrais, e não rótulos.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Este é o núcleo da justificativa da ordem. Cada linha diz o que se faz e por que vem naquele ponto. O ponto crítico é a etapa 4: como o sorteio é irreversível, é preciso saber antes se cada estrato tem candidatos suficientes. A etapa 5 vem antes do contato com os proprietários para que o local não seja escolhido por conveniência ou por suspeita de erosão.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A segunda metade. A etapa 6 só pode acontecer depois do selo, porque só então se sabe quem contatar; por isso a recusa precisa de um protocolo que não refaça o sorteio. O voo e a delineação são cegos para o estrato e o papel. O campo é âncora, não treino. A avaliação é única e por último.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Estratificar é dividir os candidatos em grupos internamente parecidos e amostrar cada grupo separadamente, para que as combinações raras também entrem na amostra. Usamos três dimensões. Declividade, em três faixas (tercis): é a energia do relevo, que governa o escoamento. Frequência de solo nu, em três faixas: é o tempo em que o solo fica descoberto e exposto à chuva. Erodibilidade, em dois níveis: é a suscetibilidade intrínseca do solo, vinda da carta da Embrapa de 2024; nível 2 são as classes alta, muito alta e extremamente alta. Tercil significa dividir os candidatos em três grupos de tamanho aproximado; os dois cortes são calculados sobre os candidatos da própria área, e valores empatados no corte caem no grupo mais baixo, de modo que os grupos podem diferir um pouco em tamanho. 3 x 3 x 2 dá 18 estratos, com quatro polígonos cada: dois para treino e dois para teste. A decisão sobre a classe 6 foi aprovada em 19/10 e está em registro. Onde entra a série temporal: a frequência de solo nu, calculada sobre a fração de cenas Sentinel-2 válidas de 2016 a 2026, é o eixo de solo nu dos estratos; há um mínimo de 6 observações válidas por célula e janela, abaixo do qual a métrica é indisponível, não deflacionada. A frequência de solo nu ainda não foi medida, por falta da credencial do Google Earth Engine.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Para voar é preciso autorização, e para pedir autorização o polígono tem de caber dentro de um só imóvel. Sobre os 73.643 imóveis rurais do envelope da bacia, com mediana de 11,7 ha, um quadrado de 10 ha cabia em apenas 43,4%. Ao reduzir para 5,02 ha, a elegibilidade sobe para 64,7%, e para 71,8% admitindo retângulo com razão até 1:2. Atenção: são limites superiores, pois o teste usa a caixa envolvente do imóvel. O custo foi dobrar as autorizações, de 36 para 72, e fica um viés declarado: amostras só em imóveis maiores, que tendem a ter outro manejo.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Aeronave: Spectral 2, da Nuvem UAV, com a câmera multiespectral MicaSense Altum; há 3 baterias disponíveis. Quantidade de voos: são 72 polígonos de 5,02 ha, ou seja, 72 missões de mapeamento, uma por polígono; eram 36 no desenho anterior. Por que 72: é a estrutura de 18 estratos com 4 polígonos cada. A área total, de cerca de 361 ha, é o que o custo de voo suporta e rende cerca de 1.845 unidades espacialmente independentes (D24), no limite para o bloco espectral e abaixo do recomendado para solo, chuva e terreno. Tempo: o plano de voo para 4 cm de resolução usa altitude de 92,8 m, cerca de 7 linhas e 123 disparos por polígono, com velocidade medida de 8,7 a 9,2 m/s nos logs reais; isso dá cerca de 3 minutos de mapeamento por polígono, mais as curvas. Em horas, são pelo menos 3,6 h de mapeamento nos 72 polígonos, sem contar decolagem, pouso, troca de bateria e deslocamento, que dominam a campanha. Com teto padrão de 6 polígonos por jornada, são cerca de 12 jornadas e dois polígonos por bateria; isso é compatível com as duas missões já voadas, de 9 a 13 minutos, mas a autonomia útil de cada bateria ainda precisa ser confirmada. Nas duas missões medidas a produtividade foi de 2,3 ha/min na Missão 009 e 0,53 ha/min na 000, de modo que o tempo real pode ser maior que o planejado. Há ainda 72 autorizações de proprietário a obter.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O alvo do modelo não é uma classe, e sim a fração da célula de 10 m delineada como erodida, entre 0 e 1, obtida por rasterização da delineação feita sobre o ortomosaico. O binário, fração maior ou igual a 25%, é derivado e secundário. O intérprete recebe só um código opaco, sem estrato nem papel; o app tem exportação cega por perfil. Isso impede que o modelo aprenda a concordar com o rastreio espectral. Planos de voo só saem com terreno real; os de demonstração são marcados como sintéticos.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O campo deixou de ser massa de treino e virou âncora: 60 a 80 pontos dispersos pela bacia, fora dos polígonos, sorteados com probabilidade conhecida, coletados no aplicativo SAREL Coletor, em Android, sob protocolo cego. A função é estimar a prevalência real, por estimador ponderado, e calibrar a acurácia posicional do aparelho. A campanha tem duas ondas; os 30 primeiros pontos são lote piloto. O KoboCollect foi substituído e a fotointerpretação foi aposentada, porque o rótulo centimétrico do voo é melhor e mais fiel ao fenômeno.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O SAREL Coletor é o aplicativo Android usado nos 60 a 80 pontos de campo, no lugar do KoboCollect; funciona offline. Cada ponto vira uma linha de um CSV de 28 colunas, que o SAREL lê e valida. Seis grupos de informação. Um: identificação e protocolo; o observador recebe só um código opaco e não vê estrato nem predição, isto é, a coleta é cega. Dois: a posição, com latitude, longitude, altitude, a acurácia que o aparelho informa e a distância ao ponto planejado; a posição simulada é rejeitada na ingestão, e o método pode ser média estática ou fix único. Três: o rótulo, em escala ordinal de quatro níveis, ausente, incipiente, moderada ou severa, com a confiança do observador; o binário é derivado, com ausente igual a zero e o restante igual a um, e o incipiente conta como positivo. Quatro: indicadores diagnósticos de erosão laminar, como pedestais e raízes expostas, exposição do horizonte B, espessura do horizonte A, crosta e selamento, microssulcos iniciais e sedimentação no sopé. Cinco: manejo e conservação, sistema de manejo, cobertura vegetal, sentido de plantio e terraço, que alimentam o fator P do RUSLE, com coeficientes ainda provisórios. Seis: fotos nadir e panorâmica e observações. Lembrar: o campo é âncora de prevalência e calibração de posição, não massa de treino. Ressalvas: não conferi se a versão atual do aplicativo já implementa a média estática e as métricas de satélites; a ingestão do SAREL já aceita o método de posição e o erro padrão.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Honestidade sobre o estágio: o que está pronto e o que depende de decisões e de dados. Não há resultado empírico. O sorteio ainda não foi realizado; há decisões do pesquisador pendentes que o sorteio exige e a checagem do pool com candidatos reais. A cifra de acerto de atribuição, antes citada, segue em verificação.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(Consulta) Lista das referências que sustentam as decisões apresentadas, nos termos em que constam do registro de decisões. As marcadas com † tiveram a leitura e a conferência da fonte feitas no projeto; as demais constam do registro e aguardam conferência bibliográfica completa antes da dissertação.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3241C"/>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046720" cy="13716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Arcabouço computacional auditável para amostragem estratificada de erosão laminar</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txBox="1"/>
          <p:nvPr/>
        </p:nvSpPr>
        <p:spPr>
          <a:xfrm>
            <a:off x="548640" y="1371600"/>
            <a:ext cx="8046720" cy="4114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8DB596"/>
                </a:solidFill>
                <a:effectLst/>
                <a:uLnTx/>
                <a:uFillTx/>
                <a:latin typeface="Calibri" pitchFamily="34" charset="0"/>
                <a:ea typeface="Calibri" pitchFamily="34" charset="-122"/>
                <a:cs typeface="Calibri" pitchFamily="34" charset="-120"/>
              </a:rPr>
              <a:t>SAREL v2: </a:t>
            </a:r>
            <a:r>
              <a:rPr kumimoji="0" lang="pt-BR" sz="1600" b="0" i="0" u="none" strike="noStrike" kern="1200" cap="none" spc="0" normalizeH="0" baseline="0" noProof="0" dirty="0">
                <a:ln>
                  <a:noFill/>
                </a:ln>
                <a:solidFill>
                  <a:srgbClr val="8DB596"/>
                </a:solidFill>
                <a:effectLst/>
                <a:uLnTx/>
                <a:uFillTx/>
                <a:latin typeface="Calibri" pitchFamily="34" charset="0"/>
                <a:ea typeface="Calibri" pitchFamily="34" charset="-122"/>
                <a:cs typeface="Calibri" pitchFamily="34" charset="-120"/>
              </a:rPr>
              <a:t>Sistema de Amostragem e Rotulagem para Erosão Laminar</a:t>
            </a:r>
            <a:r>
              <a:rPr kumimoji="0" lang="en-US" sz="1600" b="0" i="0" u="none" strike="noStrike" kern="1200" cap="none" spc="0" normalizeH="0" baseline="0" noProof="0" dirty="0">
                <a:ln>
                  <a:noFill/>
                </a:ln>
                <a:solidFill>
                  <a:srgbClr val="8DB596"/>
                </a:solidFill>
                <a:effectLst/>
                <a:uLnTx/>
                <a:uFillTx/>
                <a:latin typeface="Calibri" pitchFamily="34" charset="0"/>
                <a:ea typeface="Calibri" pitchFamily="34" charset="-122"/>
                <a:cs typeface="Calibri" pitchFamily="34" charset="-120"/>
              </a:rPr>
              <a:t>  </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txBox="1"/>
          <p:nvPr/>
        </p:nvSpPr>
        <p:spPr>
          <a:xfrm>
            <a:off x="548640" y="1794240"/>
            <a:ext cx="8046720" cy="8686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Luis Alfredo Ferreira da Silva</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Fabiana Costa de Araujo Schutz</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Kiria Vitoria Nakahati</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txBox="1"/>
          <p:nvPr/>
        </p:nvSpPr>
        <p:spPr>
          <a:xfrm>
            <a:off x="548640" y="2514060"/>
            <a:ext cx="8046720" cy="3200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E4E9E3"/>
                </a:solidFill>
                <a:effectLst/>
                <a:uLnTx/>
                <a:uFillTx/>
                <a:latin typeface="Calibri" pitchFamily="34" charset="0"/>
                <a:ea typeface="Calibri" pitchFamily="34" charset="-122"/>
                <a:cs typeface="Calibri" pitchFamily="34" charset="-120"/>
              </a:rPr>
              <a:t>Orientador: Claudio Leones Bazzi</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txBox="1"/>
          <p:nvPr/>
        </p:nvSpPr>
        <p:spPr>
          <a:xfrm>
            <a:off x="548640" y="2913840"/>
            <a:ext cx="8046720" cy="6400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4E9E3"/>
                </a:solidFill>
                <a:effectLst/>
                <a:uLnTx/>
                <a:uFillTx/>
                <a:latin typeface="Calibri" pitchFamily="34" charset="0"/>
                <a:ea typeface="Calibri" pitchFamily="34" charset="-122"/>
                <a:cs typeface="Calibri" pitchFamily="34" charset="-120"/>
              </a:rPr>
              <a:t>Programa de Pós-Graduação em Tecnologias Computacionais para o Agronegócio (PPGTCA), Universidade Tecnológica Federal do Paraná (UTFPR), Campus Medianeira</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8" name="Imagem 7">
            <a:extLst>
              <a:ext uri="{FF2B5EF4-FFF2-40B4-BE49-F238E27FC236}">
                <a16:creationId xmlns:a16="http://schemas.microsoft.com/office/drawing/2014/main" id="{79E08353-1B18-589A-EA17-C95342BA46D0}"/>
              </a:ext>
            </a:extLst>
          </p:cNvPr>
          <p:cNvPicPr>
            <a:picLocks noChangeAspect="1"/>
          </p:cNvPicPr>
          <p:nvPr/>
        </p:nvPicPr>
        <p:blipFill>
          <a:blip r:embed="rId3"/>
          <a:stretch>
            <a:fillRect/>
          </a:stretch>
        </p:blipFill>
        <p:spPr>
          <a:xfrm>
            <a:off x="3672540" y="3876614"/>
            <a:ext cx="2317860" cy="706186"/>
          </a:xfrm>
          <a:prstGeom prst="rect">
            <a:avLst/>
          </a:prstGeom>
          <a:effectLst>
            <a:glow rad="76200">
              <a:schemeClr val="bg2">
                <a:lumMod val="90000"/>
              </a:schemeClr>
            </a:glow>
          </a:effectLst>
        </p:spPr>
      </p:pic>
      <p:pic>
        <p:nvPicPr>
          <p:cNvPr id="10" name="Imagem 9">
            <a:extLst>
              <a:ext uri="{FF2B5EF4-FFF2-40B4-BE49-F238E27FC236}">
                <a16:creationId xmlns:a16="http://schemas.microsoft.com/office/drawing/2014/main" id="{25D28C00-B63A-F73B-3CED-979CA623FDEB}"/>
              </a:ext>
            </a:extLst>
          </p:cNvPr>
          <p:cNvPicPr>
            <a:picLocks noChangeAspect="1"/>
          </p:cNvPicPr>
          <p:nvPr/>
        </p:nvPicPr>
        <p:blipFill>
          <a:blip r:embed="rId4"/>
          <a:stretch>
            <a:fillRect/>
          </a:stretch>
        </p:blipFill>
        <p:spPr>
          <a:xfrm>
            <a:off x="720000" y="3899533"/>
            <a:ext cx="1836000" cy="610016"/>
          </a:xfrm>
          <a:prstGeom prst="rect">
            <a:avLst/>
          </a:prstGeom>
          <a:effectLst>
            <a:glow rad="114300">
              <a:schemeClr val="bg1">
                <a:alpha val="88000"/>
              </a:schemeClr>
            </a:glo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t"/>
          <a:lstStyle/>
          <a:p>
            <a:pPr marL="0" indent="0">
              <a:buNone/>
            </a:pPr>
            <a:r>
              <a:rPr lang="en-US" sz="2200" b="1" dirty="0">
                <a:solidFill>
                  <a:srgbClr val="1B2A22"/>
                </a:solidFill>
                <a:latin typeface="Cambria" pitchFamily="34" charset="0"/>
                <a:ea typeface="Cambria" pitchFamily="34" charset="-122"/>
                <a:cs typeface="Cambria" pitchFamily="34" charset="-120"/>
              </a:rPr>
              <a:t>O desafio: amostrar o que só um observador consegue rotular</a:t>
            </a:r>
            <a:endParaRPr lang="en-US" sz="2200" dirty="0"/>
          </a:p>
        </p:txBody>
      </p:sp>
      <p:sp>
        <p:nvSpPr>
          <p:cNvPr id="3" name="Text 1"/>
          <p:cNvSpPr txBox="1"/>
          <p:nvPr/>
        </p:nvSpPr>
        <p:spPr>
          <a:xfrm>
            <a:off x="8412480" y="4800600"/>
            <a:ext cx="457200" cy="228600"/>
          </a:xfrm>
          <a:prstGeom prst="rect">
            <a:avLst/>
          </a:prstGeom>
          <a:noFill/>
          <a:ln/>
        </p:spPr>
        <p:txBody>
          <a:bodyPr wrap="square" lIns="0" tIns="0" rIns="0" bIns="0" rtlCol="0" anchor="t"/>
          <a:lstStyle/>
          <a:p>
            <a:pPr marL="0" indent="0" algn="r">
              <a:buNone/>
            </a:pPr>
            <a:r>
              <a:rPr lang="en-US" sz="1000" dirty="0">
                <a:solidFill>
                  <a:srgbClr val="52605A"/>
                </a:solidFill>
                <a:latin typeface="Calibri" pitchFamily="34" charset="0"/>
                <a:ea typeface="Calibri" pitchFamily="34" charset="-122"/>
                <a:cs typeface="Calibri" pitchFamily="34" charset="-120"/>
              </a:rPr>
              <a:t>2</a:t>
            </a:r>
            <a:endParaRPr lang="en-US" sz="1000" dirty="0"/>
          </a:p>
        </p:txBody>
      </p:sp>
      <p:sp>
        <p:nvSpPr>
          <p:cNvPr id="5" name="Shape 2"/>
          <p:cNvSpPr/>
          <p:nvPr/>
        </p:nvSpPr>
        <p:spPr>
          <a:xfrm>
            <a:off x="457200" y="1188720"/>
            <a:ext cx="2606040" cy="2286000"/>
          </a:xfrm>
          <a:prstGeom prst="roundRect">
            <a:avLst>
              <a:gd name="adj" fmla="val 3200"/>
            </a:avLst>
          </a:prstGeom>
          <a:solidFill>
            <a:srgbClr val="EEF3EF"/>
          </a:solidFill>
          <a:ln w="12700">
            <a:solidFill>
              <a:srgbClr val="EEF3EF"/>
            </a:solidFill>
            <a:prstDash val="solid"/>
          </a:ln>
        </p:spPr>
      </p:sp>
      <p:sp>
        <p:nvSpPr>
          <p:cNvPr id="6" name="Text 3"/>
          <p:cNvSpPr txBox="1"/>
          <p:nvPr/>
        </p:nvSpPr>
        <p:spPr>
          <a:xfrm>
            <a:off x="640080" y="1325880"/>
            <a:ext cx="2240280" cy="365760"/>
          </a:xfrm>
          <a:prstGeom prst="rect">
            <a:avLst/>
          </a:prstGeom>
          <a:noFill/>
          <a:ln/>
        </p:spPr>
        <p:txBody>
          <a:bodyPr wrap="square" lIns="0" tIns="0" rIns="0" bIns="0" rtlCol="0" anchor="t"/>
          <a:lstStyle/>
          <a:p>
            <a:pPr marL="0" indent="0">
              <a:buNone/>
            </a:pPr>
            <a:r>
              <a:rPr lang="en-US" sz="1800" b="1" dirty="0">
                <a:solidFill>
                  <a:srgbClr val="2F6B4F"/>
                </a:solidFill>
                <a:latin typeface="Cambria" pitchFamily="34" charset="0"/>
                <a:ea typeface="Cambria" pitchFamily="34" charset="-122"/>
                <a:cs typeface="Cambria" pitchFamily="34" charset="-120"/>
              </a:rPr>
              <a:t>O fenômeno</a:t>
            </a:r>
            <a:endParaRPr lang="en-US" sz="1800" dirty="0"/>
          </a:p>
        </p:txBody>
      </p:sp>
      <p:sp>
        <p:nvSpPr>
          <p:cNvPr id="7" name="Text 4"/>
          <p:cNvSpPr txBox="1"/>
          <p:nvPr/>
        </p:nvSpPr>
        <p:spPr>
          <a:xfrm>
            <a:off x="640080" y="1783080"/>
            <a:ext cx="2240280" cy="1645920"/>
          </a:xfrm>
          <a:prstGeom prst="rect">
            <a:avLst/>
          </a:prstGeom>
          <a:noFill/>
          <a:ln/>
        </p:spPr>
        <p:txBody>
          <a:bodyPr wrap="square" lIns="0" tIns="0" rIns="0" bIns="0" rtlCol="0" anchor="t"/>
          <a:lstStyle/>
          <a:p>
            <a:pPr marL="0" indent="0">
              <a:buNone/>
            </a:pPr>
            <a:r>
              <a:rPr lang="en-US" sz="1400" dirty="0">
                <a:solidFill>
                  <a:srgbClr val="1B2A22"/>
                </a:solidFill>
                <a:latin typeface="Calibri" pitchFamily="34" charset="0"/>
                <a:ea typeface="Calibri" pitchFamily="34" charset="-122"/>
                <a:cs typeface="Calibri" pitchFamily="34" charset="-120"/>
              </a:rPr>
              <a:t>A erosão laminar é uma </a:t>
            </a:r>
            <a:r>
              <a:rPr lang="en-US" sz="1400" dirty="0" err="1">
                <a:solidFill>
                  <a:srgbClr val="1B2A22"/>
                </a:solidFill>
                <a:latin typeface="Calibri" pitchFamily="34" charset="0"/>
                <a:ea typeface="Calibri" pitchFamily="34" charset="-122"/>
                <a:cs typeface="Calibri" pitchFamily="34" charset="-120"/>
              </a:rPr>
              <a:t>mancha</a:t>
            </a:r>
            <a:r>
              <a:rPr lang="en-US" sz="1400" dirty="0">
                <a:solidFill>
                  <a:srgbClr val="1B2A22"/>
                </a:solidFill>
                <a:latin typeface="Calibri" pitchFamily="34" charset="0"/>
                <a:ea typeface="Calibri" pitchFamily="34" charset="-122"/>
                <a:cs typeface="Calibri" pitchFamily="34" charset="-120"/>
              </a:rPr>
              <a:t> </a:t>
            </a:r>
            <a:r>
              <a:rPr lang="en-US" sz="1400" dirty="0" err="1">
                <a:solidFill>
                  <a:srgbClr val="1B2A22"/>
                </a:solidFill>
                <a:latin typeface="Calibri" pitchFamily="34" charset="0"/>
                <a:ea typeface="Calibri" pitchFamily="34" charset="-122"/>
                <a:cs typeface="Calibri" pitchFamily="34" charset="-120"/>
              </a:rPr>
              <a:t>contínua</a:t>
            </a:r>
            <a:r>
              <a:rPr lang="en-US" sz="1400" dirty="0">
                <a:solidFill>
                  <a:srgbClr val="1B2A22"/>
                </a:solidFill>
                <a:latin typeface="Calibri" pitchFamily="34" charset="0"/>
                <a:ea typeface="Calibri" pitchFamily="34" charset="-122"/>
                <a:cs typeface="Calibri" pitchFamily="34" charset="-120"/>
              </a:rPr>
              <a:t>, e não uma ocorrência </a:t>
            </a:r>
            <a:r>
              <a:rPr lang="en-US" sz="1400" dirty="0" err="1">
                <a:solidFill>
                  <a:srgbClr val="1B2A22"/>
                </a:solidFill>
                <a:latin typeface="Calibri" pitchFamily="34" charset="0"/>
                <a:ea typeface="Calibri" pitchFamily="34" charset="-122"/>
                <a:cs typeface="Calibri" pitchFamily="34" charset="-120"/>
              </a:rPr>
              <a:t>pontual.</a:t>
            </a:r>
            <a:r>
              <a:rPr lang="en-US" sz="1400" dirty="0">
                <a:solidFill>
                  <a:srgbClr val="1B2A22"/>
                </a:solidFill>
                <a:latin typeface="Calibri" pitchFamily="34" charset="0"/>
                <a:ea typeface="Calibri" pitchFamily="34" charset="-122"/>
                <a:cs typeface="Calibri" pitchFamily="34" charset="-120"/>
              </a:rPr>
              <a:t> </a:t>
            </a:r>
            <a:br>
              <a:rPr lang="en-US" sz="1400" dirty="0">
                <a:solidFill>
                  <a:srgbClr val="1B2A22"/>
                </a:solidFill>
                <a:latin typeface="Calibri" pitchFamily="34" charset="0"/>
                <a:ea typeface="Calibri" pitchFamily="34" charset="-122"/>
                <a:cs typeface="Calibri" pitchFamily="34" charset="-120"/>
              </a:rPr>
            </a:br>
            <a:r>
              <a:rPr lang="en-US" sz="1400" dirty="0" err="1">
                <a:solidFill>
                  <a:srgbClr val="1B2A22"/>
                </a:solidFill>
                <a:latin typeface="Calibri" pitchFamily="34" charset="0"/>
                <a:ea typeface="Calibri" pitchFamily="34" charset="-122"/>
                <a:cs typeface="Calibri" pitchFamily="34" charset="-120"/>
              </a:rPr>
              <a:t>Sutil</a:t>
            </a:r>
            <a:r>
              <a:rPr lang="en-US" sz="1400" dirty="0">
                <a:solidFill>
                  <a:srgbClr val="1B2A22"/>
                </a:solidFill>
                <a:latin typeface="Calibri" pitchFamily="34" charset="0"/>
                <a:ea typeface="Calibri" pitchFamily="34" charset="-122"/>
                <a:cs typeface="Calibri" pitchFamily="34" charset="-120"/>
              </a:rPr>
              <a:t>, de </a:t>
            </a:r>
            <a:r>
              <a:rPr lang="en-US" sz="1400" dirty="0" err="1">
                <a:solidFill>
                  <a:srgbClr val="1B2A22"/>
                </a:solidFill>
                <a:latin typeface="Calibri" pitchFamily="34" charset="0"/>
                <a:ea typeface="Calibri" pitchFamily="34" charset="-122"/>
                <a:cs typeface="Calibri" pitchFamily="34" charset="-120"/>
              </a:rPr>
              <a:t>difícil</a:t>
            </a:r>
            <a:r>
              <a:rPr lang="en-US" sz="1400" dirty="0">
                <a:solidFill>
                  <a:srgbClr val="1B2A22"/>
                </a:solidFill>
                <a:latin typeface="Calibri" pitchFamily="34" charset="0"/>
                <a:ea typeface="Calibri" pitchFamily="34" charset="-122"/>
                <a:cs typeface="Calibri" pitchFamily="34" charset="-120"/>
              </a:rPr>
              <a:t> </a:t>
            </a:r>
            <a:r>
              <a:rPr lang="en-US" sz="1400" dirty="0" err="1">
                <a:solidFill>
                  <a:srgbClr val="1B2A22"/>
                </a:solidFill>
                <a:latin typeface="Calibri" pitchFamily="34" charset="0"/>
                <a:ea typeface="Calibri" pitchFamily="34" charset="-122"/>
                <a:cs typeface="Calibri" pitchFamily="34" charset="-120"/>
              </a:rPr>
              <a:t>localização</a:t>
            </a:r>
            <a:r>
              <a:rPr lang="en-US" sz="1400" dirty="0">
                <a:solidFill>
                  <a:srgbClr val="1B2A22"/>
                </a:solidFill>
                <a:latin typeface="Calibri" pitchFamily="34" charset="0"/>
                <a:ea typeface="Calibri" pitchFamily="34" charset="-122"/>
                <a:cs typeface="Calibri" pitchFamily="34" charset="-120"/>
              </a:rPr>
              <a:t> e de </a:t>
            </a:r>
            <a:r>
              <a:rPr lang="en-US" sz="1400" dirty="0" err="1">
                <a:solidFill>
                  <a:srgbClr val="1B2A22"/>
                </a:solidFill>
                <a:latin typeface="Calibri" pitchFamily="34" charset="0"/>
                <a:ea typeface="Calibri" pitchFamily="34" charset="-122"/>
                <a:cs typeface="Calibri" pitchFamily="34" charset="-120"/>
              </a:rPr>
              <a:t>prejuízo</a:t>
            </a:r>
            <a:r>
              <a:rPr lang="en-US" sz="1400" dirty="0">
                <a:solidFill>
                  <a:srgbClr val="1B2A22"/>
                </a:solidFill>
                <a:latin typeface="Calibri" pitchFamily="34" charset="0"/>
                <a:ea typeface="Calibri" pitchFamily="34" charset="-122"/>
                <a:cs typeface="Calibri" pitchFamily="34" charset="-120"/>
              </a:rPr>
              <a:t> </a:t>
            </a:r>
            <a:r>
              <a:rPr lang="en-US" sz="1400" dirty="0" err="1">
                <a:solidFill>
                  <a:srgbClr val="1B2A22"/>
                </a:solidFill>
                <a:latin typeface="Calibri" pitchFamily="34" charset="0"/>
                <a:ea typeface="Calibri" pitchFamily="34" charset="-122"/>
                <a:cs typeface="Calibri" pitchFamily="34" charset="-120"/>
              </a:rPr>
              <a:t>agrícola</a:t>
            </a:r>
            <a:r>
              <a:rPr lang="en-US" sz="1400" dirty="0">
                <a:solidFill>
                  <a:srgbClr val="1B2A22"/>
                </a:solidFill>
                <a:latin typeface="Calibri" pitchFamily="34" charset="0"/>
                <a:ea typeface="Calibri" pitchFamily="34" charset="-122"/>
                <a:cs typeface="Calibri" pitchFamily="34" charset="-120"/>
              </a:rPr>
              <a:t> </a:t>
            </a:r>
            <a:r>
              <a:rPr lang="en-US" sz="1400" dirty="0" err="1">
                <a:solidFill>
                  <a:srgbClr val="1B2A22"/>
                </a:solidFill>
                <a:latin typeface="Calibri" pitchFamily="34" charset="0"/>
                <a:ea typeface="Calibri" pitchFamily="34" charset="-122"/>
                <a:cs typeface="Calibri" pitchFamily="34" charset="-120"/>
              </a:rPr>
              <a:t>considerável</a:t>
            </a:r>
            <a:endParaRPr lang="en-US" sz="1400" dirty="0"/>
          </a:p>
        </p:txBody>
      </p:sp>
      <p:sp>
        <p:nvSpPr>
          <p:cNvPr id="8" name="Shape 5"/>
          <p:cNvSpPr/>
          <p:nvPr/>
        </p:nvSpPr>
        <p:spPr>
          <a:xfrm>
            <a:off x="3246120" y="1188720"/>
            <a:ext cx="2606040" cy="2286000"/>
          </a:xfrm>
          <a:prstGeom prst="roundRect">
            <a:avLst>
              <a:gd name="adj" fmla="val 3200"/>
            </a:avLst>
          </a:prstGeom>
          <a:solidFill>
            <a:srgbClr val="EEF3EF"/>
          </a:solidFill>
          <a:ln w="12700">
            <a:solidFill>
              <a:srgbClr val="EEF3EF"/>
            </a:solidFill>
            <a:prstDash val="solid"/>
          </a:ln>
        </p:spPr>
      </p:sp>
      <p:sp>
        <p:nvSpPr>
          <p:cNvPr id="9" name="Text 6"/>
          <p:cNvSpPr txBox="1"/>
          <p:nvPr/>
        </p:nvSpPr>
        <p:spPr>
          <a:xfrm>
            <a:off x="3429000" y="1325880"/>
            <a:ext cx="2240280" cy="365760"/>
          </a:xfrm>
          <a:prstGeom prst="rect">
            <a:avLst/>
          </a:prstGeom>
          <a:noFill/>
          <a:ln/>
        </p:spPr>
        <p:txBody>
          <a:bodyPr wrap="square" lIns="0" tIns="0" rIns="0" bIns="0" rtlCol="0" anchor="t"/>
          <a:lstStyle/>
          <a:p>
            <a:pPr marL="0" indent="0">
              <a:buNone/>
            </a:pPr>
            <a:r>
              <a:rPr lang="en-US" sz="1800" b="1" dirty="0">
                <a:solidFill>
                  <a:srgbClr val="2F6B4F"/>
                </a:solidFill>
                <a:latin typeface="Cambria" pitchFamily="34" charset="0"/>
                <a:ea typeface="Cambria" pitchFamily="34" charset="-122"/>
                <a:cs typeface="Cambria" pitchFamily="34" charset="-120"/>
              </a:rPr>
              <a:t>O rótulo</a:t>
            </a:r>
            <a:endParaRPr lang="en-US" sz="1800" dirty="0"/>
          </a:p>
        </p:txBody>
      </p:sp>
      <p:sp>
        <p:nvSpPr>
          <p:cNvPr id="10" name="Text 7"/>
          <p:cNvSpPr txBox="1"/>
          <p:nvPr/>
        </p:nvSpPr>
        <p:spPr>
          <a:xfrm>
            <a:off x="3429000" y="1783080"/>
            <a:ext cx="2240280" cy="1645920"/>
          </a:xfrm>
          <a:prstGeom prst="rect">
            <a:avLst/>
          </a:prstGeom>
          <a:noFill/>
          <a:ln/>
        </p:spPr>
        <p:txBody>
          <a:bodyPr wrap="square" lIns="0" tIns="0" rIns="0" bIns="0" rtlCol="0" anchor="t"/>
          <a:lstStyle/>
          <a:p>
            <a:pPr marL="0" indent="0">
              <a:buNone/>
            </a:pPr>
            <a:r>
              <a:rPr lang="en-US" sz="1400" dirty="0">
                <a:solidFill>
                  <a:srgbClr val="1B2A22"/>
                </a:solidFill>
                <a:latin typeface="Calibri" pitchFamily="34" charset="0"/>
                <a:ea typeface="Calibri" pitchFamily="34" charset="-122"/>
                <a:cs typeface="Calibri" pitchFamily="34" charset="-120"/>
              </a:rPr>
              <a:t>Só vale observação humana sobre imagem de alta resolução (VANT, ≈ 4 cm). O que é calculado não vira rótulo (Regra 4).</a:t>
            </a:r>
            <a:endParaRPr lang="en-US" sz="1400" dirty="0"/>
          </a:p>
        </p:txBody>
      </p:sp>
      <p:sp>
        <p:nvSpPr>
          <p:cNvPr id="11" name="Shape 8"/>
          <p:cNvSpPr/>
          <p:nvPr/>
        </p:nvSpPr>
        <p:spPr>
          <a:xfrm>
            <a:off x="6035040" y="1188720"/>
            <a:ext cx="2606040" cy="2286000"/>
          </a:xfrm>
          <a:prstGeom prst="roundRect">
            <a:avLst>
              <a:gd name="adj" fmla="val 3200"/>
            </a:avLst>
          </a:prstGeom>
          <a:solidFill>
            <a:srgbClr val="EEF3EF"/>
          </a:solidFill>
          <a:ln w="12700">
            <a:solidFill>
              <a:srgbClr val="EEF3EF"/>
            </a:solidFill>
            <a:prstDash val="solid"/>
          </a:ln>
        </p:spPr>
      </p:sp>
      <p:sp>
        <p:nvSpPr>
          <p:cNvPr id="12" name="Text 9"/>
          <p:cNvSpPr txBox="1"/>
          <p:nvPr/>
        </p:nvSpPr>
        <p:spPr>
          <a:xfrm>
            <a:off x="6217920" y="1325880"/>
            <a:ext cx="2240280" cy="365760"/>
          </a:xfrm>
          <a:prstGeom prst="rect">
            <a:avLst/>
          </a:prstGeom>
          <a:noFill/>
          <a:ln/>
        </p:spPr>
        <p:txBody>
          <a:bodyPr wrap="square" lIns="0" tIns="0" rIns="0" bIns="0" rtlCol="0" anchor="t"/>
          <a:lstStyle/>
          <a:p>
            <a:pPr marL="0" indent="0">
              <a:buNone/>
            </a:pPr>
            <a:r>
              <a:rPr lang="en-US" sz="1800" b="1" dirty="0">
                <a:solidFill>
                  <a:srgbClr val="2F6B4F"/>
                </a:solidFill>
                <a:latin typeface="Cambria" pitchFamily="34" charset="0"/>
                <a:ea typeface="Cambria" pitchFamily="34" charset="-122"/>
                <a:cs typeface="Cambria" pitchFamily="34" charset="-120"/>
              </a:rPr>
              <a:t>O acesso</a:t>
            </a:r>
            <a:endParaRPr lang="en-US" sz="1800" dirty="0"/>
          </a:p>
        </p:txBody>
      </p:sp>
      <p:sp>
        <p:nvSpPr>
          <p:cNvPr id="13" name="Text 10"/>
          <p:cNvSpPr txBox="1"/>
          <p:nvPr/>
        </p:nvSpPr>
        <p:spPr>
          <a:xfrm>
            <a:off x="6217920" y="1783080"/>
            <a:ext cx="2240280" cy="1645920"/>
          </a:xfrm>
          <a:prstGeom prst="rect">
            <a:avLst/>
          </a:prstGeom>
          <a:noFill/>
          <a:ln/>
        </p:spPr>
        <p:txBody>
          <a:bodyPr wrap="square" lIns="0" tIns="0" rIns="0" bIns="0" rtlCol="0" anchor="t"/>
          <a:lstStyle/>
          <a:p>
            <a:pPr marL="0" indent="0">
              <a:buNone/>
            </a:pPr>
            <a:r>
              <a:rPr lang="en-US" sz="1400" dirty="0">
                <a:solidFill>
                  <a:srgbClr val="1B2A22"/>
                </a:solidFill>
                <a:latin typeface="Calibri" pitchFamily="34" charset="0"/>
                <a:ea typeface="Calibri" pitchFamily="34" charset="-122"/>
                <a:cs typeface="Calibri" pitchFamily="34" charset="-120"/>
              </a:rPr>
              <a:t>Cada polígono voado exige autorização do proprietário, em imóveis pequenos: mediana de 11,7 ha na bacia.</a:t>
            </a:r>
            <a:endParaRPr lang="en-US" sz="1400" dirty="0"/>
          </a:p>
        </p:txBody>
      </p:sp>
      <p:sp>
        <p:nvSpPr>
          <p:cNvPr id="14" name="Text 11"/>
          <p:cNvSpPr txBox="1"/>
          <p:nvPr/>
        </p:nvSpPr>
        <p:spPr>
          <a:xfrm>
            <a:off x="457200" y="3749040"/>
            <a:ext cx="8229600" cy="731520"/>
          </a:xfrm>
          <a:prstGeom prst="rect">
            <a:avLst/>
          </a:prstGeom>
          <a:noFill/>
          <a:ln/>
        </p:spPr>
        <p:txBody>
          <a:bodyPr wrap="square" lIns="0" tIns="0" rIns="0" bIns="0" rtlCol="0" anchor="t"/>
          <a:lstStyle/>
          <a:p>
            <a:pPr marL="0" indent="0">
              <a:buNone/>
            </a:pPr>
            <a:r>
              <a:rPr lang="en-US" sz="1800" i="1" dirty="0">
                <a:solidFill>
                  <a:srgbClr val="C65D3B"/>
                </a:solidFill>
                <a:latin typeface="Cambria" pitchFamily="34" charset="0"/>
                <a:ea typeface="Cambria" pitchFamily="34" charset="-122"/>
                <a:cs typeface="Cambria" pitchFamily="34" charset="-120"/>
              </a:rPr>
              <a:t>Como obter uma amostra defensável sob essas restrições e registrar cada passo de forma auditável?</a:t>
            </a:r>
            <a:endParaRPr lang="en-US" sz="1800" dirty="0"/>
          </a:p>
        </p:txBody>
      </p:sp>
      <p:sp>
        <p:nvSpPr>
          <p:cNvPr id="15" name="Text 12"/>
          <p:cNvSpPr txBox="1"/>
          <p:nvPr/>
        </p:nvSpPr>
        <p:spPr>
          <a:xfrm>
            <a:off x="457200" y="4727448"/>
            <a:ext cx="7863840" cy="365760"/>
          </a:xfrm>
          <a:prstGeom prst="rect">
            <a:avLst/>
          </a:prstGeom>
          <a:noFill/>
          <a:ln/>
        </p:spPr>
        <p:txBody>
          <a:bodyPr wrap="square" lIns="0" tIns="0" rIns="0" bIns="0" rtlCol="0" anchor="ctr"/>
          <a:lstStyle/>
          <a:p>
            <a:pPr marL="0" indent="0">
              <a:buNone/>
            </a:pPr>
            <a:r>
              <a:rPr lang="en-US" sz="900" i="1" dirty="0">
                <a:solidFill>
                  <a:srgbClr val="52605A"/>
                </a:solidFill>
                <a:latin typeface="Calibri" pitchFamily="34" charset="0"/>
                <a:ea typeface="Calibri" pitchFamily="34" charset="-122"/>
                <a:cs typeface="Calibri" pitchFamily="34" charset="-120"/>
              </a:rPr>
              <a:t>Fontes: SILVA (2026a, D16 e D26); levantamento de 29/09/2026 sobre 73.643 imóveis rurais do envelope da bacia (SILVA, 2026b).</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t"/>
          <a:lstStyle/>
          <a:p>
            <a:pPr marL="0" indent="0">
              <a:buNone/>
            </a:pPr>
            <a:r>
              <a:rPr lang="en-US" sz="2200" b="1" dirty="0">
                <a:solidFill>
                  <a:srgbClr val="1B2A22"/>
                </a:solidFill>
                <a:latin typeface="Cambria" pitchFamily="34" charset="0"/>
                <a:ea typeface="Cambria" pitchFamily="34" charset="-122"/>
                <a:cs typeface="Cambria" pitchFamily="34" charset="-120"/>
              </a:rPr>
              <a:t>Linguagens e tecnologias do SAREL</a:t>
            </a:r>
            <a:endParaRPr lang="en-US" sz="2200" dirty="0"/>
          </a:p>
        </p:txBody>
      </p:sp>
      <p:sp>
        <p:nvSpPr>
          <p:cNvPr id="3" name="Text 1"/>
          <p:cNvSpPr txBox="1"/>
          <p:nvPr/>
        </p:nvSpPr>
        <p:spPr>
          <a:xfrm>
            <a:off x="457200" y="621792"/>
            <a:ext cx="8229600" cy="219456"/>
          </a:xfrm>
          <a:prstGeom prst="rect">
            <a:avLst/>
          </a:prstGeom>
          <a:noFill/>
          <a:ln/>
        </p:spPr>
        <p:txBody>
          <a:bodyPr wrap="square" lIns="0" tIns="0" rIns="0" bIns="0" rtlCol="0" anchor="t"/>
          <a:lstStyle/>
          <a:p>
            <a:pPr marL="0" indent="0">
              <a:buNone/>
            </a:pPr>
            <a:r>
              <a:rPr lang="en-US" sz="1200" i="1" dirty="0">
                <a:solidFill>
                  <a:srgbClr val="52605A"/>
                </a:solidFill>
                <a:latin typeface="Calibri" pitchFamily="34" charset="0"/>
                <a:ea typeface="Calibri" pitchFamily="34" charset="-122"/>
                <a:cs typeface="Calibri" pitchFamily="34" charset="-120"/>
              </a:rPr>
              <a:t>Roda localmente no Windows; a rede só é usada para o Google Earth Engine.</a:t>
            </a:r>
            <a:endParaRPr lang="en-US" sz="1200" dirty="0"/>
          </a:p>
        </p:txBody>
      </p:sp>
      <p:sp>
        <p:nvSpPr>
          <p:cNvPr id="4" name="Shape 2"/>
          <p:cNvSpPr/>
          <p:nvPr/>
        </p:nvSpPr>
        <p:spPr>
          <a:xfrm>
            <a:off x="457200" y="1188720"/>
            <a:ext cx="2651760" cy="2423160"/>
          </a:xfrm>
          <a:prstGeom prst="roundRect">
            <a:avLst>
              <a:gd name="adj" fmla="val 3019"/>
            </a:avLst>
          </a:prstGeom>
          <a:solidFill>
            <a:srgbClr val="EEF3EF"/>
          </a:solidFill>
          <a:ln w="12700">
            <a:solidFill>
              <a:srgbClr val="EEF3EF"/>
            </a:solidFill>
            <a:prstDash val="solid"/>
          </a:ln>
        </p:spPr>
      </p:sp>
      <p:sp>
        <p:nvSpPr>
          <p:cNvPr id="5" name="Text 3"/>
          <p:cNvSpPr txBox="1"/>
          <p:nvPr/>
        </p:nvSpPr>
        <p:spPr>
          <a:xfrm>
            <a:off x="594360" y="1280160"/>
            <a:ext cx="2377440" cy="347472"/>
          </a:xfrm>
          <a:prstGeom prst="rect">
            <a:avLst/>
          </a:prstGeom>
          <a:noFill/>
          <a:ln/>
        </p:spPr>
        <p:txBody>
          <a:bodyPr wrap="square" lIns="0" tIns="0" rIns="0" bIns="0" rtlCol="0" anchor="t"/>
          <a:lstStyle/>
          <a:p>
            <a:pPr marL="0" indent="0">
              <a:buNone/>
            </a:pPr>
            <a:r>
              <a:rPr lang="en-US" sz="1800" b="1" dirty="0">
                <a:solidFill>
                  <a:srgbClr val="2F6B4F"/>
                </a:solidFill>
                <a:latin typeface="Cambria" pitchFamily="34" charset="0"/>
                <a:ea typeface="Cambria" pitchFamily="34" charset="-122"/>
                <a:cs typeface="Cambria" pitchFamily="34" charset="-120"/>
              </a:rPr>
              <a:t>TypeScript</a:t>
            </a:r>
            <a:endParaRPr lang="en-US" sz="1800" dirty="0"/>
          </a:p>
        </p:txBody>
      </p:sp>
      <p:sp>
        <p:nvSpPr>
          <p:cNvPr id="6" name="Text 4"/>
          <p:cNvSpPr txBox="1"/>
          <p:nvPr/>
        </p:nvSpPr>
        <p:spPr>
          <a:xfrm>
            <a:off x="594360" y="1645920"/>
            <a:ext cx="2377440" cy="256032"/>
          </a:xfrm>
          <a:prstGeom prst="rect">
            <a:avLst/>
          </a:prstGeom>
          <a:noFill/>
          <a:ln/>
        </p:spPr>
        <p:txBody>
          <a:bodyPr wrap="square" lIns="0" tIns="0" rIns="0" bIns="0" rtlCol="0" anchor="t"/>
          <a:lstStyle/>
          <a:p>
            <a:pPr marL="0" indent="0">
              <a:buNone/>
            </a:pPr>
            <a:r>
              <a:rPr lang="en-US" sz="1150" b="1" dirty="0">
                <a:solidFill>
                  <a:srgbClr val="C65D3B"/>
                </a:solidFill>
                <a:latin typeface="Calibri" pitchFamily="34" charset="0"/>
                <a:ea typeface="Calibri" pitchFamily="34" charset="-122"/>
                <a:cs typeface="Calibri" pitchFamily="34" charset="-120"/>
              </a:rPr>
              <a:t>interface e regras</a:t>
            </a:r>
            <a:endParaRPr lang="en-US" sz="1150" dirty="0"/>
          </a:p>
        </p:txBody>
      </p:sp>
      <p:sp>
        <p:nvSpPr>
          <p:cNvPr id="7" name="Text 5"/>
          <p:cNvSpPr txBox="1"/>
          <p:nvPr/>
        </p:nvSpPr>
        <p:spPr>
          <a:xfrm>
            <a:off x="594360" y="1965960"/>
            <a:ext cx="2377440" cy="1600200"/>
          </a:xfrm>
          <a:prstGeom prst="rect">
            <a:avLst/>
          </a:prstGeom>
          <a:noFill/>
          <a:ln/>
        </p:spPr>
        <p:txBody>
          <a:bodyPr wrap="square" lIns="0" tIns="0" rIns="0" bIns="0" rtlCol="0" anchor="t"/>
          <a:lstStyle/>
          <a:p>
            <a:pPr marL="342900" indent="-342900">
              <a:spcAft>
                <a:spcPts val="200"/>
              </a:spcAft>
              <a:buSzPct val="100000"/>
              <a:buChar char="•"/>
            </a:pPr>
            <a:r>
              <a:rPr lang="en-US" sz="1050" dirty="0">
                <a:solidFill>
                  <a:srgbClr val="1B2A22"/>
                </a:solidFill>
                <a:latin typeface="Calibri" pitchFamily="34" charset="0"/>
                <a:ea typeface="Calibri" pitchFamily="34" charset="-122"/>
                <a:cs typeface="Calibri" pitchFamily="34" charset="-120"/>
              </a:rPr>
              <a:t>Next.js 14, React 18, Tailwind</a:t>
            </a:r>
            <a:endParaRPr lang="en-US" sz="1050" dirty="0"/>
          </a:p>
          <a:p>
            <a:pPr marL="342900" indent="-342900">
              <a:spcAft>
                <a:spcPts val="200"/>
              </a:spcAft>
              <a:buSzPct val="100000"/>
              <a:buChar char="•"/>
            </a:pPr>
            <a:r>
              <a:rPr lang="en-US" sz="1050" dirty="0">
                <a:solidFill>
                  <a:srgbClr val="1B2A22"/>
                </a:solidFill>
                <a:latin typeface="Calibri" pitchFamily="34" charset="0"/>
                <a:ea typeface="Calibri" pitchFamily="34" charset="-122"/>
                <a:cs typeface="Calibri" pitchFamily="34" charset="-120"/>
              </a:rPr>
              <a:t>MapLibre (mapas), Zustand, Zod</a:t>
            </a:r>
            <a:endParaRPr lang="en-US" sz="1050" dirty="0"/>
          </a:p>
          <a:p>
            <a:pPr marL="342900" indent="-342900">
              <a:spcAft>
                <a:spcPts val="200"/>
              </a:spcAft>
              <a:buSzPct val="100000"/>
              <a:buChar char="•"/>
            </a:pPr>
            <a:r>
              <a:rPr lang="en-US" sz="1050" dirty="0">
                <a:solidFill>
                  <a:srgbClr val="1B2A22"/>
                </a:solidFill>
                <a:latin typeface="Calibri" pitchFamily="34" charset="0"/>
                <a:ea typeface="Calibri" pitchFamily="34" charset="-122"/>
                <a:cs typeface="Calibri" pitchFamily="34" charset="-120"/>
              </a:rPr>
              <a:t>Cliente do Earth Engine</a:t>
            </a:r>
          </a:p>
          <a:p>
            <a:pPr>
              <a:spcAft>
                <a:spcPts val="200"/>
              </a:spcAft>
              <a:buSzPct val="100000"/>
            </a:pPr>
            <a:endParaRPr lang="en-US" sz="1050" dirty="0"/>
          </a:p>
        </p:txBody>
      </p:sp>
      <p:sp>
        <p:nvSpPr>
          <p:cNvPr id="8" name="Shape 6"/>
          <p:cNvSpPr/>
          <p:nvPr/>
        </p:nvSpPr>
        <p:spPr>
          <a:xfrm>
            <a:off x="3246120" y="1188720"/>
            <a:ext cx="2651760" cy="2423160"/>
          </a:xfrm>
          <a:prstGeom prst="roundRect">
            <a:avLst>
              <a:gd name="adj" fmla="val 3019"/>
            </a:avLst>
          </a:prstGeom>
          <a:solidFill>
            <a:srgbClr val="EEF3EF"/>
          </a:solidFill>
          <a:ln w="12700">
            <a:solidFill>
              <a:srgbClr val="EEF3EF"/>
            </a:solidFill>
            <a:prstDash val="solid"/>
          </a:ln>
        </p:spPr>
      </p:sp>
      <p:sp>
        <p:nvSpPr>
          <p:cNvPr id="9" name="Text 7"/>
          <p:cNvSpPr txBox="1"/>
          <p:nvPr/>
        </p:nvSpPr>
        <p:spPr>
          <a:xfrm>
            <a:off x="3383280" y="1280160"/>
            <a:ext cx="2377440" cy="347472"/>
          </a:xfrm>
          <a:prstGeom prst="rect">
            <a:avLst/>
          </a:prstGeom>
          <a:noFill/>
          <a:ln/>
        </p:spPr>
        <p:txBody>
          <a:bodyPr wrap="square" lIns="0" tIns="0" rIns="0" bIns="0" rtlCol="0" anchor="t"/>
          <a:lstStyle/>
          <a:p>
            <a:pPr marL="0" indent="0">
              <a:buNone/>
            </a:pPr>
            <a:r>
              <a:rPr lang="en-US" sz="1800" b="1" dirty="0">
                <a:solidFill>
                  <a:srgbClr val="2F6B4F"/>
                </a:solidFill>
                <a:latin typeface="Cambria" pitchFamily="34" charset="0"/>
                <a:ea typeface="Cambria" pitchFamily="34" charset="-122"/>
                <a:cs typeface="Cambria" pitchFamily="34" charset="-120"/>
              </a:rPr>
              <a:t>Python</a:t>
            </a:r>
            <a:endParaRPr lang="en-US" sz="1800" dirty="0"/>
          </a:p>
        </p:txBody>
      </p:sp>
      <p:sp>
        <p:nvSpPr>
          <p:cNvPr id="10" name="Text 8"/>
          <p:cNvSpPr txBox="1"/>
          <p:nvPr/>
        </p:nvSpPr>
        <p:spPr>
          <a:xfrm>
            <a:off x="3383280" y="1645920"/>
            <a:ext cx="2377440" cy="256032"/>
          </a:xfrm>
          <a:prstGeom prst="rect">
            <a:avLst/>
          </a:prstGeom>
          <a:noFill/>
          <a:ln/>
        </p:spPr>
        <p:txBody>
          <a:bodyPr wrap="square" lIns="0" tIns="0" rIns="0" bIns="0" rtlCol="0" anchor="t"/>
          <a:lstStyle/>
          <a:p>
            <a:pPr marL="0" indent="0">
              <a:buNone/>
            </a:pPr>
            <a:r>
              <a:rPr lang="en-US" sz="1150" b="1" dirty="0">
                <a:solidFill>
                  <a:srgbClr val="C65D3B"/>
                </a:solidFill>
                <a:latin typeface="Calibri" pitchFamily="34" charset="0"/>
                <a:ea typeface="Calibri" pitchFamily="34" charset="-122"/>
                <a:cs typeface="Calibri" pitchFamily="34" charset="-120"/>
              </a:rPr>
              <a:t>dados e estatística</a:t>
            </a:r>
            <a:endParaRPr lang="en-US" sz="1150" dirty="0"/>
          </a:p>
        </p:txBody>
      </p:sp>
      <p:sp>
        <p:nvSpPr>
          <p:cNvPr id="11" name="Text 9"/>
          <p:cNvSpPr txBox="1"/>
          <p:nvPr/>
        </p:nvSpPr>
        <p:spPr>
          <a:xfrm>
            <a:off x="3383280" y="1965960"/>
            <a:ext cx="2377440" cy="1600200"/>
          </a:xfrm>
          <a:prstGeom prst="rect">
            <a:avLst/>
          </a:prstGeom>
          <a:noFill/>
          <a:ln/>
        </p:spPr>
        <p:txBody>
          <a:bodyPr wrap="square" lIns="0" tIns="0" rIns="0" bIns="0" rtlCol="0" anchor="t"/>
          <a:lstStyle/>
          <a:p>
            <a:pPr marL="342900" indent="-342900">
              <a:spcAft>
                <a:spcPts val="200"/>
              </a:spcAft>
              <a:buSzPct val="100000"/>
              <a:buChar char="•"/>
            </a:pPr>
            <a:r>
              <a:rPr lang="en-US" sz="1050" dirty="0">
                <a:solidFill>
                  <a:srgbClr val="1B2A22"/>
                </a:solidFill>
                <a:latin typeface="Calibri" pitchFamily="34" charset="0"/>
                <a:ea typeface="Calibri" pitchFamily="34" charset="-122"/>
                <a:cs typeface="Calibri" pitchFamily="34" charset="-120"/>
              </a:rPr>
              <a:t>Ingestão fundiária (SICAR, SIGEF, SNCR) em SQLite</a:t>
            </a:r>
            <a:endParaRPr lang="en-US" sz="1050" dirty="0"/>
          </a:p>
          <a:p>
            <a:pPr marL="342900" indent="-342900">
              <a:spcAft>
                <a:spcPts val="200"/>
              </a:spcAft>
              <a:buSzPct val="100000"/>
              <a:buChar char="•"/>
            </a:pPr>
            <a:r>
              <a:rPr lang="en-US" sz="1050" dirty="0">
                <a:solidFill>
                  <a:srgbClr val="1B2A22"/>
                </a:solidFill>
                <a:latin typeface="Calibri" pitchFamily="34" charset="0"/>
                <a:ea typeface="Calibri" pitchFamily="34" charset="-122"/>
                <a:cs typeface="Calibri" pitchFamily="34" charset="-120"/>
              </a:rPr>
              <a:t>CHIRPS, relevo Copernicus</a:t>
            </a:r>
            <a:endParaRPr lang="en-US" sz="1050" dirty="0"/>
          </a:p>
          <a:p>
            <a:pPr marL="342900" indent="-342900">
              <a:spcAft>
                <a:spcPts val="200"/>
              </a:spcAft>
              <a:buSzPct val="100000"/>
              <a:buChar char="•"/>
            </a:pPr>
            <a:r>
              <a:rPr lang="en-US" sz="1050" dirty="0">
                <a:solidFill>
                  <a:srgbClr val="1B2A22"/>
                </a:solidFill>
                <a:latin typeface="Calibri" pitchFamily="34" charset="0"/>
                <a:ea typeface="Calibri" pitchFamily="34" charset="-122"/>
                <a:cs typeface="Calibri" pitchFamily="34" charset="-120"/>
              </a:rPr>
              <a:t>Verificador do pacote exportado</a:t>
            </a:r>
            <a:endParaRPr lang="en-US" sz="1050" dirty="0"/>
          </a:p>
          <a:p>
            <a:pPr marL="342900" indent="-342900">
              <a:spcAft>
                <a:spcPts val="200"/>
              </a:spcAft>
              <a:buSzPct val="100000"/>
              <a:buChar char="•"/>
            </a:pPr>
            <a:r>
              <a:rPr lang="en-US" sz="1050" dirty="0">
                <a:solidFill>
                  <a:srgbClr val="1B2A22"/>
                </a:solidFill>
                <a:latin typeface="Calibri" pitchFamily="34" charset="0"/>
                <a:ea typeface="Calibri" pitchFamily="34" charset="-122"/>
                <a:cs typeface="Calibri" pitchFamily="34" charset="-120"/>
              </a:rPr>
              <a:t>Geração de relatórios e documentos</a:t>
            </a:r>
            <a:endParaRPr lang="en-US" sz="1050" dirty="0"/>
          </a:p>
          <a:p>
            <a:pPr>
              <a:spcAft>
                <a:spcPts val="200"/>
              </a:spcAft>
              <a:buSzPct val="100000"/>
            </a:pPr>
            <a:endParaRPr lang="en-US" sz="1050" dirty="0"/>
          </a:p>
        </p:txBody>
      </p:sp>
      <p:sp>
        <p:nvSpPr>
          <p:cNvPr id="12" name="Shape 10"/>
          <p:cNvSpPr/>
          <p:nvPr/>
        </p:nvSpPr>
        <p:spPr>
          <a:xfrm>
            <a:off x="6035040" y="1188720"/>
            <a:ext cx="2651760" cy="2423160"/>
          </a:xfrm>
          <a:prstGeom prst="roundRect">
            <a:avLst>
              <a:gd name="adj" fmla="val 3019"/>
            </a:avLst>
          </a:prstGeom>
          <a:solidFill>
            <a:srgbClr val="EEF3EF"/>
          </a:solidFill>
          <a:ln w="12700">
            <a:solidFill>
              <a:srgbClr val="EEF3EF"/>
            </a:solidFill>
            <a:prstDash val="solid"/>
          </a:ln>
        </p:spPr>
      </p:sp>
      <p:sp>
        <p:nvSpPr>
          <p:cNvPr id="13" name="Text 11"/>
          <p:cNvSpPr txBox="1"/>
          <p:nvPr/>
        </p:nvSpPr>
        <p:spPr>
          <a:xfrm>
            <a:off x="6172200" y="1280160"/>
            <a:ext cx="2377440" cy="347472"/>
          </a:xfrm>
          <a:prstGeom prst="rect">
            <a:avLst/>
          </a:prstGeom>
          <a:noFill/>
          <a:ln/>
        </p:spPr>
        <p:txBody>
          <a:bodyPr wrap="square" lIns="0" tIns="0" rIns="0" bIns="0" rtlCol="0" anchor="t"/>
          <a:lstStyle/>
          <a:p>
            <a:pPr marL="0" indent="0">
              <a:buNone/>
            </a:pPr>
            <a:r>
              <a:rPr lang="en-US" sz="1800" b="1" dirty="0">
                <a:solidFill>
                  <a:srgbClr val="C65D3B"/>
                </a:solidFill>
                <a:latin typeface="Cambria" pitchFamily="34" charset="0"/>
                <a:ea typeface="Cambria" pitchFamily="34" charset="-122"/>
                <a:cs typeface="Cambria" pitchFamily="34" charset="-120"/>
              </a:rPr>
              <a:t>Kotlin</a:t>
            </a:r>
            <a:endParaRPr lang="en-US" sz="1800" dirty="0"/>
          </a:p>
        </p:txBody>
      </p:sp>
      <p:sp>
        <p:nvSpPr>
          <p:cNvPr id="14" name="Text 12"/>
          <p:cNvSpPr txBox="1"/>
          <p:nvPr/>
        </p:nvSpPr>
        <p:spPr>
          <a:xfrm>
            <a:off x="6172200" y="1645920"/>
            <a:ext cx="2377440" cy="256032"/>
          </a:xfrm>
          <a:prstGeom prst="rect">
            <a:avLst/>
          </a:prstGeom>
          <a:noFill/>
          <a:ln/>
        </p:spPr>
        <p:txBody>
          <a:bodyPr wrap="square" lIns="0" tIns="0" rIns="0" bIns="0" rtlCol="0" anchor="t"/>
          <a:lstStyle/>
          <a:p>
            <a:pPr marL="0" indent="0">
              <a:buNone/>
            </a:pPr>
            <a:r>
              <a:rPr lang="en-US" sz="1150" b="1" dirty="0">
                <a:solidFill>
                  <a:srgbClr val="C65D3B"/>
                </a:solidFill>
                <a:latin typeface="Calibri" pitchFamily="34" charset="0"/>
                <a:ea typeface="Calibri" pitchFamily="34" charset="-122"/>
                <a:cs typeface="Calibri" pitchFamily="34" charset="-120"/>
              </a:rPr>
              <a:t>SAREL Coletor (Android)</a:t>
            </a:r>
            <a:endParaRPr lang="en-US" sz="1150" dirty="0"/>
          </a:p>
        </p:txBody>
      </p:sp>
      <p:sp>
        <p:nvSpPr>
          <p:cNvPr id="15" name="Text 13"/>
          <p:cNvSpPr txBox="1"/>
          <p:nvPr/>
        </p:nvSpPr>
        <p:spPr>
          <a:xfrm>
            <a:off x="6172200" y="1965960"/>
            <a:ext cx="2377440" cy="1600200"/>
          </a:xfrm>
          <a:prstGeom prst="rect">
            <a:avLst/>
          </a:prstGeom>
          <a:noFill/>
          <a:ln/>
        </p:spPr>
        <p:txBody>
          <a:bodyPr wrap="square" lIns="0" tIns="0" rIns="0" bIns="0" rtlCol="0" anchor="t"/>
          <a:lstStyle/>
          <a:p>
            <a:pPr marL="342900" indent="-342900">
              <a:spcAft>
                <a:spcPts val="200"/>
              </a:spcAft>
              <a:buSzPct val="100000"/>
              <a:buChar char="•"/>
            </a:pPr>
            <a:r>
              <a:rPr lang="en-US" sz="1050" dirty="0">
                <a:solidFill>
                  <a:srgbClr val="1B2A22"/>
                </a:solidFill>
                <a:latin typeface="Calibri" pitchFamily="34" charset="0"/>
                <a:ea typeface="Calibri" pitchFamily="34" charset="-122"/>
                <a:cs typeface="Calibri" pitchFamily="34" charset="-120"/>
              </a:rPr>
              <a:t>Jetpack Compose e Room</a:t>
            </a:r>
            <a:endParaRPr lang="en-US" sz="1050" dirty="0"/>
          </a:p>
          <a:p>
            <a:pPr marL="342900" indent="-342900">
              <a:spcAft>
                <a:spcPts val="200"/>
              </a:spcAft>
              <a:buSzPct val="100000"/>
              <a:buChar char="•"/>
            </a:pPr>
            <a:r>
              <a:rPr lang="en-US" sz="1050" dirty="0">
                <a:solidFill>
                  <a:srgbClr val="1B2A22"/>
                </a:solidFill>
                <a:latin typeface="Calibri" pitchFamily="34" charset="0"/>
                <a:ea typeface="Calibri" pitchFamily="34" charset="-122"/>
                <a:cs typeface="Calibri" pitchFamily="34" charset="-120"/>
              </a:rPr>
              <a:t>Offline, em campo</a:t>
            </a:r>
            <a:endParaRPr lang="en-US" sz="1050" dirty="0"/>
          </a:p>
          <a:p>
            <a:pPr marL="342900" indent="-342900">
              <a:spcAft>
                <a:spcPts val="200"/>
              </a:spcAft>
              <a:buSzPct val="100000"/>
              <a:buChar char="•"/>
            </a:pPr>
            <a:r>
              <a:rPr lang="en-US" sz="1050" dirty="0">
                <a:solidFill>
                  <a:srgbClr val="1B2A22"/>
                </a:solidFill>
                <a:latin typeface="Calibri" pitchFamily="34" charset="0"/>
                <a:ea typeface="Calibri" pitchFamily="34" charset="-122"/>
                <a:cs typeface="Calibri" pitchFamily="34" charset="-120"/>
              </a:rPr>
              <a:t>GNSS do aparelho, fotos e CSV</a:t>
            </a:r>
            <a:endParaRPr lang="en-US" sz="1050" dirty="0"/>
          </a:p>
          <a:p>
            <a:pPr>
              <a:spcAft>
                <a:spcPts val="200"/>
              </a:spcAft>
              <a:buSzPct val="100000"/>
            </a:pPr>
            <a:endParaRPr lang="en-US" sz="1050" dirty="0"/>
          </a:p>
        </p:txBody>
      </p:sp>
      <p:sp>
        <p:nvSpPr>
          <p:cNvPr id="16" name="Shape 14"/>
          <p:cNvSpPr/>
          <p:nvPr/>
        </p:nvSpPr>
        <p:spPr>
          <a:xfrm>
            <a:off x="457200" y="3749040"/>
            <a:ext cx="8229600" cy="868680"/>
          </a:xfrm>
          <a:prstGeom prst="roundRect">
            <a:avLst>
              <a:gd name="adj" fmla="val 8421"/>
            </a:avLst>
          </a:prstGeom>
          <a:solidFill>
            <a:srgbClr val="EEF3EF"/>
          </a:solidFill>
          <a:ln w="12700">
            <a:solidFill>
              <a:srgbClr val="EEF3EF"/>
            </a:solidFill>
            <a:prstDash val="solid"/>
          </a:ln>
        </p:spPr>
      </p:sp>
      <p:sp>
        <p:nvSpPr>
          <p:cNvPr id="17" name="Text 15"/>
          <p:cNvSpPr txBox="1"/>
          <p:nvPr/>
        </p:nvSpPr>
        <p:spPr>
          <a:xfrm>
            <a:off x="594360" y="3803904"/>
            <a:ext cx="7955280" cy="228600"/>
          </a:xfrm>
          <a:prstGeom prst="rect">
            <a:avLst/>
          </a:prstGeom>
          <a:noFill/>
          <a:ln/>
        </p:spPr>
        <p:txBody>
          <a:bodyPr wrap="square" lIns="0" tIns="0" rIns="0" bIns="0" rtlCol="0" anchor="t"/>
          <a:lstStyle/>
          <a:p>
            <a:pPr marL="0" indent="0">
              <a:buNone/>
            </a:pPr>
            <a:r>
              <a:rPr lang="en-US" sz="1200" b="1" dirty="0">
                <a:solidFill>
                  <a:srgbClr val="2F6B4F"/>
                </a:solidFill>
                <a:latin typeface="Cambria" pitchFamily="34" charset="0"/>
                <a:ea typeface="Cambria" pitchFamily="34" charset="-122"/>
                <a:cs typeface="Cambria" pitchFamily="34" charset="-120"/>
              </a:rPr>
              <a:t>Também no projeto</a:t>
            </a:r>
            <a:endParaRPr lang="en-US" sz="1200" dirty="0"/>
          </a:p>
        </p:txBody>
      </p:sp>
      <p:sp>
        <p:nvSpPr>
          <p:cNvPr id="18" name="Text 16"/>
          <p:cNvSpPr txBox="1"/>
          <p:nvPr/>
        </p:nvSpPr>
        <p:spPr>
          <a:xfrm>
            <a:off x="594360" y="4069080"/>
            <a:ext cx="7955280" cy="502920"/>
          </a:xfrm>
          <a:prstGeom prst="rect">
            <a:avLst/>
          </a:prstGeom>
          <a:noFill/>
          <a:ln/>
        </p:spPr>
        <p:txBody>
          <a:bodyPr wrap="square" lIns="0" tIns="0" rIns="0" bIns="0" rtlCol="0" anchor="t"/>
          <a:lstStyle/>
          <a:p>
            <a:pPr marL="0" indent="0">
              <a:buNone/>
            </a:pPr>
            <a:r>
              <a:rPr lang="en-US" sz="1100" dirty="0">
                <a:solidFill>
                  <a:srgbClr val="1B2A22"/>
                </a:solidFill>
                <a:latin typeface="Calibri" pitchFamily="34" charset="0"/>
                <a:ea typeface="Calibri" pitchFamily="34" charset="-122"/>
                <a:cs typeface="Calibri" pitchFamily="34" charset="-120"/>
              </a:rPr>
              <a:t>C# (Windows Forms) no instalador  ·  PowerShell e Batch nos lançadores  ·  JavaScript (Node) em scripts de apoio  ·  SQL (SQLite) para a base fundiária local  ·  Google Earth Engine (API JavaScript/REST) para Sentinel-2</a:t>
            </a:r>
            <a:endParaRPr lang="en-US" sz="1100" dirty="0"/>
          </a:p>
        </p:txBody>
      </p:sp>
      <p:sp>
        <p:nvSpPr>
          <p:cNvPr id="20" name="Text 1">
            <a:extLst>
              <a:ext uri="{FF2B5EF4-FFF2-40B4-BE49-F238E27FC236}">
                <a16:creationId xmlns:a16="http://schemas.microsoft.com/office/drawing/2014/main" id="{DBF0BDA0-EC2E-D4CA-FD5D-6CC876F6A448}"/>
              </a:ext>
            </a:extLst>
          </p:cNvPr>
          <p:cNvSpPr txBox="1"/>
          <p:nvPr/>
        </p:nvSpPr>
        <p:spPr>
          <a:xfrm>
            <a:off x="457200" y="852336"/>
            <a:ext cx="8229600" cy="320040"/>
          </a:xfrm>
          <a:prstGeom prst="rect">
            <a:avLst/>
          </a:prstGeom>
          <a:noFill/>
          <a:ln/>
        </p:spPr>
        <p:txBody>
          <a:bodyPr wrap="square" lIns="0" tIns="0" rIns="0" bIns="0" rtlCol="0" anchor="t"/>
          <a:lstStyle/>
          <a:p>
            <a:pPr marL="0" indent="0">
              <a:buNone/>
            </a:pPr>
            <a:r>
              <a:rPr lang="en-US" sz="1200" i="1" dirty="0">
                <a:solidFill>
                  <a:srgbClr val="52605A"/>
                </a:solidFill>
                <a:latin typeface="Calibri" pitchFamily="34" charset="0"/>
                <a:ea typeface="Calibri" pitchFamily="34" charset="-122"/>
                <a:cs typeface="Calibri" pitchFamily="34" charset="-120"/>
              </a:rPr>
              <a:t>Feito com o </a:t>
            </a:r>
            <a:r>
              <a:rPr lang="en-US" sz="1200" i="1" dirty="0" err="1">
                <a:solidFill>
                  <a:srgbClr val="52605A"/>
                </a:solidFill>
                <a:latin typeface="Calibri" pitchFamily="34" charset="0"/>
                <a:ea typeface="Calibri" pitchFamily="34" charset="-122"/>
                <a:cs typeface="Calibri" pitchFamily="34" charset="-120"/>
              </a:rPr>
              <a:t>uso</a:t>
            </a:r>
            <a:r>
              <a:rPr lang="en-US" sz="1200" i="1" dirty="0">
                <a:solidFill>
                  <a:srgbClr val="52605A"/>
                </a:solidFill>
                <a:latin typeface="Calibri" pitchFamily="34" charset="0"/>
                <a:ea typeface="Calibri" pitchFamily="34" charset="-122"/>
                <a:cs typeface="Calibri" pitchFamily="34" charset="-120"/>
              </a:rPr>
              <a:t> do Gemini 3.8 </a:t>
            </a:r>
            <a:r>
              <a:rPr lang="en-US" sz="1200" i="1" dirty="0" err="1">
                <a:solidFill>
                  <a:srgbClr val="52605A"/>
                </a:solidFill>
                <a:latin typeface="Calibri" pitchFamily="34" charset="0"/>
                <a:ea typeface="Calibri" pitchFamily="34" charset="-122"/>
                <a:cs typeface="Calibri" pitchFamily="34" charset="-120"/>
              </a:rPr>
              <a:t>como</a:t>
            </a:r>
            <a:r>
              <a:rPr lang="en-US" sz="1200" i="1" dirty="0">
                <a:solidFill>
                  <a:srgbClr val="52605A"/>
                </a:solidFill>
                <a:latin typeface="Calibri" pitchFamily="34" charset="0"/>
                <a:ea typeface="Calibri" pitchFamily="34" charset="-122"/>
                <a:cs typeface="Calibri" pitchFamily="34" charset="-120"/>
              </a:rPr>
              <a:t> executor e </a:t>
            </a:r>
            <a:r>
              <a:rPr lang="en-US" sz="1200" i="1" dirty="0" err="1">
                <a:solidFill>
                  <a:srgbClr val="52605A"/>
                </a:solidFill>
                <a:latin typeface="Calibri" pitchFamily="34" charset="0"/>
                <a:ea typeface="Calibri" pitchFamily="34" charset="-122"/>
                <a:cs typeface="Calibri" pitchFamily="34" charset="-120"/>
              </a:rPr>
              <a:t>auditado</a:t>
            </a:r>
            <a:r>
              <a:rPr lang="en-US" sz="1200" i="1" dirty="0">
                <a:solidFill>
                  <a:srgbClr val="52605A"/>
                </a:solidFill>
                <a:latin typeface="Calibri" pitchFamily="34" charset="0"/>
                <a:ea typeface="Calibri" pitchFamily="34" charset="-122"/>
                <a:cs typeface="Calibri" pitchFamily="34" charset="-120"/>
              </a:rPr>
              <a:t> </a:t>
            </a:r>
            <a:r>
              <a:rPr lang="en-US" sz="1200" i="1" dirty="0" err="1">
                <a:solidFill>
                  <a:srgbClr val="52605A"/>
                </a:solidFill>
                <a:latin typeface="Calibri" pitchFamily="34" charset="0"/>
                <a:ea typeface="Calibri" pitchFamily="34" charset="-122"/>
                <a:cs typeface="Calibri" pitchFamily="34" charset="-120"/>
              </a:rPr>
              <a:t>pelo</a:t>
            </a:r>
            <a:r>
              <a:rPr lang="en-US" sz="1200" i="1" dirty="0">
                <a:solidFill>
                  <a:srgbClr val="52605A"/>
                </a:solidFill>
                <a:latin typeface="Calibri" pitchFamily="34" charset="0"/>
                <a:ea typeface="Calibri" pitchFamily="34" charset="-122"/>
                <a:cs typeface="Calibri" pitchFamily="34" charset="-120"/>
              </a:rPr>
              <a:t> Claude Sonnet 5.5.</a:t>
            </a:r>
            <a:endParaRPr lang="en-US" sz="1200" dirty="0"/>
          </a:p>
        </p:txBody>
      </p:sp>
      <p:sp>
        <p:nvSpPr>
          <p:cNvPr id="15" name="Text 12"/>
          <p:cNvSpPr txBox="1"/>
          <p:nvPr/>
        </p:nvSpPr>
        <p:spPr>
          <a:xfrm>
            <a:off x="457200" y="4727448"/>
            <a:ext cx="7863840" cy="365760"/>
          </a:xfrm>
          <a:prstGeom prst="rect">
            <a:avLst/>
          </a:prstGeom>
          <a:noFill/>
          <a:ln/>
        </p:spPr>
        <p:txBody>
          <a:bodyPr wrap="square" lIns="0" tIns="0" rIns="0" bIns="0" rtlCol="0" anchor="ctr"/>
          <a:lstStyle/>
          <a:p>
            <a:pPr marL="0" indent="0">
              <a:buNone/>
            </a:pPr>
            <a:r>
              <a:rPr lang="en-US" sz="900" i="1" dirty="0">
                <a:solidFill>
                  <a:srgbClr val="52605A"/>
                </a:solidFill>
                <a:latin typeface="Calibri" pitchFamily="34" charset="0"/>
                <a:ea typeface="Calibri" pitchFamily="34" charset="-122"/>
                <a:cs typeface="Calibri" pitchFamily="34" charset="-120"/>
              </a:rPr>
              <a:t>Fonte: código-fonte do SAREL v2 (SILVA, 2026c); contagem de linhas sobre o branch de desenvolvimento em 19/10/2026.</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t"/>
          <a:lstStyle/>
          <a:p>
            <a:pPr marL="0" indent="0">
              <a:buNone/>
            </a:pPr>
            <a:r>
              <a:rPr lang="en-US" sz="2200" b="1" dirty="0">
                <a:solidFill>
                  <a:srgbClr val="1B2A22"/>
                </a:solidFill>
                <a:latin typeface="Cambria" pitchFamily="34" charset="0"/>
                <a:ea typeface="Cambria" pitchFamily="34" charset="-122"/>
                <a:cs typeface="Cambria" pitchFamily="34" charset="-120"/>
              </a:rPr>
              <a:t>O SAREL em uma tela</a:t>
            </a:r>
            <a:endParaRPr lang="en-US" sz="2200" dirty="0"/>
          </a:p>
        </p:txBody>
      </p:sp>
      <p:sp>
        <p:nvSpPr>
          <p:cNvPr id="3" name="Text 1"/>
          <p:cNvSpPr txBox="1"/>
          <p:nvPr/>
        </p:nvSpPr>
        <p:spPr>
          <a:xfrm>
            <a:off x="8412480" y="4800600"/>
            <a:ext cx="457200" cy="228600"/>
          </a:xfrm>
          <a:prstGeom prst="rect">
            <a:avLst/>
          </a:prstGeom>
          <a:noFill/>
          <a:ln/>
        </p:spPr>
        <p:txBody>
          <a:bodyPr wrap="square" lIns="0" tIns="0" rIns="0" bIns="0" rtlCol="0" anchor="t"/>
          <a:lstStyle/>
          <a:p>
            <a:pPr marL="0" indent="0" algn="r">
              <a:buNone/>
            </a:pPr>
            <a:r>
              <a:rPr lang="en-US" sz="1000" dirty="0">
                <a:solidFill>
                  <a:srgbClr val="52605A"/>
                </a:solidFill>
                <a:latin typeface="Calibri" pitchFamily="34" charset="0"/>
                <a:ea typeface="Calibri" pitchFamily="34" charset="-122"/>
                <a:cs typeface="Calibri" pitchFamily="34" charset="-120"/>
              </a:rPr>
              <a:t>3</a:t>
            </a:r>
            <a:endParaRPr lang="en-US" sz="1000" dirty="0"/>
          </a:p>
        </p:txBody>
      </p:sp>
      <p:sp>
        <p:nvSpPr>
          <p:cNvPr id="5" name="Shape 2"/>
          <p:cNvSpPr/>
          <p:nvPr/>
        </p:nvSpPr>
        <p:spPr>
          <a:xfrm>
            <a:off x="438912" y="987552"/>
            <a:ext cx="5242276" cy="3145536"/>
          </a:xfrm>
          <a:prstGeom prst="rect">
            <a:avLst/>
          </a:prstGeom>
          <a:solidFill>
            <a:srgbClr val="FFFFFF"/>
          </a:solidFill>
          <a:ln w="9525">
            <a:solidFill>
              <a:srgbClr val="B8C4BC"/>
            </a:solidFill>
            <a:prstDash val="solid"/>
          </a:ln>
        </p:spPr>
      </p:sp>
      <p:pic>
        <p:nvPicPr>
          <p:cNvPr id="6" name="Image 0" descr="img/principal.png"/>
          <p:cNvPicPr>
            <a:picLocks noChangeAspect="1"/>
          </p:cNvPicPr>
          <p:nvPr/>
        </p:nvPicPr>
        <p:blipFill>
          <a:blip r:embed="rId3"/>
          <a:stretch>
            <a:fillRect/>
          </a:stretch>
        </p:blipFill>
        <p:spPr>
          <a:xfrm>
            <a:off x="457200" y="1005840"/>
            <a:ext cx="5205700" cy="3108960"/>
          </a:xfrm>
          <a:prstGeom prst="rect">
            <a:avLst/>
          </a:prstGeom>
        </p:spPr>
      </p:pic>
      <p:sp>
        <p:nvSpPr>
          <p:cNvPr id="7" name="Text 3"/>
          <p:cNvSpPr txBox="1"/>
          <p:nvPr/>
        </p:nvSpPr>
        <p:spPr>
          <a:xfrm>
            <a:off x="457200" y="4206240"/>
            <a:ext cx="5212080" cy="457200"/>
          </a:xfrm>
          <a:prstGeom prst="rect">
            <a:avLst/>
          </a:prstGeom>
          <a:noFill/>
          <a:ln/>
        </p:spPr>
        <p:txBody>
          <a:bodyPr wrap="square" lIns="0" tIns="0" rIns="0" bIns="0" rtlCol="0" anchor="t"/>
          <a:lstStyle/>
          <a:p>
            <a:pPr marL="0" indent="0">
              <a:buNone/>
            </a:pPr>
            <a:r>
              <a:rPr lang="en-US" sz="1100" i="1" dirty="0">
                <a:solidFill>
                  <a:srgbClr val="52605A"/>
                </a:solidFill>
                <a:latin typeface="Calibri" pitchFamily="34" charset="0"/>
                <a:ea typeface="Calibri" pitchFamily="34" charset="-122"/>
                <a:cs typeface="Calibri" pitchFamily="34" charset="-120"/>
              </a:rPr>
              <a:t>Tela inicial: módulos no topo, áreas e filtros à esquerda, mapa e legenda.</a:t>
            </a:r>
            <a:endParaRPr lang="en-US" sz="1100" dirty="0"/>
          </a:p>
        </p:txBody>
      </p:sp>
      <p:sp>
        <p:nvSpPr>
          <p:cNvPr id="8" name="Text 4"/>
          <p:cNvSpPr txBox="1"/>
          <p:nvPr/>
        </p:nvSpPr>
        <p:spPr>
          <a:xfrm>
            <a:off x="5943600" y="1097280"/>
            <a:ext cx="2834640" cy="310896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22"/>
                </a:solidFill>
                <a:latin typeface="Calibri" pitchFamily="34" charset="0"/>
                <a:ea typeface="Calibri" pitchFamily="34" charset="-122"/>
                <a:cs typeface="Calibri" pitchFamily="34" charset="-120"/>
              </a:rPr>
              <a:t>Elege candidatos a amostra com imagens de satélite (Google Earth Engine)</a:t>
            </a:r>
            <a:endParaRPr lang="en-US" sz="1400" dirty="0"/>
          </a:p>
          <a:p>
            <a:pPr marL="342900" indent="-342900">
              <a:spcAft>
                <a:spcPts val="700"/>
              </a:spcAft>
              <a:buSzPct val="100000"/>
              <a:buChar char="•"/>
            </a:pPr>
            <a:r>
              <a:rPr lang="en-US" sz="1400" dirty="0">
                <a:solidFill>
                  <a:srgbClr val="1B2A22"/>
                </a:solidFill>
                <a:latin typeface="Calibri" pitchFamily="34" charset="0"/>
                <a:ea typeface="Calibri" pitchFamily="34" charset="-122"/>
                <a:cs typeface="Calibri" pitchFamily="34" charset="-120"/>
              </a:rPr>
              <a:t>Planeja e integra a campanha de voo e de campo</a:t>
            </a:r>
            <a:endParaRPr lang="en-US" sz="1400" dirty="0"/>
          </a:p>
          <a:p>
            <a:pPr marL="342900" indent="-342900">
              <a:spcAft>
                <a:spcPts val="700"/>
              </a:spcAft>
              <a:buSzPct val="100000"/>
              <a:buChar char="•"/>
            </a:pPr>
            <a:r>
              <a:rPr lang="en-US" sz="1400" dirty="0">
                <a:solidFill>
                  <a:srgbClr val="1B2A22"/>
                </a:solidFill>
                <a:latin typeface="Calibri" pitchFamily="34" charset="0"/>
                <a:ea typeface="Calibri" pitchFamily="34" charset="-122"/>
                <a:cs typeface="Calibri" pitchFamily="34" charset="-120"/>
              </a:rPr>
              <a:t>Monta a matriz de treino, com a origem de cada valor</a:t>
            </a:r>
            <a:endParaRPr lang="en-US" sz="1400" dirty="0"/>
          </a:p>
          <a:p>
            <a:pPr marL="342900" indent="-342900">
              <a:spcAft>
                <a:spcPts val="700"/>
              </a:spcAft>
              <a:buSzPct val="100000"/>
              <a:buChar char="•"/>
            </a:pPr>
            <a:r>
              <a:rPr lang="en-US" sz="1400" dirty="0">
                <a:solidFill>
                  <a:srgbClr val="1B2A22"/>
                </a:solidFill>
                <a:latin typeface="Calibri" pitchFamily="34" charset="0"/>
                <a:ea typeface="Calibri" pitchFamily="34" charset="-122"/>
                <a:cs typeface="Calibri" pitchFamily="34" charset="-120"/>
              </a:rPr>
              <a:t>Exporta um </a:t>
            </a:r>
            <a:r>
              <a:rPr lang="en-US" sz="1400" dirty="0" err="1">
                <a:solidFill>
                  <a:srgbClr val="1B2A22"/>
                </a:solidFill>
                <a:latin typeface="Calibri" pitchFamily="34" charset="0"/>
                <a:ea typeface="Calibri" pitchFamily="34" charset="-122"/>
                <a:cs typeface="Calibri" pitchFamily="34" charset="-120"/>
              </a:rPr>
              <a:t>pacote</a:t>
            </a:r>
            <a:r>
              <a:rPr lang="en-US" sz="1400" dirty="0">
                <a:solidFill>
                  <a:srgbClr val="1B2A22"/>
                </a:solidFill>
                <a:latin typeface="Calibri" pitchFamily="34" charset="0"/>
                <a:ea typeface="Calibri" pitchFamily="34" charset="-122"/>
                <a:cs typeface="Calibri" pitchFamily="34" charset="-120"/>
              </a:rPr>
              <a:t> </a:t>
            </a:r>
            <a:r>
              <a:rPr lang="en-US" sz="1400" dirty="0" err="1">
                <a:solidFill>
                  <a:srgbClr val="1B2A22"/>
                </a:solidFill>
                <a:latin typeface="Calibri" pitchFamily="34" charset="0"/>
                <a:ea typeface="Calibri" pitchFamily="34" charset="-122"/>
                <a:cs typeface="Calibri" pitchFamily="34" charset="-120"/>
              </a:rPr>
              <a:t>verificável</a:t>
            </a:r>
            <a:endParaRPr lang="en-US" sz="1400" dirty="0"/>
          </a:p>
        </p:txBody>
      </p:sp>
      <p:sp>
        <p:nvSpPr>
          <p:cNvPr id="15" name="Text 12"/>
          <p:cNvSpPr txBox="1"/>
          <p:nvPr/>
        </p:nvSpPr>
        <p:spPr>
          <a:xfrm>
            <a:off x="457200" y="4727448"/>
            <a:ext cx="7863840" cy="365760"/>
          </a:xfrm>
          <a:prstGeom prst="rect">
            <a:avLst/>
          </a:prstGeom>
          <a:noFill/>
          <a:ln/>
        </p:spPr>
        <p:txBody>
          <a:bodyPr wrap="square" lIns="0" tIns="0" rIns="0" bIns="0" rtlCol="0" anchor="ctr"/>
          <a:lstStyle/>
          <a:p>
            <a:pPr marL="0" indent="0">
              <a:buNone/>
            </a:pPr>
            <a:r>
              <a:rPr lang="en-US" sz="900" i="1" dirty="0">
                <a:solidFill>
                  <a:srgbClr val="52605A"/>
                </a:solidFill>
                <a:latin typeface="Calibri" pitchFamily="34" charset="0"/>
                <a:ea typeface="Calibri" pitchFamily="34" charset="-122"/>
                <a:cs typeface="Calibri" pitchFamily="34" charset="-120"/>
              </a:rPr>
              <a:t>Fonte: captura de tela do SAREL v2 (SILVA, 2026c).</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t"/>
          <a:lstStyle/>
          <a:p>
            <a:pPr marL="0" indent="0">
              <a:buNone/>
            </a:pPr>
            <a:r>
              <a:rPr lang="en-US" sz="2200" b="1" dirty="0">
                <a:solidFill>
                  <a:srgbClr val="1B2A22"/>
                </a:solidFill>
                <a:latin typeface="Cambria" pitchFamily="34" charset="0"/>
                <a:ea typeface="Cambria" pitchFamily="34" charset="-122"/>
                <a:cs typeface="Cambria" pitchFamily="34" charset="-120"/>
              </a:rPr>
              <a:t>Sequência justificada (1/2): do domínio ao sorteio</a:t>
            </a:r>
            <a:endParaRPr lang="en-US" sz="2200" dirty="0"/>
          </a:p>
        </p:txBody>
      </p:sp>
      <p:sp>
        <p:nvSpPr>
          <p:cNvPr id="3" name="Text 1"/>
          <p:cNvSpPr txBox="1"/>
          <p:nvPr/>
        </p:nvSpPr>
        <p:spPr>
          <a:xfrm>
            <a:off x="8412480" y="4800600"/>
            <a:ext cx="457200" cy="228600"/>
          </a:xfrm>
          <a:prstGeom prst="rect">
            <a:avLst/>
          </a:prstGeom>
          <a:noFill/>
          <a:ln/>
        </p:spPr>
        <p:txBody>
          <a:bodyPr wrap="square" lIns="0" tIns="0" rIns="0" bIns="0" rtlCol="0" anchor="t"/>
          <a:lstStyle/>
          <a:p>
            <a:pPr marL="0" indent="0" algn="r">
              <a:buNone/>
            </a:pPr>
            <a:r>
              <a:rPr lang="en-US" sz="1000" dirty="0">
                <a:solidFill>
                  <a:srgbClr val="52605A"/>
                </a:solidFill>
                <a:latin typeface="Calibri" pitchFamily="34" charset="0"/>
                <a:ea typeface="Calibri" pitchFamily="34" charset="-122"/>
                <a:cs typeface="Calibri" pitchFamily="34" charset="-120"/>
              </a:rPr>
              <a:t>4</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3970444391"/>
              </p:ext>
            </p:extLst>
          </p:nvPr>
        </p:nvGraphicFramePr>
        <p:xfrm>
          <a:off x="457200" y="1051560"/>
          <a:ext cx="8229600" cy="3017520"/>
        </p:xfrm>
        <a:graphic>
          <a:graphicData uri="http://schemas.openxmlformats.org/drawingml/2006/table">
            <a:tbl>
              <a:tblPr/>
              <a:tblGrid>
                <a:gridCol w="210312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50292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Passo</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solidFill>
                      <a:srgbClr val="2F6B4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O que se faz</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solidFill>
                      <a:srgbClr val="2F6B4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Por que vem aqui</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solidFill>
                      <a:srgbClr val="2F6B4F"/>
                    </a:solidFill>
                  </a:tcPr>
                </a:tc>
                <a:extLst>
                  <a:ext uri="{0D108BD9-81ED-4DB2-BD59-A6C34878D82A}">
                    <a16:rowId xmlns:a16="http://schemas.microsoft.com/office/drawing/2014/main" val="10000"/>
                  </a:ext>
                </a:extLst>
              </a:tr>
              <a:tr h="502920">
                <a:tc>
                  <a:txBody>
                    <a:bodyPr/>
                    <a:lstStyle/>
                    <a:p>
                      <a:pPr marL="0" indent="0">
                        <a:buNone/>
                      </a:pPr>
                      <a:r>
                        <a:rPr lang="en-US" sz="1200" b="1" dirty="0">
                          <a:solidFill>
                            <a:srgbClr val="2F6B4F"/>
                          </a:solidFill>
                          <a:latin typeface="Calibri" pitchFamily="34" charset="0"/>
                          <a:ea typeface="Calibri" pitchFamily="34" charset="-122"/>
                          <a:cs typeface="Calibri" pitchFamily="34" charset="-120"/>
                        </a:rPr>
                        <a:t>1. Definir o domínio e a área</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marL="0" indent="0">
                        <a:buNone/>
                      </a:pPr>
                      <a:r>
                        <a:rPr lang="en-US" sz="1200" dirty="0">
                          <a:solidFill>
                            <a:srgbClr val="1B2A22"/>
                          </a:solidFill>
                          <a:latin typeface="Calibri" pitchFamily="34" charset="0"/>
                          <a:ea typeface="Calibri" pitchFamily="34" charset="-122"/>
                          <a:cs typeface="Calibri" pitchFamily="34" charset="-120"/>
                        </a:rPr>
                        <a:t>Só se amostra onde o método vale: declividade 3 a 20%, lavoura e pastagem (D07).</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marL="0" indent="0">
                        <a:buNone/>
                      </a:pPr>
                      <a:r>
                        <a:rPr lang="en-US" sz="1200" dirty="0">
                          <a:solidFill>
                            <a:srgbClr val="1B2A22"/>
                          </a:solidFill>
                          <a:latin typeface="Calibri" pitchFamily="34" charset="0"/>
                          <a:ea typeface="Calibri" pitchFamily="34" charset="-122"/>
                          <a:cs typeface="Calibri" pitchFamily="34" charset="-120"/>
                        </a:rPr>
                        <a:t>Sem domínio não existe "candidato válido"; ele precisa vir antes de tudo.</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buNone/>
                      </a:pPr>
                      <a:r>
                        <a:rPr lang="en-US" sz="1200" b="1" dirty="0">
                          <a:solidFill>
                            <a:srgbClr val="2F6B4F"/>
                          </a:solidFill>
                          <a:latin typeface="Calibri" pitchFamily="34" charset="0"/>
                          <a:ea typeface="Calibri" pitchFamily="34" charset="-122"/>
                          <a:cs typeface="Calibri" pitchFamily="34" charset="-120"/>
                        </a:rPr>
                        <a:t>2. Eleger candidatos no GEE</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marL="0" indent="0">
                        <a:buNone/>
                      </a:pPr>
                      <a:r>
                        <a:rPr lang="en-US" sz="1200" dirty="0">
                          <a:solidFill>
                            <a:srgbClr val="1B2A22"/>
                          </a:solidFill>
                          <a:latin typeface="Calibri" pitchFamily="34" charset="0"/>
                          <a:ea typeface="Calibri" pitchFamily="34" charset="-122"/>
                          <a:cs typeface="Calibri" pitchFamily="34" charset="-120"/>
                        </a:rPr>
                        <a:t>Filtros de solo nu, declividade e espaçamento mínimo de 1 km (P02).</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marL="0" indent="0">
                        <a:buNone/>
                      </a:pPr>
                      <a:r>
                        <a:rPr lang="en-US" sz="1200" dirty="0">
                          <a:solidFill>
                            <a:srgbClr val="1B2A22"/>
                          </a:solidFill>
                          <a:latin typeface="Calibri" pitchFamily="34" charset="0"/>
                          <a:ea typeface="Calibri" pitchFamily="34" charset="-122"/>
                          <a:cs typeface="Calibri" pitchFamily="34" charset="-120"/>
                        </a:rPr>
                        <a:t>Produz o universo de onde se sorteia; exige o domínio da etapa 1.</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buNone/>
                      </a:pPr>
                      <a:r>
                        <a:rPr lang="en-US" sz="1200" b="1" dirty="0">
                          <a:solidFill>
                            <a:srgbClr val="2F6B4F"/>
                          </a:solidFill>
                          <a:latin typeface="Calibri" pitchFamily="34" charset="0"/>
                          <a:ea typeface="Calibri" pitchFamily="34" charset="-122"/>
                          <a:cs typeface="Calibri" pitchFamily="34" charset="-120"/>
                        </a:rPr>
                        <a:t>3. Estratificar em 18 estratos</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marL="0" indent="0">
                        <a:buNone/>
                      </a:pPr>
                      <a:r>
                        <a:rPr lang="en-US" sz="1200" dirty="0">
                          <a:solidFill>
                            <a:srgbClr val="1B2A22"/>
                          </a:solidFill>
                          <a:latin typeface="Calibri" pitchFamily="34" charset="0"/>
                          <a:ea typeface="Calibri" pitchFamily="34" charset="-122"/>
                          <a:cs typeface="Calibri" pitchFamily="34" charset="-120"/>
                        </a:rPr>
                        <a:t>Declividade × solo nu × </a:t>
                      </a:r>
                      <a:r>
                        <a:rPr lang="en-US" sz="1200" dirty="0" err="1">
                          <a:solidFill>
                            <a:srgbClr val="1B2A22"/>
                          </a:solidFill>
                          <a:latin typeface="Calibri" pitchFamily="34" charset="0"/>
                          <a:ea typeface="Calibri" pitchFamily="34" charset="-122"/>
                          <a:cs typeface="Calibri" pitchFamily="34" charset="-120"/>
                        </a:rPr>
                        <a:t>erodibilidade</a:t>
                      </a:r>
                      <a:r>
                        <a:rPr lang="en-US" sz="1200" dirty="0">
                          <a:solidFill>
                            <a:srgbClr val="1B2A22"/>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marL="0" indent="0">
                        <a:buNone/>
                      </a:pPr>
                      <a:r>
                        <a:rPr lang="en-US" sz="1200" dirty="0">
                          <a:solidFill>
                            <a:srgbClr val="1B2A22"/>
                          </a:solidFill>
                          <a:latin typeface="Calibri" pitchFamily="34" charset="0"/>
                          <a:ea typeface="Calibri" pitchFamily="34" charset="-122"/>
                          <a:cs typeface="Calibri" pitchFamily="34" charset="-120"/>
                        </a:rPr>
                        <a:t>Define o que o sorteio </a:t>
                      </a:r>
                      <a:r>
                        <a:rPr lang="en-US" sz="1200" dirty="0" err="1">
                          <a:solidFill>
                            <a:srgbClr val="1B2A22"/>
                          </a:solidFill>
                          <a:latin typeface="Calibri" pitchFamily="34" charset="0"/>
                          <a:ea typeface="Calibri" pitchFamily="34" charset="-122"/>
                          <a:cs typeface="Calibri" pitchFamily="34" charset="-120"/>
                        </a:rPr>
                        <a:t>precisa</a:t>
                      </a:r>
                      <a:r>
                        <a:rPr lang="en-US" sz="1200" dirty="0">
                          <a:solidFill>
                            <a:srgbClr val="1B2A22"/>
                          </a:solidFill>
                          <a:latin typeface="Calibri" pitchFamily="34" charset="0"/>
                          <a:ea typeface="Calibri" pitchFamily="34" charset="-122"/>
                          <a:cs typeface="Calibri" pitchFamily="34" charset="-120"/>
                        </a:rPr>
                        <a:t> </a:t>
                      </a:r>
                      <a:r>
                        <a:rPr lang="en-US" sz="1200" dirty="0" err="1">
                          <a:solidFill>
                            <a:srgbClr val="1B2A22"/>
                          </a:solidFill>
                          <a:latin typeface="Calibri" pitchFamily="34" charset="0"/>
                          <a:ea typeface="Calibri" pitchFamily="34" charset="-122"/>
                          <a:cs typeface="Calibri" pitchFamily="34" charset="-120"/>
                        </a:rPr>
                        <a:t>cobrir</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extLst>
                  <a:ext uri="{0D108BD9-81ED-4DB2-BD59-A6C34878D82A}">
                    <a16:rowId xmlns:a16="http://schemas.microsoft.com/office/drawing/2014/main" val="10003"/>
                  </a:ext>
                </a:extLst>
              </a:tr>
              <a:tr h="502920">
                <a:tc>
                  <a:txBody>
                    <a:bodyPr/>
                    <a:lstStyle/>
                    <a:p>
                      <a:pPr marL="0" indent="0">
                        <a:buNone/>
                      </a:pPr>
                      <a:r>
                        <a:rPr lang="en-US" sz="1200" b="1" dirty="0">
                          <a:solidFill>
                            <a:srgbClr val="2F6B4F"/>
                          </a:solidFill>
                          <a:latin typeface="Calibri" pitchFamily="34" charset="0"/>
                          <a:ea typeface="Calibri" pitchFamily="34" charset="-122"/>
                          <a:cs typeface="Calibri" pitchFamily="34" charset="-120"/>
                        </a:rPr>
                        <a:t>4. Checar o pool por estrato</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marL="0" indent="0">
                        <a:buNone/>
                      </a:pPr>
                      <a:r>
                        <a:rPr lang="en-US" sz="1200" dirty="0">
                          <a:solidFill>
                            <a:srgbClr val="1B2A22"/>
                          </a:solidFill>
                          <a:latin typeface="Calibri" pitchFamily="34" charset="0"/>
                          <a:ea typeface="Calibri" pitchFamily="34" charset="-122"/>
                          <a:cs typeface="Calibri" pitchFamily="34" charset="-120"/>
                        </a:rPr>
                        <a:t>Contar candidatos por estrato antes de selar.</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marL="0" indent="0">
                        <a:buNone/>
                      </a:pPr>
                      <a:r>
                        <a:rPr lang="en-US" sz="1200" dirty="0">
                          <a:solidFill>
                            <a:srgbClr val="1B2A22"/>
                          </a:solidFill>
                          <a:latin typeface="Calibri" pitchFamily="34" charset="0"/>
                          <a:ea typeface="Calibri" pitchFamily="34" charset="-122"/>
                          <a:cs typeface="Calibri" pitchFamily="34" charset="-120"/>
                        </a:rPr>
                        <a:t>O sorteio é irreversível: só se sela com pool que comporta 4 titulares e reservas.</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extLst>
                  <a:ext uri="{0D108BD9-81ED-4DB2-BD59-A6C34878D82A}">
                    <a16:rowId xmlns:a16="http://schemas.microsoft.com/office/drawing/2014/main" val="10004"/>
                  </a:ext>
                </a:extLst>
              </a:tr>
              <a:tr h="502920">
                <a:tc>
                  <a:txBody>
                    <a:bodyPr/>
                    <a:lstStyle/>
                    <a:p>
                      <a:pPr marL="0" indent="0">
                        <a:buNone/>
                      </a:pPr>
                      <a:r>
                        <a:rPr lang="en-US" sz="1200" b="1" dirty="0">
                          <a:solidFill>
                            <a:srgbClr val="2F6B4F"/>
                          </a:solidFill>
                          <a:latin typeface="Calibri" pitchFamily="34" charset="0"/>
                          <a:ea typeface="Calibri" pitchFamily="34" charset="-122"/>
                          <a:cs typeface="Calibri" pitchFamily="34" charset="-120"/>
                        </a:rPr>
                        <a:t>5. Sorteio selado (72 polígonos)</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marL="0" indent="0">
                        <a:buNone/>
                      </a:pPr>
                      <a:r>
                        <a:rPr lang="en-US" sz="1200" dirty="0">
                          <a:solidFill>
                            <a:srgbClr val="1B2A22"/>
                          </a:solidFill>
                          <a:latin typeface="Calibri" pitchFamily="34" charset="0"/>
                          <a:ea typeface="Calibri" pitchFamily="34" charset="-122"/>
                          <a:cs typeface="Calibri" pitchFamily="34" charset="-120"/>
                        </a:rPr>
                        <a:t>4 por estrato, probabilidade de inclusão </a:t>
                      </a:r>
                      <a:r>
                        <a:rPr lang="en-US" sz="1200" dirty="0" err="1">
                          <a:solidFill>
                            <a:srgbClr val="1B2A22"/>
                          </a:solidFill>
                          <a:latin typeface="Calibri" pitchFamily="34" charset="0"/>
                          <a:ea typeface="Calibri" pitchFamily="34" charset="-122"/>
                          <a:cs typeface="Calibri" pitchFamily="34" charset="-120"/>
                        </a:rPr>
                        <a:t>registrada</a:t>
                      </a:r>
                      <a:r>
                        <a:rPr lang="en-US" sz="1200" dirty="0">
                          <a:solidFill>
                            <a:srgbClr val="1B2A22"/>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marL="0" indent="0">
                        <a:buNone/>
                      </a:pPr>
                      <a:r>
                        <a:rPr lang="en-US" sz="1200" dirty="0">
                          <a:solidFill>
                            <a:srgbClr val="1B2A22"/>
                          </a:solidFill>
                          <a:latin typeface="Calibri" pitchFamily="34" charset="0"/>
                          <a:ea typeface="Calibri" pitchFamily="34" charset="-122"/>
                          <a:cs typeface="Calibri" pitchFamily="34" charset="-120"/>
                        </a:rPr>
                        <a:t>Vem antes de contatar proprietários, para que ninguém escolha os locais.</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Text 2"/>
          <p:cNvSpPr txBox="1"/>
          <p:nvPr/>
        </p:nvSpPr>
        <p:spPr>
          <a:xfrm>
            <a:off x="457200" y="4727448"/>
            <a:ext cx="7863840" cy="365760"/>
          </a:xfrm>
          <a:prstGeom prst="rect">
            <a:avLst/>
          </a:prstGeom>
          <a:noFill/>
          <a:ln/>
        </p:spPr>
        <p:txBody>
          <a:bodyPr wrap="square" lIns="0" tIns="0" rIns="0" bIns="0" rtlCol="0" anchor="ctr"/>
          <a:lstStyle/>
          <a:p>
            <a:pPr marL="0" indent="0">
              <a:buNone/>
            </a:pPr>
            <a:r>
              <a:rPr lang="en-US" sz="900" i="1" dirty="0">
                <a:solidFill>
                  <a:srgbClr val="52605A"/>
                </a:solidFill>
                <a:latin typeface="Calibri" pitchFamily="34" charset="0"/>
                <a:ea typeface="Calibri" pitchFamily="34" charset="-122"/>
                <a:cs typeface="Calibri" pitchFamily="34" charset="-120"/>
              </a:rPr>
              <a:t>Cada passo depende do anterior: o sorteio selado e a avaliação única são os dois pontos sem volta. Fontes: SILVA (2026a, D07, P02, D12 e D23).</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t"/>
          <a:lstStyle/>
          <a:p>
            <a:pPr marL="0" indent="0">
              <a:buNone/>
            </a:pPr>
            <a:r>
              <a:rPr lang="en-US" sz="2200" b="1" dirty="0">
                <a:solidFill>
                  <a:srgbClr val="1B2A22"/>
                </a:solidFill>
                <a:latin typeface="Cambria" pitchFamily="34" charset="0"/>
                <a:ea typeface="Cambria" pitchFamily="34" charset="-122"/>
                <a:cs typeface="Cambria" pitchFamily="34" charset="-120"/>
              </a:rPr>
              <a:t>Sequência justificada (2/2): da autorização à avaliação</a:t>
            </a:r>
            <a:endParaRPr lang="en-US" sz="2200" dirty="0"/>
          </a:p>
        </p:txBody>
      </p:sp>
      <p:sp>
        <p:nvSpPr>
          <p:cNvPr id="3" name="Text 1"/>
          <p:cNvSpPr txBox="1"/>
          <p:nvPr/>
        </p:nvSpPr>
        <p:spPr>
          <a:xfrm>
            <a:off x="8412480" y="4800600"/>
            <a:ext cx="457200" cy="228600"/>
          </a:xfrm>
          <a:prstGeom prst="rect">
            <a:avLst/>
          </a:prstGeom>
          <a:noFill/>
          <a:ln/>
        </p:spPr>
        <p:txBody>
          <a:bodyPr wrap="square" lIns="0" tIns="0" rIns="0" bIns="0" rtlCol="0" anchor="t"/>
          <a:lstStyle/>
          <a:p>
            <a:pPr marL="0" indent="0" algn="r">
              <a:buNone/>
            </a:pPr>
            <a:r>
              <a:rPr lang="en-US" sz="1000" dirty="0">
                <a:solidFill>
                  <a:srgbClr val="52605A"/>
                </a:solidFill>
                <a:latin typeface="Calibri" pitchFamily="34" charset="0"/>
                <a:ea typeface="Calibri" pitchFamily="34" charset="-122"/>
                <a:cs typeface="Calibri" pitchFamily="34" charset="-120"/>
              </a:rPr>
              <a:t>5</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654544946"/>
              </p:ext>
            </p:extLst>
          </p:nvPr>
        </p:nvGraphicFramePr>
        <p:xfrm>
          <a:off x="468000" y="1051560"/>
          <a:ext cx="8218800" cy="3017520"/>
        </p:xfrm>
        <a:graphic>
          <a:graphicData uri="http://schemas.openxmlformats.org/drawingml/2006/table">
            <a:tbl>
              <a:tblPr/>
              <a:tblGrid>
                <a:gridCol w="209232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50292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Passo</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solidFill>
                      <a:srgbClr val="2F6B4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O que se faz</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solidFill>
                      <a:srgbClr val="2F6B4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Por que vem aqui</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solidFill>
                      <a:srgbClr val="2F6B4F"/>
                    </a:solidFill>
                  </a:tcPr>
                </a:tc>
                <a:extLst>
                  <a:ext uri="{0D108BD9-81ED-4DB2-BD59-A6C34878D82A}">
                    <a16:rowId xmlns:a16="http://schemas.microsoft.com/office/drawing/2014/main" val="10000"/>
                  </a:ext>
                </a:extLst>
              </a:tr>
              <a:tr h="502920">
                <a:tc>
                  <a:txBody>
                    <a:bodyPr/>
                    <a:lstStyle/>
                    <a:p>
                      <a:pPr marL="0" indent="0">
                        <a:buNone/>
                      </a:pPr>
                      <a:r>
                        <a:rPr lang="en-US" sz="1200" b="1" dirty="0">
                          <a:solidFill>
                            <a:srgbClr val="2F6B4F"/>
                          </a:solidFill>
                          <a:latin typeface="Calibri" pitchFamily="34" charset="0"/>
                          <a:ea typeface="Calibri" pitchFamily="34" charset="-122"/>
                          <a:cs typeface="Calibri" pitchFamily="34" charset="-120"/>
                        </a:rPr>
                        <a:t>6. Autorização dos proprietários</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marL="0" indent="0">
                        <a:buNone/>
                      </a:pPr>
                      <a:r>
                        <a:rPr lang="en-US" sz="1200" dirty="0">
                          <a:solidFill>
                            <a:srgbClr val="1B2A22"/>
                          </a:solidFill>
                          <a:latin typeface="Calibri" pitchFamily="34" charset="0"/>
                          <a:ea typeface="Calibri" pitchFamily="34" charset="-122"/>
                          <a:cs typeface="Calibri" pitchFamily="34" charset="-120"/>
                        </a:rPr>
                        <a:t>Contato, e reserva em ordem em caso de recusa (proposta).</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marL="0" indent="0">
                        <a:buNone/>
                      </a:pPr>
                      <a:r>
                        <a:rPr lang="en-US" sz="1200" dirty="0">
                          <a:solidFill>
                            <a:srgbClr val="1B2A22"/>
                          </a:solidFill>
                          <a:latin typeface="Calibri" pitchFamily="34" charset="0"/>
                          <a:ea typeface="Calibri" pitchFamily="34" charset="-122"/>
                          <a:cs typeface="Calibri" pitchFamily="34" charset="-120"/>
                        </a:rPr>
                        <a:t>Só se sabe quem contatar depois do selo; a recusa não pode refazer o sorteio.</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buNone/>
                      </a:pPr>
                      <a:r>
                        <a:rPr lang="en-US" sz="1200" b="1" dirty="0">
                          <a:solidFill>
                            <a:srgbClr val="2F6B4F"/>
                          </a:solidFill>
                          <a:latin typeface="Calibri" pitchFamily="34" charset="0"/>
                          <a:ea typeface="Calibri" pitchFamily="34" charset="-122"/>
                          <a:cs typeface="Calibri" pitchFamily="34" charset="-120"/>
                        </a:rPr>
                        <a:t>7. Voo cego e delineação</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marL="0" indent="0">
                        <a:buNone/>
                      </a:pPr>
                      <a:r>
                        <a:rPr lang="en-US" sz="1200" dirty="0">
                          <a:solidFill>
                            <a:srgbClr val="1B2A22"/>
                          </a:solidFill>
                          <a:latin typeface="Calibri" pitchFamily="34" charset="0"/>
                          <a:ea typeface="Calibri" pitchFamily="34" charset="-122"/>
                          <a:cs typeface="Calibri" pitchFamily="34" charset="-120"/>
                        </a:rPr>
                        <a:t>Intérprete sem ver estrato nem papel; rótulo </a:t>
                      </a:r>
                      <a:r>
                        <a:rPr lang="en-US" sz="1200" dirty="0" err="1">
                          <a:solidFill>
                            <a:srgbClr val="1B2A22"/>
                          </a:solidFill>
                          <a:latin typeface="Calibri" pitchFamily="34" charset="0"/>
                          <a:ea typeface="Calibri" pitchFamily="34" charset="-122"/>
                          <a:cs typeface="Calibri" pitchFamily="34" charset="-120"/>
                        </a:rPr>
                        <a:t>por</a:t>
                      </a:r>
                      <a:r>
                        <a:rPr lang="en-US" sz="1200" dirty="0">
                          <a:solidFill>
                            <a:srgbClr val="1B2A22"/>
                          </a:solidFill>
                          <a:latin typeface="Calibri" pitchFamily="34" charset="0"/>
                          <a:ea typeface="Calibri" pitchFamily="34" charset="-122"/>
                          <a:cs typeface="Calibri" pitchFamily="34" charset="-120"/>
                        </a:rPr>
                        <a:t> </a:t>
                      </a:r>
                      <a:r>
                        <a:rPr lang="en-US" sz="1200" dirty="0" err="1">
                          <a:solidFill>
                            <a:srgbClr val="1B2A22"/>
                          </a:solidFill>
                          <a:latin typeface="Calibri" pitchFamily="34" charset="0"/>
                          <a:ea typeface="Calibri" pitchFamily="34" charset="-122"/>
                          <a:cs typeface="Calibri" pitchFamily="34" charset="-120"/>
                        </a:rPr>
                        <a:t>fração</a:t>
                      </a:r>
                      <a:r>
                        <a:rPr lang="en-US" sz="1200" dirty="0">
                          <a:solidFill>
                            <a:srgbClr val="1B2A22"/>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marL="0" indent="0">
                        <a:buNone/>
                      </a:pPr>
                      <a:r>
                        <a:rPr lang="en-US" sz="1200" dirty="0">
                          <a:solidFill>
                            <a:srgbClr val="1B2A22"/>
                          </a:solidFill>
                          <a:latin typeface="Calibri" pitchFamily="34" charset="0"/>
                          <a:ea typeface="Calibri" pitchFamily="34" charset="-122"/>
                          <a:cs typeface="Calibri" pitchFamily="34" charset="-120"/>
                        </a:rPr>
                        <a:t>Só depois da autorização; a cegueira evita que o modelo "aprenda" o rastreio.</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buNone/>
                      </a:pPr>
                      <a:r>
                        <a:rPr lang="en-US" sz="1200" b="1" dirty="0">
                          <a:solidFill>
                            <a:srgbClr val="2F6B4F"/>
                          </a:solidFill>
                          <a:latin typeface="Calibri" pitchFamily="34" charset="0"/>
                          <a:ea typeface="Calibri" pitchFamily="34" charset="-122"/>
                          <a:cs typeface="Calibri" pitchFamily="34" charset="-120"/>
                        </a:rPr>
                        <a:t>8. Âncora de campo</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marL="0" indent="0">
                        <a:buNone/>
                      </a:pPr>
                      <a:r>
                        <a:rPr lang="en-US" sz="1200" dirty="0">
                          <a:solidFill>
                            <a:srgbClr val="1B2A22"/>
                          </a:solidFill>
                          <a:latin typeface="Calibri" pitchFamily="34" charset="0"/>
                          <a:ea typeface="Calibri" pitchFamily="34" charset="-122"/>
                          <a:cs typeface="Calibri" pitchFamily="34" charset="-120"/>
                        </a:rPr>
                        <a:t>60 a 80 </a:t>
                      </a:r>
                      <a:r>
                        <a:rPr lang="en-US" sz="1200" dirty="0" err="1">
                          <a:solidFill>
                            <a:srgbClr val="1B2A22"/>
                          </a:solidFill>
                          <a:latin typeface="Calibri" pitchFamily="34" charset="0"/>
                          <a:ea typeface="Calibri" pitchFamily="34" charset="-122"/>
                          <a:cs typeface="Calibri" pitchFamily="34" charset="-120"/>
                        </a:rPr>
                        <a:t>pontos</a:t>
                      </a:r>
                      <a:r>
                        <a:rPr lang="en-US" sz="1200" dirty="0">
                          <a:solidFill>
                            <a:srgbClr val="1B2A22"/>
                          </a:solidFill>
                          <a:latin typeface="Calibri" pitchFamily="34" charset="0"/>
                          <a:ea typeface="Calibri" pitchFamily="34" charset="-122"/>
                          <a:cs typeface="Calibri" pitchFamily="34" charset="-120"/>
                        </a:rPr>
                        <a:t> fora dos polígonos, coletados no SAREL </a:t>
                      </a:r>
                      <a:r>
                        <a:rPr lang="en-US" sz="1200" dirty="0" err="1">
                          <a:solidFill>
                            <a:srgbClr val="1B2A22"/>
                          </a:solidFill>
                          <a:latin typeface="Calibri" pitchFamily="34" charset="0"/>
                          <a:ea typeface="Calibri" pitchFamily="34" charset="-122"/>
                          <a:cs typeface="Calibri" pitchFamily="34" charset="-120"/>
                        </a:rPr>
                        <a:t>Coletor</a:t>
                      </a:r>
                      <a:r>
                        <a:rPr lang="en-US" sz="1200" dirty="0">
                          <a:solidFill>
                            <a:srgbClr val="1B2A22"/>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marL="0" indent="0">
                        <a:buNone/>
                      </a:pPr>
                      <a:r>
                        <a:rPr lang="en-US" sz="1200" dirty="0">
                          <a:solidFill>
                            <a:srgbClr val="1B2A22"/>
                          </a:solidFill>
                          <a:latin typeface="Calibri" pitchFamily="34" charset="0"/>
                          <a:ea typeface="Calibri" pitchFamily="34" charset="-122"/>
                          <a:cs typeface="Calibri" pitchFamily="34" charset="-120"/>
                        </a:rPr>
                        <a:t>Estima prevalência e acurácia posicional; independe dos polígonos.</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extLst>
                  <a:ext uri="{0D108BD9-81ED-4DB2-BD59-A6C34878D82A}">
                    <a16:rowId xmlns:a16="http://schemas.microsoft.com/office/drawing/2014/main" val="10003"/>
                  </a:ext>
                </a:extLst>
              </a:tr>
              <a:tr h="502920">
                <a:tc>
                  <a:txBody>
                    <a:bodyPr/>
                    <a:lstStyle/>
                    <a:p>
                      <a:pPr marL="0" indent="0">
                        <a:buNone/>
                      </a:pP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marL="0" indent="0">
                        <a:buNone/>
                      </a:pP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marL="0" indent="0">
                        <a:buNone/>
                      </a:pP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extLst>
                  <a:ext uri="{0D108BD9-81ED-4DB2-BD59-A6C34878D82A}">
                    <a16:rowId xmlns:a16="http://schemas.microsoft.com/office/drawing/2014/main" val="10004"/>
                  </a:ext>
                </a:extLst>
              </a:tr>
              <a:tr h="502920">
                <a:tc>
                  <a:txBody>
                    <a:bodyPr/>
                    <a:lstStyle/>
                    <a:p>
                      <a:pPr marL="0" indent="0">
                        <a:buNone/>
                      </a:pP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marL="0" indent="0">
                        <a:buNone/>
                      </a:pP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marL="0" indent="0">
                        <a:buNone/>
                      </a:pP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Text 2"/>
          <p:cNvSpPr txBox="1"/>
          <p:nvPr/>
        </p:nvSpPr>
        <p:spPr>
          <a:xfrm>
            <a:off x="457200" y="4727448"/>
            <a:ext cx="7863840" cy="365760"/>
          </a:xfrm>
          <a:prstGeom prst="rect">
            <a:avLst/>
          </a:prstGeom>
          <a:noFill/>
          <a:ln/>
        </p:spPr>
        <p:txBody>
          <a:bodyPr wrap="square" lIns="0" tIns="0" rIns="0" bIns="0" rtlCol="0" anchor="ctr"/>
          <a:lstStyle/>
          <a:p>
            <a:pPr marL="0" indent="0">
              <a:buNone/>
            </a:pPr>
            <a:r>
              <a:rPr lang="en-US" sz="900" i="1" dirty="0">
                <a:solidFill>
                  <a:srgbClr val="52605A"/>
                </a:solidFill>
                <a:latin typeface="Calibri" pitchFamily="34" charset="0"/>
                <a:ea typeface="Calibri" pitchFamily="34" charset="-122"/>
                <a:cs typeface="Calibri" pitchFamily="34" charset="-120"/>
              </a:rPr>
              <a:t>Cada passo depende do anterior: o sorteio selado e a avaliação única são os dois pontos sem volta. Fontes: SILVA (2026a, D16, D23, D25 e D26).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t"/>
          <a:lstStyle/>
          <a:p>
            <a:pPr marL="0" indent="0">
              <a:buNone/>
            </a:pPr>
            <a:r>
              <a:rPr lang="en-US" sz="2200" b="1" dirty="0">
                <a:solidFill>
                  <a:srgbClr val="1B2A22"/>
                </a:solidFill>
                <a:latin typeface="Cambria" pitchFamily="34" charset="0"/>
                <a:ea typeface="Cambria" pitchFamily="34" charset="-122"/>
                <a:cs typeface="Cambria" pitchFamily="34" charset="-120"/>
              </a:rPr>
              <a:t>Estratificação: como se chega aos 18 estratos</a:t>
            </a:r>
            <a:endParaRPr lang="en-US" sz="2200" dirty="0"/>
          </a:p>
        </p:txBody>
      </p:sp>
      <p:sp>
        <p:nvSpPr>
          <p:cNvPr id="3" name="Text 1"/>
          <p:cNvSpPr txBox="1"/>
          <p:nvPr/>
        </p:nvSpPr>
        <p:spPr>
          <a:xfrm>
            <a:off x="8412480" y="4800600"/>
            <a:ext cx="457200" cy="228600"/>
          </a:xfrm>
          <a:prstGeom prst="rect">
            <a:avLst/>
          </a:prstGeom>
          <a:noFill/>
          <a:ln/>
        </p:spPr>
        <p:txBody>
          <a:bodyPr wrap="square" lIns="0" tIns="0" rIns="0" bIns="0" rtlCol="0" anchor="t"/>
          <a:lstStyle/>
          <a:p>
            <a:pPr marL="0" indent="0" algn="r">
              <a:buNone/>
            </a:pPr>
            <a:r>
              <a:rPr lang="en-US" sz="1000" dirty="0">
                <a:solidFill>
                  <a:srgbClr val="52605A"/>
                </a:solidFill>
                <a:latin typeface="Calibri" pitchFamily="34" charset="0"/>
                <a:ea typeface="Calibri" pitchFamily="34" charset="-122"/>
                <a:cs typeface="Calibri" pitchFamily="34" charset="-120"/>
              </a:rPr>
              <a:t>6</a:t>
            </a:r>
            <a:endParaRPr lang="en-US" sz="1000" dirty="0"/>
          </a:p>
        </p:txBody>
      </p:sp>
      <p:sp>
        <p:nvSpPr>
          <p:cNvPr id="5" name="Shape 2"/>
          <p:cNvSpPr/>
          <p:nvPr/>
        </p:nvSpPr>
        <p:spPr>
          <a:xfrm>
            <a:off x="457200" y="914400"/>
            <a:ext cx="2468880" cy="1783080"/>
          </a:xfrm>
          <a:prstGeom prst="roundRect">
            <a:avLst>
              <a:gd name="adj" fmla="val 4103"/>
            </a:avLst>
          </a:prstGeom>
          <a:solidFill>
            <a:srgbClr val="EEF3EF"/>
          </a:solidFill>
          <a:ln w="12700">
            <a:solidFill>
              <a:srgbClr val="EEF3EF"/>
            </a:solidFill>
            <a:prstDash val="solid"/>
          </a:ln>
        </p:spPr>
      </p:sp>
      <p:sp>
        <p:nvSpPr>
          <p:cNvPr id="6" name="Text 3"/>
          <p:cNvSpPr txBox="1"/>
          <p:nvPr/>
        </p:nvSpPr>
        <p:spPr>
          <a:xfrm>
            <a:off x="594360" y="987552"/>
            <a:ext cx="2194560" cy="365760"/>
          </a:xfrm>
          <a:prstGeom prst="rect">
            <a:avLst/>
          </a:prstGeom>
          <a:noFill/>
          <a:ln/>
        </p:spPr>
        <p:txBody>
          <a:bodyPr wrap="square" lIns="0" tIns="0" rIns="0" bIns="0" rtlCol="0" anchor="t"/>
          <a:lstStyle/>
          <a:p>
            <a:pPr marL="0" indent="0">
              <a:buNone/>
            </a:pPr>
            <a:r>
              <a:rPr lang="en-US" sz="1600" b="1" dirty="0">
                <a:solidFill>
                  <a:srgbClr val="2F6B4F"/>
                </a:solidFill>
                <a:latin typeface="Cambria" pitchFamily="34" charset="0"/>
                <a:ea typeface="Cambria" pitchFamily="34" charset="-122"/>
                <a:cs typeface="Cambria" pitchFamily="34" charset="-120"/>
              </a:rPr>
              <a:t>Declividade</a:t>
            </a:r>
            <a:endParaRPr lang="en-US" sz="1600" dirty="0"/>
          </a:p>
        </p:txBody>
      </p:sp>
      <p:sp>
        <p:nvSpPr>
          <p:cNvPr id="7" name="Text 4"/>
          <p:cNvSpPr txBox="1"/>
          <p:nvPr/>
        </p:nvSpPr>
        <p:spPr>
          <a:xfrm>
            <a:off x="594360" y="1325880"/>
            <a:ext cx="2194560" cy="274320"/>
          </a:xfrm>
          <a:prstGeom prst="rect">
            <a:avLst/>
          </a:prstGeom>
          <a:noFill/>
          <a:ln/>
        </p:spPr>
        <p:txBody>
          <a:bodyPr wrap="square" lIns="0" tIns="0" rIns="0" bIns="0" rtlCol="0" anchor="t"/>
          <a:lstStyle/>
          <a:p>
            <a:pPr marL="0" indent="0">
              <a:buNone/>
            </a:pPr>
            <a:r>
              <a:rPr lang="en-US" sz="1200" b="1" dirty="0">
                <a:solidFill>
                  <a:srgbClr val="C65D3B"/>
                </a:solidFill>
                <a:latin typeface="Calibri" pitchFamily="34" charset="0"/>
                <a:ea typeface="Calibri" pitchFamily="34" charset="-122"/>
                <a:cs typeface="Calibri" pitchFamily="34" charset="-120"/>
              </a:rPr>
              <a:t>3 faixas (tercis)</a:t>
            </a:r>
            <a:endParaRPr lang="en-US" sz="1200" dirty="0"/>
          </a:p>
        </p:txBody>
      </p:sp>
      <p:sp>
        <p:nvSpPr>
          <p:cNvPr id="8" name="Text 5"/>
          <p:cNvSpPr txBox="1"/>
          <p:nvPr/>
        </p:nvSpPr>
        <p:spPr>
          <a:xfrm>
            <a:off x="594360" y="1627632"/>
            <a:ext cx="2194560" cy="1051560"/>
          </a:xfrm>
          <a:prstGeom prst="rect">
            <a:avLst/>
          </a:prstGeom>
          <a:noFill/>
          <a:ln/>
        </p:spPr>
        <p:txBody>
          <a:bodyPr wrap="square" lIns="0" tIns="0" rIns="0" bIns="0" rtlCol="0" anchor="t"/>
          <a:lstStyle/>
          <a:p>
            <a:pPr marL="0" indent="0">
              <a:buNone/>
            </a:pPr>
            <a:r>
              <a:rPr lang="en-US" sz="1050" dirty="0">
                <a:solidFill>
                  <a:srgbClr val="1B2A22"/>
                </a:solidFill>
                <a:latin typeface="Calibri" pitchFamily="34" charset="0"/>
                <a:ea typeface="Calibri" pitchFamily="34" charset="-122"/>
                <a:cs typeface="Calibri" pitchFamily="34" charset="-120"/>
              </a:rPr>
              <a:t>Energia do relevo: quanto mais inclinado, maior a capacidade de transporte do escoamento.</a:t>
            </a:r>
            <a:endParaRPr lang="en-US" sz="1050" dirty="0"/>
          </a:p>
        </p:txBody>
      </p:sp>
      <p:sp>
        <p:nvSpPr>
          <p:cNvPr id="9" name="Text 6"/>
          <p:cNvSpPr txBox="1"/>
          <p:nvPr/>
        </p:nvSpPr>
        <p:spPr>
          <a:xfrm>
            <a:off x="2926080" y="1554480"/>
            <a:ext cx="365760" cy="548640"/>
          </a:xfrm>
          <a:prstGeom prst="rect">
            <a:avLst/>
          </a:prstGeom>
          <a:noFill/>
          <a:ln/>
        </p:spPr>
        <p:txBody>
          <a:bodyPr wrap="square" lIns="0" tIns="0" rIns="0" bIns="0" rtlCol="0" anchor="t"/>
          <a:lstStyle/>
          <a:p>
            <a:pPr marL="0" indent="0" algn="ctr">
              <a:buNone/>
            </a:pPr>
            <a:r>
              <a:rPr lang="en-US" sz="2600" b="1" dirty="0">
                <a:solidFill>
                  <a:srgbClr val="C65D3B"/>
                </a:solidFill>
                <a:latin typeface="Calibri" pitchFamily="34" charset="0"/>
                <a:ea typeface="Calibri" pitchFamily="34" charset="-122"/>
                <a:cs typeface="Calibri" pitchFamily="34" charset="-120"/>
              </a:rPr>
              <a:t>×</a:t>
            </a:r>
            <a:endParaRPr lang="en-US" sz="2600" dirty="0"/>
          </a:p>
        </p:txBody>
      </p:sp>
      <p:sp>
        <p:nvSpPr>
          <p:cNvPr id="10" name="Shape 7"/>
          <p:cNvSpPr/>
          <p:nvPr/>
        </p:nvSpPr>
        <p:spPr>
          <a:xfrm>
            <a:off x="3291840" y="914400"/>
            <a:ext cx="2468880" cy="1783080"/>
          </a:xfrm>
          <a:prstGeom prst="roundRect">
            <a:avLst>
              <a:gd name="adj" fmla="val 4103"/>
            </a:avLst>
          </a:prstGeom>
          <a:solidFill>
            <a:srgbClr val="EEF3EF"/>
          </a:solidFill>
          <a:ln w="12700">
            <a:solidFill>
              <a:srgbClr val="EEF3EF"/>
            </a:solidFill>
            <a:prstDash val="solid"/>
          </a:ln>
        </p:spPr>
      </p:sp>
      <p:sp>
        <p:nvSpPr>
          <p:cNvPr id="11" name="Text 8"/>
          <p:cNvSpPr txBox="1"/>
          <p:nvPr/>
        </p:nvSpPr>
        <p:spPr>
          <a:xfrm>
            <a:off x="3429000" y="987552"/>
            <a:ext cx="2194560" cy="365760"/>
          </a:xfrm>
          <a:prstGeom prst="rect">
            <a:avLst/>
          </a:prstGeom>
          <a:noFill/>
          <a:ln/>
        </p:spPr>
        <p:txBody>
          <a:bodyPr wrap="square" lIns="0" tIns="0" rIns="0" bIns="0" rtlCol="0" anchor="t"/>
          <a:lstStyle/>
          <a:p>
            <a:pPr marL="0" indent="0">
              <a:buNone/>
            </a:pPr>
            <a:r>
              <a:rPr lang="en-US" sz="1600" b="1" dirty="0">
                <a:solidFill>
                  <a:srgbClr val="2F6B4F"/>
                </a:solidFill>
                <a:latin typeface="Cambria" pitchFamily="34" charset="0"/>
                <a:ea typeface="Cambria" pitchFamily="34" charset="-122"/>
                <a:cs typeface="Cambria" pitchFamily="34" charset="-120"/>
              </a:rPr>
              <a:t>Solo nu</a:t>
            </a:r>
            <a:endParaRPr lang="en-US" sz="1600" dirty="0"/>
          </a:p>
        </p:txBody>
      </p:sp>
      <p:sp>
        <p:nvSpPr>
          <p:cNvPr id="12" name="Text 9"/>
          <p:cNvSpPr txBox="1"/>
          <p:nvPr/>
        </p:nvSpPr>
        <p:spPr>
          <a:xfrm>
            <a:off x="3429000" y="1325880"/>
            <a:ext cx="2194560" cy="274320"/>
          </a:xfrm>
          <a:prstGeom prst="rect">
            <a:avLst/>
          </a:prstGeom>
          <a:noFill/>
          <a:ln/>
        </p:spPr>
        <p:txBody>
          <a:bodyPr wrap="square" lIns="0" tIns="0" rIns="0" bIns="0" rtlCol="0" anchor="t"/>
          <a:lstStyle/>
          <a:p>
            <a:pPr marL="0" indent="0">
              <a:buNone/>
            </a:pPr>
            <a:r>
              <a:rPr lang="en-US" sz="1200" b="1" dirty="0">
                <a:solidFill>
                  <a:srgbClr val="C65D3B"/>
                </a:solidFill>
                <a:latin typeface="Calibri" pitchFamily="34" charset="0"/>
                <a:ea typeface="Calibri" pitchFamily="34" charset="-122"/>
                <a:cs typeface="Calibri" pitchFamily="34" charset="-120"/>
              </a:rPr>
              <a:t>3 faixas (tercis)</a:t>
            </a:r>
            <a:endParaRPr lang="en-US" sz="1200" dirty="0"/>
          </a:p>
        </p:txBody>
      </p:sp>
      <p:sp>
        <p:nvSpPr>
          <p:cNvPr id="13" name="Text 10"/>
          <p:cNvSpPr txBox="1"/>
          <p:nvPr/>
        </p:nvSpPr>
        <p:spPr>
          <a:xfrm>
            <a:off x="3429000" y="1627632"/>
            <a:ext cx="2194560" cy="1051560"/>
          </a:xfrm>
          <a:prstGeom prst="rect">
            <a:avLst/>
          </a:prstGeom>
          <a:noFill/>
          <a:ln/>
        </p:spPr>
        <p:txBody>
          <a:bodyPr wrap="square" lIns="0" tIns="0" rIns="0" bIns="0" rtlCol="0" anchor="t"/>
          <a:lstStyle/>
          <a:p>
            <a:pPr marL="0" indent="0">
              <a:buNone/>
            </a:pPr>
            <a:r>
              <a:rPr lang="en-US" sz="1050" dirty="0">
                <a:solidFill>
                  <a:srgbClr val="1B2A22"/>
                </a:solidFill>
                <a:latin typeface="Calibri" pitchFamily="34" charset="0"/>
                <a:ea typeface="Calibri" pitchFamily="34" charset="-122"/>
                <a:cs typeface="Calibri" pitchFamily="34" charset="-120"/>
              </a:rPr>
              <a:t>Tempo de solo descoberto: fração de cenas de satélite válidas em que a célula aparece exposta à chuva.</a:t>
            </a:r>
            <a:endParaRPr lang="en-US" sz="1050" dirty="0"/>
          </a:p>
        </p:txBody>
      </p:sp>
      <p:sp>
        <p:nvSpPr>
          <p:cNvPr id="14" name="Text 11"/>
          <p:cNvSpPr txBox="1"/>
          <p:nvPr/>
        </p:nvSpPr>
        <p:spPr>
          <a:xfrm>
            <a:off x="5760720" y="1554480"/>
            <a:ext cx="365760" cy="548640"/>
          </a:xfrm>
          <a:prstGeom prst="rect">
            <a:avLst/>
          </a:prstGeom>
          <a:noFill/>
          <a:ln/>
        </p:spPr>
        <p:txBody>
          <a:bodyPr wrap="square" lIns="0" tIns="0" rIns="0" bIns="0" rtlCol="0" anchor="t"/>
          <a:lstStyle/>
          <a:p>
            <a:pPr marL="0" indent="0" algn="ctr">
              <a:buNone/>
            </a:pPr>
            <a:r>
              <a:rPr lang="en-US" sz="2600" b="1" dirty="0">
                <a:solidFill>
                  <a:srgbClr val="C65D3B"/>
                </a:solidFill>
                <a:latin typeface="Calibri" pitchFamily="34" charset="0"/>
                <a:ea typeface="Calibri" pitchFamily="34" charset="-122"/>
                <a:cs typeface="Calibri" pitchFamily="34" charset="-120"/>
              </a:rPr>
              <a:t>×</a:t>
            </a:r>
            <a:endParaRPr lang="en-US" sz="2600" dirty="0"/>
          </a:p>
        </p:txBody>
      </p:sp>
      <p:sp>
        <p:nvSpPr>
          <p:cNvPr id="15" name="Shape 12"/>
          <p:cNvSpPr/>
          <p:nvPr/>
        </p:nvSpPr>
        <p:spPr>
          <a:xfrm>
            <a:off x="6126480" y="914400"/>
            <a:ext cx="2468880" cy="1783080"/>
          </a:xfrm>
          <a:prstGeom prst="roundRect">
            <a:avLst>
              <a:gd name="adj" fmla="val 4103"/>
            </a:avLst>
          </a:prstGeom>
          <a:solidFill>
            <a:srgbClr val="EEF3EF"/>
          </a:solidFill>
          <a:ln w="12700">
            <a:solidFill>
              <a:srgbClr val="EEF3EF"/>
            </a:solidFill>
            <a:prstDash val="solid"/>
          </a:ln>
        </p:spPr>
      </p:sp>
      <p:sp>
        <p:nvSpPr>
          <p:cNvPr id="16" name="Text 13"/>
          <p:cNvSpPr txBox="1"/>
          <p:nvPr/>
        </p:nvSpPr>
        <p:spPr>
          <a:xfrm>
            <a:off x="6263640" y="987552"/>
            <a:ext cx="2194560" cy="365760"/>
          </a:xfrm>
          <a:prstGeom prst="rect">
            <a:avLst/>
          </a:prstGeom>
          <a:noFill/>
          <a:ln/>
        </p:spPr>
        <p:txBody>
          <a:bodyPr wrap="square" lIns="0" tIns="0" rIns="0" bIns="0" rtlCol="0" anchor="t"/>
          <a:lstStyle/>
          <a:p>
            <a:pPr marL="0" indent="0">
              <a:buNone/>
            </a:pPr>
            <a:r>
              <a:rPr lang="en-US" sz="1600" b="1" dirty="0">
                <a:solidFill>
                  <a:srgbClr val="2F6B4F"/>
                </a:solidFill>
                <a:latin typeface="Cambria" pitchFamily="34" charset="0"/>
                <a:ea typeface="Cambria" pitchFamily="34" charset="-122"/>
                <a:cs typeface="Cambria" pitchFamily="34" charset="-120"/>
              </a:rPr>
              <a:t>Erodibilidade</a:t>
            </a:r>
            <a:endParaRPr lang="en-US" sz="1600" dirty="0"/>
          </a:p>
        </p:txBody>
      </p:sp>
      <p:sp>
        <p:nvSpPr>
          <p:cNvPr id="17" name="Text 14"/>
          <p:cNvSpPr txBox="1"/>
          <p:nvPr/>
        </p:nvSpPr>
        <p:spPr>
          <a:xfrm>
            <a:off x="6263640" y="1325880"/>
            <a:ext cx="2194560" cy="274320"/>
          </a:xfrm>
          <a:prstGeom prst="rect">
            <a:avLst/>
          </a:prstGeom>
          <a:noFill/>
          <a:ln/>
        </p:spPr>
        <p:txBody>
          <a:bodyPr wrap="square" lIns="0" tIns="0" rIns="0" bIns="0" rtlCol="0" anchor="t"/>
          <a:lstStyle/>
          <a:p>
            <a:pPr marL="0" indent="0">
              <a:buNone/>
            </a:pPr>
            <a:r>
              <a:rPr lang="en-US" sz="1200" b="1" dirty="0">
                <a:solidFill>
                  <a:srgbClr val="C65D3B"/>
                </a:solidFill>
                <a:latin typeface="Calibri" pitchFamily="34" charset="0"/>
                <a:ea typeface="Calibri" pitchFamily="34" charset="-122"/>
                <a:cs typeface="Calibri" pitchFamily="34" charset="-120"/>
              </a:rPr>
              <a:t>2 níveis</a:t>
            </a:r>
            <a:endParaRPr lang="en-US" sz="1200" dirty="0"/>
          </a:p>
        </p:txBody>
      </p:sp>
      <p:sp>
        <p:nvSpPr>
          <p:cNvPr id="18" name="Text 15"/>
          <p:cNvSpPr txBox="1"/>
          <p:nvPr/>
        </p:nvSpPr>
        <p:spPr>
          <a:xfrm>
            <a:off x="6263640" y="1627632"/>
            <a:ext cx="2194560" cy="1051560"/>
          </a:xfrm>
          <a:prstGeom prst="rect">
            <a:avLst/>
          </a:prstGeom>
          <a:noFill/>
          <a:ln/>
        </p:spPr>
        <p:txBody>
          <a:bodyPr wrap="square" lIns="0" tIns="0" rIns="0" bIns="0" rtlCol="0" anchor="t"/>
          <a:lstStyle/>
          <a:p>
            <a:pPr marL="0" indent="0">
              <a:buNone/>
            </a:pPr>
            <a:r>
              <a:rPr lang="en-US" sz="1050" dirty="0">
                <a:solidFill>
                  <a:srgbClr val="1B2A22"/>
                </a:solidFill>
                <a:latin typeface="Calibri" pitchFamily="34" charset="0"/>
                <a:ea typeface="Calibri" pitchFamily="34" charset="-122"/>
                <a:cs typeface="Calibri" pitchFamily="34" charset="-120"/>
              </a:rPr>
              <a:t>Carta Embrapa (COELHO et al., 2024). Nível 1: muito baixa a média (K ≤ 0,0285). Nível 2: alta e muito alta (K ≥ 0,0300); a extremamente alta entra por emenda em registro.</a:t>
            </a:r>
            <a:endParaRPr lang="en-US" sz="1050" dirty="0"/>
          </a:p>
        </p:txBody>
      </p:sp>
      <p:sp>
        <p:nvSpPr>
          <p:cNvPr id="19" name="Text 16"/>
          <p:cNvSpPr txBox="1"/>
          <p:nvPr/>
        </p:nvSpPr>
        <p:spPr>
          <a:xfrm>
            <a:off x="457200" y="2788920"/>
            <a:ext cx="8229600" cy="320040"/>
          </a:xfrm>
          <a:prstGeom prst="rect">
            <a:avLst/>
          </a:prstGeom>
          <a:noFill/>
          <a:ln/>
        </p:spPr>
        <p:txBody>
          <a:bodyPr wrap="square" lIns="0" tIns="0" rIns="0" bIns="0" rtlCol="0" anchor="t"/>
          <a:lstStyle/>
          <a:p>
            <a:pPr marL="0" indent="0">
              <a:buNone/>
            </a:pPr>
            <a:r>
              <a:rPr lang="en-US" sz="1400" b="1" dirty="0">
                <a:solidFill>
                  <a:srgbClr val="1B2A22"/>
                </a:solidFill>
                <a:latin typeface="Cambria" pitchFamily="34" charset="0"/>
                <a:ea typeface="Cambria" pitchFamily="34" charset="-122"/>
                <a:cs typeface="Cambria" pitchFamily="34" charset="-120"/>
              </a:rPr>
              <a:t>3 × 3 × 2 = 18 estratos × 4 polígonos (2 treino + 2 held-out) = 72</a:t>
            </a:r>
            <a:endParaRPr lang="en-US" sz="1400" dirty="0"/>
          </a:p>
        </p:txBody>
      </p:sp>
      <p:sp>
        <p:nvSpPr>
          <p:cNvPr id="20" name="Text 17"/>
          <p:cNvSpPr txBox="1"/>
          <p:nvPr/>
        </p:nvSpPr>
        <p:spPr>
          <a:xfrm>
            <a:off x="457200" y="3154680"/>
            <a:ext cx="8229600" cy="731520"/>
          </a:xfrm>
          <a:prstGeom prst="rect">
            <a:avLst/>
          </a:prstGeom>
          <a:noFill/>
          <a:ln/>
        </p:spPr>
        <p:txBody>
          <a:bodyPr wrap="square" lIns="0" tIns="0" rIns="0" bIns="0" rtlCol="0" anchor="t"/>
          <a:lstStyle/>
          <a:p>
            <a:pPr marL="342900" indent="-342900">
              <a:spcAft>
                <a:spcPts val="200"/>
              </a:spcAft>
              <a:buSzPct val="100000"/>
              <a:buChar char="•"/>
            </a:pPr>
            <a:r>
              <a:rPr lang="en-US" sz="1050" dirty="0">
                <a:solidFill>
                  <a:srgbClr val="1B2A22"/>
                </a:solidFill>
                <a:latin typeface="Calibri" pitchFamily="34" charset="0"/>
                <a:ea typeface="Calibri" pitchFamily="34" charset="-122"/>
                <a:cs typeface="Calibri" pitchFamily="34" charset="-120"/>
              </a:rPr>
              <a:t>Por que estratificar: sem isso o acaso concentraria a amostra nas combinações comuns e deixaria vazios os estratos raros, de maior interesse</a:t>
            </a:r>
            <a:endParaRPr lang="en-US" sz="1050" dirty="0"/>
          </a:p>
          <a:p>
            <a:pPr marL="342900" indent="-342900">
              <a:spcAft>
                <a:spcPts val="200"/>
              </a:spcAft>
              <a:buSzPct val="100000"/>
              <a:buChar char="•"/>
            </a:pPr>
            <a:r>
              <a:rPr lang="en-US" sz="1050" dirty="0">
                <a:solidFill>
                  <a:srgbClr val="1B2A22"/>
                </a:solidFill>
                <a:latin typeface="Calibri" pitchFamily="34" charset="0"/>
                <a:ea typeface="Calibri" pitchFamily="34" charset="-122"/>
                <a:cs typeface="Calibri" pitchFamily="34" charset="-120"/>
              </a:rPr>
              <a:t>Tercil: três grupos de tamanho aproximado; o corte é calculado sobre os candidatos da própria área e empates caem no grupo mais baixo</a:t>
            </a:r>
            <a:endParaRPr lang="en-US" sz="1050" dirty="0"/>
          </a:p>
        </p:txBody>
      </p:sp>
      <p:sp>
        <p:nvSpPr>
          <p:cNvPr id="21" name="Shape 18"/>
          <p:cNvSpPr/>
          <p:nvPr/>
        </p:nvSpPr>
        <p:spPr>
          <a:xfrm>
            <a:off x="457200" y="3886200"/>
            <a:ext cx="8229600" cy="822960"/>
          </a:xfrm>
          <a:prstGeom prst="roundRect">
            <a:avLst>
              <a:gd name="adj" fmla="val 8889"/>
            </a:avLst>
          </a:prstGeom>
          <a:solidFill>
            <a:srgbClr val="FBEFE6"/>
          </a:solidFill>
          <a:ln w="12700">
            <a:solidFill>
              <a:srgbClr val="FBEFE6"/>
            </a:solidFill>
            <a:prstDash val="solid"/>
          </a:ln>
        </p:spPr>
      </p:sp>
      <p:sp>
        <p:nvSpPr>
          <p:cNvPr id="22" name="Text 19"/>
          <p:cNvSpPr txBox="1"/>
          <p:nvPr/>
        </p:nvSpPr>
        <p:spPr>
          <a:xfrm>
            <a:off x="594360" y="3922776"/>
            <a:ext cx="7955280" cy="228600"/>
          </a:xfrm>
          <a:prstGeom prst="rect">
            <a:avLst/>
          </a:prstGeom>
          <a:noFill/>
          <a:ln/>
        </p:spPr>
        <p:txBody>
          <a:bodyPr wrap="square" lIns="0" tIns="0" rIns="0" bIns="0" rtlCol="0" anchor="t"/>
          <a:lstStyle/>
          <a:p>
            <a:pPr marL="0" indent="0">
              <a:buNone/>
            </a:pPr>
            <a:r>
              <a:rPr lang="en-US" sz="1150" b="1" dirty="0">
                <a:solidFill>
                  <a:srgbClr val="C65D3B"/>
                </a:solidFill>
                <a:latin typeface="Cambria" pitchFamily="34" charset="0"/>
                <a:ea typeface="Cambria" pitchFamily="34" charset="-122"/>
                <a:cs typeface="Cambria" pitchFamily="34" charset="-120"/>
              </a:rPr>
              <a:t>Onde entra a série temporal (Sentinel-2, 2016–2026)</a:t>
            </a:r>
            <a:endParaRPr lang="en-US" sz="1150" dirty="0"/>
          </a:p>
        </p:txBody>
      </p:sp>
      <p:sp>
        <p:nvSpPr>
          <p:cNvPr id="23" name="Text 20"/>
          <p:cNvSpPr txBox="1"/>
          <p:nvPr/>
        </p:nvSpPr>
        <p:spPr>
          <a:xfrm>
            <a:off x="594360" y="4160520"/>
            <a:ext cx="7955280" cy="548640"/>
          </a:xfrm>
          <a:prstGeom prst="rect">
            <a:avLst/>
          </a:prstGeom>
          <a:noFill/>
          <a:ln/>
        </p:spPr>
        <p:txBody>
          <a:bodyPr wrap="square" lIns="0" tIns="0" rIns="0" bIns="0" rtlCol="0" anchor="t"/>
          <a:lstStyle/>
          <a:p>
            <a:pPr marL="0" indent="0">
              <a:buNone/>
            </a:pPr>
            <a:r>
              <a:rPr lang="en-US" sz="1000" dirty="0">
                <a:solidFill>
                  <a:srgbClr val="1B2A22"/>
                </a:solidFill>
                <a:latin typeface="Calibri" pitchFamily="34" charset="0"/>
                <a:ea typeface="Calibri" pitchFamily="34" charset="-122"/>
                <a:cs typeface="Calibri" pitchFamily="34" charset="-120"/>
              </a:rPr>
              <a:t>1) Solo nu: fração de cenas válidas em que a célula está exposta = eixo dos estratos.  2) Qualidade: mínimo de 6 observações válidas por célula e janela; abaixo disso a métrica é “indisponível”. A frequência de solo nu ainda não foi medida (falta a credencial do GEE).</a:t>
            </a:r>
            <a:endParaRPr lang="en-US" sz="1000" dirty="0"/>
          </a:p>
        </p:txBody>
      </p:sp>
      <p:sp>
        <p:nvSpPr>
          <p:cNvPr id="24" name="Text 21"/>
          <p:cNvSpPr txBox="1"/>
          <p:nvPr/>
        </p:nvSpPr>
        <p:spPr>
          <a:xfrm>
            <a:off x="457200" y="4727448"/>
            <a:ext cx="7863840" cy="365760"/>
          </a:xfrm>
          <a:prstGeom prst="rect">
            <a:avLst/>
          </a:prstGeom>
          <a:noFill/>
          <a:ln/>
        </p:spPr>
        <p:txBody>
          <a:bodyPr wrap="square" lIns="0" tIns="0" rIns="0" bIns="0" rtlCol="0" anchor="ctr"/>
          <a:lstStyle/>
          <a:p>
            <a:pPr marL="0" indent="0">
              <a:buNone/>
            </a:pPr>
            <a:r>
              <a:rPr lang="en-US" sz="900" i="1" dirty="0">
                <a:solidFill>
                  <a:srgbClr val="52605A"/>
                </a:solidFill>
                <a:latin typeface="Calibri" pitchFamily="34" charset="0"/>
                <a:ea typeface="Calibri" pitchFamily="34" charset="-122"/>
                <a:cs typeface="Calibri" pitchFamily="34" charset="-120"/>
              </a:rPr>
              <a:t>Fontes: COELHO et al. (2024); SILVA (2026a, D05, D09, D10, D11 e D12).</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t"/>
          <a:lstStyle/>
          <a:p>
            <a:pPr marL="0" indent="0">
              <a:buNone/>
            </a:pPr>
            <a:r>
              <a:rPr lang="en-US" sz="2200" b="1" dirty="0">
                <a:solidFill>
                  <a:srgbClr val="1B2A22"/>
                </a:solidFill>
                <a:latin typeface="Cambria" pitchFamily="34" charset="0"/>
                <a:ea typeface="Cambria" pitchFamily="34" charset="-122"/>
                <a:cs typeface="Cambria" pitchFamily="34" charset="-120"/>
              </a:rPr>
              <a:t>Dificuldade: o polígono precisa caber em um único imóvel</a:t>
            </a:r>
            <a:endParaRPr lang="en-US" sz="2200" dirty="0"/>
          </a:p>
        </p:txBody>
      </p:sp>
      <p:sp>
        <p:nvSpPr>
          <p:cNvPr id="3" name="Text 1"/>
          <p:cNvSpPr txBox="1"/>
          <p:nvPr/>
        </p:nvSpPr>
        <p:spPr>
          <a:xfrm>
            <a:off x="8412480" y="4800600"/>
            <a:ext cx="457200" cy="228600"/>
          </a:xfrm>
          <a:prstGeom prst="rect">
            <a:avLst/>
          </a:prstGeom>
          <a:noFill/>
          <a:ln/>
        </p:spPr>
        <p:txBody>
          <a:bodyPr wrap="square" lIns="0" tIns="0" rIns="0" bIns="0" rtlCol="0" anchor="t"/>
          <a:lstStyle/>
          <a:p>
            <a:pPr marL="0" indent="0" algn="r">
              <a:buNone/>
            </a:pPr>
            <a:r>
              <a:rPr lang="en-US" sz="1000" dirty="0">
                <a:solidFill>
                  <a:srgbClr val="52605A"/>
                </a:solidFill>
                <a:latin typeface="Calibri" pitchFamily="34" charset="0"/>
                <a:ea typeface="Calibri" pitchFamily="34" charset="-122"/>
                <a:cs typeface="Calibri" pitchFamily="34" charset="-120"/>
              </a:rPr>
              <a:t>7</a:t>
            </a:r>
            <a:endParaRPr lang="en-US" sz="1000" dirty="0"/>
          </a:p>
        </p:txBody>
      </p:sp>
      <p:graphicFrame>
        <p:nvGraphicFramePr>
          <p:cNvPr id="5" name="Chart 0"/>
          <p:cNvGraphicFramePr/>
          <p:nvPr/>
        </p:nvGraphicFramePr>
        <p:xfrm>
          <a:off x="457200" y="1005840"/>
          <a:ext cx="475488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2"/>
          <p:cNvSpPr txBox="1"/>
          <p:nvPr/>
        </p:nvSpPr>
        <p:spPr>
          <a:xfrm>
            <a:off x="5486400" y="1097280"/>
            <a:ext cx="3291840" cy="329184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73.643 imóveis rurais no envelope da bacia</a:t>
            </a:r>
            <a:endParaRPr lang="en-US" sz="1250" dirty="0"/>
          </a:p>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Mediana de 11,7 ha: minifúndio do oeste do Paraná</a:t>
            </a:r>
            <a:endParaRPr lang="en-US" sz="1250" dirty="0"/>
          </a:p>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Teste por caixa envolvente: valores são limites superiores</a:t>
            </a:r>
            <a:endParaRPr lang="en-US" sz="1250" dirty="0"/>
          </a:p>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72 </a:t>
            </a:r>
            <a:r>
              <a:rPr lang="en-US" sz="1250" dirty="0" err="1">
                <a:solidFill>
                  <a:srgbClr val="1B2A22"/>
                </a:solidFill>
                <a:latin typeface="Calibri" pitchFamily="34" charset="0"/>
                <a:ea typeface="Calibri" pitchFamily="34" charset="-122"/>
                <a:cs typeface="Calibri" pitchFamily="34" charset="-120"/>
              </a:rPr>
              <a:t>autorizações</a:t>
            </a:r>
            <a:r>
              <a:rPr lang="en-US" sz="1250" dirty="0">
                <a:solidFill>
                  <a:srgbClr val="1B2A22"/>
                </a:solidFill>
                <a:latin typeface="Calibri" pitchFamily="34" charset="0"/>
                <a:ea typeface="Calibri" pitchFamily="34" charset="-122"/>
                <a:cs typeface="Calibri" pitchFamily="34" charset="-120"/>
              </a:rPr>
              <a:t> </a:t>
            </a:r>
            <a:endParaRPr lang="en-US" sz="1250" dirty="0"/>
          </a:p>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Viés declarado: amostra tende a imóveis maiores, com outro manejo</a:t>
            </a:r>
            <a:endParaRPr lang="en-US" sz="1250" dirty="0"/>
          </a:p>
        </p:txBody>
      </p:sp>
      <p:sp>
        <p:nvSpPr>
          <p:cNvPr id="7" name="Text 3"/>
          <p:cNvSpPr txBox="1"/>
          <p:nvPr/>
        </p:nvSpPr>
        <p:spPr>
          <a:xfrm>
            <a:off x="457200" y="4727448"/>
            <a:ext cx="7863840" cy="365760"/>
          </a:xfrm>
          <a:prstGeom prst="rect">
            <a:avLst/>
          </a:prstGeom>
          <a:noFill/>
          <a:ln/>
        </p:spPr>
        <p:txBody>
          <a:bodyPr wrap="square" lIns="0" tIns="0" rIns="0" bIns="0" rtlCol="0" anchor="ctr"/>
          <a:lstStyle/>
          <a:p>
            <a:pPr marL="0" indent="0">
              <a:buNone/>
            </a:pPr>
            <a:r>
              <a:rPr lang="en-US" sz="900" i="1" dirty="0">
                <a:solidFill>
                  <a:srgbClr val="52605A"/>
                </a:solidFill>
                <a:latin typeface="Calibri" pitchFamily="34" charset="0"/>
                <a:ea typeface="Calibri" pitchFamily="34" charset="-122"/>
                <a:cs typeface="Calibri" pitchFamily="34" charset="-120"/>
              </a:rPr>
              <a:t>Fonte: SILVA (2026a, D16); medição de 29/09/2026 sobre a base fundiária local (SILVA, 2026b).</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t"/>
          <a:lstStyle/>
          <a:p>
            <a:pPr marL="0" indent="0">
              <a:buNone/>
            </a:pPr>
            <a:r>
              <a:rPr lang="en-US" sz="2200" b="1" dirty="0">
                <a:solidFill>
                  <a:srgbClr val="1B2A22"/>
                </a:solidFill>
                <a:latin typeface="Cambria" pitchFamily="34" charset="0"/>
                <a:ea typeface="Cambria" pitchFamily="34" charset="-122"/>
                <a:cs typeface="Cambria" pitchFamily="34" charset="-120"/>
              </a:rPr>
              <a:t>Dificuldade: quantos voos e quanto tempo</a:t>
            </a:r>
            <a:endParaRPr lang="en-US" sz="2200" dirty="0"/>
          </a:p>
        </p:txBody>
      </p:sp>
      <p:sp>
        <p:nvSpPr>
          <p:cNvPr id="3" name="Text 1"/>
          <p:cNvSpPr txBox="1"/>
          <p:nvPr/>
        </p:nvSpPr>
        <p:spPr>
          <a:xfrm>
            <a:off x="8412480" y="4800600"/>
            <a:ext cx="457200" cy="228600"/>
          </a:xfrm>
          <a:prstGeom prst="rect">
            <a:avLst/>
          </a:prstGeom>
          <a:noFill/>
          <a:ln/>
        </p:spPr>
        <p:txBody>
          <a:bodyPr wrap="square" lIns="0" tIns="0" rIns="0" bIns="0" rtlCol="0" anchor="t"/>
          <a:lstStyle/>
          <a:p>
            <a:pPr marL="0" indent="0" algn="r">
              <a:buNone/>
            </a:pPr>
            <a:r>
              <a:rPr lang="en-US" sz="1000" dirty="0">
                <a:solidFill>
                  <a:srgbClr val="52605A"/>
                </a:solidFill>
                <a:latin typeface="Calibri" pitchFamily="34" charset="0"/>
                <a:ea typeface="Calibri" pitchFamily="34" charset="-122"/>
                <a:cs typeface="Calibri" pitchFamily="34" charset="-120"/>
              </a:rPr>
              <a:t>8</a:t>
            </a:r>
            <a:endParaRPr lang="en-US" sz="1000" dirty="0"/>
          </a:p>
        </p:txBody>
      </p:sp>
      <p:sp>
        <p:nvSpPr>
          <p:cNvPr id="5" name="Shape 2"/>
          <p:cNvSpPr/>
          <p:nvPr/>
        </p:nvSpPr>
        <p:spPr>
          <a:xfrm>
            <a:off x="457200" y="720922"/>
            <a:ext cx="1920240" cy="1188720"/>
          </a:xfrm>
          <a:prstGeom prst="roundRect">
            <a:avLst>
              <a:gd name="adj" fmla="val 6154"/>
            </a:avLst>
          </a:prstGeom>
          <a:solidFill>
            <a:srgbClr val="EEF3EF"/>
          </a:solidFill>
          <a:ln w="12700">
            <a:solidFill>
              <a:srgbClr val="EEF3EF"/>
            </a:solidFill>
            <a:prstDash val="solid"/>
          </a:ln>
        </p:spPr>
      </p:sp>
      <p:sp>
        <p:nvSpPr>
          <p:cNvPr id="6" name="Text 3"/>
          <p:cNvSpPr txBox="1"/>
          <p:nvPr/>
        </p:nvSpPr>
        <p:spPr>
          <a:xfrm>
            <a:off x="457200" y="830650"/>
            <a:ext cx="1920240" cy="594360"/>
          </a:xfrm>
          <a:prstGeom prst="rect">
            <a:avLst/>
          </a:prstGeom>
          <a:noFill/>
          <a:ln/>
        </p:spPr>
        <p:txBody>
          <a:bodyPr wrap="square" lIns="0" tIns="0" rIns="0" bIns="0" rtlCol="0" anchor="t"/>
          <a:lstStyle/>
          <a:p>
            <a:pPr marL="0" indent="0" algn="ctr">
              <a:buNone/>
            </a:pPr>
            <a:r>
              <a:rPr lang="en-US" sz="2200" b="1" dirty="0">
                <a:solidFill>
                  <a:srgbClr val="C65D3B"/>
                </a:solidFill>
                <a:latin typeface="Cambria" pitchFamily="34" charset="0"/>
                <a:ea typeface="Cambria" pitchFamily="34" charset="-122"/>
                <a:cs typeface="Cambria" pitchFamily="34" charset="-120"/>
              </a:rPr>
              <a:t>72</a:t>
            </a:r>
            <a:endParaRPr lang="en-US" sz="2200" dirty="0"/>
          </a:p>
        </p:txBody>
      </p:sp>
      <p:sp>
        <p:nvSpPr>
          <p:cNvPr id="7" name="Text 4"/>
          <p:cNvSpPr txBox="1"/>
          <p:nvPr/>
        </p:nvSpPr>
        <p:spPr>
          <a:xfrm>
            <a:off x="548640" y="1434154"/>
            <a:ext cx="1737360" cy="457200"/>
          </a:xfrm>
          <a:prstGeom prst="rect">
            <a:avLst/>
          </a:prstGeom>
          <a:noFill/>
          <a:ln/>
        </p:spPr>
        <p:txBody>
          <a:bodyPr wrap="square" lIns="0" tIns="0" rIns="0" bIns="0" rtlCol="0" anchor="t"/>
          <a:lstStyle/>
          <a:p>
            <a:pPr marL="0" indent="0" algn="ctr">
              <a:buNone/>
            </a:pPr>
            <a:r>
              <a:rPr lang="en-US" sz="1100" dirty="0">
                <a:solidFill>
                  <a:srgbClr val="52605A"/>
                </a:solidFill>
                <a:latin typeface="Calibri" pitchFamily="34" charset="0"/>
                <a:ea typeface="Calibri" pitchFamily="34" charset="-122"/>
                <a:cs typeface="Calibri" pitchFamily="34" charset="-120"/>
              </a:rPr>
              <a:t>missões de mapeamento, uma por polígono (eram 36)</a:t>
            </a:r>
            <a:endParaRPr lang="en-US" sz="1100" dirty="0"/>
          </a:p>
        </p:txBody>
      </p:sp>
      <p:sp>
        <p:nvSpPr>
          <p:cNvPr id="8" name="Shape 5"/>
          <p:cNvSpPr/>
          <p:nvPr/>
        </p:nvSpPr>
        <p:spPr>
          <a:xfrm>
            <a:off x="2514600" y="720922"/>
            <a:ext cx="1920240" cy="1188720"/>
          </a:xfrm>
          <a:prstGeom prst="roundRect">
            <a:avLst>
              <a:gd name="adj" fmla="val 6154"/>
            </a:avLst>
          </a:prstGeom>
          <a:solidFill>
            <a:srgbClr val="EEF3EF"/>
          </a:solidFill>
          <a:ln w="12700">
            <a:solidFill>
              <a:srgbClr val="EEF3EF"/>
            </a:solidFill>
            <a:prstDash val="solid"/>
          </a:ln>
        </p:spPr>
      </p:sp>
      <p:sp>
        <p:nvSpPr>
          <p:cNvPr id="9" name="Text 6"/>
          <p:cNvSpPr txBox="1"/>
          <p:nvPr/>
        </p:nvSpPr>
        <p:spPr>
          <a:xfrm>
            <a:off x="2514600" y="830650"/>
            <a:ext cx="1920240" cy="594360"/>
          </a:xfrm>
          <a:prstGeom prst="rect">
            <a:avLst/>
          </a:prstGeom>
          <a:noFill/>
          <a:ln/>
        </p:spPr>
        <p:txBody>
          <a:bodyPr wrap="square" lIns="0" tIns="0" rIns="0" bIns="0" rtlCol="0" anchor="t"/>
          <a:lstStyle/>
          <a:p>
            <a:pPr marL="0" indent="0" algn="ctr">
              <a:buNone/>
            </a:pPr>
            <a:r>
              <a:rPr lang="en-US" sz="2200" b="1" dirty="0">
                <a:solidFill>
                  <a:srgbClr val="2F6B4F"/>
                </a:solidFill>
                <a:latin typeface="Cambria" pitchFamily="34" charset="0"/>
                <a:ea typeface="Cambria" pitchFamily="34" charset="-122"/>
                <a:cs typeface="Cambria" pitchFamily="34" charset="-120"/>
              </a:rPr>
              <a:t>≈ 12</a:t>
            </a:r>
            <a:endParaRPr lang="en-US" sz="2200" dirty="0"/>
          </a:p>
        </p:txBody>
      </p:sp>
      <p:sp>
        <p:nvSpPr>
          <p:cNvPr id="10" name="Text 7"/>
          <p:cNvSpPr txBox="1"/>
          <p:nvPr/>
        </p:nvSpPr>
        <p:spPr>
          <a:xfrm>
            <a:off x="2606040" y="1434154"/>
            <a:ext cx="1737360" cy="457200"/>
          </a:xfrm>
          <a:prstGeom prst="rect">
            <a:avLst/>
          </a:prstGeom>
          <a:noFill/>
          <a:ln/>
        </p:spPr>
        <p:txBody>
          <a:bodyPr wrap="square" lIns="0" tIns="0" rIns="0" bIns="0" rtlCol="0" anchor="t"/>
          <a:lstStyle/>
          <a:p>
            <a:pPr marL="0" indent="0" algn="ctr">
              <a:buNone/>
            </a:pPr>
            <a:r>
              <a:rPr lang="en-US" sz="1100" dirty="0">
                <a:solidFill>
                  <a:srgbClr val="52605A"/>
                </a:solidFill>
                <a:latin typeface="Calibri" pitchFamily="34" charset="0"/>
                <a:ea typeface="Calibri" pitchFamily="34" charset="-122"/>
                <a:cs typeface="Calibri" pitchFamily="34" charset="-120"/>
              </a:rPr>
              <a:t>jornadas, com até 6 polígonos e 3 baterias cada (proposta)</a:t>
            </a:r>
            <a:endParaRPr lang="en-US" sz="1100" dirty="0"/>
          </a:p>
        </p:txBody>
      </p:sp>
      <p:sp>
        <p:nvSpPr>
          <p:cNvPr id="11" name="Shape 8"/>
          <p:cNvSpPr/>
          <p:nvPr/>
        </p:nvSpPr>
        <p:spPr>
          <a:xfrm>
            <a:off x="4572000" y="720922"/>
            <a:ext cx="1920240" cy="1188720"/>
          </a:xfrm>
          <a:prstGeom prst="roundRect">
            <a:avLst>
              <a:gd name="adj" fmla="val 6154"/>
            </a:avLst>
          </a:prstGeom>
          <a:solidFill>
            <a:srgbClr val="EEF3EF"/>
          </a:solidFill>
          <a:ln w="12700">
            <a:solidFill>
              <a:srgbClr val="EEF3EF"/>
            </a:solidFill>
            <a:prstDash val="solid"/>
          </a:ln>
        </p:spPr>
      </p:sp>
      <p:sp>
        <p:nvSpPr>
          <p:cNvPr id="12" name="Text 9"/>
          <p:cNvSpPr txBox="1"/>
          <p:nvPr/>
        </p:nvSpPr>
        <p:spPr>
          <a:xfrm>
            <a:off x="4572000" y="830650"/>
            <a:ext cx="1920240" cy="594360"/>
          </a:xfrm>
          <a:prstGeom prst="rect">
            <a:avLst/>
          </a:prstGeom>
          <a:noFill/>
          <a:ln/>
        </p:spPr>
        <p:txBody>
          <a:bodyPr wrap="square" lIns="0" tIns="0" rIns="0" bIns="0" rtlCol="0" anchor="t"/>
          <a:lstStyle/>
          <a:p>
            <a:pPr marL="0" indent="0" algn="ctr">
              <a:buNone/>
            </a:pPr>
            <a:r>
              <a:rPr lang="en-US" sz="2200" b="1" dirty="0">
                <a:solidFill>
                  <a:srgbClr val="2F6B4F"/>
                </a:solidFill>
                <a:latin typeface="Cambria" pitchFamily="34" charset="0"/>
                <a:ea typeface="Cambria" pitchFamily="34" charset="-122"/>
                <a:cs typeface="Cambria" pitchFamily="34" charset="-120"/>
              </a:rPr>
              <a:t>≈ 3 min</a:t>
            </a:r>
            <a:endParaRPr lang="en-US" sz="2200" dirty="0"/>
          </a:p>
        </p:txBody>
      </p:sp>
      <p:sp>
        <p:nvSpPr>
          <p:cNvPr id="13" name="Text 10"/>
          <p:cNvSpPr txBox="1"/>
          <p:nvPr/>
        </p:nvSpPr>
        <p:spPr>
          <a:xfrm>
            <a:off x="4663440" y="1434154"/>
            <a:ext cx="1737360" cy="457200"/>
          </a:xfrm>
          <a:prstGeom prst="rect">
            <a:avLst/>
          </a:prstGeom>
          <a:noFill/>
          <a:ln/>
        </p:spPr>
        <p:txBody>
          <a:bodyPr wrap="square" lIns="0" tIns="0" rIns="0" bIns="0" rtlCol="0" anchor="t"/>
          <a:lstStyle/>
          <a:p>
            <a:pPr marL="0" indent="0" algn="ctr">
              <a:buNone/>
            </a:pPr>
            <a:r>
              <a:rPr lang="en-US" sz="1100" dirty="0">
                <a:solidFill>
                  <a:srgbClr val="52605A"/>
                </a:solidFill>
                <a:latin typeface="Calibri" pitchFamily="34" charset="0"/>
                <a:ea typeface="Calibri" pitchFamily="34" charset="-122"/>
                <a:cs typeface="Calibri" pitchFamily="34" charset="-120"/>
              </a:rPr>
              <a:t>de mapeamento por polígono, mais curvas (plano de voo)</a:t>
            </a:r>
            <a:endParaRPr lang="en-US" sz="1100" dirty="0"/>
          </a:p>
        </p:txBody>
      </p:sp>
      <p:sp>
        <p:nvSpPr>
          <p:cNvPr id="14" name="Shape 11"/>
          <p:cNvSpPr/>
          <p:nvPr/>
        </p:nvSpPr>
        <p:spPr>
          <a:xfrm>
            <a:off x="6629400" y="720922"/>
            <a:ext cx="2057400" cy="1188720"/>
          </a:xfrm>
          <a:prstGeom prst="roundRect">
            <a:avLst>
              <a:gd name="adj" fmla="val 6154"/>
            </a:avLst>
          </a:prstGeom>
          <a:solidFill>
            <a:srgbClr val="EEF3EF"/>
          </a:solidFill>
          <a:ln w="12700">
            <a:solidFill>
              <a:srgbClr val="EEF3EF"/>
            </a:solidFill>
            <a:prstDash val="solid"/>
          </a:ln>
        </p:spPr>
      </p:sp>
      <p:sp>
        <p:nvSpPr>
          <p:cNvPr id="15" name="Text 12"/>
          <p:cNvSpPr txBox="1"/>
          <p:nvPr/>
        </p:nvSpPr>
        <p:spPr>
          <a:xfrm>
            <a:off x="6629400" y="830650"/>
            <a:ext cx="2057400" cy="594360"/>
          </a:xfrm>
          <a:prstGeom prst="rect">
            <a:avLst/>
          </a:prstGeom>
          <a:noFill/>
          <a:ln/>
        </p:spPr>
        <p:txBody>
          <a:bodyPr wrap="square" lIns="0" tIns="0" rIns="0" bIns="0" rtlCol="0" anchor="t"/>
          <a:lstStyle/>
          <a:p>
            <a:pPr marL="0" indent="0" algn="ctr">
              <a:buNone/>
            </a:pPr>
            <a:r>
              <a:rPr lang="en-US" sz="2200" b="1" dirty="0">
                <a:solidFill>
                  <a:srgbClr val="C65D3B"/>
                </a:solidFill>
                <a:latin typeface="Cambria" pitchFamily="34" charset="0"/>
                <a:ea typeface="Cambria" pitchFamily="34" charset="-122"/>
                <a:cs typeface="Cambria" pitchFamily="34" charset="-120"/>
              </a:rPr>
              <a:t>72</a:t>
            </a:r>
            <a:endParaRPr lang="en-US" sz="2200" dirty="0"/>
          </a:p>
        </p:txBody>
      </p:sp>
      <p:sp>
        <p:nvSpPr>
          <p:cNvPr id="16" name="Text 13"/>
          <p:cNvSpPr txBox="1"/>
          <p:nvPr/>
        </p:nvSpPr>
        <p:spPr>
          <a:xfrm>
            <a:off x="6720840" y="1434154"/>
            <a:ext cx="1874520" cy="457200"/>
          </a:xfrm>
          <a:prstGeom prst="rect">
            <a:avLst/>
          </a:prstGeom>
          <a:noFill/>
          <a:ln/>
        </p:spPr>
        <p:txBody>
          <a:bodyPr wrap="square" lIns="0" tIns="0" rIns="0" bIns="0" rtlCol="0" anchor="t"/>
          <a:lstStyle/>
          <a:p>
            <a:pPr marL="0" indent="0" algn="ctr">
              <a:buNone/>
            </a:pPr>
            <a:r>
              <a:rPr lang="en-US" sz="1100" dirty="0">
                <a:solidFill>
                  <a:srgbClr val="52605A"/>
                </a:solidFill>
                <a:latin typeface="Calibri" pitchFamily="34" charset="0"/>
                <a:ea typeface="Calibri" pitchFamily="34" charset="-122"/>
                <a:cs typeface="Calibri" pitchFamily="34" charset="-120"/>
              </a:rPr>
              <a:t>autorizações de proprietário</a:t>
            </a:r>
            <a:endParaRPr lang="en-US" sz="1100" dirty="0"/>
          </a:p>
        </p:txBody>
      </p:sp>
      <p:pic>
        <p:nvPicPr>
          <p:cNvPr id="18" name="Image 0" descr="img/camp_cards.png"/>
          <p:cNvPicPr>
            <a:picLocks noChangeAspect="1"/>
          </p:cNvPicPr>
          <p:nvPr/>
        </p:nvPicPr>
        <p:blipFill>
          <a:blip r:embed="rId3"/>
          <a:stretch>
            <a:fillRect/>
          </a:stretch>
        </p:blipFill>
        <p:spPr>
          <a:xfrm>
            <a:off x="757982" y="2019370"/>
            <a:ext cx="7353716" cy="1534999"/>
          </a:xfrm>
          <a:prstGeom prst="rect">
            <a:avLst/>
          </a:prstGeom>
        </p:spPr>
      </p:pic>
      <p:sp>
        <p:nvSpPr>
          <p:cNvPr id="19" name="Text 15"/>
          <p:cNvSpPr txBox="1"/>
          <p:nvPr/>
        </p:nvSpPr>
        <p:spPr>
          <a:xfrm>
            <a:off x="457200" y="3674430"/>
            <a:ext cx="8229600" cy="1042416"/>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1B2A22"/>
                </a:solidFill>
                <a:latin typeface="Calibri" pitchFamily="34" charset="0"/>
                <a:ea typeface="Calibri" pitchFamily="34" charset="-122"/>
                <a:cs typeface="Calibri" pitchFamily="34" charset="-120"/>
              </a:rPr>
              <a:t>Aeronave: Spectral 2 (Nuvem UAV), câmera MicaSense Altum; 3 baterias. Plano: 4 cm de GSD, 92,8 m de altitude, 8,7 a 9,2 m/s (medido), cerca de 7 linhas e 123 disparos por polígono</a:t>
            </a:r>
            <a:endParaRPr lang="en-US" sz="1000" dirty="0"/>
          </a:p>
          <a:p>
            <a:pPr marL="342900" indent="-342900">
              <a:spcAft>
                <a:spcPts val="200"/>
              </a:spcAft>
              <a:buSzPct val="100000"/>
              <a:buChar char="•"/>
            </a:pPr>
            <a:r>
              <a:rPr lang="en-US" sz="1000" dirty="0">
                <a:solidFill>
                  <a:srgbClr val="1B2A22"/>
                </a:solidFill>
                <a:latin typeface="Calibri" pitchFamily="34" charset="0"/>
                <a:ea typeface="Calibri" pitchFamily="34" charset="-122"/>
                <a:cs typeface="Calibri" pitchFamily="34" charset="-120"/>
              </a:rPr>
              <a:t>Por que 72: 18 estratos × 4 polígonos (2 treino + 2 teste); a área total, cerca de 361 ha, é o que o custo de voo suporta e rende cerca de 1.845 unidades independentes (D24)</a:t>
            </a:r>
            <a:endParaRPr lang="en-US" sz="1000" dirty="0"/>
          </a:p>
          <a:p>
            <a:pPr marL="342900" indent="-342900">
              <a:spcAft>
                <a:spcPts val="200"/>
              </a:spcAft>
              <a:buSzPct val="100000"/>
              <a:buChar char="•"/>
            </a:pPr>
            <a:r>
              <a:rPr lang="en-US" sz="1000" dirty="0">
                <a:solidFill>
                  <a:srgbClr val="1B2A22"/>
                </a:solidFill>
                <a:latin typeface="Calibri" pitchFamily="34" charset="0"/>
                <a:ea typeface="Calibri" pitchFamily="34" charset="-122"/>
                <a:cs typeface="Calibri" pitchFamily="34" charset="-120"/>
              </a:rPr>
              <a:t>Tempo: pelo menos 3,6 h de mapeamento nos 72; 6 polígonos por jornada = 2 por bateria, compatível com as missões já voadas (9 a 13 min); autonomia útil a confirmar. Produtividade medida: 2,3 ha/min (Missão 009) e 0,53 (000)</a:t>
            </a:r>
            <a:endParaRPr lang="en-US" sz="1000" dirty="0"/>
          </a:p>
        </p:txBody>
      </p:sp>
      <p:sp>
        <p:nvSpPr>
          <p:cNvPr id="20" name="Text 16"/>
          <p:cNvSpPr txBox="1"/>
          <p:nvPr/>
        </p:nvSpPr>
        <p:spPr>
          <a:xfrm>
            <a:off x="457200" y="4727448"/>
            <a:ext cx="7863840" cy="365760"/>
          </a:xfrm>
          <a:prstGeom prst="rect">
            <a:avLst/>
          </a:prstGeom>
          <a:noFill/>
          <a:ln/>
        </p:spPr>
        <p:txBody>
          <a:bodyPr wrap="square" lIns="0" tIns="0" rIns="0" bIns="0" rtlCol="0" anchor="ctr"/>
          <a:lstStyle/>
          <a:p>
            <a:pPr marL="0" indent="0">
              <a:buNone/>
            </a:pPr>
            <a:r>
              <a:rPr lang="en-US" sz="900" i="1" dirty="0">
                <a:solidFill>
                  <a:srgbClr val="52605A"/>
                </a:solidFill>
                <a:latin typeface="Calibri" pitchFamily="34" charset="0"/>
                <a:ea typeface="Calibri" pitchFamily="34" charset="-122"/>
                <a:cs typeface="Calibri" pitchFamily="34" charset="-120"/>
              </a:rPr>
              <a:t>Fontes: SILVA (2026a, D16 e D24); plano de voo e cobertura das missões 000 e 009 (SILVA, 2026b).</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t"/>
          <a:lstStyle/>
          <a:p>
            <a:pPr marL="0" indent="0">
              <a:buNone/>
            </a:pPr>
            <a:r>
              <a:rPr lang="en-US" sz="2200" b="1" dirty="0">
                <a:solidFill>
                  <a:srgbClr val="1B2A22"/>
                </a:solidFill>
                <a:latin typeface="Cambria" pitchFamily="34" charset="0"/>
                <a:ea typeface="Cambria" pitchFamily="34" charset="-122"/>
                <a:cs typeface="Cambria" pitchFamily="34" charset="-120"/>
              </a:rPr>
              <a:t>Voo cego, delineação e rótulo por fração</a:t>
            </a:r>
            <a:endParaRPr lang="en-US" sz="2200" dirty="0"/>
          </a:p>
        </p:txBody>
      </p:sp>
      <p:sp>
        <p:nvSpPr>
          <p:cNvPr id="3" name="Text 1"/>
          <p:cNvSpPr txBox="1"/>
          <p:nvPr/>
        </p:nvSpPr>
        <p:spPr>
          <a:xfrm>
            <a:off x="8412480" y="4800600"/>
            <a:ext cx="457200" cy="228600"/>
          </a:xfrm>
          <a:prstGeom prst="rect">
            <a:avLst/>
          </a:prstGeom>
          <a:noFill/>
          <a:ln/>
        </p:spPr>
        <p:txBody>
          <a:bodyPr wrap="square" lIns="0" tIns="0" rIns="0" bIns="0" rtlCol="0" anchor="t"/>
          <a:lstStyle/>
          <a:p>
            <a:pPr marL="0" indent="0" algn="r">
              <a:buNone/>
            </a:pPr>
            <a:r>
              <a:rPr lang="en-US" sz="1000" dirty="0">
                <a:solidFill>
                  <a:srgbClr val="52605A"/>
                </a:solidFill>
                <a:latin typeface="Calibri" pitchFamily="34" charset="0"/>
                <a:ea typeface="Calibri" pitchFamily="34" charset="-122"/>
                <a:cs typeface="Calibri" pitchFamily="34" charset="-120"/>
              </a:rPr>
              <a:t>9</a:t>
            </a:r>
            <a:endParaRPr lang="en-US" sz="1000" dirty="0"/>
          </a:p>
        </p:txBody>
      </p:sp>
      <p:sp>
        <p:nvSpPr>
          <p:cNvPr id="5" name="Shape 2"/>
          <p:cNvSpPr/>
          <p:nvPr/>
        </p:nvSpPr>
        <p:spPr>
          <a:xfrm>
            <a:off x="472440" y="987552"/>
            <a:ext cx="8199120" cy="1225296"/>
          </a:xfrm>
          <a:prstGeom prst="rect">
            <a:avLst/>
          </a:prstGeom>
          <a:solidFill>
            <a:srgbClr val="FFFFFF"/>
          </a:solidFill>
          <a:ln w="9525">
            <a:solidFill>
              <a:srgbClr val="B8C4BC"/>
            </a:solidFill>
            <a:prstDash val="solid"/>
          </a:ln>
        </p:spPr>
      </p:sp>
      <p:pic>
        <p:nvPicPr>
          <p:cNvPr id="6" name="Image 0" descr="img/camp_topo.png"/>
          <p:cNvPicPr>
            <a:picLocks noChangeAspect="1"/>
          </p:cNvPicPr>
          <p:nvPr/>
        </p:nvPicPr>
        <p:blipFill>
          <a:blip r:embed="rId3"/>
          <a:stretch>
            <a:fillRect/>
          </a:stretch>
        </p:blipFill>
        <p:spPr>
          <a:xfrm>
            <a:off x="524256" y="777240"/>
            <a:ext cx="8162544" cy="1188720"/>
          </a:xfrm>
          <a:prstGeom prst="rect">
            <a:avLst/>
          </a:prstGeom>
        </p:spPr>
      </p:pic>
      <p:sp>
        <p:nvSpPr>
          <p:cNvPr id="7" name="Text 3"/>
          <p:cNvSpPr txBox="1"/>
          <p:nvPr/>
        </p:nvSpPr>
        <p:spPr>
          <a:xfrm>
            <a:off x="457200" y="2423160"/>
            <a:ext cx="8229600" cy="219456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1B2A22"/>
                </a:solidFill>
                <a:latin typeface="Calibri" pitchFamily="34" charset="0"/>
                <a:ea typeface="Calibri" pitchFamily="34" charset="-122"/>
                <a:cs typeface="Calibri" pitchFamily="34" charset="-120"/>
              </a:rPr>
              <a:t>Alvo primário: fração da célula de 10 m delineada como erodida, de 0 a 1 </a:t>
            </a:r>
            <a:endParaRPr lang="en-US" sz="1300" dirty="0"/>
          </a:p>
          <a:p>
            <a:pPr marL="342900" indent="-342900">
              <a:spcAft>
                <a:spcPts val="700"/>
              </a:spcAft>
              <a:buSzPct val="100000"/>
              <a:buChar char="•"/>
            </a:pPr>
            <a:r>
              <a:rPr lang="en-US" sz="1300" dirty="0">
                <a:solidFill>
                  <a:srgbClr val="1B2A22"/>
                </a:solidFill>
                <a:latin typeface="Calibri" pitchFamily="34" charset="0"/>
                <a:ea typeface="Calibri" pitchFamily="34" charset="-122"/>
                <a:cs typeface="Calibri" pitchFamily="34" charset="-120"/>
              </a:rPr>
              <a:t>Intérprete cego: recebe só um código opaco, sem estrato nem papel (exportação cega por perfil)</a:t>
            </a:r>
            <a:endParaRPr lang="en-US" sz="1300" dirty="0"/>
          </a:p>
          <a:p>
            <a:pPr marL="342900" indent="-342900">
              <a:spcAft>
                <a:spcPts val="700"/>
              </a:spcAft>
              <a:buSzPct val="100000"/>
              <a:buChar char="•"/>
            </a:pPr>
            <a:r>
              <a:rPr lang="en-US" sz="1300" dirty="0">
                <a:solidFill>
                  <a:srgbClr val="1B2A22"/>
                </a:solidFill>
                <a:latin typeface="Calibri" pitchFamily="34" charset="0"/>
                <a:ea typeface="Calibri" pitchFamily="34" charset="-122"/>
                <a:cs typeface="Calibri" pitchFamily="34" charset="-120"/>
              </a:rPr>
              <a:t>Polígonos sorteados pelos estratos biofísicos, nunca pelo rastreio espectral (evita circularidade)</a:t>
            </a:r>
            <a:endParaRPr lang="en-US" sz="1300" dirty="0"/>
          </a:p>
          <a:p>
            <a:pPr marL="342900" indent="-342900">
              <a:spcAft>
                <a:spcPts val="700"/>
              </a:spcAft>
              <a:buSzPct val="100000"/>
              <a:buChar char="•"/>
            </a:pPr>
            <a:r>
              <a:rPr lang="en-US" sz="1300" dirty="0">
                <a:solidFill>
                  <a:srgbClr val="1B2A22"/>
                </a:solidFill>
                <a:latin typeface="Calibri" pitchFamily="34" charset="0"/>
                <a:ea typeface="Calibri" pitchFamily="34" charset="-122"/>
                <a:cs typeface="Calibri" pitchFamily="34" charset="-120"/>
              </a:rPr>
              <a:t>Planos de voo só com terreno real (Copernicus 30 m); os de demonstração são marcados como sintéticos e não voáveis</a:t>
            </a:r>
            <a:endParaRPr lang="en-US" sz="1300" dirty="0"/>
          </a:p>
        </p:txBody>
      </p:sp>
      <p:sp>
        <p:nvSpPr>
          <p:cNvPr id="8" name="Text 4"/>
          <p:cNvSpPr txBox="1"/>
          <p:nvPr/>
        </p:nvSpPr>
        <p:spPr>
          <a:xfrm>
            <a:off x="457200" y="4727448"/>
            <a:ext cx="7863840" cy="365760"/>
          </a:xfrm>
          <a:prstGeom prst="rect">
            <a:avLst/>
          </a:prstGeom>
          <a:noFill/>
          <a:ln/>
        </p:spPr>
        <p:txBody>
          <a:bodyPr wrap="square" lIns="0" tIns="0" rIns="0" bIns="0" rtlCol="0" anchor="ctr"/>
          <a:lstStyle/>
          <a:p>
            <a:pPr marL="0" indent="0">
              <a:buNone/>
            </a:pPr>
            <a:r>
              <a:rPr lang="en-US" sz="900" i="1" dirty="0">
                <a:solidFill>
                  <a:srgbClr val="52605A"/>
                </a:solidFill>
                <a:latin typeface="Calibri" pitchFamily="34" charset="0"/>
                <a:ea typeface="Calibri" pitchFamily="34" charset="-122"/>
                <a:cs typeface="Calibri" pitchFamily="34" charset="-120"/>
              </a:rPr>
              <a:t>Fontes: SILVA (2026a, D02, D16 e D26).</a:t>
            </a:r>
            <a:endParaRPr lang="en-US" sz="1000" dirty="0"/>
          </a:p>
        </p:txBody>
      </p:sp>
      <p:pic>
        <p:nvPicPr>
          <p:cNvPr id="9" name="Imagem 8">
            <a:extLst>
              <a:ext uri="{FF2B5EF4-FFF2-40B4-BE49-F238E27FC236}">
                <a16:creationId xmlns:a16="http://schemas.microsoft.com/office/drawing/2014/main" id="{7AF6C1AA-E29A-F8E9-433B-DB507D146D51}"/>
              </a:ext>
            </a:extLst>
          </p:cNvPr>
          <p:cNvPicPr>
            <a:picLocks noChangeAspect="1"/>
          </p:cNvPicPr>
          <p:nvPr/>
        </p:nvPicPr>
        <p:blipFill>
          <a:blip r:embed="rId4"/>
          <a:stretch>
            <a:fillRect/>
          </a:stretch>
        </p:blipFill>
        <p:spPr>
          <a:xfrm>
            <a:off x="812140" y="1762427"/>
            <a:ext cx="2105319" cy="24768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t"/>
          <a:lstStyle/>
          <a:p>
            <a:pPr marL="0" indent="0">
              <a:buNone/>
            </a:pPr>
            <a:r>
              <a:rPr lang="en-US" sz="2200" b="1" dirty="0">
                <a:solidFill>
                  <a:srgbClr val="1B2A22"/>
                </a:solidFill>
                <a:latin typeface="Cambria" pitchFamily="34" charset="0"/>
                <a:ea typeface="Cambria" pitchFamily="34" charset="-122"/>
                <a:cs typeface="Cambria" pitchFamily="34" charset="-120"/>
              </a:rPr>
              <a:t>Âncora de campo com o SAREL Coletor</a:t>
            </a:r>
            <a:endParaRPr lang="en-US" sz="2200" dirty="0"/>
          </a:p>
        </p:txBody>
      </p:sp>
      <p:sp>
        <p:nvSpPr>
          <p:cNvPr id="3" name="Text 1"/>
          <p:cNvSpPr txBox="1"/>
          <p:nvPr/>
        </p:nvSpPr>
        <p:spPr>
          <a:xfrm>
            <a:off x="8412480" y="4800600"/>
            <a:ext cx="457200" cy="228600"/>
          </a:xfrm>
          <a:prstGeom prst="rect">
            <a:avLst/>
          </a:prstGeom>
          <a:noFill/>
          <a:ln/>
        </p:spPr>
        <p:txBody>
          <a:bodyPr wrap="square" lIns="0" tIns="0" rIns="0" bIns="0" rtlCol="0" anchor="t"/>
          <a:lstStyle/>
          <a:p>
            <a:pPr marL="0" indent="0" algn="r">
              <a:buNone/>
            </a:pPr>
            <a:r>
              <a:rPr lang="en-US" sz="1000" dirty="0">
                <a:solidFill>
                  <a:srgbClr val="52605A"/>
                </a:solidFill>
                <a:latin typeface="Calibri" pitchFamily="34" charset="0"/>
                <a:ea typeface="Calibri" pitchFamily="34" charset="-122"/>
                <a:cs typeface="Calibri" pitchFamily="34" charset="-120"/>
              </a:rPr>
              <a:t>10</a:t>
            </a:r>
            <a:endParaRPr lang="en-US" sz="1000" dirty="0"/>
          </a:p>
        </p:txBody>
      </p:sp>
      <p:sp>
        <p:nvSpPr>
          <p:cNvPr id="5" name="Shape 2"/>
          <p:cNvSpPr/>
          <p:nvPr/>
        </p:nvSpPr>
        <p:spPr>
          <a:xfrm>
            <a:off x="457200" y="1097280"/>
            <a:ext cx="2606040" cy="1828800"/>
          </a:xfrm>
          <a:prstGeom prst="roundRect">
            <a:avLst>
              <a:gd name="adj" fmla="val 4000"/>
            </a:avLst>
          </a:prstGeom>
          <a:solidFill>
            <a:srgbClr val="EEF3EF"/>
          </a:solidFill>
          <a:ln w="12700">
            <a:solidFill>
              <a:srgbClr val="EEF3EF"/>
            </a:solidFill>
            <a:prstDash val="solid"/>
          </a:ln>
        </p:spPr>
      </p:sp>
      <p:sp>
        <p:nvSpPr>
          <p:cNvPr id="6" name="Text 3"/>
          <p:cNvSpPr txBox="1"/>
          <p:nvPr/>
        </p:nvSpPr>
        <p:spPr>
          <a:xfrm>
            <a:off x="640080" y="1207008"/>
            <a:ext cx="2240280" cy="457200"/>
          </a:xfrm>
          <a:prstGeom prst="rect">
            <a:avLst/>
          </a:prstGeom>
          <a:noFill/>
          <a:ln/>
        </p:spPr>
        <p:txBody>
          <a:bodyPr wrap="square" lIns="0" tIns="0" rIns="0" bIns="0" rtlCol="0" anchor="t"/>
          <a:lstStyle/>
          <a:p>
            <a:pPr marL="0" indent="0">
              <a:buNone/>
            </a:pPr>
            <a:r>
              <a:rPr lang="en-US" sz="1700" b="1" dirty="0">
                <a:solidFill>
                  <a:srgbClr val="2F6B4F"/>
                </a:solidFill>
                <a:latin typeface="Cambria" pitchFamily="34" charset="0"/>
                <a:ea typeface="Cambria" pitchFamily="34" charset="-122"/>
                <a:cs typeface="Cambria" pitchFamily="34" charset="-120"/>
              </a:rPr>
              <a:t>60 a 80 pontos</a:t>
            </a:r>
            <a:endParaRPr lang="en-US" sz="1700" dirty="0"/>
          </a:p>
        </p:txBody>
      </p:sp>
      <p:sp>
        <p:nvSpPr>
          <p:cNvPr id="7" name="Text 4"/>
          <p:cNvSpPr txBox="1"/>
          <p:nvPr/>
        </p:nvSpPr>
        <p:spPr>
          <a:xfrm>
            <a:off x="640080" y="1737360"/>
            <a:ext cx="2240280" cy="1143000"/>
          </a:xfrm>
          <a:prstGeom prst="rect">
            <a:avLst/>
          </a:prstGeom>
          <a:noFill/>
          <a:ln/>
        </p:spPr>
        <p:txBody>
          <a:bodyPr wrap="square" lIns="0" tIns="0" rIns="0" bIns="0" rtlCol="0" anchor="t"/>
          <a:lstStyle/>
          <a:p>
            <a:pPr marL="0" indent="0">
              <a:buNone/>
            </a:pPr>
            <a:r>
              <a:rPr lang="en-US" sz="1300" dirty="0">
                <a:solidFill>
                  <a:srgbClr val="1B2A22"/>
                </a:solidFill>
                <a:latin typeface="Calibri" pitchFamily="34" charset="0"/>
                <a:ea typeface="Calibri" pitchFamily="34" charset="-122"/>
                <a:cs typeface="Calibri" pitchFamily="34" charset="-120"/>
              </a:rPr>
              <a:t>dispersos pela bacia, fora dos polígonos, com probabilidade de inclusão conhecida</a:t>
            </a:r>
            <a:endParaRPr lang="en-US" sz="1300" dirty="0"/>
          </a:p>
        </p:txBody>
      </p:sp>
      <p:sp>
        <p:nvSpPr>
          <p:cNvPr id="8" name="Shape 5"/>
          <p:cNvSpPr/>
          <p:nvPr/>
        </p:nvSpPr>
        <p:spPr>
          <a:xfrm>
            <a:off x="3246120" y="1097280"/>
            <a:ext cx="2606040" cy="1828800"/>
          </a:xfrm>
          <a:prstGeom prst="roundRect">
            <a:avLst>
              <a:gd name="adj" fmla="val 4000"/>
            </a:avLst>
          </a:prstGeom>
          <a:solidFill>
            <a:srgbClr val="EEF3EF"/>
          </a:solidFill>
          <a:ln w="12700">
            <a:solidFill>
              <a:srgbClr val="EEF3EF"/>
            </a:solidFill>
            <a:prstDash val="solid"/>
          </a:ln>
        </p:spPr>
      </p:sp>
      <p:sp>
        <p:nvSpPr>
          <p:cNvPr id="9" name="Text 6"/>
          <p:cNvSpPr txBox="1"/>
          <p:nvPr/>
        </p:nvSpPr>
        <p:spPr>
          <a:xfrm>
            <a:off x="3429000" y="1207008"/>
            <a:ext cx="2240280" cy="457200"/>
          </a:xfrm>
          <a:prstGeom prst="rect">
            <a:avLst/>
          </a:prstGeom>
          <a:noFill/>
          <a:ln/>
        </p:spPr>
        <p:txBody>
          <a:bodyPr wrap="square" lIns="0" tIns="0" rIns="0" bIns="0" rtlCol="0" anchor="t"/>
          <a:lstStyle/>
          <a:p>
            <a:pPr marL="0" indent="0">
              <a:buNone/>
            </a:pPr>
            <a:r>
              <a:rPr lang="en-US" sz="1700" b="1" dirty="0">
                <a:solidFill>
                  <a:srgbClr val="2F6B4F"/>
                </a:solidFill>
                <a:latin typeface="Cambria" pitchFamily="34" charset="0"/>
                <a:ea typeface="Cambria" pitchFamily="34" charset="-122"/>
                <a:cs typeface="Cambria" pitchFamily="34" charset="-120"/>
              </a:rPr>
              <a:t>2 ondas</a:t>
            </a:r>
            <a:endParaRPr lang="en-US" sz="1700" dirty="0"/>
          </a:p>
        </p:txBody>
      </p:sp>
      <p:sp>
        <p:nvSpPr>
          <p:cNvPr id="10" name="Text 7"/>
          <p:cNvSpPr txBox="1"/>
          <p:nvPr/>
        </p:nvSpPr>
        <p:spPr>
          <a:xfrm>
            <a:off x="3429000" y="1737360"/>
            <a:ext cx="2240280" cy="1143000"/>
          </a:xfrm>
          <a:prstGeom prst="rect">
            <a:avLst/>
          </a:prstGeom>
          <a:noFill/>
          <a:ln/>
        </p:spPr>
        <p:txBody>
          <a:bodyPr wrap="square" lIns="0" tIns="0" rIns="0" bIns="0" rtlCol="0" anchor="t"/>
          <a:lstStyle/>
          <a:p>
            <a:pPr marL="0" indent="0">
              <a:buNone/>
            </a:pPr>
            <a:r>
              <a:rPr lang="en-US" sz="1300" dirty="0">
                <a:solidFill>
                  <a:srgbClr val="1B2A22"/>
                </a:solidFill>
                <a:latin typeface="Calibri" pitchFamily="34" charset="0"/>
                <a:ea typeface="Calibri" pitchFamily="34" charset="-122"/>
                <a:cs typeface="Calibri" pitchFamily="34" charset="-120"/>
              </a:rPr>
              <a:t>os 30 primeiros pontos são lote piloto: validam o protocolo e medem a acurácia do aparelho</a:t>
            </a:r>
            <a:endParaRPr lang="en-US" sz="1300" dirty="0"/>
          </a:p>
        </p:txBody>
      </p:sp>
      <p:sp>
        <p:nvSpPr>
          <p:cNvPr id="11" name="Shape 8"/>
          <p:cNvSpPr/>
          <p:nvPr/>
        </p:nvSpPr>
        <p:spPr>
          <a:xfrm>
            <a:off x="6035040" y="1097280"/>
            <a:ext cx="2606040" cy="1828800"/>
          </a:xfrm>
          <a:prstGeom prst="roundRect">
            <a:avLst>
              <a:gd name="adj" fmla="val 4000"/>
            </a:avLst>
          </a:prstGeom>
          <a:solidFill>
            <a:srgbClr val="EEF3EF"/>
          </a:solidFill>
          <a:ln w="12700">
            <a:solidFill>
              <a:srgbClr val="EEF3EF"/>
            </a:solidFill>
            <a:prstDash val="solid"/>
          </a:ln>
        </p:spPr>
      </p:sp>
      <p:sp>
        <p:nvSpPr>
          <p:cNvPr id="12" name="Text 9"/>
          <p:cNvSpPr txBox="1"/>
          <p:nvPr/>
        </p:nvSpPr>
        <p:spPr>
          <a:xfrm>
            <a:off x="6217920" y="1207008"/>
            <a:ext cx="2240280" cy="457200"/>
          </a:xfrm>
          <a:prstGeom prst="rect">
            <a:avLst/>
          </a:prstGeom>
          <a:noFill/>
          <a:ln/>
        </p:spPr>
        <p:txBody>
          <a:bodyPr wrap="square" lIns="0" tIns="0" rIns="0" bIns="0" rtlCol="0" anchor="t"/>
          <a:lstStyle/>
          <a:p>
            <a:pPr marL="0" indent="0">
              <a:buNone/>
            </a:pPr>
            <a:r>
              <a:rPr lang="en-US" sz="1700" b="1" dirty="0">
                <a:solidFill>
                  <a:srgbClr val="2F6B4F"/>
                </a:solidFill>
                <a:latin typeface="Cambria" pitchFamily="34" charset="0"/>
                <a:ea typeface="Cambria" pitchFamily="34" charset="-122"/>
                <a:cs typeface="Cambria" pitchFamily="34" charset="-120"/>
              </a:rPr>
              <a:t>Função</a:t>
            </a:r>
            <a:endParaRPr lang="en-US" sz="1700" dirty="0"/>
          </a:p>
        </p:txBody>
      </p:sp>
      <p:sp>
        <p:nvSpPr>
          <p:cNvPr id="13" name="Text 10"/>
          <p:cNvSpPr txBox="1"/>
          <p:nvPr/>
        </p:nvSpPr>
        <p:spPr>
          <a:xfrm>
            <a:off x="6217920" y="1737360"/>
            <a:ext cx="2240280" cy="1143000"/>
          </a:xfrm>
          <a:prstGeom prst="rect">
            <a:avLst/>
          </a:prstGeom>
          <a:noFill/>
          <a:ln/>
        </p:spPr>
        <p:txBody>
          <a:bodyPr wrap="square" lIns="0" tIns="0" rIns="0" bIns="0" rtlCol="0" anchor="t"/>
          <a:lstStyle/>
          <a:p>
            <a:pPr marL="0" indent="0">
              <a:buNone/>
            </a:pPr>
            <a:r>
              <a:rPr lang="en-US" sz="1300" dirty="0">
                <a:solidFill>
                  <a:srgbClr val="1B2A22"/>
                </a:solidFill>
                <a:latin typeface="Calibri" pitchFamily="34" charset="0"/>
                <a:ea typeface="Calibri" pitchFamily="34" charset="-122"/>
                <a:cs typeface="Calibri" pitchFamily="34" charset="-120"/>
              </a:rPr>
              <a:t>estimar a prevalência real e calibrar a posição; não é para treinar o modelo</a:t>
            </a:r>
            <a:endParaRPr lang="en-US" sz="1300" dirty="0"/>
          </a:p>
        </p:txBody>
      </p:sp>
      <p:sp>
        <p:nvSpPr>
          <p:cNvPr id="14" name="Text 11"/>
          <p:cNvSpPr txBox="1"/>
          <p:nvPr/>
        </p:nvSpPr>
        <p:spPr>
          <a:xfrm>
            <a:off x="457200" y="3154680"/>
            <a:ext cx="8229600" cy="292608"/>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1B2A22"/>
                </a:solidFill>
                <a:latin typeface="Calibri" pitchFamily="34" charset="0"/>
                <a:ea typeface="Calibri" pitchFamily="34" charset="-122"/>
                <a:cs typeface="Calibri" pitchFamily="34" charset="-120"/>
              </a:rPr>
              <a:t>Instrumento: SAREL Coletor (Android), em substituição </a:t>
            </a:r>
            <a:r>
              <a:rPr lang="en-US" sz="1300" dirty="0" err="1">
                <a:solidFill>
                  <a:srgbClr val="1B2A22"/>
                </a:solidFill>
                <a:latin typeface="Calibri" pitchFamily="34" charset="0"/>
                <a:ea typeface="Calibri" pitchFamily="34" charset="-122"/>
                <a:cs typeface="Calibri" pitchFamily="34" charset="-120"/>
              </a:rPr>
              <a:t>ao</a:t>
            </a:r>
            <a:r>
              <a:rPr lang="en-US" sz="1300" dirty="0">
                <a:solidFill>
                  <a:srgbClr val="1B2A22"/>
                </a:solidFill>
                <a:latin typeface="Calibri" pitchFamily="34" charset="0"/>
                <a:ea typeface="Calibri" pitchFamily="34" charset="-122"/>
                <a:cs typeface="Calibri" pitchFamily="34" charset="-120"/>
              </a:rPr>
              <a:t> </a:t>
            </a:r>
            <a:r>
              <a:rPr lang="en-US" sz="1300" dirty="0" err="1">
                <a:solidFill>
                  <a:srgbClr val="1B2A22"/>
                </a:solidFill>
                <a:latin typeface="Calibri" pitchFamily="34" charset="0"/>
                <a:ea typeface="Calibri" pitchFamily="34" charset="-122"/>
                <a:cs typeface="Calibri" pitchFamily="34" charset="-120"/>
              </a:rPr>
              <a:t>KoboCollect</a:t>
            </a:r>
            <a:endParaRPr lang="en-US" sz="1300" dirty="0"/>
          </a:p>
        </p:txBody>
      </p:sp>
      <p:sp>
        <p:nvSpPr>
          <p:cNvPr id="15" name="Text 12"/>
          <p:cNvSpPr txBox="1"/>
          <p:nvPr/>
        </p:nvSpPr>
        <p:spPr>
          <a:xfrm>
            <a:off x="457200" y="4727448"/>
            <a:ext cx="7863840" cy="365760"/>
          </a:xfrm>
          <a:prstGeom prst="rect">
            <a:avLst/>
          </a:prstGeom>
          <a:noFill/>
          <a:ln/>
        </p:spPr>
        <p:txBody>
          <a:bodyPr wrap="square" lIns="0" tIns="0" rIns="0" bIns="0" rtlCol="0" anchor="ctr"/>
          <a:lstStyle/>
          <a:p>
            <a:pPr marL="0" indent="0">
              <a:buNone/>
            </a:pPr>
            <a:r>
              <a:rPr lang="en-US" sz="900" i="1" dirty="0">
                <a:solidFill>
                  <a:srgbClr val="52605A"/>
                </a:solidFill>
                <a:latin typeface="Calibri" pitchFamily="34" charset="0"/>
                <a:ea typeface="Calibri" pitchFamily="34" charset="-122"/>
                <a:cs typeface="Calibri" pitchFamily="34" charset="-120"/>
              </a:rPr>
              <a:t>Fontes: SILVA (2026a, D16 e D23).</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t"/>
          <a:lstStyle/>
          <a:p>
            <a:pPr marL="0" indent="0">
              <a:buNone/>
            </a:pPr>
            <a:r>
              <a:rPr lang="en-US" sz="2200" b="1" dirty="0">
                <a:solidFill>
                  <a:srgbClr val="1B2A22"/>
                </a:solidFill>
                <a:latin typeface="Cambria" pitchFamily="34" charset="0"/>
                <a:ea typeface="Cambria" pitchFamily="34" charset="-122"/>
                <a:cs typeface="Cambria" pitchFamily="34" charset="-120"/>
              </a:rPr>
              <a:t>SAREL Coletor: o que se registra em cada ponto</a:t>
            </a:r>
            <a:endParaRPr lang="en-US" sz="2200" dirty="0"/>
          </a:p>
        </p:txBody>
      </p:sp>
      <p:sp>
        <p:nvSpPr>
          <p:cNvPr id="3" name="Text 1"/>
          <p:cNvSpPr txBox="1"/>
          <p:nvPr/>
        </p:nvSpPr>
        <p:spPr>
          <a:xfrm>
            <a:off x="457200" y="749808"/>
            <a:ext cx="8229600" cy="365760"/>
          </a:xfrm>
          <a:prstGeom prst="rect">
            <a:avLst/>
          </a:prstGeom>
          <a:noFill/>
          <a:ln/>
        </p:spPr>
        <p:txBody>
          <a:bodyPr wrap="square" lIns="0" tIns="0" rIns="0" bIns="0" rtlCol="0" anchor="t"/>
          <a:lstStyle/>
          <a:p>
            <a:pPr marL="0" indent="0">
              <a:buNone/>
            </a:pPr>
            <a:r>
              <a:rPr lang="en-US" sz="1200" i="1" dirty="0">
                <a:solidFill>
                  <a:srgbClr val="52605A"/>
                </a:solidFill>
                <a:latin typeface="Calibri" pitchFamily="34" charset="0"/>
                <a:ea typeface="Calibri" pitchFamily="34" charset="-122"/>
                <a:cs typeface="Calibri" pitchFamily="34" charset="-120"/>
              </a:rPr>
              <a:t>Android, offline, no lugar do KoboCollect. Cada ponto vira uma linha de CSV (28 colunas) lida pelo SAREL.</a:t>
            </a:r>
            <a:endParaRPr lang="en-US" sz="1200" dirty="0"/>
          </a:p>
        </p:txBody>
      </p:sp>
      <p:sp>
        <p:nvSpPr>
          <p:cNvPr id="4" name="Shape 2"/>
          <p:cNvSpPr/>
          <p:nvPr/>
        </p:nvSpPr>
        <p:spPr>
          <a:xfrm>
            <a:off x="457200" y="1280160"/>
            <a:ext cx="2651760" cy="1627632"/>
          </a:xfrm>
          <a:prstGeom prst="roundRect">
            <a:avLst>
              <a:gd name="adj" fmla="val 4494"/>
            </a:avLst>
          </a:prstGeom>
          <a:solidFill>
            <a:srgbClr val="EEF3EF"/>
          </a:solidFill>
          <a:ln w="12700">
            <a:solidFill>
              <a:srgbClr val="EEF3EF"/>
            </a:solidFill>
            <a:prstDash val="solid"/>
          </a:ln>
        </p:spPr>
      </p:sp>
      <p:sp>
        <p:nvSpPr>
          <p:cNvPr id="5" name="Text 3"/>
          <p:cNvSpPr txBox="1"/>
          <p:nvPr/>
        </p:nvSpPr>
        <p:spPr>
          <a:xfrm>
            <a:off x="594360" y="1371600"/>
            <a:ext cx="2377440" cy="274320"/>
          </a:xfrm>
          <a:prstGeom prst="rect">
            <a:avLst/>
          </a:prstGeom>
          <a:noFill/>
          <a:ln/>
        </p:spPr>
        <p:txBody>
          <a:bodyPr wrap="square" lIns="0" tIns="0" rIns="0" bIns="0" rtlCol="0" anchor="t"/>
          <a:lstStyle/>
          <a:p>
            <a:pPr marL="0" indent="0">
              <a:buNone/>
            </a:pPr>
            <a:r>
              <a:rPr lang="en-US" sz="1300" b="1" dirty="0">
                <a:solidFill>
                  <a:srgbClr val="2F6B4F"/>
                </a:solidFill>
                <a:latin typeface="Cambria" pitchFamily="34" charset="0"/>
                <a:ea typeface="Cambria" pitchFamily="34" charset="-122"/>
                <a:cs typeface="Cambria" pitchFamily="34" charset="-120"/>
              </a:rPr>
              <a:t>1. Identificação</a:t>
            </a:r>
            <a:endParaRPr lang="en-US" sz="1300" dirty="0"/>
          </a:p>
        </p:txBody>
      </p:sp>
      <p:sp>
        <p:nvSpPr>
          <p:cNvPr id="6" name="Text 4"/>
          <p:cNvSpPr txBox="1"/>
          <p:nvPr/>
        </p:nvSpPr>
        <p:spPr>
          <a:xfrm>
            <a:off x="594360" y="1691640"/>
            <a:ext cx="2377440" cy="1170432"/>
          </a:xfrm>
          <a:prstGeom prst="rect">
            <a:avLst/>
          </a:prstGeom>
          <a:noFill/>
          <a:ln/>
        </p:spPr>
        <p:txBody>
          <a:bodyPr wrap="square" lIns="0" tIns="0" rIns="0" bIns="0" rtlCol="0" anchor="t"/>
          <a:lstStyle/>
          <a:p>
            <a:pPr marL="342900" indent="-342900">
              <a:spcAft>
                <a:spcPts val="200"/>
              </a:spcAft>
              <a:buSzPct val="100000"/>
              <a:buChar char="•"/>
            </a:pPr>
            <a:r>
              <a:rPr lang="en-US" sz="1050" dirty="0">
                <a:solidFill>
                  <a:srgbClr val="1B2A22"/>
                </a:solidFill>
                <a:latin typeface="Calibri" pitchFamily="34" charset="0"/>
                <a:ea typeface="Calibri" pitchFamily="34" charset="-122"/>
                <a:cs typeface="Calibri" pitchFamily="34" charset="-120"/>
              </a:rPr>
              <a:t>Código opaco do ponto</a:t>
            </a:r>
            <a:endParaRPr lang="en-US" sz="1050" dirty="0"/>
          </a:p>
          <a:p>
            <a:pPr marL="342900" indent="-342900">
              <a:spcAft>
                <a:spcPts val="200"/>
              </a:spcAft>
              <a:buSzPct val="100000"/>
              <a:buChar char="•"/>
            </a:pPr>
            <a:r>
              <a:rPr lang="en-US" sz="1050" dirty="0">
                <a:solidFill>
                  <a:srgbClr val="1B2A22"/>
                </a:solidFill>
                <a:latin typeface="Calibri" pitchFamily="34" charset="0"/>
                <a:ea typeface="Calibri" pitchFamily="34" charset="-122"/>
                <a:cs typeface="Calibri" pitchFamily="34" charset="-120"/>
              </a:rPr>
              <a:t>Observador, data e hora</a:t>
            </a:r>
            <a:endParaRPr lang="en-US" sz="1050" dirty="0"/>
          </a:p>
          <a:p>
            <a:pPr marL="342900" indent="-342900">
              <a:spcAft>
                <a:spcPts val="200"/>
              </a:spcAft>
              <a:buSzPct val="100000"/>
              <a:buChar char="•"/>
            </a:pPr>
            <a:r>
              <a:rPr lang="en-US" sz="1050" dirty="0">
                <a:solidFill>
                  <a:srgbClr val="1B2A22"/>
                </a:solidFill>
                <a:latin typeface="Calibri" pitchFamily="34" charset="0"/>
                <a:ea typeface="Calibri" pitchFamily="34" charset="-122"/>
                <a:cs typeface="Calibri" pitchFamily="34" charset="-120"/>
              </a:rPr>
              <a:t>Protocolo cego: sem estrato nem predição</a:t>
            </a:r>
            <a:endParaRPr lang="en-US" sz="1050" dirty="0"/>
          </a:p>
        </p:txBody>
      </p:sp>
      <p:sp>
        <p:nvSpPr>
          <p:cNvPr id="7" name="Shape 5"/>
          <p:cNvSpPr/>
          <p:nvPr/>
        </p:nvSpPr>
        <p:spPr>
          <a:xfrm>
            <a:off x="3246120" y="1280160"/>
            <a:ext cx="2651760" cy="1627632"/>
          </a:xfrm>
          <a:prstGeom prst="roundRect">
            <a:avLst>
              <a:gd name="adj" fmla="val 4494"/>
            </a:avLst>
          </a:prstGeom>
          <a:solidFill>
            <a:srgbClr val="EEF3EF"/>
          </a:solidFill>
          <a:ln w="12700">
            <a:solidFill>
              <a:srgbClr val="EEF3EF"/>
            </a:solidFill>
            <a:prstDash val="solid"/>
          </a:ln>
        </p:spPr>
      </p:sp>
      <p:sp>
        <p:nvSpPr>
          <p:cNvPr id="8" name="Text 6"/>
          <p:cNvSpPr txBox="1"/>
          <p:nvPr/>
        </p:nvSpPr>
        <p:spPr>
          <a:xfrm>
            <a:off x="3383280" y="1371600"/>
            <a:ext cx="2377440" cy="274320"/>
          </a:xfrm>
          <a:prstGeom prst="rect">
            <a:avLst/>
          </a:prstGeom>
          <a:noFill/>
          <a:ln/>
        </p:spPr>
        <p:txBody>
          <a:bodyPr wrap="square" lIns="0" tIns="0" rIns="0" bIns="0" rtlCol="0" anchor="t"/>
          <a:lstStyle/>
          <a:p>
            <a:pPr marL="0" indent="0">
              <a:buNone/>
            </a:pPr>
            <a:r>
              <a:rPr lang="en-US" sz="1300" b="1" dirty="0">
                <a:solidFill>
                  <a:srgbClr val="2F6B4F"/>
                </a:solidFill>
                <a:latin typeface="Cambria" pitchFamily="34" charset="0"/>
                <a:ea typeface="Cambria" pitchFamily="34" charset="-122"/>
                <a:cs typeface="Cambria" pitchFamily="34" charset="-120"/>
              </a:rPr>
              <a:t>2. Posição (GNSS)</a:t>
            </a:r>
            <a:endParaRPr lang="en-US" sz="1300" dirty="0"/>
          </a:p>
        </p:txBody>
      </p:sp>
      <p:sp>
        <p:nvSpPr>
          <p:cNvPr id="9" name="Text 7"/>
          <p:cNvSpPr txBox="1"/>
          <p:nvPr/>
        </p:nvSpPr>
        <p:spPr>
          <a:xfrm>
            <a:off x="3383280" y="1691640"/>
            <a:ext cx="2377440" cy="1170432"/>
          </a:xfrm>
          <a:prstGeom prst="rect">
            <a:avLst/>
          </a:prstGeom>
          <a:noFill/>
          <a:ln/>
        </p:spPr>
        <p:txBody>
          <a:bodyPr wrap="square" lIns="0" tIns="0" rIns="0" bIns="0" rtlCol="0" anchor="t"/>
          <a:lstStyle/>
          <a:p>
            <a:pPr marL="342900" indent="-342900">
              <a:spcAft>
                <a:spcPts val="200"/>
              </a:spcAft>
              <a:buSzPct val="100000"/>
              <a:buChar char="•"/>
            </a:pPr>
            <a:r>
              <a:rPr lang="en-US" sz="1050" dirty="0">
                <a:solidFill>
                  <a:srgbClr val="1B2A22"/>
                </a:solidFill>
                <a:latin typeface="Calibri" pitchFamily="34" charset="0"/>
                <a:ea typeface="Calibri" pitchFamily="34" charset="-122"/>
                <a:cs typeface="Calibri" pitchFamily="34" charset="-120"/>
              </a:rPr>
              <a:t>Latitude, longitude, altitude</a:t>
            </a:r>
            <a:endParaRPr lang="en-US" sz="1050" dirty="0"/>
          </a:p>
          <a:p>
            <a:pPr marL="342900" indent="-342900">
              <a:spcAft>
                <a:spcPts val="200"/>
              </a:spcAft>
              <a:buSzPct val="100000"/>
              <a:buChar char="•"/>
            </a:pPr>
            <a:r>
              <a:rPr lang="en-US" sz="1050" dirty="0">
                <a:solidFill>
                  <a:srgbClr val="1B2A22"/>
                </a:solidFill>
                <a:latin typeface="Calibri" pitchFamily="34" charset="0"/>
                <a:ea typeface="Calibri" pitchFamily="34" charset="-122"/>
                <a:cs typeface="Calibri" pitchFamily="34" charset="-120"/>
              </a:rPr>
              <a:t>Acurácia do aparelho</a:t>
            </a:r>
            <a:endParaRPr lang="en-US" sz="1050" dirty="0"/>
          </a:p>
          <a:p>
            <a:pPr marL="342900" indent="-342900">
              <a:spcAft>
                <a:spcPts val="200"/>
              </a:spcAft>
              <a:buSzPct val="100000"/>
              <a:buChar char="•"/>
            </a:pPr>
            <a:r>
              <a:rPr lang="en-US" sz="1050" dirty="0">
                <a:solidFill>
                  <a:srgbClr val="1B2A22"/>
                </a:solidFill>
                <a:latin typeface="Calibri" pitchFamily="34" charset="0"/>
                <a:ea typeface="Calibri" pitchFamily="34" charset="-122"/>
                <a:cs typeface="Calibri" pitchFamily="34" charset="-120"/>
              </a:rPr>
              <a:t>Distância ao ponto planejado (</a:t>
            </a:r>
            <a:r>
              <a:rPr lang="en-US" sz="1050" dirty="0" err="1">
                <a:solidFill>
                  <a:srgbClr val="1B2A22"/>
                </a:solidFill>
                <a:latin typeface="Calibri" pitchFamily="34" charset="0"/>
                <a:ea typeface="Calibri" pitchFamily="34" charset="-122"/>
                <a:cs typeface="Calibri" pitchFamily="34" charset="-120"/>
              </a:rPr>
              <a:t>tolerância</a:t>
            </a:r>
            <a:r>
              <a:rPr lang="en-US" sz="1050" dirty="0">
                <a:solidFill>
                  <a:srgbClr val="1B2A22"/>
                </a:solidFill>
                <a:latin typeface="Calibri" pitchFamily="34" charset="0"/>
                <a:ea typeface="Calibri" pitchFamily="34" charset="-122"/>
                <a:cs typeface="Calibri" pitchFamily="34" charset="-120"/>
              </a:rPr>
              <a:t>)</a:t>
            </a:r>
            <a:endParaRPr lang="en-US" sz="1050" dirty="0"/>
          </a:p>
          <a:p>
            <a:pPr marL="342900" indent="-342900">
              <a:spcAft>
                <a:spcPts val="200"/>
              </a:spcAft>
              <a:buSzPct val="100000"/>
              <a:buChar char="•"/>
            </a:pPr>
            <a:r>
              <a:rPr lang="en-US" sz="1050" dirty="0">
                <a:solidFill>
                  <a:srgbClr val="1B2A22"/>
                </a:solidFill>
                <a:latin typeface="Calibri" pitchFamily="34" charset="0"/>
                <a:ea typeface="Calibri" pitchFamily="34" charset="-122"/>
                <a:cs typeface="Calibri" pitchFamily="34" charset="-120"/>
              </a:rPr>
              <a:t>Média estática ou fix único; posição simulada é rejeitada</a:t>
            </a:r>
            <a:endParaRPr lang="en-US" sz="1050" dirty="0"/>
          </a:p>
        </p:txBody>
      </p:sp>
      <p:sp>
        <p:nvSpPr>
          <p:cNvPr id="10" name="Shape 8"/>
          <p:cNvSpPr/>
          <p:nvPr/>
        </p:nvSpPr>
        <p:spPr>
          <a:xfrm>
            <a:off x="6035040" y="1280160"/>
            <a:ext cx="2651760" cy="1627632"/>
          </a:xfrm>
          <a:prstGeom prst="roundRect">
            <a:avLst>
              <a:gd name="adj" fmla="val 4494"/>
            </a:avLst>
          </a:prstGeom>
          <a:solidFill>
            <a:srgbClr val="EEF3EF"/>
          </a:solidFill>
          <a:ln w="12700">
            <a:solidFill>
              <a:srgbClr val="EEF3EF"/>
            </a:solidFill>
            <a:prstDash val="solid"/>
          </a:ln>
        </p:spPr>
      </p:sp>
      <p:sp>
        <p:nvSpPr>
          <p:cNvPr id="11" name="Text 9"/>
          <p:cNvSpPr txBox="1"/>
          <p:nvPr/>
        </p:nvSpPr>
        <p:spPr>
          <a:xfrm>
            <a:off x="6231835" y="1353312"/>
            <a:ext cx="2377440" cy="274320"/>
          </a:xfrm>
          <a:prstGeom prst="rect">
            <a:avLst/>
          </a:prstGeom>
          <a:noFill/>
          <a:ln/>
        </p:spPr>
        <p:txBody>
          <a:bodyPr wrap="square" lIns="0" tIns="0" rIns="0" bIns="0" rtlCol="0" anchor="t"/>
          <a:lstStyle/>
          <a:p>
            <a:pPr marL="0" indent="0">
              <a:buNone/>
            </a:pPr>
            <a:r>
              <a:rPr lang="en-US" sz="1300" b="1" dirty="0">
                <a:latin typeface="Cambria" pitchFamily="34" charset="0"/>
                <a:ea typeface="Cambria" pitchFamily="34" charset="-122"/>
                <a:cs typeface="Cambria" pitchFamily="34" charset="-120"/>
              </a:rPr>
              <a:t>3. Rótulo de erosão</a:t>
            </a:r>
            <a:endParaRPr lang="en-US" sz="1300" dirty="0"/>
          </a:p>
        </p:txBody>
      </p:sp>
      <p:sp>
        <p:nvSpPr>
          <p:cNvPr id="12" name="Text 10"/>
          <p:cNvSpPr txBox="1"/>
          <p:nvPr/>
        </p:nvSpPr>
        <p:spPr>
          <a:xfrm>
            <a:off x="6172200" y="1691640"/>
            <a:ext cx="2377440" cy="1170432"/>
          </a:xfrm>
          <a:prstGeom prst="rect">
            <a:avLst/>
          </a:prstGeom>
          <a:noFill/>
          <a:ln/>
        </p:spPr>
        <p:txBody>
          <a:bodyPr wrap="square" lIns="0" tIns="0" rIns="0" bIns="0" rtlCol="0" anchor="t"/>
          <a:lstStyle/>
          <a:p>
            <a:pPr marL="342900" indent="-342900">
              <a:spcAft>
                <a:spcPts val="200"/>
              </a:spcAft>
              <a:buSzPct val="100000"/>
              <a:buChar char="•"/>
            </a:pPr>
            <a:r>
              <a:rPr lang="en-US" sz="1050" dirty="0">
                <a:solidFill>
                  <a:srgbClr val="1B2A22"/>
                </a:solidFill>
                <a:latin typeface="Calibri" pitchFamily="34" charset="0"/>
                <a:ea typeface="Calibri" pitchFamily="34" charset="-122"/>
                <a:cs typeface="Calibri" pitchFamily="34" charset="-120"/>
              </a:rPr>
              <a:t>Ordinal: ausente, incipiente, moderada, </a:t>
            </a:r>
            <a:r>
              <a:rPr lang="en-US" sz="1050" dirty="0" err="1">
                <a:solidFill>
                  <a:srgbClr val="1B2A22"/>
                </a:solidFill>
                <a:latin typeface="Calibri" pitchFamily="34" charset="0"/>
                <a:ea typeface="Calibri" pitchFamily="34" charset="-122"/>
                <a:cs typeface="Calibri" pitchFamily="34" charset="-120"/>
              </a:rPr>
              <a:t>severa</a:t>
            </a:r>
            <a:r>
              <a:rPr lang="en-US" sz="1050" dirty="0">
                <a:solidFill>
                  <a:srgbClr val="1B2A22"/>
                </a:solidFill>
                <a:latin typeface="Calibri" pitchFamily="34" charset="0"/>
                <a:ea typeface="Calibri" pitchFamily="34" charset="-122"/>
                <a:cs typeface="Calibri" pitchFamily="34" charset="-120"/>
              </a:rPr>
              <a:t> </a:t>
            </a:r>
            <a:endParaRPr lang="en-US" sz="1050" dirty="0"/>
          </a:p>
          <a:p>
            <a:pPr marL="342900" indent="-342900">
              <a:spcAft>
                <a:spcPts val="200"/>
              </a:spcAft>
              <a:buSzPct val="100000"/>
              <a:buChar char="•"/>
            </a:pPr>
            <a:r>
              <a:rPr lang="en-US" sz="1050" dirty="0">
                <a:solidFill>
                  <a:srgbClr val="1B2A22"/>
                </a:solidFill>
                <a:latin typeface="Calibri" pitchFamily="34" charset="0"/>
                <a:ea typeface="Calibri" pitchFamily="34" charset="-122"/>
                <a:cs typeface="Calibri" pitchFamily="34" charset="-120"/>
              </a:rPr>
              <a:t>Confiança: alta, média ou baixa</a:t>
            </a:r>
            <a:endParaRPr lang="en-US" sz="1050" dirty="0"/>
          </a:p>
          <a:p>
            <a:pPr marL="342900" indent="-342900">
              <a:spcAft>
                <a:spcPts val="200"/>
              </a:spcAft>
              <a:buSzPct val="100000"/>
              <a:buChar char="•"/>
            </a:pPr>
            <a:r>
              <a:rPr lang="en-US" sz="1050" dirty="0">
                <a:solidFill>
                  <a:srgbClr val="1B2A22"/>
                </a:solidFill>
                <a:latin typeface="Calibri" pitchFamily="34" charset="0"/>
                <a:ea typeface="Calibri" pitchFamily="34" charset="-122"/>
                <a:cs typeface="Calibri" pitchFamily="34" charset="-120"/>
              </a:rPr>
              <a:t>Binário derivado: ausente = 0; demais = 1</a:t>
            </a:r>
            <a:endParaRPr lang="en-US" sz="1050" dirty="0"/>
          </a:p>
        </p:txBody>
      </p:sp>
      <p:sp>
        <p:nvSpPr>
          <p:cNvPr id="13" name="Shape 11"/>
          <p:cNvSpPr/>
          <p:nvPr/>
        </p:nvSpPr>
        <p:spPr>
          <a:xfrm>
            <a:off x="457200" y="2971800"/>
            <a:ext cx="2651760" cy="1627632"/>
          </a:xfrm>
          <a:prstGeom prst="roundRect">
            <a:avLst>
              <a:gd name="adj" fmla="val 4494"/>
            </a:avLst>
          </a:prstGeom>
          <a:solidFill>
            <a:srgbClr val="EEF3EF"/>
          </a:solidFill>
          <a:ln w="12700">
            <a:solidFill>
              <a:srgbClr val="EEF3EF"/>
            </a:solidFill>
            <a:prstDash val="solid"/>
          </a:ln>
        </p:spPr>
      </p:sp>
      <p:sp>
        <p:nvSpPr>
          <p:cNvPr id="14" name="Text 12"/>
          <p:cNvSpPr txBox="1"/>
          <p:nvPr/>
        </p:nvSpPr>
        <p:spPr>
          <a:xfrm>
            <a:off x="594360" y="3063240"/>
            <a:ext cx="2377440" cy="274320"/>
          </a:xfrm>
          <a:prstGeom prst="rect">
            <a:avLst/>
          </a:prstGeom>
          <a:noFill/>
          <a:ln/>
        </p:spPr>
        <p:txBody>
          <a:bodyPr wrap="square" lIns="0" tIns="0" rIns="0" bIns="0" rtlCol="0" anchor="t"/>
          <a:lstStyle/>
          <a:p>
            <a:pPr marL="0" indent="0">
              <a:buNone/>
            </a:pPr>
            <a:r>
              <a:rPr lang="en-US" sz="1300" b="1" dirty="0">
                <a:solidFill>
                  <a:srgbClr val="2F6B4F"/>
                </a:solidFill>
                <a:latin typeface="Cambria" pitchFamily="34" charset="0"/>
                <a:ea typeface="Cambria" pitchFamily="34" charset="-122"/>
                <a:cs typeface="Cambria" pitchFamily="34" charset="-120"/>
              </a:rPr>
              <a:t>4. Diagnóstico de erosão</a:t>
            </a:r>
            <a:endParaRPr lang="en-US" sz="1300" dirty="0"/>
          </a:p>
        </p:txBody>
      </p:sp>
      <p:sp>
        <p:nvSpPr>
          <p:cNvPr id="15" name="Text 13"/>
          <p:cNvSpPr txBox="1"/>
          <p:nvPr/>
        </p:nvSpPr>
        <p:spPr>
          <a:xfrm>
            <a:off x="594360" y="3383280"/>
            <a:ext cx="2377440" cy="1170432"/>
          </a:xfrm>
          <a:prstGeom prst="rect">
            <a:avLst/>
          </a:prstGeom>
          <a:noFill/>
          <a:ln/>
        </p:spPr>
        <p:txBody>
          <a:bodyPr wrap="square" lIns="0" tIns="0" rIns="0" bIns="0" rtlCol="0" anchor="t"/>
          <a:lstStyle/>
          <a:p>
            <a:pPr marL="342900" indent="-342900">
              <a:spcAft>
                <a:spcPts val="200"/>
              </a:spcAft>
              <a:buSzPct val="100000"/>
              <a:buChar char="•"/>
            </a:pPr>
            <a:r>
              <a:rPr lang="en-US" sz="1050" dirty="0">
                <a:solidFill>
                  <a:srgbClr val="1B2A22"/>
                </a:solidFill>
                <a:latin typeface="Calibri" pitchFamily="34" charset="0"/>
                <a:ea typeface="Calibri" pitchFamily="34" charset="-122"/>
                <a:cs typeface="Calibri" pitchFamily="34" charset="-120"/>
              </a:rPr>
              <a:t>Pedestais e raízes expostas</a:t>
            </a:r>
            <a:endParaRPr lang="en-US" sz="1050" dirty="0"/>
          </a:p>
          <a:p>
            <a:pPr marL="342900" indent="-342900">
              <a:spcAft>
                <a:spcPts val="200"/>
              </a:spcAft>
              <a:buSzPct val="100000"/>
              <a:buChar char="•"/>
            </a:pPr>
            <a:r>
              <a:rPr lang="en-US" sz="1050" dirty="0">
                <a:solidFill>
                  <a:srgbClr val="1B2A22"/>
                </a:solidFill>
                <a:latin typeface="Calibri" pitchFamily="34" charset="0"/>
                <a:ea typeface="Calibri" pitchFamily="34" charset="-122"/>
                <a:cs typeface="Calibri" pitchFamily="34" charset="-120"/>
              </a:rPr>
              <a:t>Exposição do horizonte B</a:t>
            </a:r>
            <a:endParaRPr lang="en-US" sz="1050" dirty="0"/>
          </a:p>
          <a:p>
            <a:pPr marL="342900" indent="-342900">
              <a:spcAft>
                <a:spcPts val="200"/>
              </a:spcAft>
              <a:buSzPct val="100000"/>
              <a:buChar char="•"/>
            </a:pPr>
            <a:r>
              <a:rPr lang="en-US" sz="1050" dirty="0">
                <a:solidFill>
                  <a:srgbClr val="1B2A22"/>
                </a:solidFill>
                <a:latin typeface="Calibri" pitchFamily="34" charset="0"/>
                <a:ea typeface="Calibri" pitchFamily="34" charset="-122"/>
                <a:cs typeface="Calibri" pitchFamily="34" charset="-120"/>
              </a:rPr>
              <a:t>Espessura do horizonte A (cm)</a:t>
            </a:r>
            <a:endParaRPr lang="en-US" sz="1050" dirty="0"/>
          </a:p>
          <a:p>
            <a:pPr marL="342900" indent="-342900">
              <a:spcAft>
                <a:spcPts val="200"/>
              </a:spcAft>
              <a:buSzPct val="100000"/>
              <a:buChar char="•"/>
            </a:pPr>
            <a:r>
              <a:rPr lang="en-US" sz="1050" dirty="0">
                <a:solidFill>
                  <a:srgbClr val="1B2A22"/>
                </a:solidFill>
                <a:latin typeface="Calibri" pitchFamily="34" charset="0"/>
                <a:ea typeface="Calibri" pitchFamily="34" charset="-122"/>
                <a:cs typeface="Calibri" pitchFamily="34" charset="-120"/>
              </a:rPr>
              <a:t>Crosta e selamento superficial</a:t>
            </a:r>
            <a:endParaRPr lang="en-US" sz="1050" dirty="0"/>
          </a:p>
          <a:p>
            <a:pPr marL="342900" indent="-342900">
              <a:spcAft>
                <a:spcPts val="200"/>
              </a:spcAft>
              <a:buSzPct val="100000"/>
              <a:buChar char="•"/>
            </a:pPr>
            <a:r>
              <a:rPr lang="en-US" sz="1050" dirty="0">
                <a:solidFill>
                  <a:srgbClr val="1B2A22"/>
                </a:solidFill>
                <a:latin typeface="Calibri" pitchFamily="34" charset="0"/>
                <a:ea typeface="Calibri" pitchFamily="34" charset="-122"/>
                <a:cs typeface="Calibri" pitchFamily="34" charset="-120"/>
              </a:rPr>
              <a:t>Microssulcos iniciais; sedimentação no sopé</a:t>
            </a:r>
            <a:endParaRPr lang="en-US" sz="1050" dirty="0"/>
          </a:p>
        </p:txBody>
      </p:sp>
      <p:sp>
        <p:nvSpPr>
          <p:cNvPr id="16" name="Shape 14"/>
          <p:cNvSpPr/>
          <p:nvPr/>
        </p:nvSpPr>
        <p:spPr>
          <a:xfrm>
            <a:off x="3246120" y="2971800"/>
            <a:ext cx="2651760" cy="1627632"/>
          </a:xfrm>
          <a:prstGeom prst="roundRect">
            <a:avLst>
              <a:gd name="adj" fmla="val 4494"/>
            </a:avLst>
          </a:prstGeom>
          <a:solidFill>
            <a:srgbClr val="EEF3EF"/>
          </a:solidFill>
          <a:ln w="12700">
            <a:solidFill>
              <a:srgbClr val="EEF3EF"/>
            </a:solidFill>
            <a:prstDash val="solid"/>
          </a:ln>
        </p:spPr>
      </p:sp>
      <p:sp>
        <p:nvSpPr>
          <p:cNvPr id="17" name="Text 15"/>
          <p:cNvSpPr txBox="1"/>
          <p:nvPr/>
        </p:nvSpPr>
        <p:spPr>
          <a:xfrm>
            <a:off x="3383280" y="3063240"/>
            <a:ext cx="2377440" cy="274320"/>
          </a:xfrm>
          <a:prstGeom prst="rect">
            <a:avLst/>
          </a:prstGeom>
          <a:noFill/>
          <a:ln/>
        </p:spPr>
        <p:txBody>
          <a:bodyPr wrap="square" lIns="0" tIns="0" rIns="0" bIns="0" rtlCol="0" anchor="t"/>
          <a:lstStyle/>
          <a:p>
            <a:pPr marL="0" indent="0">
              <a:buNone/>
            </a:pPr>
            <a:r>
              <a:rPr lang="en-US" sz="1300" b="1" dirty="0">
                <a:solidFill>
                  <a:srgbClr val="2F6B4F"/>
                </a:solidFill>
                <a:latin typeface="Cambria" pitchFamily="34" charset="0"/>
                <a:ea typeface="Cambria" pitchFamily="34" charset="-122"/>
                <a:cs typeface="Cambria" pitchFamily="34" charset="-120"/>
              </a:rPr>
              <a:t>5. Manejo e conservação</a:t>
            </a:r>
            <a:endParaRPr lang="en-US" sz="1300" dirty="0"/>
          </a:p>
        </p:txBody>
      </p:sp>
      <p:sp>
        <p:nvSpPr>
          <p:cNvPr id="18" name="Text 16"/>
          <p:cNvSpPr txBox="1"/>
          <p:nvPr/>
        </p:nvSpPr>
        <p:spPr>
          <a:xfrm>
            <a:off x="3383280" y="3383280"/>
            <a:ext cx="2377440" cy="1170432"/>
          </a:xfrm>
          <a:prstGeom prst="rect">
            <a:avLst/>
          </a:prstGeom>
          <a:noFill/>
          <a:ln/>
        </p:spPr>
        <p:txBody>
          <a:bodyPr wrap="square" lIns="0" tIns="0" rIns="0" bIns="0" rtlCol="0" anchor="t"/>
          <a:lstStyle/>
          <a:p>
            <a:pPr marL="342900" indent="-342900">
              <a:spcAft>
                <a:spcPts val="200"/>
              </a:spcAft>
              <a:buSzPct val="100000"/>
              <a:buChar char="•"/>
            </a:pPr>
            <a:r>
              <a:rPr lang="en-US" sz="1050" dirty="0">
                <a:solidFill>
                  <a:srgbClr val="1B2A22"/>
                </a:solidFill>
                <a:latin typeface="Calibri" pitchFamily="34" charset="0"/>
                <a:ea typeface="Calibri" pitchFamily="34" charset="-122"/>
                <a:cs typeface="Calibri" pitchFamily="34" charset="-120"/>
              </a:rPr>
              <a:t>Sistema de manejo</a:t>
            </a:r>
            <a:endParaRPr lang="en-US" sz="1050" dirty="0"/>
          </a:p>
          <a:p>
            <a:pPr marL="342900" indent="-342900">
              <a:spcAft>
                <a:spcPts val="200"/>
              </a:spcAft>
              <a:buSzPct val="100000"/>
              <a:buChar char="•"/>
            </a:pPr>
            <a:r>
              <a:rPr lang="en-US" sz="1050" dirty="0">
                <a:solidFill>
                  <a:srgbClr val="1B2A22"/>
                </a:solidFill>
                <a:latin typeface="Calibri" pitchFamily="34" charset="0"/>
                <a:ea typeface="Calibri" pitchFamily="34" charset="-122"/>
                <a:cs typeface="Calibri" pitchFamily="34" charset="-120"/>
              </a:rPr>
              <a:t>Cobertura vegetal (%)</a:t>
            </a:r>
            <a:endParaRPr lang="en-US" sz="1050" dirty="0"/>
          </a:p>
          <a:p>
            <a:pPr marL="342900" indent="-342900">
              <a:spcAft>
                <a:spcPts val="200"/>
              </a:spcAft>
              <a:buSzPct val="100000"/>
              <a:buChar char="•"/>
            </a:pPr>
            <a:r>
              <a:rPr lang="en-US" sz="1050" dirty="0">
                <a:solidFill>
                  <a:srgbClr val="1B2A22"/>
                </a:solidFill>
                <a:latin typeface="Calibri" pitchFamily="34" charset="0"/>
                <a:ea typeface="Calibri" pitchFamily="34" charset="-122"/>
                <a:cs typeface="Calibri" pitchFamily="34" charset="-120"/>
              </a:rPr>
              <a:t>Sentido de plantio</a:t>
            </a:r>
            <a:endParaRPr lang="en-US" sz="1050" dirty="0"/>
          </a:p>
          <a:p>
            <a:pPr marL="342900" indent="-342900">
              <a:spcAft>
                <a:spcPts val="200"/>
              </a:spcAft>
              <a:buSzPct val="100000"/>
              <a:buChar char="•"/>
            </a:pPr>
            <a:r>
              <a:rPr lang="en-US" sz="1050" dirty="0">
                <a:solidFill>
                  <a:srgbClr val="1B2A22"/>
                </a:solidFill>
                <a:latin typeface="Calibri" pitchFamily="34" charset="0"/>
                <a:ea typeface="Calibri" pitchFamily="34" charset="-122"/>
                <a:cs typeface="Calibri" pitchFamily="34" charset="-120"/>
              </a:rPr>
              <a:t>Presença e estado do terraço</a:t>
            </a:r>
            <a:endParaRPr lang="en-US" sz="1050" dirty="0"/>
          </a:p>
          <a:p>
            <a:pPr marL="342900" indent="-342900">
              <a:spcAft>
                <a:spcPts val="200"/>
              </a:spcAft>
              <a:buSzPct val="100000"/>
              <a:buChar char="•"/>
            </a:pPr>
            <a:r>
              <a:rPr lang="en-US" sz="1050" dirty="0">
                <a:solidFill>
                  <a:srgbClr val="1B2A22"/>
                </a:solidFill>
                <a:latin typeface="Calibri" pitchFamily="34" charset="0"/>
                <a:ea typeface="Calibri" pitchFamily="34" charset="-122"/>
                <a:cs typeface="Calibri" pitchFamily="34" charset="-120"/>
              </a:rPr>
              <a:t>Alimentam o fator P da RUSLE (RENARD et al., 1997; D22, provisório)</a:t>
            </a:r>
            <a:endParaRPr lang="en-US" sz="1050" dirty="0"/>
          </a:p>
        </p:txBody>
      </p:sp>
      <p:sp>
        <p:nvSpPr>
          <p:cNvPr id="19" name="Shape 17"/>
          <p:cNvSpPr/>
          <p:nvPr/>
        </p:nvSpPr>
        <p:spPr>
          <a:xfrm>
            <a:off x="6035040" y="2971800"/>
            <a:ext cx="2651760" cy="1627632"/>
          </a:xfrm>
          <a:prstGeom prst="roundRect">
            <a:avLst>
              <a:gd name="adj" fmla="val 4494"/>
            </a:avLst>
          </a:prstGeom>
          <a:solidFill>
            <a:srgbClr val="EEF3EF"/>
          </a:solidFill>
          <a:ln w="12700">
            <a:solidFill>
              <a:srgbClr val="EEF3EF"/>
            </a:solidFill>
            <a:prstDash val="solid"/>
          </a:ln>
        </p:spPr>
      </p:sp>
      <p:sp>
        <p:nvSpPr>
          <p:cNvPr id="20" name="Text 18"/>
          <p:cNvSpPr txBox="1"/>
          <p:nvPr/>
        </p:nvSpPr>
        <p:spPr>
          <a:xfrm>
            <a:off x="6172200" y="3063240"/>
            <a:ext cx="2377440" cy="274320"/>
          </a:xfrm>
          <a:prstGeom prst="rect">
            <a:avLst/>
          </a:prstGeom>
          <a:noFill/>
          <a:ln/>
        </p:spPr>
        <p:txBody>
          <a:bodyPr wrap="square" lIns="0" tIns="0" rIns="0" bIns="0" rtlCol="0" anchor="t"/>
          <a:lstStyle/>
          <a:p>
            <a:pPr marL="0" indent="0">
              <a:buNone/>
            </a:pPr>
            <a:r>
              <a:rPr lang="en-US" sz="1300" b="1" dirty="0">
                <a:solidFill>
                  <a:srgbClr val="2F6B4F"/>
                </a:solidFill>
                <a:latin typeface="Cambria" pitchFamily="34" charset="0"/>
                <a:ea typeface="Cambria" pitchFamily="34" charset="-122"/>
                <a:cs typeface="Cambria" pitchFamily="34" charset="-120"/>
              </a:rPr>
              <a:t>6. Evidências</a:t>
            </a:r>
            <a:endParaRPr lang="en-US" sz="1300" dirty="0"/>
          </a:p>
        </p:txBody>
      </p:sp>
      <p:sp>
        <p:nvSpPr>
          <p:cNvPr id="21" name="Text 19"/>
          <p:cNvSpPr txBox="1"/>
          <p:nvPr/>
        </p:nvSpPr>
        <p:spPr>
          <a:xfrm>
            <a:off x="6172200" y="3383280"/>
            <a:ext cx="2377440" cy="1170432"/>
          </a:xfrm>
          <a:prstGeom prst="rect">
            <a:avLst/>
          </a:prstGeom>
          <a:noFill/>
          <a:ln/>
        </p:spPr>
        <p:txBody>
          <a:bodyPr wrap="square" lIns="0" tIns="0" rIns="0" bIns="0" rtlCol="0" anchor="t"/>
          <a:lstStyle/>
          <a:p>
            <a:pPr marL="342900" indent="-342900">
              <a:spcAft>
                <a:spcPts val="200"/>
              </a:spcAft>
              <a:buSzPct val="100000"/>
              <a:buChar char="•"/>
            </a:pPr>
            <a:r>
              <a:rPr lang="en-US" sz="1050" dirty="0">
                <a:solidFill>
                  <a:srgbClr val="1B2A22"/>
                </a:solidFill>
                <a:latin typeface="Calibri" pitchFamily="34" charset="0"/>
                <a:ea typeface="Calibri" pitchFamily="34" charset="-122"/>
                <a:cs typeface="Calibri" pitchFamily="34" charset="-120"/>
              </a:rPr>
              <a:t>Foto nadir</a:t>
            </a:r>
            <a:endParaRPr lang="en-US" sz="1050" dirty="0"/>
          </a:p>
          <a:p>
            <a:pPr marL="342900" indent="-342900">
              <a:spcAft>
                <a:spcPts val="200"/>
              </a:spcAft>
              <a:buSzPct val="100000"/>
              <a:buChar char="•"/>
            </a:pPr>
            <a:r>
              <a:rPr lang="en-US" sz="1050" dirty="0">
                <a:solidFill>
                  <a:srgbClr val="1B2A22"/>
                </a:solidFill>
                <a:latin typeface="Calibri" pitchFamily="34" charset="0"/>
                <a:ea typeface="Calibri" pitchFamily="34" charset="-122"/>
                <a:cs typeface="Calibri" pitchFamily="34" charset="-120"/>
              </a:rPr>
              <a:t>Foto panorâmica</a:t>
            </a:r>
            <a:endParaRPr lang="en-US" sz="1050" dirty="0"/>
          </a:p>
          <a:p>
            <a:pPr marL="342900" indent="-342900">
              <a:spcAft>
                <a:spcPts val="200"/>
              </a:spcAft>
              <a:buSzPct val="100000"/>
              <a:buChar char="•"/>
            </a:pPr>
            <a:r>
              <a:rPr lang="en-US" sz="1050" dirty="0">
                <a:solidFill>
                  <a:srgbClr val="1B2A22"/>
                </a:solidFill>
                <a:latin typeface="Calibri" pitchFamily="34" charset="0"/>
                <a:ea typeface="Calibri" pitchFamily="34" charset="-122"/>
                <a:cs typeface="Calibri" pitchFamily="34" charset="-120"/>
              </a:rPr>
              <a:t>Observações do observador</a:t>
            </a:r>
            <a:endParaRPr lang="en-US" sz="1050" dirty="0"/>
          </a:p>
        </p:txBody>
      </p:sp>
      <p:sp>
        <p:nvSpPr>
          <p:cNvPr id="22" name="Text 20"/>
          <p:cNvSpPr txBox="1"/>
          <p:nvPr/>
        </p:nvSpPr>
        <p:spPr>
          <a:xfrm>
            <a:off x="457200" y="4663440"/>
            <a:ext cx="7863840" cy="411480"/>
          </a:xfrm>
          <a:prstGeom prst="rect">
            <a:avLst/>
          </a:prstGeom>
          <a:noFill/>
          <a:ln/>
        </p:spPr>
        <p:txBody>
          <a:bodyPr wrap="square" lIns="0" tIns="0" rIns="0" bIns="0" rtlCol="0" anchor="ctr"/>
          <a:lstStyle/>
          <a:p>
            <a:pPr marL="0" indent="0">
              <a:buNone/>
            </a:pPr>
            <a:r>
              <a:rPr lang="en-US" sz="900" i="1" dirty="0" err="1">
                <a:solidFill>
                  <a:srgbClr val="52605A"/>
                </a:solidFill>
                <a:latin typeface="Calibri" pitchFamily="34" charset="0"/>
                <a:ea typeface="Calibri" pitchFamily="34" charset="-122"/>
                <a:cs typeface="Calibri" pitchFamily="34" charset="-120"/>
              </a:rPr>
              <a:t>Fontes: SILVA (2026a, D03, D22 e P03); exportação do SAREL Coletor e módulo de ingestão (SILVA, 2026c). Métricas de qualidade posicional são colunas acrescentadas ao final.</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t"/>
          <a:lstStyle/>
          <a:p>
            <a:pPr marL="0" indent="0">
              <a:buNone/>
            </a:pPr>
            <a:r>
              <a:rPr lang="en-US" sz="2200" b="1" dirty="0">
                <a:solidFill>
                  <a:srgbClr val="1B2A22"/>
                </a:solidFill>
                <a:latin typeface="Cambria" pitchFamily="34" charset="0"/>
                <a:ea typeface="Cambria" pitchFamily="34" charset="-122"/>
                <a:cs typeface="Cambria" pitchFamily="34" charset="-120"/>
              </a:rPr>
              <a:t>Estado atual, limites e próximos passos</a:t>
            </a:r>
            <a:endParaRPr lang="en-US" sz="2200" dirty="0"/>
          </a:p>
        </p:txBody>
      </p:sp>
      <p:sp>
        <p:nvSpPr>
          <p:cNvPr id="3" name="Text 1"/>
          <p:cNvSpPr txBox="1"/>
          <p:nvPr/>
        </p:nvSpPr>
        <p:spPr>
          <a:xfrm>
            <a:off x="8412480" y="4800600"/>
            <a:ext cx="457200" cy="228600"/>
          </a:xfrm>
          <a:prstGeom prst="rect">
            <a:avLst/>
          </a:prstGeom>
          <a:noFill/>
          <a:ln/>
        </p:spPr>
        <p:txBody>
          <a:bodyPr wrap="square" lIns="0" tIns="0" rIns="0" bIns="0" rtlCol="0" anchor="t"/>
          <a:lstStyle/>
          <a:p>
            <a:pPr marL="0" indent="0" algn="r">
              <a:buNone/>
            </a:pPr>
            <a:r>
              <a:rPr lang="en-US" sz="1000" dirty="0">
                <a:solidFill>
                  <a:srgbClr val="52605A"/>
                </a:solidFill>
                <a:latin typeface="Calibri" pitchFamily="34" charset="0"/>
                <a:ea typeface="Calibri" pitchFamily="34" charset="-122"/>
                <a:cs typeface="Calibri" pitchFamily="34" charset="-120"/>
              </a:rPr>
              <a:t>11</a:t>
            </a:r>
            <a:endParaRPr lang="en-US" sz="1000" dirty="0"/>
          </a:p>
        </p:txBody>
      </p:sp>
      <p:sp>
        <p:nvSpPr>
          <p:cNvPr id="5" name="Shape 2"/>
          <p:cNvSpPr/>
          <p:nvPr/>
        </p:nvSpPr>
        <p:spPr>
          <a:xfrm>
            <a:off x="457200" y="1051560"/>
            <a:ext cx="4023360" cy="3474720"/>
          </a:xfrm>
          <a:prstGeom prst="roundRect">
            <a:avLst>
              <a:gd name="adj" fmla="val 2105"/>
            </a:avLst>
          </a:prstGeom>
          <a:solidFill>
            <a:srgbClr val="EEF3EF"/>
          </a:solidFill>
          <a:ln w="12700">
            <a:solidFill>
              <a:srgbClr val="EEF3EF"/>
            </a:solidFill>
            <a:prstDash val="solid"/>
          </a:ln>
        </p:spPr>
      </p:sp>
      <p:sp>
        <p:nvSpPr>
          <p:cNvPr id="6" name="Text 3"/>
          <p:cNvSpPr txBox="1"/>
          <p:nvPr/>
        </p:nvSpPr>
        <p:spPr>
          <a:xfrm>
            <a:off x="640080" y="1170432"/>
            <a:ext cx="3657600" cy="365760"/>
          </a:xfrm>
          <a:prstGeom prst="rect">
            <a:avLst/>
          </a:prstGeom>
          <a:noFill/>
          <a:ln/>
        </p:spPr>
        <p:txBody>
          <a:bodyPr wrap="square" lIns="0" tIns="0" rIns="0" bIns="0" rtlCol="0" anchor="t"/>
          <a:lstStyle/>
          <a:p>
            <a:pPr marL="0" indent="0">
              <a:buNone/>
            </a:pPr>
            <a:r>
              <a:rPr lang="en-US" sz="1900" b="1" dirty="0">
                <a:solidFill>
                  <a:srgbClr val="2F6B4F"/>
                </a:solidFill>
                <a:latin typeface="Cambria" pitchFamily="34" charset="0"/>
                <a:ea typeface="Cambria" pitchFamily="34" charset="-122"/>
                <a:cs typeface="Cambria" pitchFamily="34" charset="-120"/>
              </a:rPr>
              <a:t>Pronto</a:t>
            </a:r>
            <a:endParaRPr lang="en-US" sz="1900" dirty="0"/>
          </a:p>
        </p:txBody>
      </p:sp>
      <p:sp>
        <p:nvSpPr>
          <p:cNvPr id="7" name="Text 4"/>
          <p:cNvSpPr txBox="1"/>
          <p:nvPr/>
        </p:nvSpPr>
        <p:spPr>
          <a:xfrm>
            <a:off x="640080" y="1600200"/>
            <a:ext cx="3657600" cy="283464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Plataforma com os módulos do fluxo e recusa de dado sintético</a:t>
            </a:r>
            <a:endParaRPr lang="en-US" sz="1250" dirty="0"/>
          </a:p>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Desenho amostral e critério de avaliação pré-registrados</a:t>
            </a:r>
            <a:endParaRPr lang="en-US" sz="1250" dirty="0"/>
          </a:p>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Ferramenta de checagem do pool por estrato (somente leitura)</a:t>
            </a:r>
            <a:endParaRPr lang="en-US" sz="1250" dirty="0"/>
          </a:p>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Pacote de reprodutibilidade com verificador de integridade</a:t>
            </a:r>
            <a:endParaRPr lang="en-US" sz="1250" dirty="0"/>
          </a:p>
        </p:txBody>
      </p:sp>
      <p:sp>
        <p:nvSpPr>
          <p:cNvPr id="8" name="Shape 5"/>
          <p:cNvSpPr/>
          <p:nvPr/>
        </p:nvSpPr>
        <p:spPr>
          <a:xfrm>
            <a:off x="4663440" y="1051560"/>
            <a:ext cx="4023360" cy="3474720"/>
          </a:xfrm>
          <a:prstGeom prst="roundRect">
            <a:avLst>
              <a:gd name="adj" fmla="val 2105"/>
            </a:avLst>
          </a:prstGeom>
          <a:solidFill>
            <a:srgbClr val="EEF3EF"/>
          </a:solidFill>
          <a:ln w="12700">
            <a:solidFill>
              <a:srgbClr val="EEF3EF"/>
            </a:solidFill>
            <a:prstDash val="solid"/>
          </a:ln>
        </p:spPr>
      </p:sp>
      <p:sp>
        <p:nvSpPr>
          <p:cNvPr id="9" name="Text 6"/>
          <p:cNvSpPr txBox="1"/>
          <p:nvPr/>
        </p:nvSpPr>
        <p:spPr>
          <a:xfrm>
            <a:off x="4846320" y="1170432"/>
            <a:ext cx="3657600" cy="365760"/>
          </a:xfrm>
          <a:prstGeom prst="rect">
            <a:avLst/>
          </a:prstGeom>
          <a:noFill/>
          <a:ln/>
        </p:spPr>
        <p:txBody>
          <a:bodyPr wrap="square" lIns="0" tIns="0" rIns="0" bIns="0" rtlCol="0" anchor="t"/>
          <a:lstStyle/>
          <a:p>
            <a:pPr marL="0" indent="0">
              <a:buNone/>
            </a:pPr>
            <a:r>
              <a:rPr lang="en-US" sz="1900" b="1" dirty="0">
                <a:solidFill>
                  <a:srgbClr val="C65D3B"/>
                </a:solidFill>
                <a:latin typeface="Cambria" pitchFamily="34" charset="0"/>
                <a:ea typeface="Cambria" pitchFamily="34" charset="-122"/>
                <a:cs typeface="Cambria" pitchFamily="34" charset="-120"/>
              </a:rPr>
              <a:t>Pendente</a:t>
            </a:r>
            <a:endParaRPr lang="en-US" sz="1900" dirty="0"/>
          </a:p>
        </p:txBody>
      </p:sp>
      <p:sp>
        <p:nvSpPr>
          <p:cNvPr id="10" name="Text 7"/>
          <p:cNvSpPr txBox="1"/>
          <p:nvPr/>
        </p:nvSpPr>
        <p:spPr>
          <a:xfrm>
            <a:off x="4846320" y="1600200"/>
            <a:ext cx="3657600" cy="283464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Nenhum resultado empírico ainda</a:t>
            </a:r>
            <a:endParaRPr lang="en-US" sz="1250" dirty="0"/>
          </a:p>
          <a:p>
            <a:pPr marL="342900" indent="-342900">
              <a:spcAft>
                <a:spcPts val="700"/>
              </a:spcAft>
              <a:buSzPct val="100000"/>
              <a:buChar char="•"/>
            </a:pPr>
            <a:r>
              <a:rPr lang="en-US" sz="1250" dirty="0" err="1">
                <a:solidFill>
                  <a:srgbClr val="1B2A22"/>
                </a:solidFill>
                <a:latin typeface="Calibri" pitchFamily="34" charset="0"/>
                <a:ea typeface="Calibri" pitchFamily="34" charset="-122"/>
                <a:cs typeface="Calibri" pitchFamily="34" charset="-120"/>
              </a:rPr>
              <a:t>Autorizações</a:t>
            </a:r>
            <a:r>
              <a:rPr lang="en-US" sz="1250" dirty="0">
                <a:solidFill>
                  <a:srgbClr val="1B2A22"/>
                </a:solidFill>
                <a:latin typeface="Calibri" pitchFamily="34" charset="0"/>
                <a:ea typeface="Calibri" pitchFamily="34" charset="-122"/>
                <a:cs typeface="Calibri" pitchFamily="34" charset="-120"/>
              </a:rPr>
              <a:t>, voos e </a:t>
            </a:r>
            <a:r>
              <a:rPr lang="en-US" sz="1250" dirty="0" err="1">
                <a:solidFill>
                  <a:srgbClr val="1B2A22"/>
                </a:solidFill>
                <a:latin typeface="Calibri" pitchFamily="34" charset="0"/>
                <a:ea typeface="Calibri" pitchFamily="34" charset="-122"/>
                <a:cs typeface="Calibri" pitchFamily="34" charset="-120"/>
              </a:rPr>
              <a:t>delineação</a:t>
            </a:r>
            <a:endParaRPr lang="en-US" sz="1250" dirty="0"/>
          </a:p>
        </p:txBody>
      </p:sp>
      <p:sp>
        <p:nvSpPr>
          <p:cNvPr id="15" name="Text 12"/>
          <p:cNvSpPr txBox="1"/>
          <p:nvPr/>
        </p:nvSpPr>
        <p:spPr>
          <a:xfrm>
            <a:off x="457200" y="4727448"/>
            <a:ext cx="7863840" cy="365760"/>
          </a:xfrm>
          <a:prstGeom prst="rect">
            <a:avLst/>
          </a:prstGeom>
          <a:noFill/>
          <a:ln/>
        </p:spPr>
        <p:txBody>
          <a:bodyPr wrap="square" lIns="0" tIns="0" rIns="0" bIns="0" rtlCol="0" anchor="ctr"/>
          <a:lstStyle/>
          <a:p>
            <a:pPr marL="0" indent="0">
              <a:buNone/>
            </a:pPr>
            <a:r>
              <a:rPr lang="en-US" sz="900" i="1" dirty="0">
                <a:solidFill>
                  <a:srgbClr val="52605A"/>
                </a:solidFill>
                <a:latin typeface="Calibri" pitchFamily="34" charset="0"/>
                <a:ea typeface="Calibri" pitchFamily="34" charset="-122"/>
                <a:cs typeface="Calibri" pitchFamily="34" charset="-120"/>
              </a:rPr>
              <a:t>Fontes: SILVA (2026a, 2026b).</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t"/>
          <a:lstStyle/>
          <a:p>
            <a:pPr marL="0" indent="0">
              <a:buNone/>
            </a:pPr>
            <a:r>
              <a:rPr lang="en-US" sz="2200" b="1" dirty="0">
                <a:solidFill>
                  <a:srgbClr val="1B2A22"/>
                </a:solidFill>
                <a:latin typeface="Cambria" pitchFamily="34" charset="0"/>
                <a:ea typeface="Cambria" pitchFamily="34" charset="-122"/>
                <a:cs typeface="Cambria" pitchFamily="34" charset="-120"/>
              </a:rPr>
              <a:t>Referências</a:t>
            </a:r>
            <a:endParaRPr lang="en-US" sz="2200" dirty="0"/>
          </a:p>
        </p:txBody>
      </p:sp>
      <p:sp>
        <p:nvSpPr>
          <p:cNvPr id="3" name="Text 1"/>
          <p:cNvSpPr txBox="1"/>
          <p:nvPr/>
        </p:nvSpPr>
        <p:spPr>
          <a:xfrm>
            <a:off x="8412480" y="4800600"/>
            <a:ext cx="457200" cy="228600"/>
          </a:xfrm>
          <a:prstGeom prst="rect">
            <a:avLst/>
          </a:prstGeom>
          <a:noFill/>
          <a:ln/>
        </p:spPr>
        <p:txBody>
          <a:bodyPr wrap="square" lIns="0" tIns="0" rIns="0" bIns="0" rtlCol="0" anchor="t"/>
          <a:lstStyle/>
          <a:p>
            <a:pPr marL="0" indent="0" algn="r">
              <a:buNone/>
            </a:pPr>
            <a:r>
              <a:rPr lang="en-US" sz="1000" dirty="0">
                <a:solidFill>
                  <a:srgbClr val="52605A"/>
                </a:solidFill>
                <a:latin typeface="Calibri" pitchFamily="34" charset="0"/>
                <a:ea typeface="Calibri" pitchFamily="34" charset="-122"/>
                <a:cs typeface="Calibri" pitchFamily="34" charset="-120"/>
              </a:rPr>
              <a:t>12</a:t>
            </a:r>
            <a:endParaRPr lang="en-US" sz="1000" dirty="0"/>
          </a:p>
        </p:txBody>
      </p:sp>
      <p:sp>
        <p:nvSpPr>
          <p:cNvPr id="5" name="Text 2"/>
          <p:cNvSpPr txBox="1"/>
          <p:nvPr/>
        </p:nvSpPr>
        <p:spPr>
          <a:xfrm>
            <a:off x="457200" y="1005840"/>
            <a:ext cx="8229600" cy="3566160"/>
          </a:xfrm>
          <a:prstGeom prst="rect">
            <a:avLst/>
          </a:prstGeom>
          <a:noFill/>
          <a:ln/>
        </p:spPr>
        <p:txBody>
          <a:bodyPr wrap="square" lIns="0" tIns="0" rIns="0" bIns="0" rtlCol="0" anchor="t"/>
          <a:lstStyle/>
          <a:p>
            <a:pPr marL="0" indent="0">
              <a:spcAft>
                <a:spcPts val="500"/>
              </a:spcAft>
              <a:buNone/>
            </a:pPr>
            <a:r>
              <a:rPr lang="en-US" sz="1050" dirty="0" i="0" b="0">
                <a:solidFill>
                  <a:srgbClr val="1B2A22"/>
                </a:solidFill>
                <a:latin typeface="Calibri" pitchFamily="34" charset="0"/>
                <a:ea typeface="Calibri" pitchFamily="34" charset="-122"/>
                <a:cs typeface="Calibri" pitchFamily="34" charset="-120"/>
              </a:rPr>
              <a:t>COELHO, M. R. et al. </a:t>
            </a:r>
            <a:endParaRPr lang="en-US" sz="1050" dirty="0"/>
            <a:r>
              <a:rPr lang="en-US" sz="1050" dirty="0" i="0" b="1">
                <a:solidFill>
                  <a:srgbClr val="1B2A22"/>
                </a:solidFill>
                <a:latin typeface="Calibri" pitchFamily="34" charset="0"/>
                <a:ea typeface="Calibri" pitchFamily="34" charset="-122"/>
                <a:cs typeface="Calibri" pitchFamily="34" charset="-120"/>
              </a:rPr>
              <a:t>Erodibilidade dos solos do Brasil</a:t>
            </a:r>
            <a:r>
              <a:rPr lang="en-US" sz="1050" dirty="0" i="0" b="0">
                <a:solidFill>
                  <a:srgbClr val="1B2A22"/>
                </a:solidFill>
                <a:latin typeface="Calibri" pitchFamily="34" charset="0"/>
                <a:ea typeface="Calibri" pitchFamily="34" charset="-122"/>
                <a:cs typeface="Calibri" pitchFamily="34" charset="-120"/>
              </a:rPr>
              <a:t>. Rio de Janeiro: Embrapa Solos, 2024. 40 p. (Documentos, 246). ISSN 1517-2627.</a:t>
            </a:r>
          </a:p>
          <a:p>
            <a:pPr marL="0" indent="0">
              <a:spcAft>
                <a:spcPts val="500"/>
              </a:spcAft>
              <a:buNone/>
            </a:pPr>
            <a:r>
              <a:rPr lang="en-US" sz="1050" dirty="0" i="0" b="0">
                <a:solidFill>
                  <a:srgbClr val="1B2A22"/>
                </a:solidFill>
                <a:latin typeface="Calibri" pitchFamily="34" charset="0"/>
                <a:ea typeface="Calibri" pitchFamily="34" charset="-122"/>
                <a:cs typeface="Calibri" pitchFamily="34" charset="-120"/>
              </a:rPr>
              <a:t>RENARD, K. G.; FOSTER, G. R.; WEESIES, G. A.; McCOOL, D. K.; YODER, D. C. </a:t>
            </a:r>
            <a:endParaRPr lang="en-US" sz="1050" dirty="0"/>
            <a:r>
              <a:rPr lang="en-US" sz="1050" dirty="0" i="0" b="1">
                <a:solidFill>
                  <a:srgbClr val="1B2A22"/>
                </a:solidFill>
                <a:latin typeface="Calibri" pitchFamily="34" charset="0"/>
                <a:ea typeface="Calibri" pitchFamily="34" charset="-122"/>
                <a:cs typeface="Calibri" pitchFamily="34" charset="-120"/>
              </a:rPr>
              <a:t>Predicting soil erosion by water</a:t>
            </a:r>
            <a:r>
              <a:rPr lang="en-US" sz="1050" dirty="0" i="0" b="0">
                <a:solidFill>
                  <a:srgbClr val="1B2A22"/>
                </a:solidFill>
                <a:latin typeface="Calibri" pitchFamily="34" charset="0"/>
                <a:ea typeface="Calibri" pitchFamily="34" charset="-122"/>
                <a:cs typeface="Calibri" pitchFamily="34" charset="-120"/>
              </a:rPr>
              <a:t>: a guide to conservation planning with the Revised Universal Soil Loss Equation (RUSLE). [S. l.]: United States Department of Agriculture, 1997. 404 p. (Agriculture Handbook, 703).</a:t>
            </a:r>
          </a:p>
          <a:p>
            <a:pPr marL="0" indent="0">
              <a:spcAft>
                <a:spcPts val="500"/>
              </a:spcAft>
              <a:buNone/>
            </a:pPr>
            <a:r>
              <a:rPr lang="en-US" sz="1050" dirty="0" i="0" b="0">
                <a:solidFill>
                  <a:srgbClr val="1B2A22"/>
                </a:solidFill>
                <a:latin typeface="Calibri" pitchFamily="34" charset="0"/>
                <a:ea typeface="Calibri" pitchFamily="34" charset="-122"/>
                <a:cs typeface="Calibri" pitchFamily="34" charset="-120"/>
              </a:rPr>
              <a:t>SILVA, L. A. F. da. </a:t>
            </a:r>
            <a:endParaRPr lang="en-US" sz="1050" dirty="0"/>
            <a:r>
              <a:rPr lang="en-US" sz="1050" dirty="0" i="0" b="1">
                <a:solidFill>
                  <a:srgbClr val="1B2A22"/>
                </a:solidFill>
                <a:latin typeface="Calibri" pitchFamily="34" charset="0"/>
                <a:ea typeface="Calibri" pitchFamily="34" charset="-122"/>
                <a:cs typeface="Calibri" pitchFamily="34" charset="-120"/>
              </a:rPr>
              <a:t>Registro de decisões metodológicas do SAREL v2</a:t>
            </a:r>
            <a:r>
              <a:rPr lang="en-US" sz="1050" dirty="0" i="0" b="0">
                <a:solidFill>
                  <a:srgbClr val="1B2A22"/>
                </a:solidFill>
                <a:latin typeface="Calibri" pitchFamily="34" charset="0"/>
                <a:ea typeface="Calibri" pitchFamily="34" charset="-122"/>
                <a:cs typeface="Calibri" pitchFamily="34" charset="-120"/>
              </a:rPr>
              <a:t>: decisões D01 a D26 e parâmetros P01 a P24. Medianeira: UTFPR, 2026a. Documento eletrônico (DECISOES.md), gerado em 16 out. 2026. Não publicado.</a:t>
            </a:r>
          </a:p>
          <a:p>
            <a:pPr marL="0" indent="0">
              <a:spcAft>
                <a:spcPts val="500"/>
              </a:spcAft>
              <a:buNone/>
            </a:pPr>
            <a:r>
              <a:rPr lang="en-US" sz="1050" dirty="0" i="0" b="0">
                <a:solidFill>
                  <a:srgbClr val="1B2A22"/>
                </a:solidFill>
                <a:latin typeface="Calibri" pitchFamily="34" charset="0"/>
                <a:ea typeface="Calibri" pitchFamily="34" charset="-122"/>
                <a:cs typeface="Calibri" pitchFamily="34" charset="-120"/>
              </a:rPr>
              <a:t>SILVA, L. A. F. da. </a:t>
            </a:r>
            <a:endParaRPr lang="en-US" sz="1050" dirty="0"/>
            <a:r>
              <a:rPr lang="en-US" sz="1050" dirty="0" i="0" b="1">
                <a:solidFill>
                  <a:srgbClr val="1B2A22"/>
                </a:solidFill>
                <a:latin typeface="Calibri" pitchFamily="34" charset="0"/>
                <a:ea typeface="Calibri" pitchFamily="34" charset="-122"/>
                <a:cs typeface="Calibri" pitchFamily="34" charset="-120"/>
              </a:rPr>
              <a:t>Verificações metodológicas do SAREL v2</a:t>
            </a:r>
            <a:r>
              <a:rPr lang="en-US" sz="1050" dirty="0" i="0" b="0">
                <a:solidFill>
                  <a:srgbClr val="1B2A22"/>
                </a:solidFill>
                <a:latin typeface="Calibri" pitchFamily="34" charset="0"/>
                <a:ea typeface="Calibri" pitchFamily="34" charset="-122"/>
                <a:cs typeface="Calibri" pitchFamily="34" charset="-120"/>
              </a:rPr>
              <a:t>: levantamento fundiário e gargalo dos estratos (29 set. 2026); remedição dos candidatos da BP3 (30 set. 2026); cobertura dos voos (27 set. 2026). Medianeira: UTFPR, 2026b. Documentos eletrônicos. Não publicado.</a:t>
            </a:r>
          </a:p>
          <a:p>
            <a:pPr marL="0" indent="0">
              <a:spcAft>
                <a:spcPts val="500"/>
              </a:spcAft>
              <a:buNone/>
            </a:pPr>
            <a:r>
              <a:rPr lang="en-US" sz="1050" dirty="0" i="0" b="0">
                <a:solidFill>
                  <a:srgbClr val="1B2A22"/>
                </a:solidFill>
                <a:latin typeface="Calibri" pitchFamily="34" charset="0"/>
                <a:ea typeface="Calibri" pitchFamily="34" charset="-122"/>
                <a:cs typeface="Calibri" pitchFamily="34" charset="-120"/>
              </a:rPr>
              <a:t>SILVA, L. A. F. da. </a:t>
            </a:r>
            <a:endParaRPr lang="en-US" sz="1050" dirty="0"/>
            <a:r>
              <a:rPr lang="en-US" sz="1050" dirty="0" i="0" b="1">
                <a:solidFill>
                  <a:srgbClr val="1B2A22"/>
                </a:solidFill>
                <a:latin typeface="Calibri" pitchFamily="34" charset="0"/>
                <a:ea typeface="Calibri" pitchFamily="34" charset="-122"/>
                <a:cs typeface="Calibri" pitchFamily="34" charset="-120"/>
              </a:rPr>
              <a:t>SAREL v2</a:t>
            </a:r>
            <a:r>
              <a:rPr lang="en-US" sz="1050" dirty="0" i="0" b="0">
                <a:solidFill>
                  <a:srgbClr val="1B2A22"/>
                </a:solidFill>
                <a:latin typeface="Calibri" pitchFamily="34" charset="0"/>
                <a:ea typeface="Calibri" pitchFamily="34" charset="-122"/>
                <a:cs typeface="Calibri" pitchFamily="34" charset="-120"/>
              </a:rPr>
              <a:t>: Sistema de Amostragem e Rotulagem para Erosão Laminar. Medianeira: UTFPR, 2026c. Software (versão 2.0.0). Código-fonte não publicado.</a:t>
            </a:r>
          </a:p>
        </p:txBody>
      </p:sp>
      <p:sp>
        <p:nvSpPr>
          <p:cNvPr id="7" name="Text 4"/>
          <p:cNvSpPr txBox="1"/>
          <p:nvPr/>
        </p:nvSpPr>
        <p:spPr>
          <a:xfrm>
            <a:off x="457200" y="4754880"/>
            <a:ext cx="7863840" cy="292608"/>
          </a:xfrm>
          <a:prstGeom prst="rect">
            <a:avLst/>
          </a:prstGeom>
          <a:noFill/>
          <a:ln/>
        </p:spPr>
        <p:txBody>
          <a:bodyPr wrap="square" lIns="0" tIns="0" rIns="0" bIns="0" rtlCol="0" anchor="ctr"/>
          <a:lstStyle/>
          <a:p>
            <a:pPr marL="0" indent="0">
              <a:buNone/>
            </a:pPr>
            <a:r>
              <a:rPr lang="en-US" sz="900" i="1" dirty="0">
                <a:solidFill>
                  <a:srgbClr val="52605A"/>
                </a:solidFill>
                <a:latin typeface="Calibri" pitchFamily="34" charset="0"/>
                <a:ea typeface="Calibri" pitchFamily="34" charset="-122"/>
                <a:cs typeface="Calibri" pitchFamily="34" charset="-120"/>
              </a:rPr>
              <a:t>Obras externas conferidas contra a fonte primária (PDF arquivado no projeto). Documentos internos do SAREL: não publicados. Citações no texto conforme a ABNT NBR 10520; referências conforme a NBR 6023.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TotalTime>
  <Words>4023</Words>
  <Application>Microsoft Office PowerPoint</Application>
  <PresentationFormat>Apresentação no Ecrã (16:9)</PresentationFormat>
  <Paragraphs>231</Paragraphs>
  <Slides>14</Slides>
  <Notes>14</Notes>
  <HiddenSlides>0</HiddenSlides>
  <MMClips>0</MMClips>
  <ScaleCrop>false</ScaleCrop>
  <HeadingPairs>
    <vt:vector size="6" baseType="variant">
      <vt:variant>
        <vt:lpstr>Tipos de letra usados</vt:lpstr>
      </vt:variant>
      <vt:variant>
        <vt:i4>3</vt:i4>
      </vt:variant>
      <vt:variant>
        <vt:lpstr>Tema</vt:lpstr>
      </vt:variant>
      <vt:variant>
        <vt:i4>1</vt:i4>
      </vt:variant>
      <vt:variant>
        <vt:lpstr>Títulos dos diapositivos</vt:lpstr>
      </vt:variant>
      <vt:variant>
        <vt:i4>14</vt:i4>
      </vt:variant>
    </vt:vector>
  </HeadingPairs>
  <TitlesOfParts>
    <vt:vector size="18" baseType="lpstr">
      <vt:lpstr>Arial</vt:lpstr>
      <vt:lpstr>Calibri</vt:lpstr>
      <vt:lpstr>Cambria</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SAREL: plataforma para amostrar, rotular e auditar erosão laminar</dc:title>
  <dc:subject>PptxGenJS Presentation</dc:subject>
  <dc:creator>PptxGenJS</dc:creator>
  <cp:lastModifiedBy>Luis Alfredo</cp:lastModifiedBy>
  <cp:revision>8</cp:revision>
  <dcterms:created xsi:type="dcterms:W3CDTF">2026-10-19T09:41:39Z</dcterms:created>
  <dcterms:modified xsi:type="dcterms:W3CDTF">2026-10-19T12:36:37Z</dcterms:modified>
</cp:coreProperties>
</file>