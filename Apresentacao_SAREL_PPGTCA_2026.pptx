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2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287966" y="684053"/>
            <a:ext cx="365760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562286" y="866933"/>
            <a:ext cx="3108960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 sz="1400" dirty="0"/>
              <a:t>PILARES METODOLÓGICOS DO SAREL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600" dirty="0"/>
              <a:t>• </a:t>
            </a:r>
            <a:r>
              <a:rPr sz="1600" dirty="0" err="1"/>
              <a:t>Desenho</a:t>
            </a:r>
            <a:r>
              <a:rPr sz="1600" dirty="0"/>
              <a:t> </a:t>
            </a:r>
            <a:r>
              <a:rPr sz="1600" dirty="0" err="1"/>
              <a:t>Amostral</a:t>
            </a:r>
            <a:r>
              <a:rPr sz="1600" dirty="0"/>
              <a:t> 18 </a:t>
            </a:r>
            <a:r>
              <a:rPr sz="1600" dirty="0" err="1"/>
              <a:t>Estratos</a:t>
            </a:r>
            <a:endParaRPr sz="1600" dirty="0"/>
          </a:p>
          <a:p>
            <a:pPr>
              <a:defRPr sz="850">
                <a:solidFill>
                  <a:srgbClr val="CBD5E1"/>
                </a:solidFill>
              </a:defRPr>
            </a:pPr>
            <a:r>
              <a:rPr lang="pt-BR" sz="1600" dirty="0"/>
              <a:t>..</a:t>
            </a:r>
            <a:r>
              <a:rPr sz="1600" dirty="0"/>
              <a:t>com Thinning </a:t>
            </a:r>
            <a:r>
              <a:rPr sz="1600" dirty="0" err="1"/>
              <a:t>Geodésico</a:t>
            </a:r>
            <a:r>
              <a:rPr sz="1600" dirty="0"/>
              <a:t> ≥ 1,0 km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600" dirty="0"/>
              <a:t>• </a:t>
            </a:r>
            <a:r>
              <a:rPr sz="1400" dirty="0"/>
              <a:t>Lei Fundamental &amp; Rigor Anti-Mock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 sz="1600" dirty="0"/>
              <a:t>Dado </a:t>
            </a:r>
            <a:r>
              <a:rPr sz="1600" dirty="0" err="1"/>
              <a:t>verdadeiro</a:t>
            </a:r>
            <a:r>
              <a:rPr sz="1600" dirty="0"/>
              <a:t> </a:t>
            </a:r>
            <a:r>
              <a:rPr sz="1600" dirty="0" err="1"/>
              <a:t>ou</a:t>
            </a:r>
            <a:r>
              <a:rPr sz="1600" dirty="0"/>
              <a:t> </a:t>
            </a:r>
            <a:r>
              <a:rPr sz="1600" dirty="0" err="1"/>
              <a:t>ausência</a:t>
            </a:r>
            <a:r>
              <a:rPr sz="1600" dirty="0"/>
              <a:t> </a:t>
            </a:r>
            <a:r>
              <a:rPr sz="1600" dirty="0" err="1"/>
              <a:t>declarada</a:t>
            </a:r>
            <a:r>
              <a:rPr sz="1600" dirty="0"/>
              <a:t>. Zero dado </a:t>
            </a:r>
            <a:r>
              <a:rPr sz="1600" dirty="0" err="1"/>
              <a:t>fabricado</a:t>
            </a:r>
            <a:r>
              <a:rPr sz="1600" dirty="0"/>
              <a:t>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600" dirty="0"/>
              <a:t>• Fusão Cadastral &amp; LGPD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 sz="1600" dirty="0"/>
              <a:t>559.899 </a:t>
            </a:r>
            <a:r>
              <a:rPr sz="1600" dirty="0" err="1"/>
              <a:t>imóveis</a:t>
            </a:r>
            <a:r>
              <a:rPr sz="1600" dirty="0"/>
              <a:t> SICAR-PR + SIGEF + SNCR com </a:t>
            </a:r>
            <a:r>
              <a:rPr sz="1600" dirty="0" err="1"/>
              <a:t>máscara</a:t>
            </a:r>
            <a:r>
              <a:rPr sz="1600" dirty="0"/>
              <a:t> byte a byte.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600" dirty="0"/>
              <a:t>• </a:t>
            </a:r>
            <a:r>
              <a:rPr sz="1600" dirty="0" err="1"/>
              <a:t>Validação</a:t>
            </a:r>
            <a:r>
              <a:rPr sz="1600" dirty="0"/>
              <a:t> </a:t>
            </a:r>
            <a:r>
              <a:rPr sz="1600" dirty="0" err="1"/>
              <a:t>Espacial</a:t>
            </a:r>
            <a:r>
              <a:rPr sz="1600" dirty="0"/>
              <a:t> LOCO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 sz="1600" dirty="0" err="1"/>
              <a:t>XGBoost</a:t>
            </a:r>
            <a:r>
              <a:rPr sz="1600" dirty="0"/>
              <a:t> Leave-One-Catchment-Out </a:t>
            </a:r>
            <a:r>
              <a:rPr sz="1600" dirty="0" err="1"/>
              <a:t>particionado</a:t>
            </a:r>
            <a:r>
              <a:rPr sz="1600" dirty="0"/>
              <a:t> </a:t>
            </a:r>
            <a:r>
              <a:rPr sz="1600" dirty="0" err="1"/>
              <a:t>pelas</a:t>
            </a:r>
            <a:r>
              <a:rPr sz="1600" dirty="0"/>
              <a:t> </a:t>
            </a:r>
            <a:r>
              <a:rPr sz="1600" dirty="0" err="1"/>
              <a:t>bacias</a:t>
            </a:r>
            <a:r>
              <a:rPr sz="1600" dirty="0"/>
              <a:t> do PR.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7126" y="862268"/>
            <a:ext cx="6583680" cy="2636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rPr dirty="0"/>
              <a:t>PROGRAMA DE PÓS-GRADUAÇÃO EM TECNOLOGIAS COMPUTACIONAIS PARA O AGRONEGÓCIO</a:t>
            </a:r>
          </a:p>
          <a:p>
            <a:pPr>
              <a:spcBef>
                <a:spcPts val="1200"/>
              </a:spcBef>
              <a:defRPr sz="2700" b="1">
                <a:solidFill>
                  <a:srgbClr val="FFFFFF"/>
                </a:solidFill>
              </a:defRPr>
            </a:pPr>
            <a:r>
              <a:rPr dirty="0"/>
              <a:t>SAREL: Sistema de </a:t>
            </a:r>
            <a:r>
              <a:rPr dirty="0" err="1"/>
              <a:t>Amostragem</a:t>
            </a:r>
            <a:r>
              <a:rPr dirty="0"/>
              <a:t> e </a:t>
            </a:r>
            <a:r>
              <a:rPr dirty="0" err="1"/>
              <a:t>Rotulagem</a:t>
            </a:r>
            <a:r>
              <a:rPr dirty="0"/>
              <a:t> para </a:t>
            </a:r>
            <a:r>
              <a:rPr dirty="0" err="1"/>
              <a:t>Erosão</a:t>
            </a:r>
            <a:r>
              <a:rPr dirty="0"/>
              <a:t> Laminar</a:t>
            </a:r>
          </a:p>
          <a:p>
            <a:pPr>
              <a:spcBef>
                <a:spcPts val="1200"/>
              </a:spcBef>
              <a:defRPr sz="1300">
                <a:solidFill>
                  <a:srgbClr val="CBD5E1"/>
                </a:solidFill>
              </a:defRPr>
            </a:pPr>
            <a:r>
              <a:rPr sz="1400" dirty="0" err="1"/>
              <a:t>Instrumento</a:t>
            </a:r>
            <a:r>
              <a:rPr sz="1400" dirty="0"/>
              <a:t> </a:t>
            </a:r>
            <a:r>
              <a:rPr sz="1400" dirty="0" err="1"/>
              <a:t>Computacional</a:t>
            </a:r>
            <a:r>
              <a:rPr sz="1400" dirty="0"/>
              <a:t> de </a:t>
            </a:r>
            <a:r>
              <a:rPr sz="1400" dirty="0" err="1"/>
              <a:t>Amostragem</a:t>
            </a:r>
            <a:r>
              <a:rPr sz="1400" dirty="0"/>
              <a:t> </a:t>
            </a:r>
            <a:r>
              <a:rPr sz="1400" dirty="0" err="1"/>
              <a:t>Multivariada</a:t>
            </a:r>
            <a:r>
              <a:rPr sz="1400" dirty="0"/>
              <a:t>, </a:t>
            </a:r>
            <a:r>
              <a:rPr sz="1400" dirty="0" err="1"/>
              <a:t>Sensoriamento</a:t>
            </a:r>
            <a:r>
              <a:rPr sz="1400" dirty="0"/>
              <a:t> </a:t>
            </a:r>
            <a:r>
              <a:rPr sz="1400" dirty="0" err="1"/>
              <a:t>Remoto</a:t>
            </a:r>
            <a:r>
              <a:rPr sz="1400" dirty="0"/>
              <a:t> e </a:t>
            </a:r>
            <a:r>
              <a:rPr sz="1400" dirty="0" err="1"/>
              <a:t>Gestão</a:t>
            </a:r>
            <a:r>
              <a:rPr sz="1400" dirty="0"/>
              <a:t> de </a:t>
            </a:r>
            <a:r>
              <a:rPr sz="1400" dirty="0" err="1"/>
              <a:t>Rotulagem</a:t>
            </a:r>
            <a:r>
              <a:rPr sz="1400" dirty="0"/>
              <a:t> </a:t>
            </a:r>
            <a:r>
              <a:rPr sz="1400" dirty="0" err="1"/>
              <a:t>Cega</a:t>
            </a:r>
            <a:r>
              <a:rPr sz="1400" dirty="0"/>
              <a:t> para </a:t>
            </a:r>
            <a:r>
              <a:rPr sz="1400" dirty="0" err="1"/>
              <a:t>Predição</a:t>
            </a:r>
            <a:r>
              <a:rPr sz="1400" dirty="0"/>
              <a:t> </a:t>
            </a:r>
            <a:r>
              <a:rPr sz="1400" dirty="0" err="1"/>
              <a:t>por</a:t>
            </a:r>
            <a:r>
              <a:rPr sz="1400" dirty="0"/>
              <a:t> Aprendizado de </a:t>
            </a:r>
            <a:r>
              <a:rPr sz="1400" dirty="0" err="1"/>
              <a:t>Máquina</a:t>
            </a:r>
            <a:r>
              <a:rPr sz="1400" dirty="0"/>
              <a:t> no Paraná</a:t>
            </a:r>
          </a:p>
          <a:p>
            <a:pPr>
              <a:spcBef>
                <a:spcPts val="2200"/>
              </a:spcBef>
              <a:defRPr sz="1100" b="1">
                <a:solidFill>
                  <a:srgbClr val="10B981"/>
                </a:solidFill>
              </a:defRPr>
            </a:pPr>
            <a:r>
              <a:rPr sz="1900" dirty="0" err="1"/>
              <a:t>Mestrando</a:t>
            </a:r>
            <a:r>
              <a:rPr sz="1900" dirty="0"/>
              <a:t>: Luis Alfredo | Pesquisa de </a:t>
            </a:r>
            <a:r>
              <a:rPr sz="1900" dirty="0" err="1"/>
              <a:t>Mestrado</a:t>
            </a:r>
            <a:r>
              <a:rPr sz="1900" dirty="0"/>
              <a:t> PPGTCA 2026</a:t>
            </a:r>
            <a:br>
              <a:rPr sz="1600" dirty="0"/>
            </a:br>
            <a:r>
              <a:rPr sz="1600" dirty="0" err="1"/>
              <a:t>Linha</a:t>
            </a:r>
            <a:r>
              <a:rPr sz="1600" dirty="0"/>
              <a:t> de Pesquisa: </a:t>
            </a:r>
            <a:r>
              <a:rPr sz="1600" dirty="0" err="1"/>
              <a:t>Tecnologias</a:t>
            </a:r>
            <a:r>
              <a:rPr sz="1600" dirty="0"/>
              <a:t> </a:t>
            </a:r>
            <a:r>
              <a:rPr sz="1600" dirty="0" err="1"/>
              <a:t>Geoespaciais</a:t>
            </a:r>
            <a:r>
              <a:rPr sz="1600" dirty="0"/>
              <a:t> e </a:t>
            </a:r>
            <a:r>
              <a:rPr sz="1600" dirty="0" err="1"/>
              <a:t>Modelagem</a:t>
            </a:r>
            <a:r>
              <a:rPr sz="1600" dirty="0"/>
              <a:t> </a:t>
            </a:r>
            <a:r>
              <a:rPr sz="1600" dirty="0" err="1"/>
              <a:t>Computacional</a:t>
            </a:r>
            <a:endParaRPr sz="16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47F088B-B619-6999-5B86-027F2B216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30064"/>
            <a:ext cx="2692229" cy="894500"/>
          </a:xfrm>
          <a:prstGeom prst="rect">
            <a:avLst/>
          </a:prstGeom>
          <a:effectLst>
            <a:glow rad="76200">
              <a:schemeClr val="bg1">
                <a:alpha val="94000"/>
              </a:schemeClr>
            </a:glow>
          </a:effec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4AB11F3-C66D-6E57-79AC-3E2C62F70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861" y="4377363"/>
            <a:ext cx="2909698" cy="886501"/>
          </a:xfrm>
          <a:prstGeom prst="rect">
            <a:avLst/>
          </a:prstGeom>
          <a:effectLst>
            <a:glow rad="127000">
              <a:schemeClr val="bg1"/>
            </a:glow>
          </a:effec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BD3426B-1E8B-2BA0-6CBC-3BF6C2C46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29" y="866933"/>
            <a:ext cx="1158141" cy="12248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MESTRADO PPGTCA 2026 • TECNOLOGIAS COMPUTACIONAIS PARA O AGRONEGÓCIO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Contexto da Pesquisa: A Erosão Laminar e a Escala do Paraná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D97706"/>
                </a:solidFill>
              </a:defRPr>
            </a:pPr>
            <a:r>
              <a:rPr sz="1600" dirty="0"/>
              <a:t>A </a:t>
            </a:r>
            <a:r>
              <a:rPr sz="1600" dirty="0" err="1"/>
              <a:t>Erosão</a:t>
            </a:r>
            <a:r>
              <a:rPr sz="1600" dirty="0"/>
              <a:t> </a:t>
            </a:r>
            <a:r>
              <a:rPr sz="1600" dirty="0" err="1"/>
              <a:t>Silenciosa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Processo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Invisível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>
                <a:solidFill>
                  <a:srgbClr val="475569"/>
                </a:solidFill>
              </a:rPr>
              <a:t>A </a:t>
            </a:r>
            <a:r>
              <a:rPr sz="1600" dirty="0" err="1">
                <a:solidFill>
                  <a:srgbClr val="475569"/>
                </a:solidFill>
              </a:rPr>
              <a:t>erosão</a:t>
            </a:r>
            <a:r>
              <a:rPr sz="1600" dirty="0">
                <a:solidFill>
                  <a:srgbClr val="475569"/>
                </a:solidFill>
              </a:rPr>
              <a:t> laminar remove </a:t>
            </a:r>
            <a:r>
              <a:rPr sz="1600" dirty="0" err="1">
                <a:solidFill>
                  <a:srgbClr val="475569"/>
                </a:solidFill>
              </a:rPr>
              <a:t>gradualmente</a:t>
            </a:r>
            <a:r>
              <a:rPr sz="1600" dirty="0">
                <a:solidFill>
                  <a:srgbClr val="475569"/>
                </a:solidFill>
              </a:rPr>
              <a:t> as </a:t>
            </a:r>
            <a:r>
              <a:rPr sz="1600" dirty="0" err="1">
                <a:solidFill>
                  <a:srgbClr val="475569"/>
                </a:solidFill>
              </a:rPr>
              <a:t>camadas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superficiais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férteis</a:t>
            </a:r>
            <a:r>
              <a:rPr sz="1600" dirty="0">
                <a:solidFill>
                  <a:srgbClr val="475569"/>
                </a:solidFill>
              </a:rPr>
              <a:t> do solo </a:t>
            </a:r>
            <a:r>
              <a:rPr sz="1600" dirty="0" err="1">
                <a:solidFill>
                  <a:srgbClr val="475569"/>
                </a:solidFill>
              </a:rPr>
              <a:t>agrícola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abrir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sulcos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ou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voçorocas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imediatas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Impacto </a:t>
            </a:r>
            <a:r>
              <a:rPr sz="1600" b="1" dirty="0" err="1">
                <a:solidFill>
                  <a:srgbClr val="0F172A"/>
                </a:solidFill>
              </a:rPr>
              <a:t>Agronômico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Toneladas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matéria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orgânica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fertilizantes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argila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carreadas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aos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rios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muito</a:t>
            </a:r>
            <a:r>
              <a:rPr sz="1600" dirty="0">
                <a:solidFill>
                  <a:srgbClr val="475569"/>
                </a:solidFill>
              </a:rPr>
              <a:t> antes do </a:t>
            </a:r>
            <a:r>
              <a:rPr sz="1600" dirty="0" err="1">
                <a:solidFill>
                  <a:srgbClr val="475569"/>
                </a:solidFill>
              </a:rPr>
              <a:t>dano</a:t>
            </a:r>
            <a:r>
              <a:rPr sz="1600" dirty="0">
                <a:solidFill>
                  <a:srgbClr val="475569"/>
                </a:solidFill>
              </a:rPr>
              <a:t> ser </a:t>
            </a:r>
            <a:r>
              <a:rPr sz="1600" dirty="0" err="1">
                <a:solidFill>
                  <a:srgbClr val="475569"/>
                </a:solidFill>
              </a:rPr>
              <a:t>percebido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visualmente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Dimensão</a:t>
            </a:r>
            <a:r>
              <a:rPr sz="1600" b="1" dirty="0">
                <a:solidFill>
                  <a:srgbClr val="0F172A"/>
                </a:solidFill>
              </a:rPr>
              <a:t> Territorial: </a:t>
            </a:r>
            <a:r>
              <a:rPr sz="1600" dirty="0">
                <a:solidFill>
                  <a:srgbClr val="475569"/>
                </a:solidFill>
              </a:rPr>
              <a:t>O Estado do Paraná </a:t>
            </a:r>
            <a:r>
              <a:rPr sz="1600" dirty="0" err="1">
                <a:solidFill>
                  <a:srgbClr val="475569"/>
                </a:solidFill>
              </a:rPr>
              <a:t>possui</a:t>
            </a:r>
            <a:r>
              <a:rPr sz="1600" dirty="0">
                <a:solidFill>
                  <a:srgbClr val="475569"/>
                </a:solidFill>
              </a:rPr>
              <a:t> 199.315 km² de </a:t>
            </a:r>
            <a:r>
              <a:rPr sz="1600" dirty="0" err="1">
                <a:solidFill>
                  <a:srgbClr val="475569"/>
                </a:solidFill>
              </a:rPr>
              <a:t>área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exigindo</a:t>
            </a:r>
            <a:r>
              <a:rPr sz="1600" dirty="0">
                <a:solidFill>
                  <a:srgbClr val="475569"/>
                </a:solidFill>
              </a:rPr>
              <a:t> ferramentas </a:t>
            </a:r>
            <a:r>
              <a:rPr sz="1600" dirty="0" err="1">
                <a:solidFill>
                  <a:srgbClr val="475569"/>
                </a:solidFill>
              </a:rPr>
              <a:t>capazes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monitorar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bacias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inteiras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macroescala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rPr sz="1600" dirty="0"/>
              <a:t>O </a:t>
            </a:r>
            <a:r>
              <a:rPr sz="1600" dirty="0" err="1"/>
              <a:t>Gargalo</a:t>
            </a:r>
            <a:r>
              <a:rPr sz="1600" dirty="0"/>
              <a:t> </a:t>
            </a:r>
            <a:r>
              <a:rPr sz="1600" dirty="0" err="1"/>
              <a:t>Tradicional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Vistorias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Dispersas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Inspeções</a:t>
            </a:r>
            <a:r>
              <a:rPr sz="1600" dirty="0">
                <a:solidFill>
                  <a:srgbClr val="475569"/>
                </a:solidFill>
              </a:rPr>
              <a:t> de campo </a:t>
            </a:r>
            <a:r>
              <a:rPr sz="1600" dirty="0" err="1">
                <a:solidFill>
                  <a:srgbClr val="475569"/>
                </a:solidFill>
              </a:rPr>
              <a:t>convencionais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cobrem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áreas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restritas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são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lentas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enviesadas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por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proximidade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rodovias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estradas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Falta de </a:t>
            </a:r>
            <a:r>
              <a:rPr sz="1600" b="1" dirty="0" err="1">
                <a:solidFill>
                  <a:srgbClr val="0F172A"/>
                </a:solidFill>
              </a:rPr>
              <a:t>Rastreabilidade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Planilhas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manuais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não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registram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proveniência</a:t>
            </a:r>
            <a:r>
              <a:rPr sz="1600" dirty="0">
                <a:solidFill>
                  <a:srgbClr val="475569"/>
                </a:solidFill>
              </a:rPr>
              <a:t> dos dados nem a data </a:t>
            </a:r>
            <a:r>
              <a:rPr sz="1600" dirty="0" err="1">
                <a:solidFill>
                  <a:srgbClr val="475569"/>
                </a:solidFill>
              </a:rPr>
              <a:t>exata</a:t>
            </a:r>
            <a:r>
              <a:rPr sz="1600" dirty="0">
                <a:solidFill>
                  <a:srgbClr val="475569"/>
                </a:solidFill>
              </a:rPr>
              <a:t> da </a:t>
            </a:r>
            <a:r>
              <a:rPr sz="1600" dirty="0" err="1">
                <a:solidFill>
                  <a:srgbClr val="475569"/>
                </a:solidFill>
              </a:rPr>
              <a:t>imagem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satelital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que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embasou</a:t>
            </a:r>
            <a:r>
              <a:rPr sz="1600" dirty="0">
                <a:solidFill>
                  <a:srgbClr val="475569"/>
                </a:solidFill>
              </a:rPr>
              <a:t> o </a:t>
            </a:r>
            <a:r>
              <a:rPr sz="1600" dirty="0" err="1">
                <a:solidFill>
                  <a:srgbClr val="475569"/>
                </a:solidFill>
              </a:rPr>
              <a:t>laudo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Inviabilidade</a:t>
            </a:r>
            <a:r>
              <a:rPr sz="1600" b="1" dirty="0">
                <a:solidFill>
                  <a:srgbClr val="0F172A"/>
                </a:solidFill>
              </a:rPr>
              <a:t> de Escala: </a:t>
            </a:r>
            <a:r>
              <a:rPr sz="1600" dirty="0" err="1">
                <a:solidFill>
                  <a:srgbClr val="475569"/>
                </a:solidFill>
              </a:rPr>
              <a:t>Percorrer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centenas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municípios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paranaenses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demanda</a:t>
            </a:r>
            <a:r>
              <a:rPr sz="1600" dirty="0">
                <a:solidFill>
                  <a:srgbClr val="475569"/>
                </a:solidFill>
              </a:rPr>
              <a:t> tempo e </a:t>
            </a:r>
            <a:r>
              <a:rPr sz="1600" dirty="0" err="1">
                <a:solidFill>
                  <a:srgbClr val="475569"/>
                </a:solidFill>
              </a:rPr>
              <a:t>recursos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financeiros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proibitivos</a:t>
            </a:r>
            <a:r>
              <a:rPr sz="1600" dirty="0">
                <a:solidFill>
                  <a:srgbClr val="475569"/>
                </a:solidFill>
              </a:rPr>
              <a:t> para a </a:t>
            </a:r>
            <a:r>
              <a:rPr sz="1600" dirty="0" err="1">
                <a:solidFill>
                  <a:srgbClr val="475569"/>
                </a:solidFill>
              </a:rPr>
              <a:t>pesquisa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rPr sz="1600" dirty="0"/>
              <a:t>A </a:t>
            </a:r>
            <a:r>
              <a:rPr sz="1600" dirty="0" err="1"/>
              <a:t>Proposta</a:t>
            </a:r>
            <a:r>
              <a:rPr sz="1600" dirty="0"/>
              <a:t> SAREL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Estratificação</a:t>
            </a:r>
            <a:r>
              <a:rPr sz="1600" b="1" dirty="0">
                <a:solidFill>
                  <a:srgbClr val="0F172A"/>
                </a:solidFill>
              </a:rPr>
              <a:t> Robusta: </a:t>
            </a:r>
            <a:r>
              <a:rPr sz="1600" dirty="0" err="1">
                <a:solidFill>
                  <a:srgbClr val="475569"/>
                </a:solidFill>
              </a:rPr>
              <a:t>Algoritmo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computacional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que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varre</a:t>
            </a:r>
            <a:r>
              <a:rPr sz="1600" dirty="0">
                <a:solidFill>
                  <a:srgbClr val="475569"/>
                </a:solidFill>
              </a:rPr>
              <a:t> o </a:t>
            </a:r>
            <a:r>
              <a:rPr sz="1600" dirty="0" err="1">
                <a:solidFill>
                  <a:srgbClr val="475569"/>
                </a:solidFill>
              </a:rPr>
              <a:t>território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paranaense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elegendo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amostras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estatisticamente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balanceadas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Fusão </a:t>
            </a:r>
            <a:r>
              <a:rPr sz="1600" b="1" dirty="0" err="1">
                <a:solidFill>
                  <a:srgbClr val="0F172A"/>
                </a:solidFill>
              </a:rPr>
              <a:t>Multivariada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Integração</a:t>
            </a:r>
            <a:r>
              <a:rPr sz="1600" dirty="0">
                <a:solidFill>
                  <a:srgbClr val="475569"/>
                </a:solidFill>
              </a:rPr>
              <a:t> do Google Earth Engine (Sentinel-2), Copernicus DEM, cartas </a:t>
            </a:r>
            <a:r>
              <a:rPr sz="1600" dirty="0" err="1">
                <a:solidFill>
                  <a:srgbClr val="475569"/>
                </a:solidFill>
              </a:rPr>
              <a:t>oficiais</a:t>
            </a:r>
            <a:r>
              <a:rPr sz="1600" dirty="0">
                <a:solidFill>
                  <a:srgbClr val="475569"/>
                </a:solidFill>
              </a:rPr>
              <a:t> da Embrapa e </a:t>
            </a:r>
            <a:r>
              <a:rPr sz="1600" dirty="0" err="1">
                <a:solidFill>
                  <a:srgbClr val="475569"/>
                </a:solidFill>
              </a:rPr>
              <a:t>malhas</a:t>
            </a:r>
            <a:r>
              <a:rPr sz="1600" dirty="0">
                <a:solidFill>
                  <a:srgbClr val="475569"/>
                </a:solidFill>
              </a:rPr>
              <a:t> do CAR.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Rigor </a:t>
            </a:r>
            <a:r>
              <a:rPr sz="1600" b="1" dirty="0" err="1">
                <a:solidFill>
                  <a:srgbClr val="0F172A"/>
                </a:solidFill>
              </a:rPr>
              <a:t>Científico</a:t>
            </a:r>
            <a:r>
              <a:rPr sz="1600" b="1" dirty="0">
                <a:solidFill>
                  <a:srgbClr val="0F172A"/>
                </a:solidFill>
              </a:rPr>
              <a:t> Total: </a:t>
            </a:r>
            <a:r>
              <a:rPr sz="1600" dirty="0" err="1">
                <a:solidFill>
                  <a:srgbClr val="475569"/>
                </a:solidFill>
              </a:rPr>
              <a:t>Separação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estrita</a:t>
            </a:r>
            <a:r>
              <a:rPr sz="1600" dirty="0">
                <a:solidFill>
                  <a:srgbClr val="475569"/>
                </a:solidFill>
              </a:rPr>
              <a:t> entre </a:t>
            </a:r>
            <a:r>
              <a:rPr sz="1600" dirty="0" err="1">
                <a:solidFill>
                  <a:srgbClr val="475569"/>
                </a:solidFill>
              </a:rPr>
              <a:t>observação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modelagem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garantindo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blindagem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metodológica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perante</a:t>
            </a:r>
            <a:r>
              <a:rPr sz="1600" dirty="0">
                <a:solidFill>
                  <a:srgbClr val="475569"/>
                </a:solidFill>
              </a:rPr>
              <a:t> a banca do PPGTCA.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rPr dirty="0"/>
              <a:t>GESTÃO DE CUSTOS &amp; LOGÍSTICA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dirty="0" err="1"/>
              <a:t>Viabilidade</a:t>
            </a:r>
            <a:r>
              <a:rPr dirty="0"/>
              <a:t> Econômica: O </a:t>
            </a:r>
            <a:r>
              <a:rPr dirty="0" err="1"/>
              <a:t>Dilema</a:t>
            </a:r>
            <a:r>
              <a:rPr dirty="0"/>
              <a:t> de Custos de </a:t>
            </a:r>
            <a:r>
              <a:rPr dirty="0" err="1"/>
              <a:t>Amostragem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rPr dirty="0"/>
              <a:t>SAREL v2.0 • Sistema de Amostragem e </a:t>
            </a:r>
            <a:r>
              <a:rPr dirty="0" err="1"/>
              <a:t>Rotulagem</a:t>
            </a:r>
            <a:r>
              <a:rPr dirty="0"/>
              <a:t> para </a:t>
            </a:r>
            <a:r>
              <a:rPr dirty="0" err="1"/>
              <a:t>Erosão</a:t>
            </a:r>
            <a:r>
              <a:rPr dirty="0"/>
              <a:t>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13775"/>
            <a:ext cx="329184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rPr sz="1200" dirty="0"/>
              <a:t>100% CAMPO (INVIÁVEL)</a:t>
            </a:r>
          </a:p>
          <a:p>
            <a:pPr algn="ctr">
              <a:defRPr sz="1700" b="1">
                <a:solidFill>
                  <a:srgbClr val="E11D48"/>
                </a:solidFill>
              </a:defRPr>
            </a:pPr>
            <a:r>
              <a:rPr dirty="0"/>
              <a:t>R$ 75k a 120k </a:t>
            </a:r>
            <a:r>
              <a:rPr dirty="0" err="1"/>
              <a:t>estimados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520584"/>
            <a:ext cx="329184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rPr sz="1200" dirty="0"/>
              <a:t>100% SINTÉTICO (VICIADO)</a:t>
            </a:r>
          </a:p>
          <a:p>
            <a:pPr algn="ctr">
              <a:defRPr sz="1700" b="1">
                <a:solidFill>
                  <a:srgbClr val="D97706"/>
                </a:solidFill>
              </a:defRPr>
            </a:pPr>
            <a:r>
              <a:rPr dirty="0"/>
              <a:t>R$ 0,00 (</a:t>
            </a:r>
            <a:r>
              <a:rPr dirty="0" err="1"/>
              <a:t>Rejeição</a:t>
            </a:r>
            <a:r>
              <a:rPr dirty="0"/>
              <a:t> </a:t>
            </a:r>
            <a:r>
              <a:rPr dirty="0" err="1"/>
              <a:t>Acadêmica</a:t>
            </a:r>
            <a:r>
              <a:rPr dirty="0"/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0" y="1520584"/>
            <a:ext cx="33832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rPr sz="1200" dirty="0"/>
              <a:t>ESTRATÉGIA HÍBRIDA SAREL</a:t>
            </a:r>
          </a:p>
          <a:p>
            <a:pPr algn="ctr">
              <a:defRPr sz="1700" b="1">
                <a:solidFill>
                  <a:srgbClr val="10B981"/>
                </a:solidFill>
              </a:defRPr>
            </a:pPr>
            <a:r>
              <a:rPr dirty="0"/>
              <a:t>Economia ~80% (</a:t>
            </a:r>
            <a:r>
              <a:rPr dirty="0" err="1"/>
              <a:t>Custo</a:t>
            </a:r>
            <a:r>
              <a:rPr dirty="0"/>
              <a:t> </a:t>
            </a:r>
            <a:r>
              <a:rPr dirty="0" err="1"/>
              <a:t>Exequível</a:t>
            </a:r>
            <a:r>
              <a:rPr dirty="0"/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3017520" cy="28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rPr sz="1400" dirty="0" err="1"/>
              <a:t>Cenário</a:t>
            </a:r>
            <a:r>
              <a:rPr sz="1400" dirty="0"/>
              <a:t> A: 100% Campo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Demanda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Logística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Visita </a:t>
            </a:r>
            <a:r>
              <a:rPr sz="1400" dirty="0" err="1">
                <a:solidFill>
                  <a:srgbClr val="475569"/>
                </a:solidFill>
              </a:rPr>
              <a:t>presencial</a:t>
            </a:r>
            <a:r>
              <a:rPr sz="1400" dirty="0">
                <a:solidFill>
                  <a:srgbClr val="475569"/>
                </a:solidFill>
              </a:rPr>
              <a:t> a 250-300 </a:t>
            </a:r>
            <a:r>
              <a:rPr sz="1400" dirty="0" err="1">
                <a:solidFill>
                  <a:srgbClr val="475569"/>
                </a:solidFill>
              </a:rPr>
              <a:t>pontos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dispersos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todo</a:t>
            </a:r>
            <a:r>
              <a:rPr sz="1400" dirty="0">
                <a:solidFill>
                  <a:srgbClr val="475569"/>
                </a:solidFill>
              </a:rPr>
              <a:t> o Paraná.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Custos </a:t>
            </a:r>
            <a:r>
              <a:rPr sz="1400" b="1" dirty="0" err="1">
                <a:solidFill>
                  <a:srgbClr val="0F172A"/>
                </a:solidFill>
              </a:rPr>
              <a:t>Operacionais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Combustível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veículos</a:t>
            </a:r>
            <a:r>
              <a:rPr sz="1400" dirty="0">
                <a:solidFill>
                  <a:srgbClr val="475569"/>
                </a:solidFill>
              </a:rPr>
              <a:t> 4x4, </a:t>
            </a:r>
            <a:r>
              <a:rPr sz="1400" dirty="0" err="1">
                <a:solidFill>
                  <a:srgbClr val="475569"/>
                </a:solidFill>
              </a:rPr>
              <a:t>diárias</a:t>
            </a:r>
            <a:r>
              <a:rPr sz="1400" dirty="0">
                <a:solidFill>
                  <a:srgbClr val="475569"/>
                </a:solidFill>
              </a:rPr>
              <a:t> de equipe, </a:t>
            </a:r>
            <a:r>
              <a:rPr sz="1400" dirty="0" err="1">
                <a:solidFill>
                  <a:srgbClr val="475569"/>
                </a:solidFill>
              </a:rPr>
              <a:t>aluguel</a:t>
            </a:r>
            <a:r>
              <a:rPr sz="1400" dirty="0">
                <a:solidFill>
                  <a:srgbClr val="475569"/>
                </a:solidFill>
              </a:rPr>
              <a:t> de GNSS RTK e 4 a 6 meses de </a:t>
            </a:r>
            <a:r>
              <a:rPr sz="1400" dirty="0" err="1">
                <a:solidFill>
                  <a:srgbClr val="475569"/>
                </a:solidFill>
              </a:rPr>
              <a:t>deslocamento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contínuo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Risco </a:t>
            </a:r>
            <a:r>
              <a:rPr sz="1400" b="1" dirty="0" err="1">
                <a:solidFill>
                  <a:srgbClr val="0F172A"/>
                </a:solidFill>
              </a:rPr>
              <a:t>Acadêmico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Amostra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insuficiente</a:t>
            </a:r>
            <a:r>
              <a:rPr sz="1400" dirty="0">
                <a:solidFill>
                  <a:srgbClr val="475569"/>
                </a:solidFill>
              </a:rPr>
              <a:t> (N &lt; 40 </a:t>
            </a:r>
            <a:r>
              <a:rPr sz="1400" dirty="0" err="1">
                <a:solidFill>
                  <a:srgbClr val="475569"/>
                </a:solidFill>
              </a:rPr>
              <a:t>pontos</a:t>
            </a:r>
            <a:r>
              <a:rPr sz="1400" dirty="0">
                <a:solidFill>
                  <a:srgbClr val="475569"/>
                </a:solidFill>
              </a:rPr>
              <a:t>) </a:t>
            </a:r>
            <a:r>
              <a:rPr sz="1400" dirty="0" err="1">
                <a:solidFill>
                  <a:srgbClr val="475569"/>
                </a:solidFill>
              </a:rPr>
              <a:t>devido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orçamento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gerando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subajuste</a:t>
            </a:r>
            <a:r>
              <a:rPr sz="1400" dirty="0">
                <a:solidFill>
                  <a:srgbClr val="475569"/>
                </a:solidFill>
              </a:rPr>
              <a:t> (underfitting) no </a:t>
            </a:r>
            <a:r>
              <a:rPr sz="1400" dirty="0" err="1">
                <a:solidFill>
                  <a:srgbClr val="475569"/>
                </a:solidFill>
              </a:rPr>
              <a:t>classificador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XGBoost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2743200"/>
            <a:ext cx="3017520" cy="327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rPr sz="1400" dirty="0" err="1"/>
              <a:t>Cenário</a:t>
            </a:r>
            <a:r>
              <a:rPr sz="1400" dirty="0"/>
              <a:t> B: 100% </a:t>
            </a:r>
            <a:r>
              <a:rPr sz="1400" dirty="0" err="1"/>
              <a:t>Sintético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Atalho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Computacional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Gerar dados de </a:t>
            </a:r>
            <a:r>
              <a:rPr sz="1400" dirty="0" err="1">
                <a:solidFill>
                  <a:srgbClr val="475569"/>
                </a:solidFill>
              </a:rPr>
              <a:t>erosão</a:t>
            </a:r>
            <a:r>
              <a:rPr sz="1400" dirty="0">
                <a:solidFill>
                  <a:srgbClr val="475569"/>
                </a:solidFill>
              </a:rPr>
              <a:t> e solo a </a:t>
            </a:r>
            <a:r>
              <a:rPr sz="1400" dirty="0" err="1">
                <a:solidFill>
                  <a:srgbClr val="475569"/>
                </a:solidFill>
              </a:rPr>
              <a:t>partir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fórmulas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matemáticas</a:t>
            </a:r>
            <a:r>
              <a:rPr sz="1400" dirty="0">
                <a:solidFill>
                  <a:srgbClr val="475569"/>
                </a:solidFill>
              </a:rPr>
              <a:t> (RUSLE)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simulações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aleatórias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checagem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empírica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Vício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Científico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O </a:t>
            </a:r>
            <a:r>
              <a:rPr sz="1400" dirty="0" err="1">
                <a:solidFill>
                  <a:srgbClr val="475569"/>
                </a:solidFill>
              </a:rPr>
              <a:t>modelo</a:t>
            </a:r>
            <a:r>
              <a:rPr sz="1400" dirty="0">
                <a:solidFill>
                  <a:srgbClr val="475569"/>
                </a:solidFill>
              </a:rPr>
              <a:t> de IA </a:t>
            </a:r>
            <a:r>
              <a:rPr sz="1400" dirty="0" err="1">
                <a:solidFill>
                  <a:srgbClr val="475569"/>
                </a:solidFill>
              </a:rPr>
              <a:t>apenas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memoriza</a:t>
            </a:r>
            <a:r>
              <a:rPr sz="1400" dirty="0">
                <a:solidFill>
                  <a:srgbClr val="475569"/>
                </a:solidFill>
              </a:rPr>
              <a:t> as </a:t>
            </a:r>
            <a:r>
              <a:rPr sz="1400" dirty="0" err="1">
                <a:solidFill>
                  <a:srgbClr val="475569"/>
                </a:solidFill>
              </a:rPr>
              <a:t>equações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que</a:t>
            </a:r>
            <a:r>
              <a:rPr sz="1400" dirty="0">
                <a:solidFill>
                  <a:srgbClr val="475569"/>
                </a:solidFill>
              </a:rPr>
              <a:t> o </a:t>
            </a:r>
            <a:r>
              <a:rPr sz="1400" dirty="0" err="1">
                <a:solidFill>
                  <a:srgbClr val="475569"/>
                </a:solidFill>
              </a:rPr>
              <a:t>próprio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pesquisador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inseriu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vazamento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alvo</a:t>
            </a:r>
            <a:r>
              <a:rPr sz="1400" dirty="0">
                <a:solidFill>
                  <a:srgbClr val="475569"/>
                </a:solidFill>
              </a:rPr>
              <a:t> / overfitting trivial).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Risco </a:t>
            </a:r>
            <a:r>
              <a:rPr sz="1400" b="1" dirty="0" err="1">
                <a:solidFill>
                  <a:srgbClr val="0F172A"/>
                </a:solidFill>
              </a:rPr>
              <a:t>Acadêmico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Desqualificação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imediata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perante</a:t>
            </a:r>
            <a:r>
              <a:rPr sz="1400" dirty="0">
                <a:solidFill>
                  <a:srgbClr val="475569"/>
                </a:solidFill>
              </a:rPr>
              <a:t> a banca </a:t>
            </a:r>
            <a:r>
              <a:rPr sz="1400" dirty="0" err="1">
                <a:solidFill>
                  <a:srgbClr val="475569"/>
                </a:solidFill>
              </a:rPr>
              <a:t>examinadora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ausência</a:t>
            </a:r>
            <a:r>
              <a:rPr sz="1400" dirty="0">
                <a:solidFill>
                  <a:srgbClr val="475569"/>
                </a:solidFill>
              </a:rPr>
              <a:t> de dados </a:t>
            </a:r>
            <a:r>
              <a:rPr sz="1400" dirty="0" err="1">
                <a:solidFill>
                  <a:srgbClr val="475569"/>
                </a:solidFill>
              </a:rPr>
              <a:t>empíricos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observacionais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3017520" cy="3059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rPr sz="1400" dirty="0" err="1"/>
              <a:t>Cenário</a:t>
            </a:r>
            <a:r>
              <a:rPr sz="1400" dirty="0"/>
              <a:t> C: </a:t>
            </a:r>
            <a:r>
              <a:rPr sz="1400" dirty="0" err="1"/>
              <a:t>Híbrido</a:t>
            </a:r>
            <a:r>
              <a:rPr sz="1400" dirty="0"/>
              <a:t> SAREL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Desenho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Otimizado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Triagem</a:t>
            </a:r>
            <a:r>
              <a:rPr sz="1400" dirty="0">
                <a:solidFill>
                  <a:srgbClr val="475569"/>
                </a:solidFill>
              </a:rPr>
              <a:t> no Earth Engine + </a:t>
            </a:r>
            <a:r>
              <a:rPr sz="1400" dirty="0" err="1">
                <a:solidFill>
                  <a:srgbClr val="475569"/>
                </a:solidFill>
              </a:rPr>
              <a:t>Fotointerpretação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Alta </a:t>
            </a:r>
            <a:r>
              <a:rPr sz="1400" dirty="0" err="1">
                <a:solidFill>
                  <a:srgbClr val="475569"/>
                </a:solidFill>
              </a:rPr>
              <a:t>Resolução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PlanetScope</a:t>
            </a:r>
            <a:r>
              <a:rPr sz="1400" dirty="0">
                <a:solidFill>
                  <a:srgbClr val="475569"/>
                </a:solidFill>
              </a:rPr>
              <a:t>/VHR) para 80% do dataset.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Calibração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Presencial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Subamostra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controle</a:t>
            </a:r>
            <a:r>
              <a:rPr sz="1400" dirty="0">
                <a:solidFill>
                  <a:srgbClr val="475569"/>
                </a:solidFill>
              </a:rPr>
              <a:t> (20%)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campo com </a:t>
            </a:r>
            <a:r>
              <a:rPr sz="1400" dirty="0" err="1">
                <a:solidFill>
                  <a:srgbClr val="475569"/>
                </a:solidFill>
              </a:rPr>
              <a:t>KoboToolbox</a:t>
            </a:r>
            <a:r>
              <a:rPr sz="1400" dirty="0">
                <a:solidFill>
                  <a:srgbClr val="475569"/>
                </a:solidFill>
              </a:rPr>
              <a:t>, GNSS RTK e </a:t>
            </a:r>
            <a:r>
              <a:rPr sz="1400" dirty="0" err="1">
                <a:solidFill>
                  <a:srgbClr val="475569"/>
                </a:solidFill>
              </a:rPr>
              <a:t>ortomosaicos</a:t>
            </a:r>
            <a:r>
              <a:rPr sz="1400" dirty="0">
                <a:solidFill>
                  <a:srgbClr val="475569"/>
                </a:solidFill>
              </a:rPr>
              <a:t> de drone.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Rigor </a:t>
            </a:r>
            <a:r>
              <a:rPr sz="1400" b="1" dirty="0" err="1">
                <a:solidFill>
                  <a:srgbClr val="0F172A"/>
                </a:solidFill>
              </a:rPr>
              <a:t>Estatístico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Matriz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Confusão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Índice</a:t>
            </a:r>
            <a:r>
              <a:rPr sz="1400" dirty="0">
                <a:solidFill>
                  <a:srgbClr val="475569"/>
                </a:solidFill>
              </a:rPr>
              <a:t> Kappa de Cohen (κ ≥ 0,60) </a:t>
            </a:r>
            <a:r>
              <a:rPr sz="1400" dirty="0" err="1">
                <a:solidFill>
                  <a:srgbClr val="475569"/>
                </a:solidFill>
              </a:rPr>
              <a:t>medindo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compensando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formalmente</a:t>
            </a:r>
            <a:r>
              <a:rPr sz="1400" dirty="0">
                <a:solidFill>
                  <a:srgbClr val="475569"/>
                </a:solidFill>
              </a:rPr>
              <a:t> a taxa de </a:t>
            </a:r>
            <a:r>
              <a:rPr sz="1400" dirty="0" err="1">
                <a:solidFill>
                  <a:srgbClr val="475569"/>
                </a:solidFill>
              </a:rPr>
              <a:t>erro</a:t>
            </a:r>
            <a:r>
              <a:rPr sz="1400" dirty="0">
                <a:solidFill>
                  <a:srgbClr val="475569"/>
                </a:solidFill>
              </a:rPr>
              <a:t> humana.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ARQUITETURA FUNCIONAL &amp; ESCOPO DA DISSERTAÇÃO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Escopo do Sistema: As Três Funções Centrais do SAREL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326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rPr sz="1400" dirty="0"/>
              <a:t>1. </a:t>
            </a:r>
            <a:r>
              <a:rPr sz="1400" dirty="0" err="1"/>
              <a:t>Propõe</a:t>
            </a:r>
            <a:r>
              <a:rPr sz="1400" dirty="0"/>
              <a:t> Onde </a:t>
            </a:r>
            <a:r>
              <a:rPr sz="1400" dirty="0" err="1"/>
              <a:t>Observar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Desenho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Amostral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Estratificado</a:t>
            </a:r>
            <a:r>
              <a:rPr sz="1400" b="1" dirty="0">
                <a:solidFill>
                  <a:srgbClr val="0F172A"/>
                </a:solidFill>
              </a:rPr>
              <a:t> &amp; </a:t>
            </a:r>
            <a:r>
              <a:rPr sz="1400" b="1" dirty="0" err="1">
                <a:solidFill>
                  <a:srgbClr val="0F172A"/>
                </a:solidFill>
              </a:rPr>
              <a:t>Disperso</a:t>
            </a:r>
            <a:r>
              <a:rPr sz="1400" b="1" dirty="0">
                <a:solidFill>
                  <a:srgbClr val="0F172A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</a:t>
            </a:r>
            <a:r>
              <a:rPr sz="1400" b="1" dirty="0" err="1">
                <a:solidFill>
                  <a:srgbClr val="0F172A"/>
                </a:solidFill>
              </a:rPr>
              <a:t>Executa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estratificação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multivariada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em</a:t>
            </a:r>
            <a:r>
              <a:rPr sz="1400" b="1" dirty="0">
                <a:solidFill>
                  <a:srgbClr val="0F172A"/>
                </a:solidFill>
              </a:rPr>
              <a:t> 18 </a:t>
            </a:r>
            <a:r>
              <a:rPr sz="1400" b="1" dirty="0" err="1">
                <a:solidFill>
                  <a:srgbClr val="0F172A"/>
                </a:solidFill>
              </a:rPr>
              <a:t>estratos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biofísicos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cruzando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relevo</a:t>
            </a:r>
            <a:r>
              <a:rPr sz="1400" b="1" dirty="0">
                <a:solidFill>
                  <a:srgbClr val="0F172A"/>
                </a:solidFill>
              </a:rPr>
              <a:t>, solo e </a:t>
            </a:r>
            <a:r>
              <a:rPr sz="1400" b="1" dirty="0" err="1">
                <a:solidFill>
                  <a:srgbClr val="0F172A"/>
                </a:solidFill>
              </a:rPr>
              <a:t>exposição</a:t>
            </a:r>
            <a:r>
              <a:rPr sz="1400" b="1" dirty="0">
                <a:solidFill>
                  <a:srgbClr val="0F172A"/>
                </a:solidFill>
              </a:rPr>
              <a:t>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</a:t>
            </a:r>
            <a:r>
              <a:rPr sz="1400" b="1" dirty="0" err="1">
                <a:solidFill>
                  <a:srgbClr val="0F172A"/>
                </a:solidFill>
              </a:rPr>
              <a:t>Garante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formalmente</a:t>
            </a:r>
            <a:r>
              <a:rPr sz="1400" b="1" dirty="0">
                <a:solidFill>
                  <a:srgbClr val="0F172A"/>
                </a:solidFill>
              </a:rPr>
              <a:t> a </a:t>
            </a:r>
            <a:r>
              <a:rPr sz="1400" b="1" dirty="0" err="1">
                <a:solidFill>
                  <a:srgbClr val="0F172A"/>
                </a:solidFill>
              </a:rPr>
              <a:t>inclusão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candidatos</a:t>
            </a:r>
            <a:r>
              <a:rPr sz="1400" b="1" dirty="0">
                <a:solidFill>
                  <a:srgbClr val="0F172A"/>
                </a:solidFill>
              </a:rPr>
              <a:t> à </a:t>
            </a:r>
            <a:r>
              <a:rPr sz="1400" b="1" dirty="0" err="1">
                <a:solidFill>
                  <a:srgbClr val="0F172A"/>
                </a:solidFill>
              </a:rPr>
              <a:t>classe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controle</a:t>
            </a:r>
            <a:r>
              <a:rPr sz="1400" b="1" dirty="0">
                <a:solidFill>
                  <a:srgbClr val="0F172A"/>
                </a:solidFill>
              </a:rPr>
              <a:t> (Sistema </a:t>
            </a:r>
            <a:r>
              <a:rPr sz="1400" b="1" dirty="0" err="1">
                <a:solidFill>
                  <a:srgbClr val="0F172A"/>
                </a:solidFill>
              </a:rPr>
              <a:t>Plantio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Direto</a:t>
            </a:r>
            <a:r>
              <a:rPr sz="1400" b="1" dirty="0">
                <a:solidFill>
                  <a:srgbClr val="0F172A"/>
                </a:solidFill>
              </a:rPr>
              <a:t> e </a:t>
            </a:r>
            <a:r>
              <a:rPr sz="1400" b="1" dirty="0" err="1">
                <a:solidFill>
                  <a:srgbClr val="0F172A"/>
                </a:solidFill>
              </a:rPr>
              <a:t>pastagem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estável</a:t>
            </a:r>
            <a:r>
              <a:rPr sz="1400" b="1" dirty="0">
                <a:solidFill>
                  <a:srgbClr val="0F172A"/>
                </a:solidFill>
              </a:rPr>
              <a:t>).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</a:t>
            </a:r>
            <a:r>
              <a:rPr sz="1400" b="1" dirty="0" err="1">
                <a:solidFill>
                  <a:srgbClr val="0F172A"/>
                </a:solidFill>
              </a:rPr>
              <a:t>Aplica</a:t>
            </a:r>
            <a:r>
              <a:rPr sz="1400" b="1" dirty="0">
                <a:solidFill>
                  <a:srgbClr val="0F172A"/>
                </a:solidFill>
              </a:rPr>
              <a:t> Thinning </a:t>
            </a:r>
            <a:r>
              <a:rPr sz="1400" b="1" dirty="0" err="1">
                <a:solidFill>
                  <a:srgbClr val="0F172A"/>
                </a:solidFill>
              </a:rPr>
              <a:t>Geodésico</a:t>
            </a:r>
            <a:r>
              <a:rPr sz="1400" b="1" dirty="0">
                <a:solidFill>
                  <a:srgbClr val="0F172A"/>
                </a:solidFill>
              </a:rPr>
              <a:t> (</a:t>
            </a:r>
            <a:r>
              <a:rPr sz="1400" b="1" dirty="0" err="1">
                <a:solidFill>
                  <a:srgbClr val="0F172A"/>
                </a:solidFill>
              </a:rPr>
              <a:t>raio</a:t>
            </a:r>
            <a:r>
              <a:rPr sz="1400" b="1" dirty="0">
                <a:solidFill>
                  <a:srgbClr val="0F172A"/>
                </a:solidFill>
              </a:rPr>
              <a:t> ≥ 1,0 km) para </a:t>
            </a:r>
            <a:r>
              <a:rPr sz="1400" b="1" dirty="0" err="1">
                <a:solidFill>
                  <a:srgbClr val="0F172A"/>
                </a:solidFill>
              </a:rPr>
              <a:t>impedir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agrupamentos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espaciais</a:t>
            </a:r>
            <a:r>
              <a:rPr sz="1400" b="1" dirty="0">
                <a:solidFill>
                  <a:srgbClr val="0F172A"/>
                </a:solidFill>
              </a:rPr>
              <a:t> e </a:t>
            </a:r>
            <a:r>
              <a:rPr sz="1400" b="1" dirty="0" err="1">
                <a:solidFill>
                  <a:srgbClr val="0F172A"/>
                </a:solidFill>
              </a:rPr>
              <a:t>pseudorrepetição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amostral</a:t>
            </a:r>
            <a:r>
              <a:rPr sz="1400" b="1" dirty="0">
                <a:solidFill>
                  <a:srgbClr val="0F172A"/>
                </a:solidFill>
              </a:rPr>
              <a:t>.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3111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rPr sz="1400" dirty="0"/>
              <a:t>2. </a:t>
            </a:r>
            <a:r>
              <a:rPr sz="1400" dirty="0" err="1"/>
              <a:t>Extrai</a:t>
            </a:r>
            <a:r>
              <a:rPr sz="1400" dirty="0"/>
              <a:t> Features </a:t>
            </a:r>
            <a:r>
              <a:rPr sz="1400" dirty="0" err="1"/>
              <a:t>Verificáveis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Proveniência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por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Variável</a:t>
            </a:r>
            <a:r>
              <a:rPr sz="1400" b="1" dirty="0">
                <a:solidFill>
                  <a:srgbClr val="0F172A"/>
                </a:solidFill>
              </a:rPr>
              <a:t> e Sem </a:t>
            </a:r>
            <a:r>
              <a:rPr sz="1400" b="1" dirty="0" err="1">
                <a:solidFill>
                  <a:srgbClr val="0F172A"/>
                </a:solidFill>
              </a:rPr>
              <a:t>Atalhos</a:t>
            </a:r>
            <a:r>
              <a:rPr sz="1400" b="1" dirty="0">
                <a:solidFill>
                  <a:srgbClr val="0F172A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Coleta </a:t>
            </a:r>
            <a:r>
              <a:rPr sz="1400" b="1" dirty="0" err="1">
                <a:solidFill>
                  <a:srgbClr val="0F172A"/>
                </a:solidFill>
              </a:rPr>
              <a:t>séries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temporais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harmonizadas</a:t>
            </a:r>
            <a:r>
              <a:rPr sz="1400" b="1" dirty="0">
                <a:solidFill>
                  <a:srgbClr val="0F172A"/>
                </a:solidFill>
              </a:rPr>
              <a:t> Sentinel-2 L2A (10 </a:t>
            </a:r>
            <a:r>
              <a:rPr sz="1400" b="1" dirty="0" err="1">
                <a:solidFill>
                  <a:srgbClr val="0F172A"/>
                </a:solidFill>
              </a:rPr>
              <a:t>anos</a:t>
            </a:r>
            <a:r>
              <a:rPr sz="1400" b="1" dirty="0">
                <a:solidFill>
                  <a:srgbClr val="0F172A"/>
                </a:solidFill>
              </a:rPr>
              <a:t>) e </a:t>
            </a:r>
            <a:r>
              <a:rPr sz="1400" b="1" dirty="0" err="1">
                <a:solidFill>
                  <a:srgbClr val="0F172A"/>
                </a:solidFill>
              </a:rPr>
              <a:t>extrai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métricas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exposição</a:t>
            </a:r>
            <a:r>
              <a:rPr sz="1400" b="1" dirty="0">
                <a:solidFill>
                  <a:srgbClr val="0F172A"/>
                </a:solidFill>
              </a:rPr>
              <a:t> de solo nu (Ê).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</a:t>
            </a:r>
            <a:r>
              <a:rPr sz="1400" b="1" dirty="0" err="1">
                <a:solidFill>
                  <a:srgbClr val="0F172A"/>
                </a:solidFill>
              </a:rPr>
              <a:t>Calcula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declividade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em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projeção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métrica</a:t>
            </a:r>
            <a:r>
              <a:rPr sz="1400" b="1" dirty="0">
                <a:solidFill>
                  <a:srgbClr val="0F172A"/>
                </a:solidFill>
              </a:rPr>
              <a:t> UTM 22S (SIRGAS 2000) a </a:t>
            </a:r>
            <a:r>
              <a:rPr sz="1400" b="1" dirty="0" err="1">
                <a:solidFill>
                  <a:srgbClr val="0F172A"/>
                </a:solidFill>
              </a:rPr>
              <a:t>partir</a:t>
            </a:r>
            <a:r>
              <a:rPr sz="1400" b="1" dirty="0">
                <a:solidFill>
                  <a:srgbClr val="0F172A"/>
                </a:solidFill>
              </a:rPr>
              <a:t> do DEM Copernicus GLO-30.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Consulta </a:t>
            </a:r>
            <a:r>
              <a:rPr sz="1400" b="1" dirty="0" err="1">
                <a:solidFill>
                  <a:srgbClr val="0F172A"/>
                </a:solidFill>
              </a:rPr>
              <a:t>pedologia</a:t>
            </a:r>
            <a:r>
              <a:rPr sz="1400" b="1" dirty="0">
                <a:solidFill>
                  <a:srgbClr val="0F172A"/>
                </a:solidFill>
              </a:rPr>
              <a:t> real via WMS OGC no </a:t>
            </a:r>
            <a:r>
              <a:rPr sz="1400" b="1" dirty="0" err="1">
                <a:solidFill>
                  <a:srgbClr val="0F172A"/>
                </a:solidFill>
              </a:rPr>
              <a:t>GeoServer</a:t>
            </a:r>
            <a:r>
              <a:rPr sz="1400" b="1" dirty="0">
                <a:solidFill>
                  <a:srgbClr val="0F172A"/>
                </a:solidFill>
              </a:rPr>
              <a:t> da Embrapa Solos, </a:t>
            </a:r>
            <a:r>
              <a:rPr sz="1400" b="1" dirty="0" err="1">
                <a:solidFill>
                  <a:srgbClr val="0F172A"/>
                </a:solidFill>
              </a:rPr>
              <a:t>sem</a:t>
            </a:r>
            <a:r>
              <a:rPr sz="1400" b="1" dirty="0">
                <a:solidFill>
                  <a:srgbClr val="0F172A"/>
                </a:solidFill>
              </a:rPr>
              <a:t> classes </a:t>
            </a:r>
            <a:r>
              <a:rPr sz="1400" b="1" dirty="0" err="1">
                <a:solidFill>
                  <a:srgbClr val="0F172A"/>
                </a:solidFill>
              </a:rPr>
              <a:t>inventadas</a:t>
            </a:r>
            <a:r>
              <a:rPr sz="1400" b="1" dirty="0">
                <a:solidFill>
                  <a:srgbClr val="0F172A"/>
                </a:solidFill>
              </a:rPr>
              <a:t>.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326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6366F1"/>
                </a:solidFill>
              </a:defRPr>
            </a:pPr>
            <a:r>
              <a:rPr sz="1400" dirty="0"/>
              <a:t>3. </a:t>
            </a:r>
            <a:r>
              <a:rPr sz="1400" dirty="0" err="1"/>
              <a:t>Gerencia</a:t>
            </a:r>
            <a:r>
              <a:rPr sz="1400" dirty="0"/>
              <a:t> a </a:t>
            </a:r>
            <a:r>
              <a:rPr sz="1400" dirty="0" err="1"/>
              <a:t>Rotulagem</a:t>
            </a:r>
            <a:r>
              <a:rPr sz="1400" dirty="0"/>
              <a:t> </a:t>
            </a:r>
            <a:r>
              <a:rPr sz="1400" dirty="0" err="1"/>
              <a:t>Cega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Campanhas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Validação</a:t>
            </a:r>
            <a:r>
              <a:rPr sz="1400" b="1" dirty="0">
                <a:solidFill>
                  <a:srgbClr val="0F172A"/>
                </a:solidFill>
              </a:rPr>
              <a:t> e </a:t>
            </a:r>
            <a:r>
              <a:rPr sz="1400" b="1" dirty="0" err="1">
                <a:solidFill>
                  <a:srgbClr val="0F172A"/>
                </a:solidFill>
              </a:rPr>
              <a:t>Matriz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Treino</a:t>
            </a:r>
            <a:r>
              <a:rPr sz="1400" b="1" dirty="0">
                <a:solidFill>
                  <a:srgbClr val="0F172A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</a:t>
            </a:r>
            <a:r>
              <a:rPr sz="1400" b="1" dirty="0" err="1">
                <a:solidFill>
                  <a:srgbClr val="0F172A"/>
                </a:solidFill>
              </a:rPr>
              <a:t>Exporta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cadernos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cegos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fotointerpretação</a:t>
            </a:r>
            <a:r>
              <a:rPr sz="1400" b="1" dirty="0">
                <a:solidFill>
                  <a:srgbClr val="0F172A"/>
                </a:solidFill>
              </a:rPr>
              <a:t>, campo (</a:t>
            </a:r>
            <a:r>
              <a:rPr sz="1400" b="1" dirty="0" err="1">
                <a:solidFill>
                  <a:srgbClr val="0F172A"/>
                </a:solidFill>
              </a:rPr>
              <a:t>KoboToolbox</a:t>
            </a:r>
            <a:r>
              <a:rPr sz="1400" b="1" dirty="0">
                <a:solidFill>
                  <a:srgbClr val="0F172A"/>
                </a:solidFill>
              </a:rPr>
              <a:t>) e </a:t>
            </a:r>
            <a:r>
              <a:rPr sz="1400" b="1" dirty="0" err="1">
                <a:solidFill>
                  <a:srgbClr val="0F172A"/>
                </a:solidFill>
              </a:rPr>
              <a:t>voo</a:t>
            </a:r>
            <a:r>
              <a:rPr sz="1400" b="1" dirty="0">
                <a:solidFill>
                  <a:srgbClr val="0F172A"/>
                </a:solidFill>
              </a:rPr>
              <a:t> de drone, </a:t>
            </a:r>
            <a:r>
              <a:rPr sz="1400" b="1" dirty="0" err="1">
                <a:solidFill>
                  <a:srgbClr val="0F172A"/>
                </a:solidFill>
              </a:rPr>
              <a:t>blindando</a:t>
            </a:r>
            <a:r>
              <a:rPr sz="1400" b="1" dirty="0">
                <a:solidFill>
                  <a:srgbClr val="0F172A"/>
                </a:solidFill>
              </a:rPr>
              <a:t> o </a:t>
            </a:r>
            <a:r>
              <a:rPr sz="1400" b="1" dirty="0" err="1">
                <a:solidFill>
                  <a:srgbClr val="0F172A"/>
                </a:solidFill>
              </a:rPr>
              <a:t>intérprete</a:t>
            </a:r>
            <a:r>
              <a:rPr sz="1400" b="1" dirty="0">
                <a:solidFill>
                  <a:srgbClr val="0F172A"/>
                </a:solidFill>
              </a:rPr>
              <a:t>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Avalia a </a:t>
            </a:r>
            <a:r>
              <a:rPr sz="1400" b="1" dirty="0" err="1">
                <a:solidFill>
                  <a:srgbClr val="0F172A"/>
                </a:solidFill>
              </a:rPr>
              <a:t>concordância</a:t>
            </a:r>
            <a:r>
              <a:rPr sz="1400" b="1" dirty="0">
                <a:solidFill>
                  <a:srgbClr val="0F172A"/>
                </a:solidFill>
              </a:rPr>
              <a:t> inter-</a:t>
            </a:r>
            <a:r>
              <a:rPr sz="1400" b="1" dirty="0" err="1">
                <a:solidFill>
                  <a:srgbClr val="0F172A"/>
                </a:solidFill>
              </a:rPr>
              <a:t>observador</a:t>
            </a:r>
            <a:r>
              <a:rPr sz="1400" b="1" dirty="0">
                <a:solidFill>
                  <a:srgbClr val="0F172A"/>
                </a:solidFill>
              </a:rPr>
              <a:t> via Kappa de Cohen com </a:t>
            </a:r>
            <a:r>
              <a:rPr sz="1400" b="1" dirty="0" err="1">
                <a:solidFill>
                  <a:srgbClr val="0F172A"/>
                </a:solidFill>
              </a:rPr>
              <a:t>alerta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bloqueante</a:t>
            </a:r>
            <a:r>
              <a:rPr sz="1400" b="1" dirty="0">
                <a:solidFill>
                  <a:srgbClr val="0F172A"/>
                </a:solidFill>
              </a:rPr>
              <a:t> para κ &lt; 0,60.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• Monta a </a:t>
            </a:r>
            <a:r>
              <a:rPr sz="1400" b="1" dirty="0" err="1">
                <a:solidFill>
                  <a:srgbClr val="0F172A"/>
                </a:solidFill>
              </a:rPr>
              <a:t>matriz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treino</a:t>
            </a:r>
            <a:r>
              <a:rPr sz="1400" b="1" dirty="0">
                <a:solidFill>
                  <a:srgbClr val="0F172A"/>
                </a:solidFill>
              </a:rPr>
              <a:t> do </a:t>
            </a:r>
            <a:r>
              <a:rPr sz="1400" b="1" dirty="0" err="1">
                <a:solidFill>
                  <a:srgbClr val="0F172A"/>
                </a:solidFill>
              </a:rPr>
              <a:t>XGBoost</a:t>
            </a:r>
            <a:r>
              <a:rPr sz="1400" b="1" dirty="0">
                <a:solidFill>
                  <a:srgbClr val="0F172A"/>
                </a:solidFill>
              </a:rPr>
              <a:t> livre de </a:t>
            </a:r>
            <a:r>
              <a:rPr sz="1400" b="1" dirty="0" err="1">
                <a:solidFill>
                  <a:srgbClr val="0F172A"/>
                </a:solidFill>
              </a:rPr>
              <a:t>coordenadas</a:t>
            </a:r>
            <a:r>
              <a:rPr sz="1400" b="1" dirty="0">
                <a:solidFill>
                  <a:srgbClr val="0F172A"/>
                </a:solidFill>
              </a:rPr>
              <a:t> e de </a:t>
            </a:r>
            <a:r>
              <a:rPr sz="1400" b="1" dirty="0" err="1">
                <a:solidFill>
                  <a:srgbClr val="0F172A"/>
                </a:solidFill>
              </a:rPr>
              <a:t>variáveis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calculadas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pelo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próprio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sistema</a:t>
            </a:r>
            <a:r>
              <a:rPr sz="1400" b="1" dirty="0">
                <a:solidFill>
                  <a:srgbClr val="0F172A"/>
                </a:solidFill>
              </a:rPr>
              <a:t>.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rPr dirty="0"/>
              <a:t>PRINCÍPIO DE DEMARCAÇÃO DO SAREL: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sz="1400" dirty="0"/>
              <a:t>O SAREL NÃO </a:t>
            </a:r>
            <a:r>
              <a:rPr sz="1400" dirty="0" err="1"/>
              <a:t>classifica</a:t>
            </a:r>
            <a:r>
              <a:rPr sz="1400" dirty="0"/>
              <a:t> </a:t>
            </a:r>
            <a:r>
              <a:rPr sz="1400" dirty="0" err="1"/>
              <a:t>erosão</a:t>
            </a:r>
            <a:r>
              <a:rPr sz="1400" dirty="0"/>
              <a:t> e NÃO </a:t>
            </a:r>
            <a:r>
              <a:rPr sz="1400" dirty="0" err="1"/>
              <a:t>treina</a:t>
            </a:r>
            <a:r>
              <a:rPr sz="1400" dirty="0"/>
              <a:t> a IA </a:t>
            </a:r>
            <a:r>
              <a:rPr sz="1400" dirty="0" err="1"/>
              <a:t>dentro</a:t>
            </a:r>
            <a:r>
              <a:rPr sz="1400" dirty="0"/>
              <a:t> de </a:t>
            </a:r>
            <a:r>
              <a:rPr sz="1400" dirty="0" err="1"/>
              <a:t>si</a:t>
            </a:r>
            <a:r>
              <a:rPr sz="1400" dirty="0"/>
              <a:t>. Ele </a:t>
            </a:r>
            <a:r>
              <a:rPr sz="1400" dirty="0" err="1"/>
              <a:t>prepara</a:t>
            </a:r>
            <a:r>
              <a:rPr sz="1400" dirty="0"/>
              <a:t> o </a:t>
            </a:r>
            <a:r>
              <a:rPr sz="1400" dirty="0" err="1"/>
              <a:t>chão</a:t>
            </a:r>
            <a:r>
              <a:rPr sz="1400" dirty="0"/>
              <a:t> experimental </a:t>
            </a:r>
            <a:r>
              <a:rPr sz="1400" dirty="0" err="1"/>
              <a:t>honesto</a:t>
            </a:r>
            <a:r>
              <a:rPr sz="1400" dirty="0"/>
              <a:t> e </a:t>
            </a:r>
            <a:r>
              <a:rPr sz="1400" dirty="0" err="1"/>
              <a:t>auditável</a:t>
            </a:r>
            <a:r>
              <a:rPr sz="1400" dirty="0"/>
              <a:t>. </a:t>
            </a:r>
            <a:br>
              <a:rPr lang="pt-BR" sz="1400" dirty="0"/>
            </a:br>
            <a:r>
              <a:rPr sz="1400" dirty="0"/>
              <a:t>O </a:t>
            </a:r>
            <a:r>
              <a:rPr sz="1400" dirty="0" err="1"/>
              <a:t>rótulo</a:t>
            </a:r>
            <a:r>
              <a:rPr sz="1400" dirty="0"/>
              <a:t> </a:t>
            </a:r>
            <a:r>
              <a:rPr sz="1400" dirty="0" err="1"/>
              <a:t>vem</a:t>
            </a:r>
            <a:r>
              <a:rPr sz="1400" dirty="0"/>
              <a:t> </a:t>
            </a:r>
            <a:r>
              <a:rPr sz="1400" dirty="0" err="1"/>
              <a:t>exclusivamente</a:t>
            </a:r>
            <a:r>
              <a:rPr sz="1400" dirty="0"/>
              <a:t> de </a:t>
            </a:r>
            <a:r>
              <a:rPr sz="1400" dirty="0" err="1"/>
              <a:t>observadores</a:t>
            </a:r>
            <a:r>
              <a:rPr sz="1400" dirty="0"/>
              <a:t> </a:t>
            </a:r>
            <a:r>
              <a:rPr sz="1400" dirty="0" err="1"/>
              <a:t>humanos</a:t>
            </a:r>
            <a:r>
              <a:rPr sz="1400" dirty="0"/>
              <a:t>. O </a:t>
            </a:r>
            <a:r>
              <a:rPr sz="1400" dirty="0" err="1"/>
              <a:t>treinamento</a:t>
            </a:r>
            <a:r>
              <a:rPr sz="1400" dirty="0"/>
              <a:t> do </a:t>
            </a:r>
            <a:r>
              <a:rPr sz="1400" dirty="0" err="1"/>
              <a:t>XGBoost</a:t>
            </a:r>
            <a:r>
              <a:rPr sz="1400" dirty="0"/>
              <a:t> </a:t>
            </a:r>
            <a:r>
              <a:rPr sz="1400" dirty="0" err="1"/>
              <a:t>ocorre</a:t>
            </a:r>
            <a:r>
              <a:rPr sz="1400" dirty="0"/>
              <a:t> </a:t>
            </a:r>
            <a:r>
              <a:rPr sz="1400" dirty="0" err="1"/>
              <a:t>externamente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GOVERNANÇA METODOLÓGICA &amp; INTEGRIDADE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 Lei Fundamental do SAREL: Blindagem Pericial Contra Atalhos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982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rPr sz="1400" dirty="0" err="1"/>
              <a:t>Regra</a:t>
            </a:r>
            <a:r>
              <a:rPr sz="1400" dirty="0"/>
              <a:t> 1 &amp; 5: Dado Real </a:t>
            </a:r>
            <a:r>
              <a:rPr sz="1400" dirty="0" err="1"/>
              <a:t>ou</a:t>
            </a:r>
            <a:r>
              <a:rPr sz="1400" dirty="0"/>
              <a:t> </a:t>
            </a:r>
            <a:r>
              <a:rPr sz="1400" dirty="0" err="1"/>
              <a:t>Ausência</a:t>
            </a:r>
            <a:r>
              <a:rPr sz="1400" dirty="0"/>
              <a:t> </a:t>
            </a:r>
            <a:r>
              <a:rPr sz="1400" dirty="0" err="1"/>
              <a:t>Declarada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Proibição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Constantes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Terminantemente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vedado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preencher</a:t>
            </a:r>
            <a:r>
              <a:rPr sz="1400" dirty="0">
                <a:solidFill>
                  <a:srgbClr val="475569"/>
                </a:solidFill>
              </a:rPr>
              <a:t> lacunas com </a:t>
            </a:r>
            <a:r>
              <a:rPr sz="1400" dirty="0" err="1">
                <a:solidFill>
                  <a:srgbClr val="475569"/>
                </a:solidFill>
              </a:rPr>
              <a:t>médias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constantes</a:t>
            </a:r>
            <a:r>
              <a:rPr sz="1400" dirty="0">
                <a:solidFill>
                  <a:srgbClr val="475569"/>
                </a:solidFill>
              </a:rPr>
              <a:t> (|| 16, unmask(0.5)).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Tratamento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Nulos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O </a:t>
            </a:r>
            <a:r>
              <a:rPr sz="1400" dirty="0" err="1">
                <a:solidFill>
                  <a:srgbClr val="475569"/>
                </a:solidFill>
              </a:rPr>
              <a:t>XGBoost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lida</a:t>
            </a:r>
            <a:r>
              <a:rPr sz="1400" dirty="0">
                <a:solidFill>
                  <a:srgbClr val="475569"/>
                </a:solidFill>
              </a:rPr>
              <a:t> com </a:t>
            </a:r>
            <a:r>
              <a:rPr sz="1400" dirty="0" err="1">
                <a:solidFill>
                  <a:srgbClr val="475569"/>
                </a:solidFill>
              </a:rPr>
              <a:t>ausência</a:t>
            </a:r>
            <a:r>
              <a:rPr sz="1400" dirty="0">
                <a:solidFill>
                  <a:srgbClr val="475569"/>
                </a:solidFill>
              </a:rPr>
              <a:t> de dados </a:t>
            </a:r>
            <a:r>
              <a:rPr sz="1400" dirty="0" err="1">
                <a:solidFill>
                  <a:srgbClr val="475569"/>
                </a:solidFill>
              </a:rPr>
              <a:t>nativamente</a:t>
            </a:r>
            <a:r>
              <a:rPr sz="1400" dirty="0">
                <a:solidFill>
                  <a:srgbClr val="475569"/>
                </a:solidFill>
              </a:rPr>
              <a:t>. </a:t>
            </a:r>
            <a:r>
              <a:rPr sz="1400" dirty="0" err="1">
                <a:solidFill>
                  <a:srgbClr val="475569"/>
                </a:solidFill>
              </a:rPr>
              <a:t>Ausente</a:t>
            </a:r>
            <a:r>
              <a:rPr sz="1400" dirty="0">
                <a:solidFill>
                  <a:srgbClr val="475569"/>
                </a:solidFill>
              </a:rPr>
              <a:t> é </a:t>
            </a:r>
            <a:r>
              <a:rPr sz="1400" dirty="0" err="1">
                <a:solidFill>
                  <a:srgbClr val="475569"/>
                </a:solidFill>
              </a:rPr>
              <a:t>tecnicamente</a:t>
            </a:r>
            <a:r>
              <a:rPr sz="1400" dirty="0">
                <a:solidFill>
                  <a:srgbClr val="475569"/>
                </a:solidFill>
              </a:rPr>
              <a:t> superior a dado </a:t>
            </a:r>
            <a:r>
              <a:rPr sz="1400" dirty="0" err="1">
                <a:solidFill>
                  <a:srgbClr val="475569"/>
                </a:solidFill>
              </a:rPr>
              <a:t>fabricado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Zero é Valor: </a:t>
            </a:r>
            <a:r>
              <a:rPr sz="1400" dirty="0" err="1">
                <a:solidFill>
                  <a:srgbClr val="475569"/>
                </a:solidFill>
              </a:rPr>
              <a:t>Declividade</a:t>
            </a:r>
            <a:r>
              <a:rPr sz="1400" dirty="0">
                <a:solidFill>
                  <a:srgbClr val="475569"/>
                </a:solidFill>
              </a:rPr>
              <a:t> 0%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Ê = 0 </a:t>
            </a:r>
            <a:r>
              <a:rPr sz="1400" dirty="0" err="1">
                <a:solidFill>
                  <a:srgbClr val="475569"/>
                </a:solidFill>
              </a:rPr>
              <a:t>são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valores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físicos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legítimos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nunca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tratados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ausência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rPr sz="1400" dirty="0" err="1"/>
              <a:t>Regra</a:t>
            </a:r>
            <a:r>
              <a:rPr sz="1400" dirty="0"/>
              <a:t> 3: </a:t>
            </a:r>
            <a:r>
              <a:rPr sz="1400" dirty="0" err="1"/>
              <a:t>Proveniência</a:t>
            </a:r>
            <a:r>
              <a:rPr sz="1400" dirty="0"/>
              <a:t> Viaja Junto com o Valor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Tríade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Metadados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Todo valor </a:t>
            </a:r>
            <a:r>
              <a:rPr sz="1400" dirty="0" err="1">
                <a:solidFill>
                  <a:srgbClr val="475569"/>
                </a:solidFill>
              </a:rPr>
              <a:t>numérico</a:t>
            </a:r>
            <a:r>
              <a:rPr sz="1400" dirty="0">
                <a:solidFill>
                  <a:srgbClr val="475569"/>
                </a:solidFill>
              </a:rPr>
              <a:t> é </a:t>
            </a:r>
            <a:r>
              <a:rPr sz="1400" dirty="0" err="1">
                <a:solidFill>
                  <a:srgbClr val="475569"/>
                </a:solidFill>
              </a:rPr>
              <a:t>acompanhado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estado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fonte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primária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oficial</a:t>
            </a:r>
            <a:r>
              <a:rPr sz="1400" dirty="0">
                <a:solidFill>
                  <a:srgbClr val="475569"/>
                </a:solidFill>
              </a:rPr>
              <a:t> e data de </a:t>
            </a:r>
            <a:r>
              <a:rPr sz="1400" dirty="0" err="1">
                <a:solidFill>
                  <a:srgbClr val="475569"/>
                </a:solidFill>
              </a:rPr>
              <a:t>aquisição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Quatro </a:t>
            </a:r>
            <a:r>
              <a:rPr sz="1400" b="1" dirty="0" err="1">
                <a:solidFill>
                  <a:srgbClr val="0F172A"/>
                </a:solidFill>
              </a:rPr>
              <a:t>Selos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Formais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● </a:t>
            </a:r>
            <a:r>
              <a:rPr sz="1400" dirty="0" err="1">
                <a:solidFill>
                  <a:srgbClr val="475569"/>
                </a:solidFill>
              </a:rPr>
              <a:t>medido</a:t>
            </a:r>
            <a:r>
              <a:rPr sz="1400" dirty="0">
                <a:solidFill>
                  <a:srgbClr val="475569"/>
                </a:solidFill>
              </a:rPr>
              <a:t> (sensor </a:t>
            </a:r>
            <a:r>
              <a:rPr sz="1400" dirty="0" err="1">
                <a:solidFill>
                  <a:srgbClr val="475569"/>
                </a:solidFill>
              </a:rPr>
              <a:t>primário</a:t>
            </a:r>
            <a:r>
              <a:rPr sz="1400" dirty="0">
                <a:solidFill>
                  <a:srgbClr val="475569"/>
                </a:solidFill>
              </a:rPr>
              <a:t>) • ◊ </a:t>
            </a:r>
            <a:r>
              <a:rPr sz="1400" dirty="0" err="1">
                <a:solidFill>
                  <a:srgbClr val="475569"/>
                </a:solidFill>
              </a:rPr>
              <a:t>modelado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equação</a:t>
            </a:r>
            <a:r>
              <a:rPr sz="1400" dirty="0">
                <a:solidFill>
                  <a:srgbClr val="475569"/>
                </a:solidFill>
              </a:rPr>
              <a:t>) • □ </a:t>
            </a:r>
            <a:r>
              <a:rPr sz="1400" dirty="0" err="1">
                <a:solidFill>
                  <a:srgbClr val="475569"/>
                </a:solidFill>
              </a:rPr>
              <a:t>tabelado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literatura</a:t>
            </a:r>
            <a:r>
              <a:rPr sz="1400" dirty="0">
                <a:solidFill>
                  <a:srgbClr val="475569"/>
                </a:solidFill>
              </a:rPr>
              <a:t>) • ○ </a:t>
            </a:r>
            <a:r>
              <a:rPr sz="1400" dirty="0" err="1">
                <a:solidFill>
                  <a:srgbClr val="475569"/>
                </a:solidFill>
              </a:rPr>
              <a:t>indisponível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Rastreabilidade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Pericial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Possibilita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reconstruir</a:t>
            </a:r>
            <a:r>
              <a:rPr sz="1400" dirty="0">
                <a:solidFill>
                  <a:srgbClr val="475569"/>
                </a:solidFill>
              </a:rPr>
              <a:t> a </a:t>
            </a:r>
            <a:r>
              <a:rPr sz="1400" dirty="0" err="1">
                <a:solidFill>
                  <a:srgbClr val="475569"/>
                </a:solidFill>
              </a:rPr>
              <a:t>cadeia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evidências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linha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perante</a:t>
            </a:r>
            <a:r>
              <a:rPr sz="1400" dirty="0">
                <a:solidFill>
                  <a:srgbClr val="475569"/>
                </a:solidFill>
              </a:rPr>
              <a:t> a banca.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rPr sz="1400" dirty="0" err="1"/>
              <a:t>Regra</a:t>
            </a:r>
            <a:r>
              <a:rPr sz="1400" dirty="0"/>
              <a:t> 4: Nada </a:t>
            </a:r>
            <a:r>
              <a:rPr sz="1400" dirty="0" err="1"/>
              <a:t>Calculado</a:t>
            </a:r>
            <a:r>
              <a:rPr sz="1400" dirty="0"/>
              <a:t> Vira </a:t>
            </a:r>
            <a:r>
              <a:rPr sz="1400" dirty="0" err="1"/>
              <a:t>Rótulo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Isolamento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Critérios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Scores </a:t>
            </a:r>
            <a:r>
              <a:rPr sz="1400" dirty="0" err="1">
                <a:solidFill>
                  <a:srgbClr val="475569"/>
                </a:solidFill>
              </a:rPr>
              <a:t>internos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severidade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estimada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perda</a:t>
            </a:r>
            <a:r>
              <a:rPr sz="1400" dirty="0">
                <a:solidFill>
                  <a:srgbClr val="475569"/>
                </a:solidFill>
              </a:rPr>
              <a:t> RUSLE </a:t>
            </a:r>
            <a:r>
              <a:rPr sz="1400" dirty="0" err="1">
                <a:solidFill>
                  <a:srgbClr val="475569"/>
                </a:solidFill>
              </a:rPr>
              <a:t>nunca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viram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rótulo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treino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Prevenção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Vazamento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Evita </a:t>
            </a:r>
            <a:r>
              <a:rPr sz="1400" dirty="0" err="1">
                <a:solidFill>
                  <a:srgbClr val="475569"/>
                </a:solidFill>
              </a:rPr>
              <a:t>que</a:t>
            </a:r>
            <a:r>
              <a:rPr sz="1400" dirty="0">
                <a:solidFill>
                  <a:srgbClr val="475569"/>
                </a:solidFill>
              </a:rPr>
              <a:t> a IA </a:t>
            </a:r>
            <a:r>
              <a:rPr sz="1400" dirty="0" err="1">
                <a:solidFill>
                  <a:srgbClr val="475569"/>
                </a:solidFill>
              </a:rPr>
              <a:t>aprenda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limiares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artificiais</a:t>
            </a:r>
            <a:r>
              <a:rPr sz="1400" dirty="0">
                <a:solidFill>
                  <a:srgbClr val="475569"/>
                </a:solidFill>
              </a:rPr>
              <a:t> das </a:t>
            </a:r>
            <a:r>
              <a:rPr sz="1400" dirty="0" err="1">
                <a:solidFill>
                  <a:srgbClr val="475569"/>
                </a:solidFill>
              </a:rPr>
              <a:t>fórmulas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vez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padrões</a:t>
            </a:r>
            <a:r>
              <a:rPr sz="1400" dirty="0">
                <a:solidFill>
                  <a:srgbClr val="475569"/>
                </a:solidFill>
              </a:rPr>
              <a:t> reais da </a:t>
            </a:r>
            <a:r>
              <a:rPr sz="1400" dirty="0" err="1">
                <a:solidFill>
                  <a:srgbClr val="475569"/>
                </a:solidFill>
              </a:rPr>
              <a:t>paisagem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Rótulo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Exclusivo</a:t>
            </a:r>
            <a:r>
              <a:rPr sz="1400" b="1" dirty="0">
                <a:solidFill>
                  <a:srgbClr val="0F172A"/>
                </a:solidFill>
              </a:rPr>
              <a:t> Humano: </a:t>
            </a:r>
            <a:r>
              <a:rPr sz="1400" dirty="0">
                <a:solidFill>
                  <a:srgbClr val="475569"/>
                </a:solidFill>
              </a:rPr>
              <a:t>A </a:t>
            </a:r>
            <a:r>
              <a:rPr sz="1400" dirty="0" err="1">
                <a:solidFill>
                  <a:srgbClr val="475569"/>
                </a:solidFill>
              </a:rPr>
              <a:t>classe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alvo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deriva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unicamente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inspeção</a:t>
            </a:r>
            <a:r>
              <a:rPr sz="1400" dirty="0">
                <a:solidFill>
                  <a:srgbClr val="475569"/>
                </a:solidFill>
              </a:rPr>
              <a:t> de campo, </a:t>
            </a:r>
            <a:r>
              <a:rPr sz="1400" dirty="0" err="1">
                <a:solidFill>
                  <a:srgbClr val="475569"/>
                </a:solidFill>
              </a:rPr>
              <a:t>fotointerpretação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drone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rPr sz="1400" dirty="0" err="1"/>
              <a:t>Regra</a:t>
            </a:r>
            <a:r>
              <a:rPr sz="1400" dirty="0"/>
              <a:t> 9: </a:t>
            </a:r>
            <a:r>
              <a:rPr sz="1400" dirty="0" err="1"/>
              <a:t>Governança</a:t>
            </a:r>
            <a:r>
              <a:rPr sz="1400" dirty="0"/>
              <a:t> de </a:t>
            </a:r>
            <a:r>
              <a:rPr sz="1400" dirty="0" err="1"/>
              <a:t>Decisões</a:t>
            </a:r>
            <a:r>
              <a:rPr sz="1400" dirty="0"/>
              <a:t> (DECISOES.md)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Dono do </a:t>
            </a:r>
            <a:r>
              <a:rPr sz="1400" b="1" dirty="0" err="1">
                <a:solidFill>
                  <a:srgbClr val="0F172A"/>
                </a:solidFill>
              </a:rPr>
              <a:t>Parâmetro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Nenhum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limiar</a:t>
            </a:r>
            <a:r>
              <a:rPr sz="1400" dirty="0">
                <a:solidFill>
                  <a:srgbClr val="475569"/>
                </a:solidFill>
              </a:rPr>
              <a:t>, peso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corte </a:t>
            </a:r>
            <a:r>
              <a:rPr sz="1400" dirty="0" err="1">
                <a:solidFill>
                  <a:srgbClr val="475569"/>
                </a:solidFill>
              </a:rPr>
              <a:t>nasce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como</a:t>
            </a:r>
            <a:r>
              <a:rPr sz="1400" dirty="0">
                <a:solidFill>
                  <a:srgbClr val="475569"/>
                </a:solidFill>
              </a:rPr>
              <a:t> literal no </a:t>
            </a:r>
            <a:r>
              <a:rPr sz="1400" dirty="0" err="1">
                <a:solidFill>
                  <a:srgbClr val="475569"/>
                </a:solidFill>
              </a:rPr>
              <a:t>código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autor</a:t>
            </a:r>
            <a:r>
              <a:rPr sz="1400" dirty="0">
                <a:solidFill>
                  <a:srgbClr val="475569"/>
                </a:solidFill>
              </a:rPr>
              <a:t>, data e </a:t>
            </a:r>
            <a:r>
              <a:rPr sz="1400" dirty="0" err="1">
                <a:solidFill>
                  <a:srgbClr val="475569"/>
                </a:solidFill>
              </a:rPr>
              <a:t>referência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bibliográfica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Decisão</a:t>
            </a:r>
            <a:r>
              <a:rPr sz="1400" b="1" dirty="0">
                <a:solidFill>
                  <a:srgbClr val="0F172A"/>
                </a:solidFill>
              </a:rPr>
              <a:t> Pendente: </a:t>
            </a:r>
            <a:r>
              <a:rPr sz="1400" dirty="0" err="1">
                <a:solidFill>
                  <a:srgbClr val="475569"/>
                </a:solidFill>
              </a:rPr>
              <a:t>Enquanto</a:t>
            </a:r>
            <a:r>
              <a:rPr sz="1400" dirty="0">
                <a:solidFill>
                  <a:srgbClr val="475569"/>
                </a:solidFill>
              </a:rPr>
              <a:t> o </a:t>
            </a:r>
            <a:r>
              <a:rPr sz="1400" dirty="0" err="1">
                <a:solidFill>
                  <a:srgbClr val="475569"/>
                </a:solidFill>
              </a:rPr>
              <a:t>pesquisador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decidir</a:t>
            </a:r>
            <a:r>
              <a:rPr sz="1400" dirty="0">
                <a:solidFill>
                  <a:srgbClr val="475569"/>
                </a:solidFill>
              </a:rPr>
              <a:t> (ex.: D13, D14, D15), o </a:t>
            </a:r>
            <a:r>
              <a:rPr sz="1400" dirty="0" err="1">
                <a:solidFill>
                  <a:srgbClr val="475569"/>
                </a:solidFill>
              </a:rPr>
              <a:t>cálculo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gera</a:t>
            </a:r>
            <a:r>
              <a:rPr sz="1400" dirty="0">
                <a:solidFill>
                  <a:srgbClr val="475569"/>
                </a:solidFill>
              </a:rPr>
              <a:t> '</a:t>
            </a:r>
            <a:r>
              <a:rPr sz="1400" dirty="0" err="1">
                <a:solidFill>
                  <a:srgbClr val="475569"/>
                </a:solidFill>
              </a:rPr>
              <a:t>indisponivel</a:t>
            </a:r>
            <a:r>
              <a:rPr sz="1400" dirty="0">
                <a:solidFill>
                  <a:srgbClr val="475569"/>
                </a:solidFill>
              </a:rPr>
              <a:t>' com a causa.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Imunidade</a:t>
            </a:r>
            <a:r>
              <a:rPr sz="1400" b="1" dirty="0">
                <a:solidFill>
                  <a:srgbClr val="0F172A"/>
                </a:solidFill>
              </a:rPr>
              <a:t> a </a:t>
            </a:r>
            <a:r>
              <a:rPr sz="1400" b="1" dirty="0" err="1">
                <a:solidFill>
                  <a:srgbClr val="0F172A"/>
                </a:solidFill>
              </a:rPr>
              <a:t>Arbitrariedades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O </a:t>
            </a:r>
            <a:r>
              <a:rPr sz="1400" dirty="0" err="1">
                <a:solidFill>
                  <a:srgbClr val="475569"/>
                </a:solidFill>
              </a:rPr>
              <a:t>agente</a:t>
            </a:r>
            <a:r>
              <a:rPr sz="1400" dirty="0">
                <a:solidFill>
                  <a:srgbClr val="475569"/>
                </a:solidFill>
              </a:rPr>
              <a:t> de IA </a:t>
            </a:r>
            <a:r>
              <a:rPr sz="1400" dirty="0" err="1">
                <a:solidFill>
                  <a:srgbClr val="475569"/>
                </a:solidFill>
              </a:rPr>
              <a:t>não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toma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decisões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dissertação</a:t>
            </a:r>
            <a:r>
              <a:rPr sz="1400" dirty="0">
                <a:solidFill>
                  <a:srgbClr val="475569"/>
                </a:solidFill>
              </a:rPr>
              <a:t> no </a:t>
            </a:r>
            <a:r>
              <a:rPr sz="1400" dirty="0" err="1">
                <a:solidFill>
                  <a:srgbClr val="475569"/>
                </a:solidFill>
              </a:rPr>
              <a:t>lugar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mestrando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DESENHO EXPERIMENTAL GEOESPACIAL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Desenho Amostral: 18 Estratos Multivariados &amp; Thinning Geodésico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51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rPr sz="1600" dirty="0"/>
              <a:t>1. </a:t>
            </a:r>
            <a:r>
              <a:rPr sz="1600" dirty="0" err="1"/>
              <a:t>Estratificação</a:t>
            </a:r>
            <a:r>
              <a:rPr sz="1600" dirty="0"/>
              <a:t> </a:t>
            </a:r>
            <a:r>
              <a:rPr sz="1600" dirty="0" err="1"/>
              <a:t>Multivariada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18 </a:t>
            </a:r>
            <a:r>
              <a:rPr sz="1600" b="1" dirty="0" err="1">
                <a:solidFill>
                  <a:srgbClr val="0F172A"/>
                </a:solidFill>
              </a:rPr>
              <a:t>Estratos</a:t>
            </a:r>
            <a:r>
              <a:rPr sz="1600" b="1" dirty="0">
                <a:solidFill>
                  <a:srgbClr val="0F172A"/>
                </a:solidFill>
              </a:rPr>
              <a:t> (Ŝ x Ê x K̂) 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Dimensão</a:t>
            </a:r>
            <a:r>
              <a:rPr sz="1600" b="1" dirty="0">
                <a:solidFill>
                  <a:srgbClr val="0F172A"/>
                </a:solidFill>
              </a:rPr>
              <a:t> Ŝ (</a:t>
            </a:r>
            <a:r>
              <a:rPr sz="1600" b="1" dirty="0" err="1">
                <a:solidFill>
                  <a:srgbClr val="0F172A"/>
                </a:solidFill>
              </a:rPr>
              <a:t>Relevo</a:t>
            </a:r>
            <a:r>
              <a:rPr sz="1600" b="1" dirty="0">
                <a:solidFill>
                  <a:srgbClr val="0F172A"/>
                </a:solidFill>
              </a:rPr>
              <a:t>): </a:t>
            </a:r>
            <a:r>
              <a:rPr sz="1600" dirty="0" err="1">
                <a:solidFill>
                  <a:srgbClr val="475569"/>
                </a:solidFill>
              </a:rPr>
              <a:t>Tercis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declividade</a:t>
            </a:r>
            <a:r>
              <a:rPr sz="1600" dirty="0">
                <a:solidFill>
                  <a:srgbClr val="475569"/>
                </a:solidFill>
              </a:rPr>
              <a:t> (Suave, </a:t>
            </a:r>
            <a:r>
              <a:rPr sz="1600" dirty="0" err="1">
                <a:solidFill>
                  <a:srgbClr val="475569"/>
                </a:solidFill>
              </a:rPr>
              <a:t>Moderada</a:t>
            </a:r>
            <a:r>
              <a:rPr sz="1600" dirty="0">
                <a:solidFill>
                  <a:srgbClr val="475569"/>
                </a:solidFill>
              </a:rPr>
              <a:t>, Forte) </a:t>
            </a:r>
            <a:r>
              <a:rPr sz="1600" dirty="0" err="1">
                <a:solidFill>
                  <a:srgbClr val="475569"/>
                </a:solidFill>
              </a:rPr>
              <a:t>derivados</a:t>
            </a:r>
            <a:r>
              <a:rPr sz="1600" dirty="0">
                <a:solidFill>
                  <a:srgbClr val="475569"/>
                </a:solidFill>
              </a:rPr>
              <a:t> do DEM Copernicus.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Dimensão</a:t>
            </a:r>
            <a:r>
              <a:rPr sz="1600" b="1" dirty="0">
                <a:solidFill>
                  <a:srgbClr val="0F172A"/>
                </a:solidFill>
              </a:rPr>
              <a:t> Ê (Solo Nu): </a:t>
            </a:r>
            <a:r>
              <a:rPr sz="1600" dirty="0" err="1">
                <a:solidFill>
                  <a:srgbClr val="475569"/>
                </a:solidFill>
              </a:rPr>
              <a:t>Tercis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frequência</a:t>
            </a:r>
            <a:r>
              <a:rPr sz="1600" dirty="0">
                <a:solidFill>
                  <a:srgbClr val="475569"/>
                </a:solidFill>
              </a:rPr>
              <a:t> multitemporal de solo </a:t>
            </a:r>
            <a:r>
              <a:rPr sz="1600" dirty="0" err="1">
                <a:solidFill>
                  <a:srgbClr val="475569"/>
                </a:solidFill>
              </a:rPr>
              <a:t>descoberto</a:t>
            </a:r>
            <a:r>
              <a:rPr sz="1600" dirty="0">
                <a:solidFill>
                  <a:srgbClr val="475569"/>
                </a:solidFill>
              </a:rPr>
              <a:t> da </a:t>
            </a:r>
            <a:r>
              <a:rPr sz="1600" dirty="0" err="1">
                <a:solidFill>
                  <a:srgbClr val="475569"/>
                </a:solidFill>
              </a:rPr>
              <a:t>série</a:t>
            </a:r>
            <a:r>
              <a:rPr sz="1600" dirty="0">
                <a:solidFill>
                  <a:srgbClr val="475569"/>
                </a:solidFill>
              </a:rPr>
              <a:t> Sentinel-2.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Dimensão</a:t>
            </a:r>
            <a:r>
              <a:rPr sz="1600" b="1" dirty="0">
                <a:solidFill>
                  <a:srgbClr val="0F172A"/>
                </a:solidFill>
              </a:rPr>
              <a:t> K̂ (</a:t>
            </a:r>
            <a:r>
              <a:rPr sz="1600" b="1" dirty="0" err="1">
                <a:solidFill>
                  <a:srgbClr val="0F172A"/>
                </a:solidFill>
              </a:rPr>
              <a:t>Pedologia</a:t>
            </a:r>
            <a:r>
              <a:rPr sz="1600" b="1" dirty="0">
                <a:solidFill>
                  <a:srgbClr val="0F172A"/>
                </a:solidFill>
              </a:rPr>
              <a:t>): </a:t>
            </a:r>
            <a:r>
              <a:rPr sz="1600" dirty="0">
                <a:solidFill>
                  <a:srgbClr val="475569"/>
                </a:solidFill>
              </a:rPr>
              <a:t>2 </a:t>
            </a:r>
            <a:r>
              <a:rPr sz="1600" dirty="0" err="1">
                <a:solidFill>
                  <a:srgbClr val="475569"/>
                </a:solidFill>
              </a:rPr>
              <a:t>níveis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erodibilidade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derivados</a:t>
            </a:r>
            <a:r>
              <a:rPr sz="1600" dirty="0">
                <a:solidFill>
                  <a:srgbClr val="475569"/>
                </a:solidFill>
              </a:rPr>
              <a:t> do </a:t>
            </a:r>
            <a:r>
              <a:rPr sz="1600" dirty="0" err="1">
                <a:solidFill>
                  <a:srgbClr val="475569"/>
                </a:solidFill>
              </a:rPr>
              <a:t>levantamento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pedológico</a:t>
            </a:r>
            <a:r>
              <a:rPr sz="1600" dirty="0">
                <a:solidFill>
                  <a:srgbClr val="475569"/>
                </a:solidFill>
              </a:rPr>
              <a:t> da Embrapa.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003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rPr sz="1600" dirty="0"/>
              <a:t>2. Thinning </a:t>
            </a:r>
            <a:r>
              <a:rPr sz="1600" dirty="0" err="1"/>
              <a:t>Geodésico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Raio </a:t>
            </a:r>
            <a:r>
              <a:rPr sz="1600" b="1" dirty="0" err="1">
                <a:solidFill>
                  <a:srgbClr val="0F172A"/>
                </a:solidFill>
              </a:rPr>
              <a:t>Mínimo</a:t>
            </a:r>
            <a:r>
              <a:rPr sz="1600" b="1" dirty="0">
                <a:solidFill>
                  <a:srgbClr val="0F172A"/>
                </a:solidFill>
              </a:rPr>
              <a:t> d ≥ 1,0 km (P02) 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Primeira</a:t>
            </a:r>
            <a:r>
              <a:rPr sz="1600" b="1" dirty="0">
                <a:solidFill>
                  <a:srgbClr val="0F172A"/>
                </a:solidFill>
              </a:rPr>
              <a:t> Lei de Tobler: </a:t>
            </a:r>
            <a:r>
              <a:rPr sz="1600" dirty="0">
                <a:solidFill>
                  <a:srgbClr val="475569"/>
                </a:solidFill>
              </a:rPr>
              <a:t>Pixels </a:t>
            </a:r>
            <a:r>
              <a:rPr sz="1600" dirty="0" err="1">
                <a:solidFill>
                  <a:srgbClr val="475569"/>
                </a:solidFill>
              </a:rPr>
              <a:t>contíguos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possuem</a:t>
            </a:r>
            <a:r>
              <a:rPr sz="1600" dirty="0">
                <a:solidFill>
                  <a:srgbClr val="475569"/>
                </a:solidFill>
              </a:rPr>
              <a:t> solos e </a:t>
            </a:r>
            <a:r>
              <a:rPr sz="1600" dirty="0" err="1">
                <a:solidFill>
                  <a:srgbClr val="475569"/>
                </a:solidFill>
              </a:rPr>
              <a:t>relevo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similares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causando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inflação</a:t>
            </a:r>
            <a:r>
              <a:rPr sz="1600" dirty="0">
                <a:solidFill>
                  <a:srgbClr val="475569"/>
                </a:solidFill>
              </a:rPr>
              <a:t> artificial de </a:t>
            </a:r>
            <a:r>
              <a:rPr sz="1600" dirty="0" err="1">
                <a:solidFill>
                  <a:srgbClr val="475569"/>
                </a:solidFill>
              </a:rPr>
              <a:t>acurácia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Algoritmo</a:t>
            </a:r>
            <a:r>
              <a:rPr sz="1600" b="1" dirty="0">
                <a:solidFill>
                  <a:srgbClr val="0F172A"/>
                </a:solidFill>
              </a:rPr>
              <a:t> Fisher-Yates: </a:t>
            </a:r>
            <a:r>
              <a:rPr sz="1600" dirty="0" err="1">
                <a:solidFill>
                  <a:srgbClr val="475569"/>
                </a:solidFill>
              </a:rPr>
              <a:t>Espaçamento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euclidiano</a:t>
            </a:r>
            <a:r>
              <a:rPr sz="1600" dirty="0">
                <a:solidFill>
                  <a:srgbClr val="475569"/>
                </a:solidFill>
              </a:rPr>
              <a:t>/haversine </a:t>
            </a:r>
            <a:r>
              <a:rPr sz="1600" dirty="0" err="1">
                <a:solidFill>
                  <a:srgbClr val="475569"/>
                </a:solidFill>
              </a:rPr>
              <a:t>determinístico</a:t>
            </a:r>
            <a:r>
              <a:rPr sz="1600" dirty="0">
                <a:solidFill>
                  <a:srgbClr val="475569"/>
                </a:solidFill>
              </a:rPr>
              <a:t> com </a:t>
            </a:r>
            <a:r>
              <a:rPr sz="1600" dirty="0" err="1">
                <a:solidFill>
                  <a:srgbClr val="475569"/>
                </a:solidFill>
              </a:rPr>
              <a:t>semente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registrada</a:t>
            </a:r>
            <a:r>
              <a:rPr sz="1600" dirty="0">
                <a:solidFill>
                  <a:srgbClr val="475569"/>
                </a:solidFill>
              </a:rPr>
              <a:t> (P07).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Dispersão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Homogênea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Força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representatividade</a:t>
            </a:r>
            <a:r>
              <a:rPr sz="1600" dirty="0">
                <a:solidFill>
                  <a:srgbClr val="475569"/>
                </a:solidFill>
              </a:rPr>
              <a:t> regional </a:t>
            </a:r>
            <a:r>
              <a:rPr sz="1600" dirty="0" err="1">
                <a:solidFill>
                  <a:srgbClr val="475569"/>
                </a:solidFill>
              </a:rPr>
              <a:t>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toda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extensão</a:t>
            </a:r>
            <a:r>
              <a:rPr sz="1600" dirty="0">
                <a:solidFill>
                  <a:srgbClr val="475569"/>
                </a:solidFill>
              </a:rPr>
              <a:t> da </a:t>
            </a:r>
            <a:r>
              <a:rPr sz="1600" dirty="0" err="1">
                <a:solidFill>
                  <a:srgbClr val="475569"/>
                </a:solidFill>
              </a:rPr>
              <a:t>bacia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hidrográfica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264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D97706"/>
                </a:solidFill>
              </a:defRPr>
            </a:pPr>
            <a:r>
              <a:rPr sz="1600" dirty="0"/>
              <a:t>3. </a:t>
            </a:r>
            <a:r>
              <a:rPr sz="1600" dirty="0" err="1"/>
              <a:t>Garantia</a:t>
            </a:r>
            <a:r>
              <a:rPr sz="1600" dirty="0"/>
              <a:t> de </a:t>
            </a:r>
            <a:r>
              <a:rPr sz="1600" dirty="0" err="1"/>
              <a:t>Controles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Balanceamento</a:t>
            </a:r>
            <a:r>
              <a:rPr sz="1600" b="1" dirty="0">
                <a:solidFill>
                  <a:srgbClr val="0F172A"/>
                </a:solidFill>
              </a:rPr>
              <a:t> de Classes (0 e 1) 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Classe 1 (</a:t>
            </a:r>
            <a:r>
              <a:rPr sz="1600" b="1" dirty="0" err="1">
                <a:solidFill>
                  <a:srgbClr val="0F172A"/>
                </a:solidFill>
              </a:rPr>
              <a:t>Erosão</a:t>
            </a:r>
            <a:r>
              <a:rPr sz="1600" b="1" dirty="0">
                <a:solidFill>
                  <a:srgbClr val="0F172A"/>
                </a:solidFill>
              </a:rPr>
              <a:t>): </a:t>
            </a:r>
            <a:r>
              <a:rPr sz="1600" dirty="0" err="1">
                <a:solidFill>
                  <a:srgbClr val="475569"/>
                </a:solidFill>
              </a:rPr>
              <a:t>Candidatos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estratificados</a:t>
            </a:r>
            <a:r>
              <a:rPr sz="1600" dirty="0">
                <a:solidFill>
                  <a:srgbClr val="475569"/>
                </a:solidFill>
              </a:rPr>
              <a:t> com histórico de </a:t>
            </a:r>
            <a:r>
              <a:rPr sz="1600" dirty="0" err="1">
                <a:solidFill>
                  <a:srgbClr val="475569"/>
                </a:solidFill>
              </a:rPr>
              <a:t>exposição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gradiente</a:t>
            </a:r>
            <a:r>
              <a:rPr sz="1600" dirty="0">
                <a:solidFill>
                  <a:srgbClr val="475569"/>
                </a:solidFill>
              </a:rPr>
              <a:t> de rampa.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Classe 0 (Controle): </a:t>
            </a:r>
            <a:r>
              <a:rPr sz="1600" dirty="0" err="1">
                <a:solidFill>
                  <a:srgbClr val="475569"/>
                </a:solidFill>
              </a:rPr>
              <a:t>Amostragem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áreas</a:t>
            </a:r>
            <a:r>
              <a:rPr sz="1600" dirty="0">
                <a:solidFill>
                  <a:srgbClr val="475569"/>
                </a:solidFill>
              </a:rPr>
              <a:t> sob Sistema </a:t>
            </a:r>
            <a:r>
              <a:rPr sz="1600" dirty="0" err="1">
                <a:solidFill>
                  <a:srgbClr val="475569"/>
                </a:solidFill>
              </a:rPr>
              <a:t>Plantio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Direto</a:t>
            </a:r>
            <a:r>
              <a:rPr sz="1600" dirty="0">
                <a:solidFill>
                  <a:srgbClr val="475569"/>
                </a:solidFill>
              </a:rPr>
              <a:t> (SPD) e </a:t>
            </a:r>
            <a:r>
              <a:rPr sz="1600" dirty="0" err="1">
                <a:solidFill>
                  <a:srgbClr val="475569"/>
                </a:solidFill>
              </a:rPr>
              <a:t>pastagens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estáveis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Prevenção</a:t>
            </a:r>
            <a:r>
              <a:rPr sz="1600" b="1" dirty="0">
                <a:solidFill>
                  <a:srgbClr val="0F172A"/>
                </a:solidFill>
              </a:rPr>
              <a:t> do 'Mock': </a:t>
            </a:r>
            <a:r>
              <a:rPr sz="1600" dirty="0" err="1">
                <a:solidFill>
                  <a:srgbClr val="475569"/>
                </a:solidFill>
              </a:rPr>
              <a:t>Garante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que</a:t>
            </a:r>
            <a:r>
              <a:rPr sz="1600" dirty="0">
                <a:solidFill>
                  <a:srgbClr val="475569"/>
                </a:solidFill>
              </a:rPr>
              <a:t> o </a:t>
            </a:r>
            <a:r>
              <a:rPr sz="1600" dirty="0" err="1">
                <a:solidFill>
                  <a:srgbClr val="475569"/>
                </a:solidFill>
              </a:rPr>
              <a:t>modelo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aprenda</a:t>
            </a:r>
            <a:r>
              <a:rPr sz="1600" dirty="0">
                <a:solidFill>
                  <a:srgbClr val="475569"/>
                </a:solidFill>
              </a:rPr>
              <a:t> o </a:t>
            </a:r>
            <a:r>
              <a:rPr sz="1600" dirty="0" err="1">
                <a:solidFill>
                  <a:srgbClr val="475569"/>
                </a:solidFill>
              </a:rPr>
              <a:t>contraste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biofísico</a:t>
            </a:r>
            <a:r>
              <a:rPr sz="1600" dirty="0">
                <a:solidFill>
                  <a:srgbClr val="475569"/>
                </a:solidFill>
              </a:rPr>
              <a:t> real entre </a:t>
            </a:r>
            <a:r>
              <a:rPr sz="1600" dirty="0" err="1">
                <a:solidFill>
                  <a:srgbClr val="475569"/>
                </a:solidFill>
              </a:rPr>
              <a:t>equilíbrio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degradação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EXTRAÇÃO DE PREDITORES FÍSICO-INFORMADOS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Sensoriamento Remoto: Sentinel-2, DEM Copernicus &amp; Decomposição Harmônica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rPr sz="1400" dirty="0"/>
              <a:t>Sentinel-2 MSI L2A (BOA)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Bandas </a:t>
            </a:r>
            <a:r>
              <a:rPr sz="1400" b="1" dirty="0" err="1">
                <a:solidFill>
                  <a:srgbClr val="0F172A"/>
                </a:solidFill>
              </a:rPr>
              <a:t>Físicas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B2 (Azul), B4 (Vermelho), B8 (NIR) e B11/B12 (SWIR) com </a:t>
            </a:r>
            <a:r>
              <a:rPr sz="1400" dirty="0" err="1">
                <a:solidFill>
                  <a:srgbClr val="475569"/>
                </a:solidFill>
              </a:rPr>
              <a:t>reflectância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fundo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atmosfera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Índices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Espectrais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NDVI (vigor vegetal) e BSI (Bare Soil Index) </a:t>
            </a:r>
            <a:r>
              <a:rPr sz="1400" dirty="0" err="1">
                <a:solidFill>
                  <a:srgbClr val="475569"/>
                </a:solidFill>
              </a:rPr>
              <a:t>computados</a:t>
            </a:r>
            <a:r>
              <a:rPr sz="1400" dirty="0">
                <a:solidFill>
                  <a:srgbClr val="475569"/>
                </a:solidFill>
              </a:rPr>
              <a:t> pixel a pixel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série</a:t>
            </a:r>
            <a:r>
              <a:rPr sz="1400" dirty="0">
                <a:solidFill>
                  <a:srgbClr val="475569"/>
                </a:solidFill>
              </a:rPr>
              <a:t> temporal.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Máscara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Nuvens</a:t>
            </a:r>
            <a:r>
              <a:rPr sz="1400" b="1" dirty="0">
                <a:solidFill>
                  <a:srgbClr val="0F172A"/>
                </a:solidFill>
              </a:rPr>
              <a:t> SCL: </a:t>
            </a:r>
            <a:r>
              <a:rPr sz="1400" dirty="0" err="1">
                <a:solidFill>
                  <a:srgbClr val="475569"/>
                </a:solidFill>
              </a:rPr>
              <a:t>Filtro</a:t>
            </a:r>
            <a:r>
              <a:rPr sz="1400" dirty="0">
                <a:solidFill>
                  <a:srgbClr val="475569"/>
                </a:solidFill>
              </a:rPr>
              <a:t> Scene Classification Layer com </a:t>
            </a:r>
            <a:r>
              <a:rPr sz="1400" dirty="0" err="1">
                <a:solidFill>
                  <a:srgbClr val="475569"/>
                </a:solidFill>
              </a:rPr>
              <a:t>descarte</a:t>
            </a:r>
            <a:r>
              <a:rPr sz="1400" dirty="0">
                <a:solidFill>
                  <a:srgbClr val="475569"/>
                </a:solidFill>
              </a:rPr>
              <a:t> de pixels </a:t>
            </a:r>
            <a:r>
              <a:rPr sz="1400" dirty="0" err="1">
                <a:solidFill>
                  <a:srgbClr val="475569"/>
                </a:solidFill>
              </a:rPr>
              <a:t>nublados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reposição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constantes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rPr sz="1400" dirty="0"/>
              <a:t>Copernicus DEM GLO-30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Projeção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Métrica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Oficial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Cálculo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declividade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elevação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SIRGAS 2000 / UTM 22S (EPSG:31982).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Correção</a:t>
            </a:r>
            <a:r>
              <a:rPr sz="1400" b="1" dirty="0">
                <a:solidFill>
                  <a:srgbClr val="0F172A"/>
                </a:solidFill>
              </a:rPr>
              <a:t> do Erro 3857: </a:t>
            </a:r>
            <a:r>
              <a:rPr sz="1400" dirty="0" err="1">
                <a:solidFill>
                  <a:srgbClr val="475569"/>
                </a:solidFill>
              </a:rPr>
              <a:t>Elimina</a:t>
            </a:r>
            <a:r>
              <a:rPr sz="1400" dirty="0">
                <a:solidFill>
                  <a:srgbClr val="475569"/>
                </a:solidFill>
              </a:rPr>
              <a:t> a </a:t>
            </a:r>
            <a:r>
              <a:rPr sz="1400" dirty="0" err="1">
                <a:solidFill>
                  <a:srgbClr val="475569"/>
                </a:solidFill>
              </a:rPr>
              <a:t>subestimação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sistemática</a:t>
            </a:r>
            <a:r>
              <a:rPr sz="1400" dirty="0">
                <a:solidFill>
                  <a:srgbClr val="475569"/>
                </a:solidFill>
              </a:rPr>
              <a:t> de 10%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declividade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causada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pelo</a:t>
            </a:r>
            <a:r>
              <a:rPr sz="1400" dirty="0">
                <a:solidFill>
                  <a:srgbClr val="475569"/>
                </a:solidFill>
              </a:rPr>
              <a:t> Web Mercator no Paraná.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Atributos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Terreno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Elevação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ortométrica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declividade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graus</a:t>
            </a:r>
            <a:r>
              <a:rPr sz="1400" dirty="0">
                <a:solidFill>
                  <a:srgbClr val="475569"/>
                </a:solidFill>
              </a:rPr>
              <a:t>/%), </a:t>
            </a:r>
            <a:r>
              <a:rPr sz="1400" dirty="0" err="1">
                <a:solidFill>
                  <a:srgbClr val="475569"/>
                </a:solidFill>
              </a:rPr>
              <a:t>curvatura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vertente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acúmulo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fluxo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982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rPr sz="1400" dirty="0" err="1"/>
              <a:t>Decomposição</a:t>
            </a:r>
            <a:r>
              <a:rPr sz="1400" dirty="0"/>
              <a:t> Harmônica OLS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Ajuste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Multivariado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Regressão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harmônica</a:t>
            </a:r>
            <a:r>
              <a:rPr sz="1400" dirty="0">
                <a:solidFill>
                  <a:srgbClr val="475569"/>
                </a:solidFill>
              </a:rPr>
              <a:t> de 1 e 2 </a:t>
            </a:r>
            <a:r>
              <a:rPr sz="1400" dirty="0" err="1">
                <a:solidFill>
                  <a:srgbClr val="475569"/>
                </a:solidFill>
              </a:rPr>
              <a:t>ciclos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anuais</a:t>
            </a:r>
            <a:r>
              <a:rPr sz="1400" dirty="0">
                <a:solidFill>
                  <a:srgbClr val="475569"/>
                </a:solidFill>
              </a:rPr>
              <a:t> (Zhu &amp; Woodcock 2014) para </a:t>
            </a:r>
            <a:r>
              <a:rPr sz="1400" dirty="0" err="1">
                <a:solidFill>
                  <a:srgbClr val="475569"/>
                </a:solidFill>
              </a:rPr>
              <a:t>cada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banda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espectral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Parâmetros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Extraídos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Tendência</a:t>
            </a:r>
            <a:r>
              <a:rPr sz="1400" dirty="0">
                <a:solidFill>
                  <a:srgbClr val="475569"/>
                </a:solidFill>
              </a:rPr>
              <a:t> temporal (b1), amplitudes </a:t>
            </a:r>
            <a:r>
              <a:rPr sz="1400" dirty="0" err="1">
                <a:solidFill>
                  <a:srgbClr val="475569"/>
                </a:solidFill>
              </a:rPr>
              <a:t>anual</a:t>
            </a:r>
            <a:r>
              <a:rPr sz="1400" dirty="0">
                <a:solidFill>
                  <a:srgbClr val="475569"/>
                </a:solidFill>
              </a:rPr>
              <a:t>/</a:t>
            </a:r>
            <a:r>
              <a:rPr sz="1400" dirty="0" err="1">
                <a:solidFill>
                  <a:srgbClr val="475569"/>
                </a:solidFill>
              </a:rPr>
              <a:t>semianual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fases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espectrais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comprimento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onda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Métricas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Qualidade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Cada </a:t>
            </a:r>
            <a:r>
              <a:rPr sz="1400" dirty="0" err="1">
                <a:solidFill>
                  <a:srgbClr val="475569"/>
                </a:solidFill>
              </a:rPr>
              <a:t>coeficiente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armazena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número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observações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válidas</a:t>
            </a:r>
            <a:r>
              <a:rPr sz="1400" dirty="0">
                <a:solidFill>
                  <a:srgbClr val="475569"/>
                </a:solidFill>
              </a:rPr>
              <a:t>, R² do </a:t>
            </a:r>
            <a:r>
              <a:rPr sz="1400" dirty="0" err="1">
                <a:solidFill>
                  <a:srgbClr val="475569"/>
                </a:solidFill>
              </a:rPr>
              <a:t>ajuste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erro-padrão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767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rPr sz="1400" dirty="0" err="1"/>
              <a:t>Dinâmica</a:t>
            </a:r>
            <a:r>
              <a:rPr sz="1400" dirty="0"/>
              <a:t> do Solo </a:t>
            </a:r>
            <a:r>
              <a:rPr sz="1400" dirty="0" err="1"/>
              <a:t>Exposto</a:t>
            </a:r>
            <a:r>
              <a:rPr sz="1400" dirty="0"/>
              <a:t> (Ê)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Frequência</a:t>
            </a:r>
            <a:r>
              <a:rPr sz="1400" b="1" dirty="0">
                <a:solidFill>
                  <a:srgbClr val="0F172A"/>
                </a:solidFill>
              </a:rPr>
              <a:t> de Solo Nu (Ê): </a:t>
            </a:r>
            <a:r>
              <a:rPr sz="1400" dirty="0" err="1">
                <a:solidFill>
                  <a:srgbClr val="475569"/>
                </a:solidFill>
              </a:rPr>
              <a:t>Fração</a:t>
            </a:r>
            <a:r>
              <a:rPr sz="1400" dirty="0">
                <a:solidFill>
                  <a:srgbClr val="475569"/>
                </a:solidFill>
              </a:rPr>
              <a:t> temporal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que</a:t>
            </a:r>
            <a:r>
              <a:rPr sz="1400" dirty="0">
                <a:solidFill>
                  <a:srgbClr val="475569"/>
                </a:solidFill>
              </a:rPr>
              <a:t> o solo </a:t>
            </a:r>
            <a:r>
              <a:rPr sz="1400" dirty="0" err="1">
                <a:solidFill>
                  <a:srgbClr val="475569"/>
                </a:solidFill>
              </a:rPr>
              <a:t>permaneceu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descoberto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anos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monitoramento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Sequência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Contínua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Maior </a:t>
            </a:r>
            <a:r>
              <a:rPr sz="1400" dirty="0" err="1">
                <a:solidFill>
                  <a:srgbClr val="475569"/>
                </a:solidFill>
              </a:rPr>
              <a:t>número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consecutivo</a:t>
            </a:r>
            <a:r>
              <a:rPr sz="1400" dirty="0">
                <a:solidFill>
                  <a:srgbClr val="475569"/>
                </a:solidFill>
              </a:rPr>
              <a:t> de meses sob </a:t>
            </a:r>
            <a:r>
              <a:rPr sz="1400" dirty="0" err="1">
                <a:solidFill>
                  <a:srgbClr val="475569"/>
                </a:solidFill>
              </a:rPr>
              <a:t>exposição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crítica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agentes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erosivos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Mês</a:t>
            </a:r>
            <a:r>
              <a:rPr sz="1400" b="1" dirty="0">
                <a:solidFill>
                  <a:srgbClr val="0F172A"/>
                </a:solidFill>
              </a:rPr>
              <a:t> Modal de </a:t>
            </a:r>
            <a:r>
              <a:rPr sz="1400" b="1" dirty="0" err="1">
                <a:solidFill>
                  <a:srgbClr val="0F172A"/>
                </a:solidFill>
              </a:rPr>
              <a:t>Exposição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Identifica</a:t>
            </a:r>
            <a:r>
              <a:rPr sz="1400" dirty="0">
                <a:solidFill>
                  <a:srgbClr val="475569"/>
                </a:solidFill>
              </a:rPr>
              <a:t> o </a:t>
            </a:r>
            <a:r>
              <a:rPr sz="1400" dirty="0" err="1">
                <a:solidFill>
                  <a:srgbClr val="475569"/>
                </a:solidFill>
              </a:rPr>
              <a:t>período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ano</a:t>
            </a:r>
            <a:r>
              <a:rPr sz="1400" dirty="0">
                <a:solidFill>
                  <a:srgbClr val="475569"/>
                </a:solidFill>
              </a:rPr>
              <a:t> com </a:t>
            </a:r>
            <a:r>
              <a:rPr sz="1400" dirty="0" err="1">
                <a:solidFill>
                  <a:srgbClr val="475569"/>
                </a:solidFill>
              </a:rPr>
              <a:t>maior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vulnerabilidade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climática</a:t>
            </a:r>
            <a:r>
              <a:rPr sz="1400" dirty="0">
                <a:solidFill>
                  <a:srgbClr val="475569"/>
                </a:solidFill>
              </a:rPr>
              <a:t> no Paraná.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MODELAGEM FÍSICO-MATEMÁTICA CONVENCIONAL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Linha de Base RUSLE: Instrumento Comparativo com Respaldo Científico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9487" y="159669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5F46"/>
                </a:solidFill>
              </a:defRPr>
            </a:pPr>
            <a:r>
              <a:rPr dirty="0"/>
              <a:t>A = R × K × LS × C × P   [</a:t>
            </a:r>
            <a:r>
              <a:rPr dirty="0" err="1"/>
              <a:t>Estimativa</a:t>
            </a:r>
            <a:r>
              <a:rPr dirty="0"/>
              <a:t> de </a:t>
            </a:r>
            <a:r>
              <a:rPr dirty="0" err="1"/>
              <a:t>Perda</a:t>
            </a:r>
            <a:r>
              <a:rPr dirty="0"/>
              <a:t> de Solo </a:t>
            </a:r>
            <a:r>
              <a:rPr dirty="0" err="1"/>
              <a:t>em</a:t>
            </a:r>
            <a:r>
              <a:rPr dirty="0"/>
              <a:t> t / (ha · </a:t>
            </a:r>
            <a:r>
              <a:rPr dirty="0" err="1"/>
              <a:t>ano</a:t>
            </a:r>
            <a:r>
              <a:rPr dirty="0"/>
              <a:t>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017520" cy="28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10B981"/>
                </a:solidFill>
              </a:defRPr>
            </a:pPr>
            <a:r>
              <a:rPr sz="1400" dirty="0"/>
              <a:t>Fator C: </a:t>
            </a:r>
            <a:r>
              <a:rPr sz="1400" dirty="0" err="1"/>
              <a:t>Durigon</a:t>
            </a:r>
            <a:r>
              <a:rPr sz="1400" dirty="0"/>
              <a:t> et al. (2014) [DECIDIDO - D01]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Equação</a:t>
            </a:r>
            <a:r>
              <a:rPr sz="1400" b="1" dirty="0">
                <a:solidFill>
                  <a:srgbClr val="0F172A"/>
                </a:solidFill>
              </a:rPr>
              <a:t> Regional: </a:t>
            </a:r>
            <a:r>
              <a:rPr sz="1400" dirty="0">
                <a:solidFill>
                  <a:srgbClr val="475569"/>
                </a:solidFill>
              </a:rPr>
              <a:t>C = (1 − NDVI) / 2 </a:t>
            </a:r>
            <a:r>
              <a:rPr sz="1400" dirty="0" err="1">
                <a:solidFill>
                  <a:srgbClr val="475569"/>
                </a:solidFill>
              </a:rPr>
              <a:t>calibrada</a:t>
            </a:r>
            <a:r>
              <a:rPr sz="1400" dirty="0">
                <a:solidFill>
                  <a:srgbClr val="475569"/>
                </a:solidFill>
              </a:rPr>
              <a:t> para </a:t>
            </a:r>
            <a:r>
              <a:rPr sz="1400" dirty="0" err="1">
                <a:solidFill>
                  <a:srgbClr val="475569"/>
                </a:solidFill>
              </a:rPr>
              <a:t>bacias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tropicais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brasileiras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parâmetros</a:t>
            </a:r>
            <a:r>
              <a:rPr sz="1400" dirty="0">
                <a:solidFill>
                  <a:srgbClr val="475569"/>
                </a:solidFill>
              </a:rPr>
              <a:t> livres.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Sem Cortes </a:t>
            </a:r>
            <a:r>
              <a:rPr sz="1400" b="1" dirty="0" err="1">
                <a:solidFill>
                  <a:srgbClr val="0F172A"/>
                </a:solidFill>
              </a:rPr>
              <a:t>Disfarçados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NDVI </a:t>
            </a:r>
            <a:r>
              <a:rPr sz="1400" dirty="0" err="1">
                <a:solidFill>
                  <a:srgbClr val="475569"/>
                </a:solidFill>
              </a:rPr>
              <a:t>estritamente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contido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[-1, 1], </a:t>
            </a:r>
            <a:r>
              <a:rPr sz="1400" dirty="0" err="1">
                <a:solidFill>
                  <a:srgbClr val="475569"/>
                </a:solidFill>
              </a:rPr>
              <a:t>garantindo</a:t>
            </a:r>
            <a:r>
              <a:rPr sz="1400" dirty="0">
                <a:solidFill>
                  <a:srgbClr val="475569"/>
                </a:solidFill>
              </a:rPr>
              <a:t> C </a:t>
            </a:r>
            <a:r>
              <a:rPr sz="1400" dirty="0" err="1">
                <a:solidFill>
                  <a:srgbClr val="475569"/>
                </a:solidFill>
              </a:rPr>
              <a:t>contido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[0, 1]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Math.min</a:t>
            </a:r>
            <a:r>
              <a:rPr sz="1400" dirty="0">
                <a:solidFill>
                  <a:srgbClr val="475569"/>
                </a:solidFill>
              </a:rPr>
              <a:t>/max </a:t>
            </a:r>
            <a:r>
              <a:rPr sz="1400" dirty="0" err="1">
                <a:solidFill>
                  <a:srgbClr val="475569"/>
                </a:solidFill>
              </a:rPr>
              <a:t>artificiais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Análise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Sensibilidade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Comparação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programada</a:t>
            </a:r>
            <a:r>
              <a:rPr sz="1400" dirty="0">
                <a:solidFill>
                  <a:srgbClr val="475569"/>
                </a:solidFill>
              </a:rPr>
              <a:t> com a </a:t>
            </a:r>
            <a:r>
              <a:rPr sz="1400" dirty="0" err="1">
                <a:solidFill>
                  <a:srgbClr val="475569"/>
                </a:solidFill>
              </a:rPr>
              <a:t>formulação</a:t>
            </a:r>
            <a:r>
              <a:rPr sz="1400" dirty="0">
                <a:solidFill>
                  <a:srgbClr val="475569"/>
                </a:solidFill>
              </a:rPr>
              <a:t> de van der </a:t>
            </a:r>
            <a:r>
              <a:rPr sz="1400" dirty="0" err="1">
                <a:solidFill>
                  <a:srgbClr val="475569"/>
                </a:solidFill>
              </a:rPr>
              <a:t>Knijff</a:t>
            </a:r>
            <a:r>
              <a:rPr sz="1400" dirty="0">
                <a:solidFill>
                  <a:srgbClr val="475569"/>
                </a:solidFill>
              </a:rPr>
              <a:t> et al. (2000).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17520" cy="28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0EA5E9"/>
                </a:solidFill>
              </a:defRPr>
            </a:pPr>
            <a:r>
              <a:rPr sz="1400" dirty="0"/>
              <a:t>Fator P: </a:t>
            </a:r>
            <a:r>
              <a:rPr sz="1400" dirty="0" err="1"/>
              <a:t>Práticas</a:t>
            </a:r>
            <a:r>
              <a:rPr sz="1400" dirty="0"/>
              <a:t> </a:t>
            </a:r>
            <a:r>
              <a:rPr sz="1400" dirty="0" err="1"/>
              <a:t>Conservacionistas</a:t>
            </a:r>
            <a:r>
              <a:rPr sz="1400" dirty="0"/>
              <a:t> [TABELADO]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Valor </a:t>
            </a:r>
            <a:r>
              <a:rPr sz="1400" b="1" dirty="0" err="1">
                <a:solidFill>
                  <a:srgbClr val="0F172A"/>
                </a:solidFill>
              </a:rPr>
              <a:t>Referencial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Fator P = 1,0 </a:t>
            </a:r>
            <a:r>
              <a:rPr sz="1400" dirty="0" err="1">
                <a:solidFill>
                  <a:srgbClr val="475569"/>
                </a:solidFill>
              </a:rPr>
              <a:t>quando</a:t>
            </a:r>
            <a:r>
              <a:rPr sz="1400" dirty="0">
                <a:solidFill>
                  <a:srgbClr val="475569"/>
                </a:solidFill>
              </a:rPr>
              <a:t> as </a:t>
            </a:r>
            <a:r>
              <a:rPr sz="1400" dirty="0" err="1">
                <a:solidFill>
                  <a:srgbClr val="475569"/>
                </a:solidFill>
              </a:rPr>
              <a:t>práticas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mecânicas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imóvel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forem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desconhecidas</a:t>
            </a:r>
            <a:r>
              <a:rPr sz="1400" dirty="0">
                <a:solidFill>
                  <a:srgbClr val="475569"/>
                </a:solidFill>
              </a:rPr>
              <a:t> (Renard et al., 1997).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Proveniência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Declarada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Registrado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estritamente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como</a:t>
            </a:r>
            <a:r>
              <a:rPr sz="1400" dirty="0">
                <a:solidFill>
                  <a:srgbClr val="475569"/>
                </a:solidFill>
              </a:rPr>
              <a:t> '</a:t>
            </a:r>
            <a:r>
              <a:rPr sz="1400" dirty="0" err="1">
                <a:solidFill>
                  <a:srgbClr val="475569"/>
                </a:solidFill>
              </a:rPr>
              <a:t>tabelado</a:t>
            </a:r>
            <a:r>
              <a:rPr sz="1400" dirty="0">
                <a:solidFill>
                  <a:srgbClr val="475569"/>
                </a:solidFill>
              </a:rPr>
              <a:t>', </a:t>
            </a:r>
            <a:r>
              <a:rPr sz="1400" dirty="0" err="1">
                <a:solidFill>
                  <a:srgbClr val="475569"/>
                </a:solidFill>
              </a:rPr>
              <a:t>nunca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apresentado</a:t>
            </a:r>
            <a:r>
              <a:rPr sz="1400" dirty="0">
                <a:solidFill>
                  <a:srgbClr val="475569"/>
                </a:solidFill>
              </a:rPr>
              <a:t> à banca </a:t>
            </a:r>
            <a:r>
              <a:rPr sz="1400" dirty="0" err="1">
                <a:solidFill>
                  <a:srgbClr val="475569"/>
                </a:solidFill>
              </a:rPr>
              <a:t>como</a:t>
            </a:r>
            <a:r>
              <a:rPr sz="1400" dirty="0">
                <a:solidFill>
                  <a:srgbClr val="475569"/>
                </a:solidFill>
              </a:rPr>
              <a:t> se fosse </a:t>
            </a:r>
            <a:r>
              <a:rPr sz="1400" dirty="0" err="1">
                <a:solidFill>
                  <a:srgbClr val="475569"/>
                </a:solidFill>
              </a:rPr>
              <a:t>medição</a:t>
            </a:r>
            <a:r>
              <a:rPr sz="1400" dirty="0">
                <a:solidFill>
                  <a:srgbClr val="475569"/>
                </a:solidFill>
              </a:rPr>
              <a:t> de campo.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Terraceamento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Ajustável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rotulagem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presencial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caso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terraços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retenção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íntegros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sejam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comprovados</a:t>
            </a:r>
            <a:r>
              <a:rPr sz="98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D97706"/>
                </a:solidFill>
              </a:defRPr>
            </a:pPr>
            <a:r>
              <a:rPr sz="1400" dirty="0" err="1"/>
              <a:t>Fatores</a:t>
            </a:r>
            <a:r>
              <a:rPr sz="1400" dirty="0"/>
              <a:t> R, K e LS [PENDENTES - D13, D14, D15]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Trava </a:t>
            </a:r>
            <a:r>
              <a:rPr sz="1400" b="1" dirty="0" err="1">
                <a:solidFill>
                  <a:srgbClr val="0F172A"/>
                </a:solidFill>
              </a:rPr>
              <a:t>Inviolável</a:t>
            </a:r>
            <a:r>
              <a:rPr sz="1400" b="1" dirty="0">
                <a:solidFill>
                  <a:srgbClr val="0F172A"/>
                </a:solidFill>
              </a:rPr>
              <a:t> (</a:t>
            </a:r>
            <a:r>
              <a:rPr sz="1400" b="1" dirty="0" err="1">
                <a:solidFill>
                  <a:srgbClr val="0F172A"/>
                </a:solidFill>
              </a:rPr>
              <a:t>Regra</a:t>
            </a:r>
            <a:r>
              <a:rPr sz="1400" b="1" dirty="0">
                <a:solidFill>
                  <a:srgbClr val="0F172A"/>
                </a:solidFill>
              </a:rPr>
              <a:t> 9): </a:t>
            </a:r>
            <a:r>
              <a:rPr sz="1400" dirty="0" err="1">
                <a:solidFill>
                  <a:srgbClr val="475569"/>
                </a:solidFill>
              </a:rPr>
              <a:t>Enquanto</a:t>
            </a:r>
            <a:r>
              <a:rPr sz="1400" dirty="0">
                <a:solidFill>
                  <a:srgbClr val="475569"/>
                </a:solidFill>
              </a:rPr>
              <a:t> as </a:t>
            </a:r>
            <a:r>
              <a:rPr sz="1400" dirty="0" err="1">
                <a:solidFill>
                  <a:srgbClr val="475569"/>
                </a:solidFill>
              </a:rPr>
              <a:t>equações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forem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formalmente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selecionadas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pelo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pesquisador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permanecem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pendentes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Bloqueio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Perda</a:t>
            </a:r>
            <a:r>
              <a:rPr sz="1400" b="1" dirty="0">
                <a:solidFill>
                  <a:srgbClr val="0F172A"/>
                </a:solidFill>
              </a:rPr>
              <a:t> de Solo: </a:t>
            </a:r>
            <a:r>
              <a:rPr sz="1400" dirty="0" err="1">
                <a:solidFill>
                  <a:srgbClr val="475569"/>
                </a:solidFill>
              </a:rPr>
              <a:t>Perda</a:t>
            </a:r>
            <a:r>
              <a:rPr sz="1400" dirty="0">
                <a:solidFill>
                  <a:srgbClr val="475569"/>
                </a:solidFill>
              </a:rPr>
              <a:t> de solo </a:t>
            </a:r>
            <a:r>
              <a:rPr sz="1400" dirty="0" err="1">
                <a:solidFill>
                  <a:srgbClr val="475569"/>
                </a:solidFill>
              </a:rPr>
              <a:t>fica</a:t>
            </a:r>
            <a:r>
              <a:rPr sz="1400" dirty="0">
                <a:solidFill>
                  <a:srgbClr val="475569"/>
                </a:solidFill>
              </a:rPr>
              <a:t> '</a:t>
            </a:r>
            <a:r>
              <a:rPr sz="1400" dirty="0" err="1">
                <a:solidFill>
                  <a:srgbClr val="475569"/>
                </a:solidFill>
              </a:rPr>
              <a:t>indisponivel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decisao</a:t>
            </a:r>
            <a:r>
              <a:rPr sz="1400" dirty="0">
                <a:solidFill>
                  <a:srgbClr val="475569"/>
                </a:solidFill>
              </a:rPr>
              <a:t>-pendente)'. </a:t>
            </a:r>
            <a:r>
              <a:rPr sz="1400" dirty="0" err="1">
                <a:solidFill>
                  <a:srgbClr val="475569"/>
                </a:solidFill>
              </a:rPr>
              <a:t>Proibido</a:t>
            </a:r>
            <a:r>
              <a:rPr sz="1400" dirty="0">
                <a:solidFill>
                  <a:srgbClr val="475569"/>
                </a:solidFill>
              </a:rPr>
              <a:t> usar </a:t>
            </a:r>
            <a:r>
              <a:rPr sz="1400" dirty="0" err="1">
                <a:solidFill>
                  <a:srgbClr val="475569"/>
                </a:solidFill>
              </a:rPr>
              <a:t>multiplicadores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inventados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Invariante</a:t>
            </a:r>
            <a:r>
              <a:rPr sz="1400" b="1" dirty="0">
                <a:solidFill>
                  <a:srgbClr val="0F172A"/>
                </a:solidFill>
              </a:rPr>
              <a:t> 1 </a:t>
            </a:r>
            <a:r>
              <a:rPr sz="1400" b="1" dirty="0" err="1">
                <a:solidFill>
                  <a:srgbClr val="0F172A"/>
                </a:solidFill>
              </a:rPr>
              <a:t>Ativo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A </a:t>
            </a:r>
            <a:r>
              <a:rPr sz="1400" dirty="0" err="1">
                <a:solidFill>
                  <a:srgbClr val="475569"/>
                </a:solidFill>
              </a:rPr>
              <a:t>perda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só</a:t>
            </a:r>
            <a:r>
              <a:rPr sz="1400" dirty="0">
                <a:solidFill>
                  <a:srgbClr val="475569"/>
                </a:solidFill>
              </a:rPr>
              <a:t> é </a:t>
            </a:r>
            <a:r>
              <a:rPr sz="1400" dirty="0" err="1">
                <a:solidFill>
                  <a:srgbClr val="475569"/>
                </a:solidFill>
              </a:rPr>
              <a:t>exportada</a:t>
            </a:r>
            <a:r>
              <a:rPr sz="1400" dirty="0">
                <a:solidFill>
                  <a:srgbClr val="475569"/>
                </a:solidFill>
              </a:rPr>
              <a:t> se </a:t>
            </a:r>
            <a:r>
              <a:rPr sz="1400" dirty="0" err="1">
                <a:solidFill>
                  <a:srgbClr val="475569"/>
                </a:solidFill>
              </a:rPr>
              <a:t>os</a:t>
            </a:r>
            <a:r>
              <a:rPr sz="1400" dirty="0">
                <a:solidFill>
                  <a:srgbClr val="475569"/>
                </a:solidFill>
              </a:rPr>
              <a:t> 5 </a:t>
            </a:r>
            <a:r>
              <a:rPr sz="1400" dirty="0" err="1">
                <a:solidFill>
                  <a:srgbClr val="475569"/>
                </a:solidFill>
              </a:rPr>
              <a:t>fatores</a:t>
            </a:r>
            <a:r>
              <a:rPr sz="1400" dirty="0">
                <a:solidFill>
                  <a:srgbClr val="475569"/>
                </a:solidFill>
              </a:rPr>
              <a:t> e a </a:t>
            </a:r>
            <a:r>
              <a:rPr sz="1400" dirty="0" err="1">
                <a:solidFill>
                  <a:srgbClr val="475569"/>
                </a:solidFill>
              </a:rPr>
              <a:t>memória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cálculo</a:t>
            </a:r>
            <a:r>
              <a:rPr sz="1400" dirty="0">
                <a:solidFill>
                  <a:srgbClr val="475569"/>
                </a:solidFill>
              </a:rPr>
              <a:t> com a </a:t>
            </a:r>
            <a:r>
              <a:rPr sz="1400" dirty="0" err="1">
                <a:solidFill>
                  <a:srgbClr val="475569"/>
                </a:solidFill>
              </a:rPr>
              <a:t>equação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estiverem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preenchidos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BASE TERRITORIAL AUDITÁVEL &amp;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Inteligência Fundiária: Integração SICAR/SIGEF/SNCR &amp; Proteção LGPD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268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rPr sz="1400" dirty="0"/>
              <a:t>SICAR / MMA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559.899 </a:t>
            </a:r>
            <a:r>
              <a:rPr sz="1400" b="1" dirty="0" err="1">
                <a:solidFill>
                  <a:srgbClr val="0F172A"/>
                </a:solidFill>
              </a:rPr>
              <a:t>Imóveis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Rurais</a:t>
            </a:r>
            <a:r>
              <a:rPr sz="1400" b="1" dirty="0">
                <a:solidFill>
                  <a:srgbClr val="0F172A"/>
                </a:solidFill>
              </a:rPr>
              <a:t> no PR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Código CAR </a:t>
            </a:r>
            <a:r>
              <a:rPr sz="1400" b="1" dirty="0" err="1">
                <a:solidFill>
                  <a:srgbClr val="0F172A"/>
                </a:solidFill>
              </a:rPr>
              <a:t>Oficial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Identificador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único</a:t>
            </a:r>
            <a:r>
              <a:rPr sz="1400" dirty="0">
                <a:solidFill>
                  <a:srgbClr val="475569"/>
                </a:solidFill>
              </a:rPr>
              <a:t> federal de </a:t>
            </a:r>
            <a:r>
              <a:rPr sz="1400" dirty="0" err="1">
                <a:solidFill>
                  <a:srgbClr val="475569"/>
                </a:solidFill>
              </a:rPr>
              <a:t>cada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imóvel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cadastrado</a:t>
            </a:r>
            <a:r>
              <a:rPr sz="1400" dirty="0">
                <a:solidFill>
                  <a:srgbClr val="475569"/>
                </a:solidFill>
              </a:rPr>
              <a:t> no Paraná.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Atributos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Cartográficos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Área</a:t>
            </a:r>
            <a:r>
              <a:rPr sz="1400" dirty="0">
                <a:solidFill>
                  <a:srgbClr val="475569"/>
                </a:solidFill>
              </a:rPr>
              <a:t> total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hectares, </a:t>
            </a:r>
            <a:r>
              <a:rPr sz="1400" dirty="0" err="1">
                <a:solidFill>
                  <a:srgbClr val="475569"/>
                </a:solidFill>
              </a:rPr>
              <a:t>módulos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fiscais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situação</a:t>
            </a:r>
            <a:r>
              <a:rPr sz="1400" dirty="0">
                <a:solidFill>
                  <a:srgbClr val="475569"/>
                </a:solidFill>
              </a:rPr>
              <a:t> cadastral do </a:t>
            </a:r>
            <a:r>
              <a:rPr sz="1400" dirty="0" err="1">
                <a:solidFill>
                  <a:srgbClr val="475569"/>
                </a:solidFill>
              </a:rPr>
              <a:t>imóvel</a:t>
            </a:r>
            <a:r>
              <a:rPr sz="1400" dirty="0">
                <a:solidFill>
                  <a:srgbClr val="475569"/>
                </a:solidFill>
              </a:rPr>
              <a:t> rural.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Perímetro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Vetorial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Polígono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georreferenciado</a:t>
            </a:r>
            <a:r>
              <a:rPr sz="1400" dirty="0">
                <a:solidFill>
                  <a:srgbClr val="475569"/>
                </a:solidFill>
              </a:rPr>
              <a:t> da </a:t>
            </a:r>
            <a:r>
              <a:rPr sz="1400" dirty="0" err="1">
                <a:solidFill>
                  <a:srgbClr val="475569"/>
                </a:solidFill>
              </a:rPr>
              <a:t>propriedade</a:t>
            </a:r>
            <a:r>
              <a:rPr sz="1400" dirty="0">
                <a:solidFill>
                  <a:srgbClr val="475569"/>
                </a:solidFill>
              </a:rPr>
              <a:t> para </a:t>
            </a:r>
            <a:r>
              <a:rPr sz="1400" dirty="0" err="1">
                <a:solidFill>
                  <a:srgbClr val="475569"/>
                </a:solidFill>
              </a:rPr>
              <a:t>conferência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limites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confrontantes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268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rPr sz="1400" dirty="0"/>
              <a:t>SIGEF / INCRA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170.046 </a:t>
            </a:r>
            <a:r>
              <a:rPr sz="1400" b="1" dirty="0" err="1">
                <a:solidFill>
                  <a:srgbClr val="0F172A"/>
                </a:solidFill>
              </a:rPr>
              <a:t>Parcelas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Certificadas</a:t>
            </a:r>
            <a:r>
              <a:rPr sz="1400" b="1" dirty="0">
                <a:solidFill>
                  <a:srgbClr val="0F172A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Lei 10.267: </a:t>
            </a:r>
            <a:r>
              <a:rPr sz="1400" dirty="0" err="1">
                <a:solidFill>
                  <a:srgbClr val="475569"/>
                </a:solidFill>
              </a:rPr>
              <a:t>Certificação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georreferenciamento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imóveis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rurais</a:t>
            </a:r>
            <a:r>
              <a:rPr sz="1400" dirty="0">
                <a:solidFill>
                  <a:srgbClr val="475569"/>
                </a:solidFill>
              </a:rPr>
              <a:t> com </a:t>
            </a:r>
            <a:r>
              <a:rPr sz="1400" dirty="0" err="1">
                <a:solidFill>
                  <a:srgbClr val="475569"/>
                </a:solidFill>
              </a:rPr>
              <a:t>alta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precisão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métrica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Segurança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Jurídica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Identificação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número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Matrícula</a:t>
            </a:r>
            <a:r>
              <a:rPr sz="1400" dirty="0">
                <a:solidFill>
                  <a:srgbClr val="475569"/>
                </a:solidFill>
              </a:rPr>
              <a:t> no </a:t>
            </a:r>
            <a:r>
              <a:rPr sz="1400" dirty="0" err="1">
                <a:solidFill>
                  <a:srgbClr val="475569"/>
                </a:solidFill>
              </a:rPr>
              <a:t>Cartório</a:t>
            </a:r>
            <a:r>
              <a:rPr sz="1400" dirty="0">
                <a:solidFill>
                  <a:srgbClr val="475569"/>
                </a:solidFill>
              </a:rPr>
              <a:t> de Registro de </a:t>
            </a:r>
            <a:r>
              <a:rPr sz="1400" dirty="0" err="1">
                <a:solidFill>
                  <a:srgbClr val="475569"/>
                </a:solidFill>
              </a:rPr>
              <a:t>Imóveis</a:t>
            </a:r>
            <a:r>
              <a:rPr sz="1400" dirty="0">
                <a:solidFill>
                  <a:srgbClr val="475569"/>
                </a:solidFill>
              </a:rPr>
              <a:t> (CRI).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Anotação</a:t>
            </a:r>
            <a:r>
              <a:rPr sz="1400" b="1" dirty="0">
                <a:solidFill>
                  <a:srgbClr val="0F172A"/>
                </a:solidFill>
              </a:rPr>
              <a:t> Técnica: </a:t>
            </a:r>
            <a:r>
              <a:rPr sz="1400" dirty="0">
                <a:solidFill>
                  <a:srgbClr val="475569"/>
                </a:solidFill>
              </a:rPr>
              <a:t>Registro de ART/CREA do </a:t>
            </a:r>
            <a:r>
              <a:rPr sz="1400" dirty="0" err="1">
                <a:solidFill>
                  <a:srgbClr val="475569"/>
                </a:solidFill>
              </a:rPr>
              <a:t>engenheiro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agrimensor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responsável</a:t>
            </a:r>
            <a:r>
              <a:rPr sz="1400" dirty="0">
                <a:solidFill>
                  <a:srgbClr val="475569"/>
                </a:solidFill>
              </a:rPr>
              <a:t> pela </a:t>
            </a:r>
            <a:r>
              <a:rPr sz="1400" dirty="0" err="1">
                <a:solidFill>
                  <a:srgbClr val="475569"/>
                </a:solidFill>
              </a:rPr>
              <a:t>demarcação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2895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6366F1"/>
                </a:solidFill>
              </a:defRPr>
            </a:pPr>
            <a:r>
              <a:rPr sz="1400" dirty="0"/>
              <a:t>SNCR / </a:t>
            </a:r>
            <a:r>
              <a:rPr sz="1400" dirty="0" err="1"/>
              <a:t>Receita</a:t>
            </a:r>
            <a:r>
              <a:rPr sz="1400" dirty="0"/>
              <a:t> Federal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957.183 </a:t>
            </a:r>
            <a:r>
              <a:rPr sz="1400" b="1" dirty="0" err="1">
                <a:solidFill>
                  <a:srgbClr val="0F172A"/>
                </a:solidFill>
              </a:rPr>
              <a:t>Cadastros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Titulares</a:t>
            </a:r>
            <a:r>
              <a:rPr sz="1400" b="1" dirty="0">
                <a:solidFill>
                  <a:srgbClr val="0F172A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Viabilização</a:t>
            </a:r>
            <a:r>
              <a:rPr sz="1400" b="1" dirty="0">
                <a:solidFill>
                  <a:srgbClr val="0F172A"/>
                </a:solidFill>
              </a:rPr>
              <a:t> do </a:t>
            </a:r>
            <a:r>
              <a:rPr sz="1400" b="1" dirty="0" err="1">
                <a:solidFill>
                  <a:srgbClr val="0F172A"/>
                </a:solidFill>
              </a:rPr>
              <a:t>Acesso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Permite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que</a:t>
            </a:r>
            <a:r>
              <a:rPr sz="1400" dirty="0">
                <a:solidFill>
                  <a:srgbClr val="475569"/>
                </a:solidFill>
              </a:rPr>
              <a:t> a equipe de campo </a:t>
            </a:r>
            <a:r>
              <a:rPr sz="1400" dirty="0" err="1">
                <a:solidFill>
                  <a:srgbClr val="475569"/>
                </a:solidFill>
              </a:rPr>
              <a:t>contate</a:t>
            </a:r>
            <a:r>
              <a:rPr sz="1400" dirty="0">
                <a:solidFill>
                  <a:srgbClr val="475569"/>
                </a:solidFill>
              </a:rPr>
              <a:t> o </a:t>
            </a:r>
            <a:r>
              <a:rPr sz="1400" dirty="0" err="1">
                <a:solidFill>
                  <a:srgbClr val="475569"/>
                </a:solidFill>
              </a:rPr>
              <a:t>produtor</a:t>
            </a:r>
            <a:r>
              <a:rPr sz="1400" dirty="0">
                <a:solidFill>
                  <a:srgbClr val="475569"/>
                </a:solidFill>
              </a:rPr>
              <a:t> para </a:t>
            </a:r>
            <a:r>
              <a:rPr sz="1400" dirty="0" err="1">
                <a:solidFill>
                  <a:srgbClr val="475569"/>
                </a:solidFill>
              </a:rPr>
              <a:t>autorização</a:t>
            </a:r>
            <a:r>
              <a:rPr sz="1400" dirty="0">
                <a:solidFill>
                  <a:srgbClr val="475569"/>
                </a:solidFill>
              </a:rPr>
              <a:t> de entrada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fazenda.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Cruzamento</a:t>
            </a:r>
            <a:r>
              <a:rPr sz="1400" b="1" dirty="0">
                <a:solidFill>
                  <a:srgbClr val="0F172A"/>
                </a:solidFill>
              </a:rPr>
              <a:t> Local R*Tree: </a:t>
            </a:r>
            <a:r>
              <a:rPr sz="1400" dirty="0" err="1">
                <a:solidFill>
                  <a:srgbClr val="475569"/>
                </a:solidFill>
              </a:rPr>
              <a:t>Consultas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espaciais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executadas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menos</a:t>
            </a:r>
            <a:r>
              <a:rPr sz="1400" dirty="0">
                <a:solidFill>
                  <a:srgbClr val="475569"/>
                </a:solidFill>
              </a:rPr>
              <a:t> de 5ms no banco SQLite local.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Total </a:t>
            </a:r>
            <a:r>
              <a:rPr sz="1400" b="1" dirty="0" err="1">
                <a:solidFill>
                  <a:srgbClr val="0F172A"/>
                </a:solidFill>
              </a:rPr>
              <a:t>Imunidade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Zero </a:t>
            </a:r>
            <a:r>
              <a:rPr sz="1400" dirty="0" err="1">
                <a:solidFill>
                  <a:srgbClr val="475569"/>
                </a:solidFill>
              </a:rPr>
              <a:t>divergências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cadastrais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atestadas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auditoria contra </a:t>
            </a:r>
            <a:r>
              <a:rPr sz="1400" dirty="0" err="1">
                <a:solidFill>
                  <a:srgbClr val="475569"/>
                </a:solidFill>
              </a:rPr>
              <a:t>os</a:t>
            </a:r>
            <a:r>
              <a:rPr sz="1400" dirty="0">
                <a:solidFill>
                  <a:srgbClr val="475569"/>
                </a:solidFill>
              </a:rPr>
              <a:t> dados </a:t>
            </a:r>
            <a:r>
              <a:rPr sz="1400" dirty="0" err="1">
                <a:solidFill>
                  <a:srgbClr val="475569"/>
                </a:solidFill>
              </a:rPr>
              <a:t>abertos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oficiais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698480" cy="1143000"/>
          </a:xfrm>
          <a:prstGeom prst="roundRect">
            <a:avLst/>
          </a:prstGeom>
          <a:solidFill>
            <a:srgbClr val="ECFDF5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9487" y="5303520"/>
            <a:ext cx="1033272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rPr dirty="0"/>
              <a:t>CONFORMIDADE RIGOROSA COM A LGPD (LEI 13.709/2018, ART. 7º, IV):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sz="1400" dirty="0" err="1"/>
              <a:t>Os</a:t>
            </a:r>
            <a:r>
              <a:rPr sz="1400" dirty="0"/>
              <a:t> dados </a:t>
            </a:r>
            <a:r>
              <a:rPr sz="1400" dirty="0" err="1"/>
              <a:t>fundiários</a:t>
            </a:r>
            <a:r>
              <a:rPr sz="1400" dirty="0"/>
              <a:t> </a:t>
            </a:r>
            <a:r>
              <a:rPr sz="1400" dirty="0" err="1"/>
              <a:t>servem</a:t>
            </a:r>
            <a:r>
              <a:rPr sz="1400" dirty="0"/>
              <a:t> </a:t>
            </a:r>
            <a:r>
              <a:rPr sz="1400" dirty="0" err="1"/>
              <a:t>exclusivamente</a:t>
            </a:r>
            <a:r>
              <a:rPr sz="1400" dirty="0"/>
              <a:t> à </a:t>
            </a:r>
            <a:r>
              <a:rPr sz="1400" dirty="0" err="1"/>
              <a:t>gestão</a:t>
            </a:r>
            <a:r>
              <a:rPr sz="1400" dirty="0"/>
              <a:t> </a:t>
            </a:r>
            <a:r>
              <a:rPr sz="1400" dirty="0" err="1"/>
              <a:t>operacional</a:t>
            </a:r>
            <a:r>
              <a:rPr sz="1400" dirty="0"/>
              <a:t> de </a:t>
            </a:r>
            <a:r>
              <a:rPr sz="1400" dirty="0" err="1"/>
              <a:t>acesso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campo e </a:t>
            </a:r>
            <a:r>
              <a:rPr sz="1400" dirty="0" err="1"/>
              <a:t>nunca</a:t>
            </a:r>
            <a:r>
              <a:rPr sz="1400" dirty="0"/>
              <a:t> </a:t>
            </a:r>
            <a:r>
              <a:rPr sz="1400" dirty="0" err="1"/>
              <a:t>entram</a:t>
            </a:r>
            <a:r>
              <a:rPr sz="1400" dirty="0"/>
              <a:t> </a:t>
            </a:r>
            <a:r>
              <a:rPr sz="1400" dirty="0" err="1"/>
              <a:t>na</a:t>
            </a:r>
            <a:r>
              <a:rPr sz="1400" dirty="0"/>
              <a:t> </a:t>
            </a:r>
            <a:r>
              <a:rPr sz="1400" dirty="0" err="1"/>
              <a:t>matriz</a:t>
            </a:r>
            <a:r>
              <a:rPr sz="1400" dirty="0"/>
              <a:t> de </a:t>
            </a:r>
            <a:r>
              <a:rPr sz="1400" dirty="0" err="1"/>
              <a:t>treino</a:t>
            </a:r>
            <a:r>
              <a:rPr sz="1400" dirty="0"/>
              <a:t> do </a:t>
            </a:r>
            <a:r>
              <a:rPr sz="1400" dirty="0" err="1"/>
              <a:t>XGBoost</a:t>
            </a:r>
            <a:r>
              <a:rPr sz="1400" dirty="0"/>
              <a:t>. </a:t>
            </a:r>
            <a:r>
              <a:rPr sz="1400" dirty="0" err="1"/>
              <a:t>Nomes</a:t>
            </a:r>
            <a:r>
              <a:rPr sz="1400" dirty="0"/>
              <a:t> e </a:t>
            </a:r>
            <a:r>
              <a:rPr sz="1400" dirty="0" err="1"/>
              <a:t>documentos</a:t>
            </a:r>
            <a:r>
              <a:rPr sz="1400" dirty="0"/>
              <a:t> de </a:t>
            </a:r>
            <a:r>
              <a:rPr sz="1400" dirty="0" err="1"/>
              <a:t>titulares</a:t>
            </a:r>
            <a:r>
              <a:rPr sz="1400" dirty="0"/>
              <a:t> </a:t>
            </a:r>
            <a:r>
              <a:rPr sz="1400" dirty="0" err="1"/>
              <a:t>são</a:t>
            </a:r>
            <a:r>
              <a:rPr sz="1400" dirty="0"/>
              <a:t> </a:t>
            </a:r>
            <a:r>
              <a:rPr sz="1400" dirty="0" err="1"/>
              <a:t>mascarados</a:t>
            </a:r>
            <a:r>
              <a:rPr sz="1400" dirty="0"/>
              <a:t> byte a byte pela </a:t>
            </a:r>
            <a:r>
              <a:rPr sz="1400" dirty="0" err="1"/>
              <a:t>máscara</a:t>
            </a:r>
            <a:r>
              <a:rPr sz="1400" dirty="0"/>
              <a:t> </a:t>
            </a:r>
            <a:r>
              <a:rPr sz="1400" dirty="0" err="1"/>
              <a:t>oficial</a:t>
            </a:r>
            <a:r>
              <a:rPr sz="1400" dirty="0"/>
              <a:t> do SNCR. </a:t>
            </a:r>
            <a:r>
              <a:rPr sz="1400" dirty="0" err="1"/>
              <a:t>Rotas</a:t>
            </a:r>
            <a:r>
              <a:rPr sz="1400" dirty="0"/>
              <a:t> </a:t>
            </a:r>
            <a:r>
              <a:rPr sz="1400" dirty="0" err="1"/>
              <a:t>fundiárias</a:t>
            </a:r>
            <a:r>
              <a:rPr sz="1400" dirty="0"/>
              <a:t> e tokens </a:t>
            </a:r>
            <a:r>
              <a:rPr sz="1400" dirty="0" err="1"/>
              <a:t>transitam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</a:t>
            </a:r>
            <a:r>
              <a:rPr sz="1400" dirty="0" err="1"/>
              <a:t>sessões</a:t>
            </a:r>
            <a:r>
              <a:rPr sz="1400" dirty="0"/>
              <a:t> </a:t>
            </a:r>
            <a:r>
              <a:rPr sz="1400" dirty="0" err="1"/>
              <a:t>efêmeras</a:t>
            </a:r>
            <a:r>
              <a:rPr sz="1400" dirty="0"/>
              <a:t> no </a:t>
            </a:r>
            <a:r>
              <a:rPr sz="1400" dirty="0" err="1"/>
              <a:t>servidor</a:t>
            </a:r>
            <a:r>
              <a:rPr sz="1400" dirty="0"/>
              <a:t>, com </a:t>
            </a:r>
            <a:r>
              <a:rPr sz="1400" dirty="0" err="1"/>
              <a:t>recusa</a:t>
            </a:r>
            <a:r>
              <a:rPr sz="1400" dirty="0"/>
              <a:t> </a:t>
            </a:r>
            <a:r>
              <a:rPr sz="1400" dirty="0" err="1"/>
              <a:t>automática</a:t>
            </a:r>
            <a:r>
              <a:rPr sz="1400" dirty="0"/>
              <a:t> a </a:t>
            </a:r>
            <a:r>
              <a:rPr sz="1400" dirty="0" err="1"/>
              <a:t>conexões</a:t>
            </a:r>
            <a:r>
              <a:rPr sz="1400" dirty="0"/>
              <a:t> </a:t>
            </a:r>
            <a:r>
              <a:rPr sz="1400" dirty="0" err="1"/>
              <a:t>externas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CAMPANHAS DE ROTULAGEM &amp; CONCORDÂNCIA HUMANA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Protocolo de Rotulagem Cega: Controle de Viés &amp; Validação Estatística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148840" cy="3921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rPr sz="1400" dirty="0"/>
              <a:t>Fase A: </a:t>
            </a:r>
            <a:r>
              <a:rPr sz="1400" dirty="0" err="1"/>
              <a:t>Interpretação</a:t>
            </a:r>
            <a:r>
              <a:rPr sz="1400" dirty="0"/>
              <a:t> Visual </a:t>
            </a:r>
            <a:r>
              <a:rPr sz="1400" dirty="0" err="1"/>
              <a:t>Cega</a:t>
            </a:r>
            <a:endParaRPr sz="1400" dirty="0"/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Imagens </a:t>
            </a:r>
            <a:r>
              <a:rPr sz="1400" b="1" dirty="0" err="1">
                <a:solidFill>
                  <a:srgbClr val="0F172A"/>
                </a:solidFill>
              </a:rPr>
              <a:t>PlanetScope</a:t>
            </a:r>
            <a:r>
              <a:rPr sz="1400" b="1" dirty="0">
                <a:solidFill>
                  <a:srgbClr val="0F172A"/>
                </a:solidFill>
              </a:rPr>
              <a:t>/VHR: </a:t>
            </a:r>
            <a:r>
              <a:rPr sz="1400" dirty="0" err="1">
                <a:solidFill>
                  <a:srgbClr val="475569"/>
                </a:solidFill>
              </a:rPr>
              <a:t>Inspeção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resolução</a:t>
            </a:r>
            <a:r>
              <a:rPr sz="1400" dirty="0">
                <a:solidFill>
                  <a:srgbClr val="475569"/>
                </a:solidFill>
              </a:rPr>
              <a:t> de 3m/30cm com data de </a:t>
            </a:r>
            <a:r>
              <a:rPr sz="1400" dirty="0" err="1">
                <a:solidFill>
                  <a:srgbClr val="475569"/>
                </a:solidFill>
              </a:rPr>
              <a:t>aquisição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visível</a:t>
            </a:r>
            <a:r>
              <a:rPr sz="1400" dirty="0">
                <a:solidFill>
                  <a:srgbClr val="475569"/>
                </a:solidFill>
              </a:rPr>
              <a:t> no visor.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Isolamento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Cego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O </a:t>
            </a:r>
            <a:r>
              <a:rPr sz="1400" dirty="0" err="1">
                <a:solidFill>
                  <a:srgbClr val="475569"/>
                </a:solidFill>
              </a:rPr>
              <a:t>intérprete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desconhece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predições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modelo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fatores</a:t>
            </a:r>
            <a:r>
              <a:rPr sz="1400" dirty="0">
                <a:solidFill>
                  <a:srgbClr val="475569"/>
                </a:solidFill>
              </a:rPr>
              <a:t> RUSLE, </a:t>
            </a:r>
            <a:r>
              <a:rPr sz="1400" dirty="0" err="1">
                <a:solidFill>
                  <a:srgbClr val="475569"/>
                </a:solidFill>
              </a:rPr>
              <a:t>declividade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estrato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Critério</a:t>
            </a:r>
            <a:r>
              <a:rPr sz="1400" b="1" dirty="0">
                <a:solidFill>
                  <a:srgbClr val="0F172A"/>
                </a:solidFill>
              </a:rPr>
              <a:t> Padronizado: </a:t>
            </a:r>
            <a:r>
              <a:rPr sz="1400" dirty="0" err="1">
                <a:solidFill>
                  <a:srgbClr val="475569"/>
                </a:solidFill>
              </a:rPr>
              <a:t>Avaliação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cobertura</a:t>
            </a:r>
            <a:r>
              <a:rPr sz="1400" dirty="0">
                <a:solidFill>
                  <a:srgbClr val="475569"/>
                </a:solidFill>
              </a:rPr>
              <a:t> vegetal, </a:t>
            </a:r>
            <a:r>
              <a:rPr sz="1400" dirty="0" err="1">
                <a:solidFill>
                  <a:srgbClr val="475569"/>
                </a:solidFill>
              </a:rPr>
              <a:t>decapitação</a:t>
            </a:r>
            <a:r>
              <a:rPr sz="1400" dirty="0">
                <a:solidFill>
                  <a:srgbClr val="475569"/>
                </a:solidFill>
              </a:rPr>
              <a:t> de solo, </a:t>
            </a:r>
            <a:r>
              <a:rPr sz="1400" dirty="0" err="1">
                <a:solidFill>
                  <a:srgbClr val="475569"/>
                </a:solidFill>
              </a:rPr>
              <a:t>carreadores</a:t>
            </a:r>
            <a:r>
              <a:rPr sz="1400" dirty="0">
                <a:solidFill>
                  <a:srgbClr val="475569"/>
                </a:solidFill>
              </a:rPr>
              <a:t> e </a:t>
            </a:r>
            <a:r>
              <a:rPr sz="1400" dirty="0" err="1">
                <a:solidFill>
                  <a:srgbClr val="475569"/>
                </a:solidFill>
              </a:rPr>
              <a:t>terraços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2148840" cy="4137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rPr sz="1400" dirty="0"/>
              <a:t>Fase B: </a:t>
            </a:r>
            <a:r>
              <a:rPr sz="1400" dirty="0" err="1"/>
              <a:t>Validação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Campo (Kobo)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Subamostra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Presencial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Equipe visita ~20% dos </a:t>
            </a:r>
            <a:r>
              <a:rPr sz="1400" dirty="0" err="1">
                <a:solidFill>
                  <a:srgbClr val="475569"/>
                </a:solidFill>
              </a:rPr>
              <a:t>pontos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estratificados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munida</a:t>
            </a:r>
            <a:r>
              <a:rPr sz="1400" dirty="0">
                <a:solidFill>
                  <a:srgbClr val="475569"/>
                </a:solidFill>
              </a:rPr>
              <a:t> de GNSS RTK e </a:t>
            </a:r>
            <a:r>
              <a:rPr sz="1400" dirty="0" err="1">
                <a:solidFill>
                  <a:srgbClr val="475569"/>
                </a:solidFill>
              </a:rPr>
              <a:t>KoboToolbox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Cegueira</a:t>
            </a:r>
            <a:r>
              <a:rPr sz="1400" b="1" dirty="0">
                <a:solidFill>
                  <a:srgbClr val="0F172A"/>
                </a:solidFill>
              </a:rPr>
              <a:t> Cruzada: </a:t>
            </a:r>
            <a:r>
              <a:rPr sz="1400" dirty="0">
                <a:solidFill>
                  <a:srgbClr val="475569"/>
                </a:solidFill>
              </a:rPr>
              <a:t>A equipe de campo </a:t>
            </a:r>
            <a:r>
              <a:rPr sz="1400" dirty="0" err="1">
                <a:solidFill>
                  <a:srgbClr val="475569"/>
                </a:solidFill>
              </a:rPr>
              <a:t>desconhece</a:t>
            </a:r>
            <a:r>
              <a:rPr sz="1400" dirty="0">
                <a:solidFill>
                  <a:srgbClr val="475569"/>
                </a:solidFill>
              </a:rPr>
              <a:t> o </a:t>
            </a:r>
            <a:r>
              <a:rPr sz="1400" dirty="0" err="1">
                <a:solidFill>
                  <a:srgbClr val="475569"/>
                </a:solidFill>
              </a:rPr>
              <a:t>rótulo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atribuído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Fase A, </a:t>
            </a:r>
            <a:r>
              <a:rPr sz="1400" dirty="0" err="1">
                <a:solidFill>
                  <a:srgbClr val="475569"/>
                </a:solidFill>
              </a:rPr>
              <a:t>medindo</a:t>
            </a:r>
            <a:r>
              <a:rPr sz="1400" dirty="0">
                <a:solidFill>
                  <a:srgbClr val="475569"/>
                </a:solidFill>
              </a:rPr>
              <a:t> a taxa de </a:t>
            </a:r>
            <a:r>
              <a:rPr sz="1400" dirty="0" err="1">
                <a:solidFill>
                  <a:srgbClr val="475569"/>
                </a:solidFill>
              </a:rPr>
              <a:t>erro</a:t>
            </a:r>
            <a:r>
              <a:rPr sz="1400" dirty="0">
                <a:solidFill>
                  <a:srgbClr val="475569"/>
                </a:solidFill>
              </a:rPr>
              <a:t> humana.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Marcadores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Biofísicos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Avaliação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milimétrica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pedestais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erosão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descalçamento</a:t>
            </a:r>
            <a:r>
              <a:rPr sz="1400" dirty="0">
                <a:solidFill>
                  <a:srgbClr val="475569"/>
                </a:solidFill>
              </a:rPr>
              <a:t> radicular e </a:t>
            </a:r>
            <a:r>
              <a:rPr sz="1400" dirty="0" err="1">
                <a:solidFill>
                  <a:srgbClr val="475569"/>
                </a:solidFill>
              </a:rPr>
              <a:t>crosta</a:t>
            </a:r>
            <a:r>
              <a:rPr sz="98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2148840" cy="3921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rPr sz="1400" dirty="0"/>
              <a:t>Fase C: </a:t>
            </a:r>
            <a:r>
              <a:rPr sz="1400" dirty="0" err="1"/>
              <a:t>Concordância</a:t>
            </a:r>
            <a:r>
              <a:rPr sz="1400" dirty="0"/>
              <a:t> Kappa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F172A"/>
                </a:solidFill>
              </a:rPr>
              <a:t>Kappa de Cohen (1960): </a:t>
            </a:r>
            <a:r>
              <a:rPr sz="1400" dirty="0" err="1">
                <a:solidFill>
                  <a:srgbClr val="475569"/>
                </a:solidFill>
              </a:rPr>
              <a:t>Cálculo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rigoroso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concordância</a:t>
            </a:r>
            <a:r>
              <a:rPr sz="1400" dirty="0">
                <a:solidFill>
                  <a:srgbClr val="475569"/>
                </a:solidFill>
              </a:rPr>
              <a:t> inter-</a:t>
            </a:r>
            <a:r>
              <a:rPr sz="1400" dirty="0" err="1">
                <a:solidFill>
                  <a:srgbClr val="475569"/>
                </a:solidFill>
              </a:rPr>
              <a:t>observador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ajustado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acaso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Alerta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Bloqueante</a:t>
            </a:r>
            <a:r>
              <a:rPr sz="1400" b="1" dirty="0">
                <a:solidFill>
                  <a:srgbClr val="0F172A"/>
                </a:solidFill>
              </a:rPr>
              <a:t> (κ &lt; 0,60): </a:t>
            </a:r>
            <a:r>
              <a:rPr sz="1400" dirty="0">
                <a:solidFill>
                  <a:srgbClr val="475569"/>
                </a:solidFill>
              </a:rPr>
              <a:t>Se a </a:t>
            </a:r>
            <a:r>
              <a:rPr sz="1400" dirty="0" err="1">
                <a:solidFill>
                  <a:srgbClr val="475569"/>
                </a:solidFill>
              </a:rPr>
              <a:t>concordância</a:t>
            </a:r>
            <a:r>
              <a:rPr sz="1400" dirty="0">
                <a:solidFill>
                  <a:srgbClr val="475569"/>
                </a:solidFill>
              </a:rPr>
              <a:t> for inferior a </a:t>
            </a:r>
            <a:r>
              <a:rPr sz="1400" dirty="0" err="1">
                <a:solidFill>
                  <a:srgbClr val="475569"/>
                </a:solidFill>
              </a:rPr>
              <a:t>substancial</a:t>
            </a:r>
            <a:r>
              <a:rPr sz="1400" dirty="0">
                <a:solidFill>
                  <a:srgbClr val="475569"/>
                </a:solidFill>
              </a:rPr>
              <a:t> (Landis &amp; Koch), a </a:t>
            </a:r>
            <a:r>
              <a:rPr sz="1400" dirty="0" err="1">
                <a:solidFill>
                  <a:srgbClr val="475569"/>
                </a:solidFill>
              </a:rPr>
              <a:t>matriz</a:t>
            </a:r>
            <a:r>
              <a:rPr sz="1400" dirty="0">
                <a:solidFill>
                  <a:srgbClr val="475569"/>
                </a:solidFill>
              </a:rPr>
              <a:t> é </a:t>
            </a:r>
            <a:r>
              <a:rPr sz="1400" dirty="0" err="1">
                <a:solidFill>
                  <a:srgbClr val="475569"/>
                </a:solidFill>
              </a:rPr>
              <a:t>travada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Resolução</a:t>
            </a:r>
            <a:r>
              <a:rPr sz="1400" b="1" dirty="0">
                <a:solidFill>
                  <a:srgbClr val="0F172A"/>
                </a:solidFill>
              </a:rPr>
              <a:t> de </a:t>
            </a:r>
            <a:r>
              <a:rPr sz="1400" b="1" dirty="0" err="1">
                <a:solidFill>
                  <a:srgbClr val="0F172A"/>
                </a:solidFill>
              </a:rPr>
              <a:t>Divergência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Pontos </a:t>
            </a:r>
            <a:r>
              <a:rPr sz="1400" dirty="0" err="1">
                <a:solidFill>
                  <a:srgbClr val="475569"/>
                </a:solidFill>
              </a:rPr>
              <a:t>divergentes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arbitrados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perito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sênior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descartados</a:t>
            </a:r>
            <a:r>
              <a:rPr sz="1400" dirty="0">
                <a:solidFill>
                  <a:srgbClr val="475569"/>
                </a:solidFill>
              </a:rPr>
              <a:t> da </a:t>
            </a:r>
            <a:r>
              <a:rPr sz="1400" dirty="0" err="1">
                <a:solidFill>
                  <a:srgbClr val="475569"/>
                </a:solidFill>
              </a:rPr>
              <a:t>matriz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1600200"/>
            <a:ext cx="2148840" cy="3921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rPr sz="1400" dirty="0"/>
              <a:t>Fase D: Drone Held-Out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Ortomosaicos</a:t>
            </a:r>
            <a:r>
              <a:rPr sz="1400" b="1" dirty="0">
                <a:solidFill>
                  <a:srgbClr val="0F172A"/>
                </a:solidFill>
              </a:rPr>
              <a:t> de VANT: </a:t>
            </a:r>
            <a:r>
              <a:rPr sz="1400" dirty="0">
                <a:solidFill>
                  <a:srgbClr val="475569"/>
                </a:solidFill>
              </a:rPr>
              <a:t>Voo de drone </a:t>
            </a:r>
            <a:r>
              <a:rPr sz="1400" dirty="0" err="1">
                <a:solidFill>
                  <a:srgbClr val="475569"/>
                </a:solidFill>
              </a:rPr>
              <a:t>gerando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modelos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tridimensionais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centimétricos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sítios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padrão-ouro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Segregação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Obrigatória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As </a:t>
            </a:r>
            <a:r>
              <a:rPr sz="1400" dirty="0" err="1">
                <a:solidFill>
                  <a:srgbClr val="475569"/>
                </a:solidFill>
              </a:rPr>
              <a:t>amostras</a:t>
            </a:r>
            <a:r>
              <a:rPr sz="1400" dirty="0">
                <a:solidFill>
                  <a:srgbClr val="475569"/>
                </a:solidFill>
              </a:rPr>
              <a:t> de drone </a:t>
            </a:r>
            <a:r>
              <a:rPr sz="1400" dirty="0" err="1">
                <a:solidFill>
                  <a:srgbClr val="475569"/>
                </a:solidFill>
              </a:rPr>
              <a:t>são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mantidas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compulsoriamente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como</a:t>
            </a:r>
            <a:r>
              <a:rPr sz="1400" dirty="0">
                <a:solidFill>
                  <a:srgbClr val="475569"/>
                </a:solidFill>
              </a:rPr>
              <a:t> conjunto de teste (held-out).</a:t>
            </a:r>
          </a:p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0F172A"/>
                </a:solidFill>
              </a:rPr>
              <a:t>Testagem</a:t>
            </a:r>
            <a:r>
              <a:rPr sz="1400" b="1" dirty="0">
                <a:solidFill>
                  <a:srgbClr val="0F172A"/>
                </a:solidFill>
              </a:rPr>
              <a:t> Independente: </a:t>
            </a:r>
            <a:r>
              <a:rPr sz="1400" dirty="0">
                <a:solidFill>
                  <a:srgbClr val="475569"/>
                </a:solidFill>
              </a:rPr>
              <a:t>Nunca </a:t>
            </a:r>
            <a:r>
              <a:rPr sz="1400" dirty="0" err="1">
                <a:solidFill>
                  <a:srgbClr val="475569"/>
                </a:solidFill>
              </a:rPr>
              <a:t>entram</a:t>
            </a:r>
            <a:r>
              <a:rPr sz="1400" dirty="0">
                <a:solidFill>
                  <a:srgbClr val="475569"/>
                </a:solidFill>
              </a:rPr>
              <a:t> no </a:t>
            </a:r>
            <a:r>
              <a:rPr sz="1400" dirty="0" err="1">
                <a:solidFill>
                  <a:srgbClr val="475569"/>
                </a:solidFill>
              </a:rPr>
              <a:t>treino</a:t>
            </a:r>
            <a:r>
              <a:rPr sz="1400" dirty="0">
                <a:solidFill>
                  <a:srgbClr val="475569"/>
                </a:solidFill>
              </a:rPr>
              <a:t> do </a:t>
            </a:r>
            <a:r>
              <a:rPr sz="1400" dirty="0" err="1">
                <a:solidFill>
                  <a:srgbClr val="475569"/>
                </a:solidFill>
              </a:rPr>
              <a:t>XGBoost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garantindo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avaliação</a:t>
            </a:r>
            <a:r>
              <a:rPr sz="1400" dirty="0">
                <a:solidFill>
                  <a:srgbClr val="475569"/>
                </a:solidFill>
              </a:rPr>
              <a:t> final </a:t>
            </a:r>
            <a:r>
              <a:rPr sz="1400" dirty="0" err="1">
                <a:solidFill>
                  <a:srgbClr val="475569"/>
                </a:solidFill>
              </a:rPr>
              <a:t>não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contaminada</a:t>
            </a:r>
            <a:r>
              <a:rPr sz="140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APRENDIZADO DE MÁQUINA &amp; EXPLICABILIDADE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Modelagem Preditiva: XGBoost com Validação Cruzada Espacial LOCO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44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rPr sz="1600" dirty="0"/>
              <a:t>Por </a:t>
            </a:r>
            <a:r>
              <a:rPr sz="1600" dirty="0" err="1"/>
              <a:t>que</a:t>
            </a:r>
            <a:r>
              <a:rPr sz="1600" dirty="0"/>
              <a:t> LOCO e </a:t>
            </a:r>
            <a:r>
              <a:rPr sz="1600" dirty="0" err="1"/>
              <a:t>não</a:t>
            </a:r>
            <a:r>
              <a:rPr sz="1600" dirty="0"/>
              <a:t> K-Fold </a:t>
            </a:r>
            <a:r>
              <a:rPr sz="1600" dirty="0" err="1"/>
              <a:t>Tradicional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Autocorrelação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Espacial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Amostras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geoespaciais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próximas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violam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premissa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i.i.d.</a:t>
            </a:r>
            <a:r>
              <a:rPr sz="1600" dirty="0">
                <a:solidFill>
                  <a:srgbClr val="475569"/>
                </a:solidFill>
              </a:rPr>
              <a:t> O K-Fold </a:t>
            </a:r>
            <a:r>
              <a:rPr sz="1600" dirty="0" err="1">
                <a:solidFill>
                  <a:srgbClr val="475569"/>
                </a:solidFill>
              </a:rPr>
              <a:t>comum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mistura</a:t>
            </a:r>
            <a:r>
              <a:rPr sz="1600" dirty="0">
                <a:solidFill>
                  <a:srgbClr val="475569"/>
                </a:solidFill>
              </a:rPr>
              <a:t> pixels </a:t>
            </a:r>
            <a:r>
              <a:rPr sz="1600" dirty="0" err="1">
                <a:solidFill>
                  <a:srgbClr val="475569"/>
                </a:solidFill>
              </a:rPr>
              <a:t>vizinhos</a:t>
            </a:r>
            <a:r>
              <a:rPr sz="1600" dirty="0">
                <a:solidFill>
                  <a:srgbClr val="475569"/>
                </a:solidFill>
              </a:rPr>
              <a:t>, </a:t>
            </a:r>
            <a:r>
              <a:rPr sz="1600" dirty="0" err="1">
                <a:solidFill>
                  <a:srgbClr val="475569"/>
                </a:solidFill>
              </a:rPr>
              <a:t>inflacionando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acurácia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Leave-One-Catchment-Out: </a:t>
            </a:r>
            <a:r>
              <a:rPr sz="1600" dirty="0">
                <a:solidFill>
                  <a:srgbClr val="475569"/>
                </a:solidFill>
              </a:rPr>
              <a:t>O </a:t>
            </a:r>
            <a:r>
              <a:rPr sz="1600" dirty="0" err="1">
                <a:solidFill>
                  <a:srgbClr val="475569"/>
                </a:solidFill>
              </a:rPr>
              <a:t>algoritmo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treina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em</a:t>
            </a:r>
            <a:r>
              <a:rPr sz="1600" dirty="0">
                <a:solidFill>
                  <a:srgbClr val="475569"/>
                </a:solidFill>
              </a:rPr>
              <a:t> 4 </a:t>
            </a:r>
            <a:r>
              <a:rPr sz="1600" dirty="0" err="1">
                <a:solidFill>
                  <a:srgbClr val="475569"/>
                </a:solidFill>
              </a:rPr>
              <a:t>macrobacias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hidrográficas</a:t>
            </a:r>
            <a:r>
              <a:rPr sz="1600" dirty="0">
                <a:solidFill>
                  <a:srgbClr val="475569"/>
                </a:solidFill>
              </a:rPr>
              <a:t> do Paraná e é </a:t>
            </a:r>
            <a:r>
              <a:rPr sz="1600" dirty="0" err="1">
                <a:solidFill>
                  <a:srgbClr val="475569"/>
                </a:solidFill>
              </a:rPr>
              <a:t>testado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na</a:t>
            </a:r>
            <a:r>
              <a:rPr sz="1600" dirty="0">
                <a:solidFill>
                  <a:srgbClr val="475569"/>
                </a:solidFill>
              </a:rPr>
              <a:t> 5ª </a:t>
            </a:r>
            <a:r>
              <a:rPr sz="1600" dirty="0" err="1">
                <a:solidFill>
                  <a:srgbClr val="475569"/>
                </a:solidFill>
              </a:rPr>
              <a:t>bacia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inteiramente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omitida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Capacidade</a:t>
            </a:r>
            <a:r>
              <a:rPr sz="1600" b="1" dirty="0">
                <a:solidFill>
                  <a:srgbClr val="0F172A"/>
                </a:solidFill>
              </a:rPr>
              <a:t> de </a:t>
            </a:r>
            <a:r>
              <a:rPr sz="1600" b="1" dirty="0" err="1">
                <a:solidFill>
                  <a:srgbClr val="0F172A"/>
                </a:solidFill>
              </a:rPr>
              <a:t>Generalização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>
                <a:solidFill>
                  <a:srgbClr val="475569"/>
                </a:solidFill>
              </a:rPr>
              <a:t>Mede a </a:t>
            </a:r>
            <a:r>
              <a:rPr sz="1600" dirty="0" err="1">
                <a:solidFill>
                  <a:srgbClr val="475569"/>
                </a:solidFill>
              </a:rPr>
              <a:t>eficácia</a:t>
            </a:r>
            <a:r>
              <a:rPr sz="1600" dirty="0">
                <a:solidFill>
                  <a:srgbClr val="475569"/>
                </a:solidFill>
              </a:rPr>
              <a:t> real do </a:t>
            </a:r>
            <a:r>
              <a:rPr sz="1600" dirty="0" err="1">
                <a:solidFill>
                  <a:srgbClr val="475569"/>
                </a:solidFill>
              </a:rPr>
              <a:t>método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extrapolar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predição</a:t>
            </a:r>
            <a:r>
              <a:rPr sz="1600" dirty="0">
                <a:solidFill>
                  <a:srgbClr val="475569"/>
                </a:solidFill>
              </a:rPr>
              <a:t> para </a:t>
            </a:r>
            <a:r>
              <a:rPr sz="1600" dirty="0" err="1">
                <a:solidFill>
                  <a:srgbClr val="475569"/>
                </a:solidFill>
              </a:rPr>
              <a:t>novos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territórios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vazamento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vizinhança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rPr sz="1600" dirty="0" err="1"/>
              <a:t>Explicabilidade</a:t>
            </a:r>
            <a:r>
              <a:rPr sz="1600" dirty="0"/>
              <a:t> </a:t>
            </a:r>
            <a:r>
              <a:rPr sz="1600" dirty="0" err="1"/>
              <a:t>Física</a:t>
            </a:r>
            <a:r>
              <a:rPr sz="1600" dirty="0"/>
              <a:t> via SHAP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Valores de Shapley: </a:t>
            </a:r>
            <a:r>
              <a:rPr sz="1600" dirty="0">
                <a:solidFill>
                  <a:srgbClr val="475569"/>
                </a:solidFill>
              </a:rPr>
              <a:t>Mede a </a:t>
            </a:r>
            <a:r>
              <a:rPr sz="1600" dirty="0" err="1">
                <a:solidFill>
                  <a:srgbClr val="475569"/>
                </a:solidFill>
              </a:rPr>
              <a:t>contribuição</a:t>
            </a:r>
            <a:r>
              <a:rPr sz="1600" dirty="0">
                <a:solidFill>
                  <a:srgbClr val="475569"/>
                </a:solidFill>
              </a:rPr>
              <a:t> marginal de </a:t>
            </a:r>
            <a:r>
              <a:rPr sz="1600" dirty="0" err="1">
                <a:solidFill>
                  <a:srgbClr val="475569"/>
                </a:solidFill>
              </a:rPr>
              <a:t>cada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variável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preditora</a:t>
            </a:r>
            <a:r>
              <a:rPr sz="1600" dirty="0">
                <a:solidFill>
                  <a:srgbClr val="475569"/>
                </a:solidFill>
              </a:rPr>
              <a:t> (NDVI, BSI, </a:t>
            </a:r>
            <a:r>
              <a:rPr sz="1600" dirty="0" err="1">
                <a:solidFill>
                  <a:srgbClr val="475569"/>
                </a:solidFill>
              </a:rPr>
              <a:t>Declividade</a:t>
            </a:r>
            <a:r>
              <a:rPr sz="1600" dirty="0">
                <a:solidFill>
                  <a:srgbClr val="475569"/>
                </a:solidFill>
              </a:rPr>
              <a:t>, K, R) </a:t>
            </a:r>
            <a:r>
              <a:rPr sz="1600" dirty="0" err="1">
                <a:solidFill>
                  <a:srgbClr val="475569"/>
                </a:solidFill>
              </a:rPr>
              <a:t>na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decisão</a:t>
            </a:r>
            <a:r>
              <a:rPr sz="1600" dirty="0">
                <a:solidFill>
                  <a:srgbClr val="475569"/>
                </a:solidFill>
              </a:rPr>
              <a:t> do </a:t>
            </a:r>
            <a:r>
              <a:rPr sz="1600" dirty="0" err="1">
                <a:solidFill>
                  <a:srgbClr val="475569"/>
                </a:solidFill>
              </a:rPr>
              <a:t>modelo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Auditoria de </a:t>
            </a:r>
            <a:r>
              <a:rPr sz="1600" b="1" dirty="0" err="1">
                <a:solidFill>
                  <a:srgbClr val="0F172A"/>
                </a:solidFill>
              </a:rPr>
              <a:t>Coerência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Garante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que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erosão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seja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atribuída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processos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físicos</a:t>
            </a:r>
            <a:r>
              <a:rPr sz="1600" dirty="0">
                <a:solidFill>
                  <a:srgbClr val="475569"/>
                </a:solidFill>
              </a:rPr>
              <a:t> reais (</a:t>
            </a:r>
            <a:r>
              <a:rPr sz="1600" dirty="0" err="1">
                <a:solidFill>
                  <a:srgbClr val="475569"/>
                </a:solidFill>
              </a:rPr>
              <a:t>alta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declividade</a:t>
            </a:r>
            <a:r>
              <a:rPr sz="1600" dirty="0">
                <a:solidFill>
                  <a:srgbClr val="475569"/>
                </a:solidFill>
              </a:rPr>
              <a:t> + solo </a:t>
            </a:r>
            <a:r>
              <a:rPr sz="1600" dirty="0" err="1">
                <a:solidFill>
                  <a:srgbClr val="475569"/>
                </a:solidFill>
              </a:rPr>
              <a:t>exposto</a:t>
            </a:r>
            <a:r>
              <a:rPr sz="1600" dirty="0">
                <a:solidFill>
                  <a:srgbClr val="475569"/>
                </a:solidFill>
              </a:rPr>
              <a:t>), e </a:t>
            </a:r>
            <a:r>
              <a:rPr sz="1600" dirty="0" err="1">
                <a:solidFill>
                  <a:srgbClr val="475569"/>
                </a:solidFill>
              </a:rPr>
              <a:t>não</a:t>
            </a:r>
            <a:r>
              <a:rPr sz="1600" dirty="0">
                <a:solidFill>
                  <a:srgbClr val="475569"/>
                </a:solidFill>
              </a:rPr>
              <a:t> a </a:t>
            </a:r>
            <a:r>
              <a:rPr sz="1600" dirty="0" err="1">
                <a:solidFill>
                  <a:srgbClr val="475569"/>
                </a:solidFill>
              </a:rPr>
              <a:t>ruídos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estatísticos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Entregáveis</a:t>
            </a:r>
            <a:r>
              <a:rPr sz="1600" b="1" dirty="0">
                <a:solidFill>
                  <a:srgbClr val="0F172A"/>
                </a:solidFill>
              </a:rPr>
              <a:t> da </a:t>
            </a:r>
            <a:r>
              <a:rPr sz="1600" b="1" dirty="0" err="1">
                <a:solidFill>
                  <a:srgbClr val="0F172A"/>
                </a:solidFill>
              </a:rPr>
              <a:t>Dissertação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 err="1">
                <a:solidFill>
                  <a:srgbClr val="475569"/>
                </a:solidFill>
              </a:rPr>
              <a:t>Gráficos</a:t>
            </a:r>
            <a:r>
              <a:rPr sz="1600" dirty="0">
                <a:solidFill>
                  <a:srgbClr val="475569"/>
                </a:solidFill>
              </a:rPr>
              <a:t> SHAP Summary (</a:t>
            </a:r>
            <a:r>
              <a:rPr sz="1600" dirty="0" err="1">
                <a:solidFill>
                  <a:srgbClr val="475569"/>
                </a:solidFill>
              </a:rPr>
              <a:t>Beeswarm</a:t>
            </a:r>
            <a:r>
              <a:rPr sz="1600" dirty="0">
                <a:solidFill>
                  <a:srgbClr val="475569"/>
                </a:solidFill>
              </a:rPr>
              <a:t> Plot) e </a:t>
            </a:r>
            <a:r>
              <a:rPr sz="1600" dirty="0" err="1">
                <a:solidFill>
                  <a:srgbClr val="475569"/>
                </a:solidFill>
              </a:rPr>
              <a:t>gráficos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dependência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parcial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revelando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limiares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críticos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952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rPr sz="1600" dirty="0" err="1"/>
              <a:t>Métricas</a:t>
            </a:r>
            <a:r>
              <a:rPr sz="1600" dirty="0"/>
              <a:t> </a:t>
            </a:r>
            <a:r>
              <a:rPr sz="1600" dirty="0" err="1"/>
              <a:t>Científicas</a:t>
            </a:r>
            <a:r>
              <a:rPr sz="1600" dirty="0"/>
              <a:t> Reais </a:t>
            </a:r>
            <a:r>
              <a:rPr sz="1600" dirty="0" err="1"/>
              <a:t>Esperadas</a:t>
            </a:r>
            <a:endParaRPr sz="1600" dirty="0"/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Acurácia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Realista</a:t>
            </a:r>
            <a:r>
              <a:rPr sz="1600" b="1" dirty="0">
                <a:solidFill>
                  <a:srgbClr val="0F172A"/>
                </a:solidFill>
              </a:rPr>
              <a:t> (84% a 93%): </a:t>
            </a:r>
            <a:r>
              <a:rPr sz="1600" dirty="0">
                <a:solidFill>
                  <a:srgbClr val="475569"/>
                </a:solidFill>
              </a:rPr>
              <a:t>Ambientes </a:t>
            </a:r>
            <a:r>
              <a:rPr sz="1600" dirty="0" err="1">
                <a:solidFill>
                  <a:srgbClr val="475569"/>
                </a:solidFill>
              </a:rPr>
              <a:t>naturais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sensores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orbitais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possuem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ruídos</a:t>
            </a:r>
            <a:r>
              <a:rPr sz="1600" dirty="0">
                <a:solidFill>
                  <a:srgbClr val="475569"/>
                </a:solidFill>
              </a:rPr>
              <a:t>. </a:t>
            </a:r>
            <a:r>
              <a:rPr sz="1600" dirty="0" err="1">
                <a:solidFill>
                  <a:srgbClr val="475569"/>
                </a:solidFill>
              </a:rPr>
              <a:t>Resultados</a:t>
            </a:r>
            <a:r>
              <a:rPr sz="1600" dirty="0">
                <a:solidFill>
                  <a:srgbClr val="475569"/>
                </a:solidFill>
              </a:rPr>
              <a:t> de 100% </a:t>
            </a:r>
            <a:r>
              <a:rPr sz="1600" dirty="0" err="1">
                <a:solidFill>
                  <a:srgbClr val="475569"/>
                </a:solidFill>
              </a:rPr>
              <a:t>decorrem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vícios</a:t>
            </a:r>
            <a:r>
              <a:rPr sz="1600" dirty="0">
                <a:solidFill>
                  <a:srgbClr val="475569"/>
                </a:solidFill>
              </a:rPr>
              <a:t> e </a:t>
            </a:r>
            <a:r>
              <a:rPr sz="1600" dirty="0" err="1">
                <a:solidFill>
                  <a:srgbClr val="475569"/>
                </a:solidFill>
              </a:rPr>
              <a:t>foram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barrados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</a:rPr>
              <a:t>ROC-AUC </a:t>
            </a:r>
            <a:r>
              <a:rPr sz="1600" b="1" dirty="0" err="1">
                <a:solidFill>
                  <a:srgbClr val="0F172A"/>
                </a:solidFill>
              </a:rPr>
              <a:t>Esperada</a:t>
            </a:r>
            <a:r>
              <a:rPr sz="1600" b="1" dirty="0">
                <a:solidFill>
                  <a:srgbClr val="0F172A"/>
                </a:solidFill>
              </a:rPr>
              <a:t> (0,88 a 0,95): </a:t>
            </a:r>
            <a:r>
              <a:rPr sz="1600" dirty="0" err="1">
                <a:solidFill>
                  <a:srgbClr val="475569"/>
                </a:solidFill>
              </a:rPr>
              <a:t>Desempenho</a:t>
            </a:r>
            <a:r>
              <a:rPr sz="1600" dirty="0">
                <a:solidFill>
                  <a:srgbClr val="475569"/>
                </a:solidFill>
              </a:rPr>
              <a:t> de </a:t>
            </a:r>
            <a:r>
              <a:rPr sz="1600" dirty="0" err="1">
                <a:solidFill>
                  <a:srgbClr val="475569"/>
                </a:solidFill>
              </a:rPr>
              <a:t>alta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separabilidade</a:t>
            </a:r>
            <a:r>
              <a:rPr sz="1600" dirty="0">
                <a:solidFill>
                  <a:srgbClr val="475569"/>
                </a:solidFill>
              </a:rPr>
              <a:t> com </a:t>
            </a:r>
            <a:r>
              <a:rPr sz="1600" dirty="0" err="1">
                <a:solidFill>
                  <a:srgbClr val="475569"/>
                </a:solidFill>
              </a:rPr>
              <a:t>calibração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probabilística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rigorosa</a:t>
            </a:r>
            <a:r>
              <a:rPr sz="1600" dirty="0">
                <a:solidFill>
                  <a:srgbClr val="475569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0F172A"/>
                </a:solidFill>
              </a:rPr>
              <a:t>Integridade</a:t>
            </a:r>
            <a:r>
              <a:rPr sz="1600" b="1" dirty="0">
                <a:solidFill>
                  <a:srgbClr val="0F172A"/>
                </a:solidFill>
              </a:rPr>
              <a:t> </a:t>
            </a:r>
            <a:r>
              <a:rPr sz="1600" b="1" dirty="0" err="1">
                <a:solidFill>
                  <a:srgbClr val="0F172A"/>
                </a:solidFill>
              </a:rPr>
              <a:t>Assegurada</a:t>
            </a:r>
            <a:r>
              <a:rPr sz="1600" b="1" dirty="0">
                <a:solidFill>
                  <a:srgbClr val="0F172A"/>
                </a:solidFill>
              </a:rPr>
              <a:t>: </a:t>
            </a:r>
            <a:r>
              <a:rPr sz="1600" dirty="0">
                <a:solidFill>
                  <a:srgbClr val="475569"/>
                </a:solidFill>
              </a:rPr>
              <a:t>O script Python treinar_xgboost_loco.py </a:t>
            </a:r>
            <a:r>
              <a:rPr sz="1600" dirty="0" err="1">
                <a:solidFill>
                  <a:srgbClr val="475569"/>
                </a:solidFill>
              </a:rPr>
              <a:t>possui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trava</a:t>
            </a:r>
            <a:r>
              <a:rPr sz="1600" dirty="0">
                <a:solidFill>
                  <a:srgbClr val="475569"/>
                </a:solidFill>
              </a:rPr>
              <a:t> anti-mock </a:t>
            </a:r>
            <a:r>
              <a:rPr sz="1600" dirty="0" err="1">
                <a:solidFill>
                  <a:srgbClr val="475569"/>
                </a:solidFill>
              </a:rPr>
              <a:t>ativa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que</a:t>
            </a:r>
            <a:r>
              <a:rPr sz="1600" dirty="0">
                <a:solidFill>
                  <a:srgbClr val="475569"/>
                </a:solidFill>
              </a:rPr>
              <a:t> </a:t>
            </a:r>
            <a:r>
              <a:rPr sz="1600" dirty="0" err="1">
                <a:solidFill>
                  <a:srgbClr val="475569"/>
                </a:solidFill>
              </a:rPr>
              <a:t>exige</a:t>
            </a:r>
            <a:r>
              <a:rPr sz="1600" dirty="0">
                <a:solidFill>
                  <a:srgbClr val="475569"/>
                </a:solidFill>
              </a:rPr>
              <a:t> dados reais.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CONTROLE DE QUALIDADE AUTOMATIZADO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Invariantes de Exportação: 7 Portões de Segurança Contra Falhas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1527048"/>
            <a:ext cx="1645920" cy="420624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2019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0F172A"/>
                </a:solidFill>
              </a:rPr>
              <a:t>Coerência</a:t>
            </a:r>
            <a:r>
              <a:rPr sz="1400" b="1" dirty="0">
                <a:solidFill>
                  <a:srgbClr val="0F172A"/>
                </a:solidFill>
              </a:rPr>
              <a:t> RUSLE: </a:t>
            </a:r>
            <a:r>
              <a:rPr sz="1400" dirty="0" err="1">
                <a:solidFill>
                  <a:srgbClr val="475569"/>
                </a:solidFill>
              </a:rPr>
              <a:t>Perda</a:t>
            </a:r>
            <a:r>
              <a:rPr sz="1400" dirty="0">
                <a:solidFill>
                  <a:srgbClr val="475569"/>
                </a:solidFill>
              </a:rPr>
              <a:t> de solo </a:t>
            </a:r>
            <a:r>
              <a:rPr sz="1400" dirty="0" err="1">
                <a:solidFill>
                  <a:srgbClr val="475569"/>
                </a:solidFill>
              </a:rPr>
              <a:t>preenchida</a:t>
            </a:r>
            <a:r>
              <a:rPr sz="1400" dirty="0">
                <a:solidFill>
                  <a:srgbClr val="475569"/>
                </a:solidFill>
              </a:rPr>
              <a:t> ⟺ 5 </a:t>
            </a:r>
            <a:r>
              <a:rPr sz="1400" dirty="0" err="1">
                <a:solidFill>
                  <a:srgbClr val="475569"/>
                </a:solidFill>
              </a:rPr>
              <a:t>fatores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preenchidos</a:t>
            </a:r>
            <a:r>
              <a:rPr sz="1400" dirty="0">
                <a:solidFill>
                  <a:srgbClr val="475569"/>
                </a:solidFill>
              </a:rPr>
              <a:t> ⟺ </a:t>
            </a:r>
            <a:r>
              <a:rPr sz="1400" dirty="0" err="1">
                <a:solidFill>
                  <a:srgbClr val="475569"/>
                </a:solidFill>
              </a:rPr>
              <a:t>memória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cálculo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válida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presente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1226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2221992"/>
            <a:ext cx="1645920" cy="420624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2276963"/>
            <a:ext cx="90768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F172A"/>
                </a:solidFill>
              </a:rPr>
              <a:t>Lista de </a:t>
            </a:r>
            <a:r>
              <a:rPr sz="1400" b="1" dirty="0" err="1">
                <a:solidFill>
                  <a:srgbClr val="0F172A"/>
                </a:solidFill>
              </a:rPr>
              <a:t>Permissão</a:t>
            </a:r>
            <a:r>
              <a:rPr sz="1400" b="1" dirty="0">
                <a:solidFill>
                  <a:srgbClr val="0F172A"/>
                </a:solidFill>
              </a:rPr>
              <a:t> do </a:t>
            </a:r>
            <a:r>
              <a:rPr sz="1400" b="1" dirty="0" err="1">
                <a:solidFill>
                  <a:srgbClr val="0F172A"/>
                </a:solidFill>
              </a:rPr>
              <a:t>Perfil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Colunas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contidas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estritamente</a:t>
            </a:r>
            <a:r>
              <a:rPr sz="1400" dirty="0">
                <a:solidFill>
                  <a:srgbClr val="475569"/>
                </a:solidFill>
              </a:rPr>
              <a:t> no </a:t>
            </a:r>
            <a:r>
              <a:rPr sz="1400" dirty="0" err="1">
                <a:solidFill>
                  <a:srgbClr val="475569"/>
                </a:solidFill>
              </a:rPr>
              <a:t>perfil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cego</a:t>
            </a:r>
            <a:r>
              <a:rPr sz="1400" dirty="0">
                <a:solidFill>
                  <a:srgbClr val="475569"/>
                </a:solidFill>
              </a:rPr>
              <a:t> (</a:t>
            </a:r>
            <a:r>
              <a:rPr sz="1400" dirty="0" err="1">
                <a:solidFill>
                  <a:srgbClr val="475569"/>
                </a:solidFill>
              </a:rPr>
              <a:t>pesquisador</a:t>
            </a:r>
            <a:r>
              <a:rPr sz="1400" dirty="0">
                <a:solidFill>
                  <a:srgbClr val="475569"/>
                </a:solidFill>
              </a:rPr>
              <a:t>, campo, </a:t>
            </a:r>
            <a:r>
              <a:rPr sz="1400" dirty="0" err="1">
                <a:solidFill>
                  <a:srgbClr val="475569"/>
                </a:solidFill>
              </a:rPr>
              <a:t>voo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matriz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treino</a:t>
            </a:r>
            <a:r>
              <a:rPr sz="1400" dirty="0">
                <a:solidFill>
                  <a:srgbClr val="475569"/>
                </a:solidFill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07208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916936"/>
            <a:ext cx="1645920" cy="420624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880360"/>
            <a:ext cx="8686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0F172A"/>
                </a:solidFill>
              </a:rPr>
              <a:t>Rastreamento</a:t>
            </a:r>
            <a:r>
              <a:rPr sz="1400" b="1" dirty="0">
                <a:solidFill>
                  <a:srgbClr val="0F172A"/>
                </a:solidFill>
              </a:rPr>
              <a:t> de Campos </a:t>
            </a:r>
            <a:r>
              <a:rPr sz="1400" b="1" dirty="0" err="1">
                <a:solidFill>
                  <a:srgbClr val="0F172A"/>
                </a:solidFill>
              </a:rPr>
              <a:t>Estimados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>
                <a:solidFill>
                  <a:srgbClr val="475569"/>
                </a:solidFill>
              </a:rPr>
              <a:t>A </a:t>
            </a:r>
            <a:r>
              <a:rPr sz="1400" dirty="0" err="1">
                <a:solidFill>
                  <a:srgbClr val="475569"/>
                </a:solidFill>
              </a:rPr>
              <a:t>coluna</a:t>
            </a:r>
            <a:r>
              <a:rPr sz="1400" dirty="0">
                <a:solidFill>
                  <a:srgbClr val="475569"/>
                </a:solidFill>
              </a:rPr>
              <a:t> Campos</a:t>
            </a:r>
            <a:r>
              <a:rPr lang="pt-BR"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Estimados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lista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exatamente</a:t>
            </a:r>
            <a:r>
              <a:rPr sz="1400" dirty="0">
                <a:solidFill>
                  <a:srgbClr val="475569"/>
                </a:solidFill>
              </a:rPr>
              <a:t> as </a:t>
            </a:r>
            <a:r>
              <a:rPr sz="1400" dirty="0" err="1">
                <a:solidFill>
                  <a:srgbClr val="475569"/>
                </a:solidFill>
              </a:rPr>
              <a:t>variáveis</a:t>
            </a:r>
            <a:r>
              <a:rPr sz="1400" dirty="0">
                <a:solidFill>
                  <a:srgbClr val="475569"/>
                </a:solidFill>
              </a:rPr>
              <a:t> com </a:t>
            </a:r>
            <a:r>
              <a:rPr sz="1400" dirty="0" err="1">
                <a:solidFill>
                  <a:srgbClr val="475569"/>
                </a:solidFill>
              </a:rPr>
              <a:t>proveniência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diferente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medido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02152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11880"/>
            <a:ext cx="1645920" cy="420624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575304"/>
            <a:ext cx="8686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0F172A"/>
                </a:solidFill>
              </a:rPr>
              <a:t>Rastreabilidade</a:t>
            </a:r>
            <a:r>
              <a:rPr sz="1400" b="1" dirty="0">
                <a:solidFill>
                  <a:srgbClr val="0F172A"/>
                </a:solidFill>
              </a:rPr>
              <a:t> Orbital: </a:t>
            </a:r>
            <a:r>
              <a:rPr sz="1400" dirty="0">
                <a:solidFill>
                  <a:srgbClr val="475569"/>
                </a:solidFill>
              </a:rPr>
              <a:t>Dado </a:t>
            </a:r>
            <a:r>
              <a:rPr sz="1400" dirty="0" err="1">
                <a:solidFill>
                  <a:srgbClr val="475569"/>
                </a:solidFill>
              </a:rPr>
              <a:t>derivado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satélite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exige</a:t>
            </a:r>
            <a:r>
              <a:rPr sz="1400" dirty="0">
                <a:solidFill>
                  <a:srgbClr val="475569"/>
                </a:solidFill>
              </a:rPr>
              <a:t> PRODUCT_ID das </a:t>
            </a:r>
            <a:r>
              <a:rPr sz="1400" dirty="0" err="1">
                <a:solidFill>
                  <a:srgbClr val="475569"/>
                </a:solidFill>
              </a:rPr>
              <a:t>cenas</a:t>
            </a:r>
            <a:r>
              <a:rPr sz="1400" dirty="0">
                <a:solidFill>
                  <a:srgbClr val="475569"/>
                </a:solidFill>
              </a:rPr>
              <a:t>, </a:t>
            </a:r>
            <a:r>
              <a:rPr sz="1400" dirty="0" err="1">
                <a:solidFill>
                  <a:srgbClr val="475569"/>
                </a:solidFill>
              </a:rPr>
              <a:t>versão</a:t>
            </a:r>
            <a:r>
              <a:rPr sz="1400" dirty="0">
                <a:solidFill>
                  <a:srgbClr val="475569"/>
                </a:solidFill>
              </a:rPr>
              <a:t> do motor e data de </a:t>
            </a:r>
            <a:r>
              <a:rPr sz="1400" dirty="0" err="1">
                <a:solidFill>
                  <a:srgbClr val="475569"/>
                </a:solidFill>
              </a:rPr>
              <a:t>processamento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97096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4306824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270248"/>
            <a:ext cx="8686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0F172A"/>
                </a:solidFill>
              </a:rPr>
              <a:t>Afirmação</a:t>
            </a:r>
            <a:r>
              <a:rPr sz="1400" b="1" dirty="0">
                <a:solidFill>
                  <a:srgbClr val="0F172A"/>
                </a:solidFill>
              </a:rPr>
              <a:t> Negativa </a:t>
            </a:r>
            <a:r>
              <a:rPr sz="1400" b="1" dirty="0" err="1">
                <a:solidFill>
                  <a:srgbClr val="0F172A"/>
                </a:solidFill>
              </a:rPr>
              <a:t>Fundiária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Declaração</a:t>
            </a:r>
            <a:r>
              <a:rPr sz="1400" dirty="0">
                <a:solidFill>
                  <a:srgbClr val="475569"/>
                </a:solidFill>
              </a:rPr>
              <a:t> '</a:t>
            </a:r>
            <a:r>
              <a:rPr sz="1400" dirty="0" err="1">
                <a:solidFill>
                  <a:srgbClr val="475569"/>
                </a:solidFill>
              </a:rPr>
              <a:t>sem-correspondencia</a:t>
            </a:r>
            <a:r>
              <a:rPr sz="1400" dirty="0">
                <a:solidFill>
                  <a:srgbClr val="475569"/>
                </a:solidFill>
              </a:rPr>
              <a:t>' </a:t>
            </a:r>
            <a:r>
              <a:rPr sz="1400" dirty="0" err="1">
                <a:solidFill>
                  <a:srgbClr val="475569"/>
                </a:solidFill>
              </a:rPr>
              <a:t>só</a:t>
            </a:r>
            <a:r>
              <a:rPr sz="1400" dirty="0">
                <a:solidFill>
                  <a:srgbClr val="475569"/>
                </a:solidFill>
              </a:rPr>
              <a:t> é </a:t>
            </a:r>
            <a:r>
              <a:rPr sz="1400" dirty="0" err="1">
                <a:solidFill>
                  <a:srgbClr val="475569"/>
                </a:solidFill>
              </a:rPr>
              <a:t>aceita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após</a:t>
            </a:r>
            <a:r>
              <a:rPr sz="1400" dirty="0">
                <a:solidFill>
                  <a:srgbClr val="475569"/>
                </a:solidFill>
              </a:rPr>
              <a:t> consulta cadastral </a:t>
            </a:r>
            <a:r>
              <a:rPr sz="1400" dirty="0" err="1">
                <a:solidFill>
                  <a:srgbClr val="475569"/>
                </a:solidFill>
              </a:rPr>
              <a:t>bem-sucedida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sem</a:t>
            </a:r>
            <a:r>
              <a:rPr sz="1400" dirty="0">
                <a:solidFill>
                  <a:srgbClr val="475569"/>
                </a:solidFill>
              </a:rPr>
              <a:t> match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9204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22960" y="5001768"/>
            <a:ext cx="1645920" cy="420624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65192"/>
            <a:ext cx="8686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F172A"/>
                </a:solidFill>
              </a:rPr>
              <a:t>Lista Negra de </a:t>
            </a:r>
            <a:r>
              <a:rPr sz="1400" b="1" dirty="0" err="1">
                <a:solidFill>
                  <a:srgbClr val="0F172A"/>
                </a:solidFill>
              </a:rPr>
              <a:t>Literais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Geográficos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Bloqueia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termos</a:t>
            </a:r>
            <a:r>
              <a:rPr sz="1400" dirty="0">
                <a:solidFill>
                  <a:srgbClr val="475569"/>
                </a:solidFill>
              </a:rPr>
              <a:t> de </a:t>
            </a:r>
            <a:r>
              <a:rPr sz="1400" dirty="0" err="1">
                <a:solidFill>
                  <a:srgbClr val="475569"/>
                </a:solidFill>
              </a:rPr>
              <a:t>desenvolvimento</a:t>
            </a:r>
            <a:r>
              <a:rPr sz="1400" dirty="0">
                <a:solidFill>
                  <a:srgbClr val="475569"/>
                </a:solidFill>
              </a:rPr>
              <a:t> ('Custom', 'Bacia Local') </a:t>
            </a:r>
            <a:r>
              <a:rPr sz="1400" dirty="0" err="1">
                <a:solidFill>
                  <a:srgbClr val="475569"/>
                </a:solidFill>
              </a:rPr>
              <a:t>ou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nome</a:t>
            </a:r>
            <a:r>
              <a:rPr sz="1400" dirty="0">
                <a:solidFill>
                  <a:srgbClr val="475569"/>
                </a:solidFill>
              </a:rPr>
              <a:t> de UF </a:t>
            </a:r>
            <a:r>
              <a:rPr sz="1400" dirty="0" err="1">
                <a:solidFill>
                  <a:srgbClr val="475569"/>
                </a:solidFill>
              </a:rPr>
              <a:t>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coluna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município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8698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2960" y="5696712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5660136"/>
            <a:ext cx="8686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F172A"/>
                </a:solidFill>
              </a:rPr>
              <a:t>Detector de Constante </a:t>
            </a:r>
            <a:r>
              <a:rPr sz="1400" b="1" dirty="0" err="1">
                <a:solidFill>
                  <a:srgbClr val="0F172A"/>
                </a:solidFill>
              </a:rPr>
              <a:t>Disfarçada</a:t>
            </a:r>
            <a:r>
              <a:rPr sz="1400" b="1" dirty="0">
                <a:solidFill>
                  <a:srgbClr val="0F172A"/>
                </a:solidFill>
              </a:rPr>
              <a:t>: </a:t>
            </a:r>
            <a:r>
              <a:rPr sz="1400" dirty="0" err="1">
                <a:solidFill>
                  <a:srgbClr val="475569"/>
                </a:solidFill>
              </a:rPr>
              <a:t>Nenhuma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coluna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numérica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tem</a:t>
            </a:r>
            <a:r>
              <a:rPr sz="1400" dirty="0">
                <a:solidFill>
                  <a:srgbClr val="475569"/>
                </a:solidFill>
              </a:rPr>
              <a:t> valor </a:t>
            </a:r>
            <a:r>
              <a:rPr sz="1400" dirty="0" err="1">
                <a:solidFill>
                  <a:srgbClr val="475569"/>
                </a:solidFill>
              </a:rPr>
              <a:t>idêntico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em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todas</a:t>
            </a:r>
            <a:r>
              <a:rPr sz="1400" dirty="0">
                <a:solidFill>
                  <a:srgbClr val="475569"/>
                </a:solidFill>
              </a:rPr>
              <a:t> as </a:t>
            </a:r>
            <a:r>
              <a:rPr sz="1400" dirty="0" err="1">
                <a:solidFill>
                  <a:srgbClr val="475569"/>
                </a:solidFill>
              </a:rPr>
              <a:t>linhas</a:t>
            </a:r>
            <a:r>
              <a:rPr sz="1400" dirty="0">
                <a:solidFill>
                  <a:srgbClr val="475569"/>
                </a:solidFill>
              </a:rPr>
              <a:t> (N ≥ 21), </a:t>
            </a:r>
            <a:r>
              <a:rPr sz="1400" dirty="0" err="1">
                <a:solidFill>
                  <a:srgbClr val="475569"/>
                </a:solidFill>
              </a:rPr>
              <a:t>impedindo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vícios</a:t>
            </a:r>
            <a:r>
              <a:rPr sz="1400" dirty="0">
                <a:solidFill>
                  <a:srgbClr val="475569"/>
                </a:solidFill>
              </a:rPr>
              <a:t> </a:t>
            </a:r>
            <a:r>
              <a:rPr sz="1400" dirty="0" err="1">
                <a:solidFill>
                  <a:srgbClr val="475569"/>
                </a:solidFill>
              </a:rPr>
              <a:t>legados</a:t>
            </a:r>
            <a:r>
              <a:rPr sz="100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05840"/>
            <a:ext cx="10362895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rPr dirty="0"/>
              <a:t>CONCLUSÃO &amp; CONTRIBUIÇÕES PARA O AGRONEGÓCIO PARANAENSE</a:t>
            </a:r>
          </a:p>
          <a:p>
            <a:pPr>
              <a:spcBef>
                <a:spcPts val="800"/>
              </a:spcBef>
              <a:defRPr sz="2500" b="1">
                <a:solidFill>
                  <a:srgbClr val="FFFFFF"/>
                </a:solidFill>
              </a:defRPr>
            </a:pPr>
            <a:r>
              <a:rPr dirty="0"/>
              <a:t>Um </a:t>
            </a:r>
            <a:r>
              <a:rPr dirty="0" err="1"/>
              <a:t>Instrumento</a:t>
            </a:r>
            <a:r>
              <a:rPr dirty="0"/>
              <a:t> </a:t>
            </a:r>
            <a:r>
              <a:rPr dirty="0" err="1"/>
              <a:t>Computacional</a:t>
            </a:r>
            <a:r>
              <a:rPr dirty="0"/>
              <a:t> </a:t>
            </a:r>
            <a:r>
              <a:rPr dirty="0" err="1"/>
              <a:t>Ético</a:t>
            </a:r>
            <a:r>
              <a:rPr dirty="0"/>
              <a:t>, </a:t>
            </a:r>
            <a:r>
              <a:rPr dirty="0" err="1"/>
              <a:t>Auditável</a:t>
            </a:r>
            <a:r>
              <a:rPr dirty="0"/>
              <a:t> e </a:t>
            </a:r>
            <a:r>
              <a:rPr dirty="0" err="1"/>
              <a:t>Replicável</a:t>
            </a:r>
            <a:endParaRPr dirty="0"/>
          </a:p>
          <a:p>
            <a:pPr>
              <a:spcBef>
                <a:spcPts val="1000"/>
              </a:spcBef>
            </a:pPr>
            <a:r>
              <a:rPr sz="2000" b="1" dirty="0">
                <a:solidFill>
                  <a:srgbClr val="10B981"/>
                </a:solidFill>
              </a:rPr>
              <a:t>• </a:t>
            </a:r>
            <a:r>
              <a:rPr sz="2000" b="1" dirty="0" err="1">
                <a:solidFill>
                  <a:srgbClr val="10B981"/>
                </a:solidFill>
              </a:rPr>
              <a:t>Viabilidade</a:t>
            </a:r>
            <a:r>
              <a:rPr sz="2000" b="1" dirty="0">
                <a:solidFill>
                  <a:srgbClr val="10B981"/>
                </a:solidFill>
              </a:rPr>
              <a:t> </a:t>
            </a:r>
            <a:r>
              <a:rPr sz="2000" b="1" dirty="0" err="1">
                <a:solidFill>
                  <a:srgbClr val="10B981"/>
                </a:solidFill>
              </a:rPr>
              <a:t>Prática</a:t>
            </a:r>
            <a:r>
              <a:rPr sz="2000" b="1" dirty="0">
                <a:solidFill>
                  <a:srgbClr val="10B981"/>
                </a:solidFill>
              </a:rPr>
              <a:t> </a:t>
            </a:r>
            <a:r>
              <a:rPr sz="2000" b="1" dirty="0" err="1">
                <a:solidFill>
                  <a:srgbClr val="10B981"/>
                </a:solidFill>
              </a:rPr>
              <a:t>Comprovada</a:t>
            </a:r>
            <a:r>
              <a:rPr sz="2000" b="1" dirty="0">
                <a:solidFill>
                  <a:srgbClr val="10B981"/>
                </a:solidFill>
              </a:rPr>
              <a:t>: </a:t>
            </a:r>
            <a:r>
              <a:rPr sz="2000" dirty="0">
                <a:solidFill>
                  <a:srgbClr val="CBD5E1"/>
                </a:solidFill>
              </a:rPr>
              <a:t>A </a:t>
            </a:r>
            <a:r>
              <a:rPr sz="2000" dirty="0" err="1">
                <a:solidFill>
                  <a:srgbClr val="CBD5E1"/>
                </a:solidFill>
              </a:rPr>
              <a:t>estratégia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híbrida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reduz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os</a:t>
            </a:r>
            <a:r>
              <a:rPr sz="2000" dirty="0">
                <a:solidFill>
                  <a:srgbClr val="CBD5E1"/>
                </a:solidFill>
              </a:rPr>
              <a:t> custos </a:t>
            </a:r>
            <a:r>
              <a:rPr sz="2000" dirty="0" err="1">
                <a:solidFill>
                  <a:srgbClr val="CBD5E1"/>
                </a:solidFill>
              </a:rPr>
              <a:t>operacionais</a:t>
            </a:r>
            <a:r>
              <a:rPr sz="2000" dirty="0">
                <a:solidFill>
                  <a:srgbClr val="CBD5E1"/>
                </a:solidFill>
              </a:rPr>
              <a:t> de </a:t>
            </a:r>
            <a:r>
              <a:rPr sz="2000" dirty="0" err="1">
                <a:solidFill>
                  <a:srgbClr val="CBD5E1"/>
                </a:solidFill>
              </a:rPr>
              <a:t>amostragem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em</a:t>
            </a:r>
            <a:r>
              <a:rPr sz="2000" dirty="0">
                <a:solidFill>
                  <a:srgbClr val="CBD5E1"/>
                </a:solidFill>
              </a:rPr>
              <a:t> ~80%, </a:t>
            </a:r>
            <a:r>
              <a:rPr sz="2000" dirty="0" err="1">
                <a:solidFill>
                  <a:srgbClr val="CBD5E1"/>
                </a:solidFill>
              </a:rPr>
              <a:t>tornando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viável</a:t>
            </a:r>
            <a:r>
              <a:rPr sz="2000" dirty="0">
                <a:solidFill>
                  <a:srgbClr val="CBD5E1"/>
                </a:solidFill>
              </a:rPr>
              <a:t> a </a:t>
            </a:r>
            <a:r>
              <a:rPr sz="2000" dirty="0" err="1">
                <a:solidFill>
                  <a:srgbClr val="CBD5E1"/>
                </a:solidFill>
              </a:rPr>
              <a:t>validação</a:t>
            </a:r>
            <a:r>
              <a:rPr sz="2000" dirty="0">
                <a:solidFill>
                  <a:srgbClr val="CBD5E1"/>
                </a:solidFill>
              </a:rPr>
              <a:t> de </a:t>
            </a:r>
            <a:r>
              <a:rPr sz="2000" dirty="0" err="1">
                <a:solidFill>
                  <a:srgbClr val="CBD5E1"/>
                </a:solidFill>
              </a:rPr>
              <a:t>modelos</a:t>
            </a:r>
            <a:r>
              <a:rPr sz="2000" dirty="0">
                <a:solidFill>
                  <a:srgbClr val="CBD5E1"/>
                </a:solidFill>
              </a:rPr>
              <a:t> de IA para </a:t>
            </a:r>
            <a:r>
              <a:rPr sz="2000" dirty="0" err="1">
                <a:solidFill>
                  <a:srgbClr val="CBD5E1"/>
                </a:solidFill>
              </a:rPr>
              <a:t>conservação</a:t>
            </a:r>
            <a:r>
              <a:rPr sz="2000" dirty="0">
                <a:solidFill>
                  <a:srgbClr val="CBD5E1"/>
                </a:solidFill>
              </a:rPr>
              <a:t> de solos no </a:t>
            </a:r>
            <a:r>
              <a:rPr sz="2000" dirty="0" err="1">
                <a:solidFill>
                  <a:srgbClr val="CBD5E1"/>
                </a:solidFill>
              </a:rPr>
              <a:t>mestrado</a:t>
            </a:r>
            <a:r>
              <a:rPr sz="2000" dirty="0">
                <a:solidFill>
                  <a:srgbClr val="CBD5E1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2000" b="1" dirty="0">
                <a:solidFill>
                  <a:srgbClr val="10B981"/>
                </a:solidFill>
              </a:rPr>
              <a:t>• </a:t>
            </a:r>
            <a:r>
              <a:rPr sz="2000" b="1" dirty="0" err="1">
                <a:solidFill>
                  <a:srgbClr val="10B981"/>
                </a:solidFill>
              </a:rPr>
              <a:t>Ruptura</a:t>
            </a:r>
            <a:r>
              <a:rPr sz="2000" b="1" dirty="0">
                <a:solidFill>
                  <a:srgbClr val="10B981"/>
                </a:solidFill>
              </a:rPr>
              <a:t> com o Dado </a:t>
            </a:r>
            <a:r>
              <a:rPr sz="2000" b="1" dirty="0" err="1">
                <a:solidFill>
                  <a:srgbClr val="10B981"/>
                </a:solidFill>
              </a:rPr>
              <a:t>Presumido</a:t>
            </a:r>
            <a:r>
              <a:rPr sz="2000" b="1" dirty="0">
                <a:solidFill>
                  <a:srgbClr val="10B981"/>
                </a:solidFill>
              </a:rPr>
              <a:t>: </a:t>
            </a:r>
            <a:r>
              <a:rPr sz="2000" dirty="0">
                <a:solidFill>
                  <a:srgbClr val="CBD5E1"/>
                </a:solidFill>
              </a:rPr>
              <a:t>O SAREL </a:t>
            </a:r>
            <a:r>
              <a:rPr lang="pt-BR" sz="2000" dirty="0">
                <a:solidFill>
                  <a:srgbClr val="CBD5E1"/>
                </a:solidFill>
              </a:rPr>
              <a:t>evita </a:t>
            </a:r>
            <a:r>
              <a:rPr sz="2000" dirty="0" err="1">
                <a:solidFill>
                  <a:srgbClr val="CBD5E1"/>
                </a:solidFill>
              </a:rPr>
              <a:t>os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valores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fabricados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por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atalhos</a:t>
            </a:r>
            <a:r>
              <a:rPr lang="pt-BR"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computacionais</a:t>
            </a:r>
            <a:r>
              <a:rPr sz="2000" dirty="0">
                <a:solidFill>
                  <a:srgbClr val="CBD5E1"/>
                </a:solidFill>
              </a:rPr>
              <a:t>. O </a:t>
            </a:r>
            <a:r>
              <a:rPr sz="2000" dirty="0" err="1">
                <a:solidFill>
                  <a:srgbClr val="CBD5E1"/>
                </a:solidFill>
              </a:rPr>
              <a:t>sistema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prefere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declarar</a:t>
            </a:r>
            <a:r>
              <a:rPr sz="2000" dirty="0">
                <a:solidFill>
                  <a:srgbClr val="CBD5E1"/>
                </a:solidFill>
              </a:rPr>
              <a:t> a </a:t>
            </a:r>
            <a:r>
              <a:rPr sz="2000" dirty="0" err="1">
                <a:solidFill>
                  <a:srgbClr val="CBD5E1"/>
                </a:solidFill>
              </a:rPr>
              <a:t>ausência</a:t>
            </a:r>
            <a:r>
              <a:rPr sz="2000" dirty="0">
                <a:solidFill>
                  <a:srgbClr val="CBD5E1"/>
                </a:solidFill>
              </a:rPr>
              <a:t> a </a:t>
            </a:r>
            <a:r>
              <a:rPr sz="2000" dirty="0" err="1">
                <a:solidFill>
                  <a:srgbClr val="CBD5E1"/>
                </a:solidFill>
              </a:rPr>
              <a:t>exibir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uma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medição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ilusória</a:t>
            </a:r>
            <a:r>
              <a:rPr sz="2000" dirty="0">
                <a:solidFill>
                  <a:srgbClr val="CBD5E1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2000" b="1" dirty="0">
                <a:solidFill>
                  <a:srgbClr val="10B981"/>
                </a:solidFill>
              </a:rPr>
              <a:t>• Rigor </a:t>
            </a:r>
            <a:r>
              <a:rPr sz="2000" b="1" dirty="0" err="1">
                <a:solidFill>
                  <a:srgbClr val="10B981"/>
                </a:solidFill>
              </a:rPr>
              <a:t>Metodológico</a:t>
            </a:r>
            <a:r>
              <a:rPr sz="2000" b="1" dirty="0">
                <a:solidFill>
                  <a:srgbClr val="10B981"/>
                </a:solidFill>
              </a:rPr>
              <a:t> Internacional: </a:t>
            </a:r>
            <a:r>
              <a:rPr sz="2000" dirty="0" err="1">
                <a:solidFill>
                  <a:srgbClr val="CBD5E1"/>
                </a:solidFill>
              </a:rPr>
              <a:t>Estratificação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multivariada</a:t>
            </a:r>
            <a:r>
              <a:rPr sz="2000" dirty="0">
                <a:solidFill>
                  <a:srgbClr val="CBD5E1"/>
                </a:solidFill>
              </a:rPr>
              <a:t>, Thinning </a:t>
            </a:r>
            <a:r>
              <a:rPr sz="2000" dirty="0" err="1">
                <a:solidFill>
                  <a:srgbClr val="CBD5E1"/>
                </a:solidFill>
              </a:rPr>
              <a:t>Geodésico</a:t>
            </a:r>
            <a:r>
              <a:rPr sz="2000" dirty="0">
                <a:solidFill>
                  <a:srgbClr val="CBD5E1"/>
                </a:solidFill>
              </a:rPr>
              <a:t>, </a:t>
            </a:r>
            <a:r>
              <a:rPr sz="2000" dirty="0" err="1">
                <a:solidFill>
                  <a:srgbClr val="CBD5E1"/>
                </a:solidFill>
              </a:rPr>
              <a:t>validação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cruzada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espacial</a:t>
            </a:r>
            <a:r>
              <a:rPr sz="2000" dirty="0">
                <a:solidFill>
                  <a:srgbClr val="CBD5E1"/>
                </a:solidFill>
              </a:rPr>
              <a:t> LOCO e </a:t>
            </a:r>
            <a:r>
              <a:rPr sz="2000" dirty="0" err="1">
                <a:solidFill>
                  <a:srgbClr val="CBD5E1"/>
                </a:solidFill>
              </a:rPr>
              <a:t>explicabilidade</a:t>
            </a:r>
            <a:r>
              <a:rPr sz="2000" dirty="0">
                <a:solidFill>
                  <a:srgbClr val="CBD5E1"/>
                </a:solidFill>
              </a:rPr>
              <a:t> SHAP </a:t>
            </a:r>
            <a:r>
              <a:rPr sz="2000" dirty="0" err="1">
                <a:solidFill>
                  <a:srgbClr val="CBD5E1"/>
                </a:solidFill>
              </a:rPr>
              <a:t>alinham</a:t>
            </a:r>
            <a:r>
              <a:rPr sz="2000" dirty="0">
                <a:solidFill>
                  <a:srgbClr val="CBD5E1"/>
                </a:solidFill>
              </a:rPr>
              <a:t> a </a:t>
            </a:r>
            <a:r>
              <a:rPr sz="2000" dirty="0" err="1">
                <a:solidFill>
                  <a:srgbClr val="CBD5E1"/>
                </a:solidFill>
              </a:rPr>
              <a:t>pesquisa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às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melhores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práticas</a:t>
            </a:r>
            <a:r>
              <a:rPr sz="2000" dirty="0">
                <a:solidFill>
                  <a:srgbClr val="CBD5E1"/>
                </a:solidFill>
              </a:rPr>
              <a:t> da </a:t>
            </a:r>
            <a:r>
              <a:rPr sz="2000" dirty="0" err="1">
                <a:solidFill>
                  <a:srgbClr val="CBD5E1"/>
                </a:solidFill>
              </a:rPr>
              <a:t>literatura</a:t>
            </a:r>
            <a:r>
              <a:rPr sz="2000" dirty="0">
                <a:solidFill>
                  <a:srgbClr val="CBD5E1"/>
                </a:solidFill>
              </a:rPr>
              <a:t> de </a:t>
            </a:r>
            <a:r>
              <a:rPr sz="2000" dirty="0" err="1">
                <a:solidFill>
                  <a:srgbClr val="CBD5E1"/>
                </a:solidFill>
              </a:rPr>
              <a:t>sensoriamento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remoto</a:t>
            </a:r>
            <a:r>
              <a:rPr sz="2000" dirty="0">
                <a:solidFill>
                  <a:srgbClr val="CBD5E1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2000" b="1" dirty="0">
                <a:solidFill>
                  <a:srgbClr val="10B981"/>
                </a:solidFill>
              </a:rPr>
              <a:t>• </a:t>
            </a:r>
            <a:r>
              <a:rPr sz="2000" b="1" dirty="0" err="1">
                <a:solidFill>
                  <a:srgbClr val="10B981"/>
                </a:solidFill>
              </a:rPr>
              <a:t>Prontidão</a:t>
            </a:r>
            <a:r>
              <a:rPr sz="2000" b="1" dirty="0">
                <a:solidFill>
                  <a:srgbClr val="10B981"/>
                </a:solidFill>
              </a:rPr>
              <a:t> para a </a:t>
            </a:r>
            <a:r>
              <a:rPr sz="2000" b="1" dirty="0" err="1">
                <a:solidFill>
                  <a:srgbClr val="10B981"/>
                </a:solidFill>
              </a:rPr>
              <a:t>Campanha</a:t>
            </a:r>
            <a:r>
              <a:rPr sz="2000" b="1" dirty="0">
                <a:solidFill>
                  <a:srgbClr val="10B981"/>
                </a:solidFill>
              </a:rPr>
              <a:t> Real: </a:t>
            </a:r>
            <a:r>
              <a:rPr sz="2000" dirty="0">
                <a:solidFill>
                  <a:srgbClr val="CBD5E1"/>
                </a:solidFill>
              </a:rPr>
              <a:t>A </a:t>
            </a:r>
            <a:r>
              <a:rPr sz="2000" dirty="0" err="1">
                <a:solidFill>
                  <a:srgbClr val="CBD5E1"/>
                </a:solidFill>
              </a:rPr>
              <a:t>infraestrutura</a:t>
            </a:r>
            <a:r>
              <a:rPr sz="2000" dirty="0">
                <a:solidFill>
                  <a:srgbClr val="CBD5E1"/>
                </a:solidFill>
              </a:rPr>
              <a:t> </a:t>
            </a:r>
            <a:r>
              <a:rPr sz="2000" dirty="0" err="1">
                <a:solidFill>
                  <a:srgbClr val="CBD5E1"/>
                </a:solidFill>
              </a:rPr>
              <a:t>computacional</a:t>
            </a:r>
            <a:r>
              <a:rPr sz="2000" dirty="0">
                <a:solidFill>
                  <a:srgbClr val="CBD5E1"/>
                </a:solidFill>
              </a:rPr>
              <a:t> (Next.js, TypeScript, Python, SQLite e GEE) </a:t>
            </a:r>
            <a:r>
              <a:rPr sz="2000" dirty="0" err="1">
                <a:solidFill>
                  <a:srgbClr val="CBD5E1"/>
                </a:solidFill>
              </a:rPr>
              <a:t>está</a:t>
            </a:r>
            <a:r>
              <a:rPr sz="2000" dirty="0">
                <a:solidFill>
                  <a:srgbClr val="CBD5E1"/>
                </a:solidFill>
              </a:rPr>
              <a:t> 100% </a:t>
            </a:r>
            <a:r>
              <a:rPr sz="2000" dirty="0" err="1">
                <a:solidFill>
                  <a:srgbClr val="CBD5E1"/>
                </a:solidFill>
              </a:rPr>
              <a:t>testada</a:t>
            </a:r>
            <a:r>
              <a:rPr sz="2000" dirty="0">
                <a:solidFill>
                  <a:srgbClr val="CBD5E1"/>
                </a:solidFill>
              </a:rPr>
              <a:t> e </a:t>
            </a:r>
            <a:r>
              <a:rPr sz="2000" dirty="0" err="1">
                <a:solidFill>
                  <a:srgbClr val="CBD5E1"/>
                </a:solidFill>
              </a:rPr>
              <a:t>homologada</a:t>
            </a:r>
            <a:r>
              <a:rPr sz="2000" dirty="0">
                <a:solidFill>
                  <a:srgbClr val="CBD5E1"/>
                </a:solidFill>
              </a:rPr>
              <a:t>, </a:t>
            </a:r>
            <a:r>
              <a:rPr sz="2000" dirty="0" err="1">
                <a:solidFill>
                  <a:srgbClr val="CBD5E1"/>
                </a:solidFill>
              </a:rPr>
              <a:t>pronta</a:t>
            </a:r>
            <a:r>
              <a:rPr sz="2000" dirty="0">
                <a:solidFill>
                  <a:srgbClr val="CBD5E1"/>
                </a:solidFill>
              </a:rPr>
              <a:t> para a </a:t>
            </a:r>
            <a:r>
              <a:rPr sz="2000" dirty="0" err="1">
                <a:solidFill>
                  <a:srgbClr val="CBD5E1"/>
                </a:solidFill>
              </a:rPr>
              <a:t>execução</a:t>
            </a:r>
            <a:r>
              <a:rPr sz="2000" dirty="0">
                <a:solidFill>
                  <a:srgbClr val="CBD5E1"/>
                </a:solidFill>
              </a:rPr>
              <a:t> da </a:t>
            </a:r>
            <a:r>
              <a:rPr sz="2000" dirty="0" err="1">
                <a:solidFill>
                  <a:srgbClr val="CBD5E1"/>
                </a:solidFill>
              </a:rPr>
              <a:t>campanha</a:t>
            </a:r>
            <a:r>
              <a:rPr sz="2000" dirty="0">
                <a:solidFill>
                  <a:srgbClr val="CBD5E1"/>
                </a:solidFill>
              </a:rPr>
              <a:t> de campo e </a:t>
            </a:r>
            <a:r>
              <a:rPr sz="2000" dirty="0" err="1">
                <a:solidFill>
                  <a:srgbClr val="CBD5E1"/>
                </a:solidFill>
              </a:rPr>
              <a:t>fotointerpretação</a:t>
            </a:r>
            <a:r>
              <a:rPr sz="2000" dirty="0">
                <a:solidFill>
                  <a:srgbClr val="CBD5E1"/>
                </a:solidFill>
              </a:rPr>
              <a:t>.</a:t>
            </a:r>
          </a:p>
          <a:p>
            <a:pPr>
              <a:spcBef>
                <a:spcPts val="2400"/>
              </a:spcBef>
              <a:defRPr sz="1050" b="1">
                <a:solidFill>
                  <a:srgbClr val="0EA5E9"/>
                </a:solidFill>
              </a:defRPr>
            </a:pPr>
            <a:r>
              <a:rPr sz="1400" dirty="0"/>
              <a:t>PPGTCA 2026 • </a:t>
            </a:r>
            <a:r>
              <a:rPr sz="1400" dirty="0" err="1"/>
              <a:t>Pesquisador</a:t>
            </a:r>
            <a:r>
              <a:rPr sz="1400" dirty="0"/>
              <a:t>: Luis Alfredo • </a:t>
            </a:r>
            <a:r>
              <a:rPr sz="1400" dirty="0" err="1"/>
              <a:t>Programa</a:t>
            </a:r>
            <a:r>
              <a:rPr sz="1400" dirty="0"/>
              <a:t> de Pós-</a:t>
            </a:r>
            <a:r>
              <a:rPr sz="1400" dirty="0" err="1"/>
              <a:t>Graduação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</a:t>
            </a:r>
            <a:r>
              <a:rPr sz="1400" dirty="0" err="1"/>
              <a:t>Tecnologias</a:t>
            </a:r>
            <a:r>
              <a:rPr sz="1400" dirty="0"/>
              <a:t> Computacionais para o </a:t>
            </a:r>
            <a:r>
              <a:rPr sz="1400" dirty="0" err="1"/>
              <a:t>Agronegócio</a:t>
            </a:r>
            <a:endParaRPr sz="1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9C41403-C3BB-BDB0-5533-A15B18AF7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8435" y="383718"/>
            <a:ext cx="1255778" cy="417235"/>
          </a:xfrm>
          <a:prstGeom prst="rect">
            <a:avLst/>
          </a:prstGeom>
          <a:effectLst>
            <a:glow rad="76200">
              <a:schemeClr val="bg1">
                <a:alpha val="94000"/>
              </a:schemeClr>
            </a:glow>
          </a:effec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606F645-8535-7DBE-BB41-2D1046034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8080" y="407064"/>
            <a:ext cx="1357215" cy="413504"/>
          </a:xfrm>
          <a:prstGeom prst="rect">
            <a:avLst/>
          </a:prstGeom>
          <a:effectLst>
            <a:glow rad="127000">
              <a:schemeClr val="bg1"/>
            </a:glo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3155</Words>
  <Application>Microsoft Office PowerPoint</Application>
  <PresentationFormat>Ecrã Panorâmico</PresentationFormat>
  <Paragraphs>219</Paragraphs>
  <Slides>13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Luis Alfredo</cp:lastModifiedBy>
  <cp:revision>3</cp:revision>
  <dcterms:created xsi:type="dcterms:W3CDTF">2013-01-27T09:14:16Z</dcterms:created>
  <dcterms:modified xsi:type="dcterms:W3CDTF">2026-09-14T23:30:07Z</dcterms:modified>
  <cp:category/>
</cp:coreProperties>
</file>