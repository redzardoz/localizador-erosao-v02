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0" y="1097280"/>
            <a:ext cx="36576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1371600"/>
            <a:ext cx="310896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rPr sz="1600" dirty="0"/>
              <a:t>DESTAQUES DA INOVAÇÃO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Satélites</a:t>
            </a:r>
            <a:r>
              <a:rPr sz="1200" dirty="0"/>
              <a:t> Copernicus L2A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200" dirty="0"/>
              <a:t>Sentinel-2 MSI a 10m com </a:t>
            </a:r>
            <a:r>
              <a:rPr sz="1200" dirty="0" err="1"/>
              <a:t>correção</a:t>
            </a:r>
            <a:r>
              <a:rPr sz="1200" dirty="0"/>
              <a:t> </a:t>
            </a:r>
            <a:r>
              <a:rPr sz="1200" dirty="0" err="1"/>
              <a:t>atmosférica</a:t>
            </a:r>
            <a:r>
              <a:rPr sz="1200" dirty="0"/>
              <a:t> BOA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200" dirty="0"/>
              <a:t>• Big Data </a:t>
            </a:r>
            <a:r>
              <a:rPr sz="1200" dirty="0" err="1"/>
              <a:t>Fundiário</a:t>
            </a:r>
            <a:endParaRPr sz="1200" dirty="0"/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200" dirty="0"/>
              <a:t>2,46M de </a:t>
            </a:r>
            <a:r>
              <a:rPr sz="1200" dirty="0" err="1"/>
              <a:t>titulares</a:t>
            </a:r>
            <a:r>
              <a:rPr sz="1200" dirty="0"/>
              <a:t> SNCR + 1,46M </a:t>
            </a:r>
            <a:r>
              <a:rPr sz="1200" dirty="0" err="1"/>
              <a:t>imóveis</a:t>
            </a:r>
            <a:r>
              <a:rPr sz="1200" dirty="0"/>
              <a:t> SICAR + 501K SIGEF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Modelagem</a:t>
            </a:r>
            <a:r>
              <a:rPr sz="1200" dirty="0"/>
              <a:t> RUSLE/MMF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200" dirty="0" err="1"/>
              <a:t>Erosividade</a:t>
            </a:r>
            <a:r>
              <a:rPr sz="1200" dirty="0"/>
              <a:t> R, </a:t>
            </a:r>
            <a:r>
              <a:rPr sz="1200" dirty="0" err="1"/>
              <a:t>Erodibilidade</a:t>
            </a:r>
            <a:r>
              <a:rPr sz="1200" dirty="0"/>
              <a:t> K e Fator </a:t>
            </a:r>
            <a:r>
              <a:rPr sz="1200" dirty="0" err="1"/>
              <a:t>Topográfico</a:t>
            </a:r>
            <a:r>
              <a:rPr sz="1200" dirty="0"/>
              <a:t> LS </a:t>
            </a:r>
            <a:r>
              <a:rPr sz="1200" dirty="0" err="1"/>
              <a:t>métrico</a:t>
            </a:r>
            <a:endParaRPr sz="1200" dirty="0"/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Rastreabilidade</a:t>
            </a:r>
            <a:r>
              <a:rPr sz="1200" dirty="0"/>
              <a:t> </a:t>
            </a:r>
            <a:r>
              <a:rPr sz="1200" dirty="0" err="1"/>
              <a:t>Pericial</a:t>
            </a:r>
            <a:endParaRPr sz="1200" dirty="0"/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200" dirty="0" err="1"/>
              <a:t>Geração</a:t>
            </a:r>
            <a:r>
              <a:rPr sz="1200" dirty="0"/>
              <a:t> de </a:t>
            </a:r>
            <a:r>
              <a:rPr sz="1200" dirty="0" err="1"/>
              <a:t>laudos</a:t>
            </a:r>
            <a:r>
              <a:rPr sz="1200" dirty="0"/>
              <a:t> com hash </a:t>
            </a:r>
            <a:r>
              <a:rPr sz="1200" dirty="0" err="1"/>
              <a:t>criptográfico</a:t>
            </a:r>
            <a:r>
              <a:rPr sz="1200" dirty="0"/>
              <a:t> SHA-256 e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58368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rPr dirty="0"/>
              <a:t>PROGRAMA DE PÓS-GRADUAÇÃO EM TECNOLOGIA E GESTÃO AMBIENTAL (PPGTCA 2026)</a:t>
            </a:r>
          </a:p>
          <a:p>
            <a:pPr>
              <a:spcBef>
                <a:spcPts val="1400"/>
              </a:spcBef>
              <a:defRPr sz="2800" b="1">
                <a:solidFill>
                  <a:srgbClr val="FFFFFF"/>
                </a:solidFill>
              </a:defRPr>
            </a:pPr>
            <a:r>
              <a:rPr dirty="0"/>
              <a:t>Plataforma Geodesic</a:t>
            </a:r>
            <a:r>
              <a:rPr lang="pt-BR" dirty="0"/>
              <a:t>a</a:t>
            </a:r>
            <a:r>
              <a:rPr dirty="0"/>
              <a:t> para </a:t>
            </a:r>
            <a:r>
              <a:rPr dirty="0" err="1"/>
              <a:t>Identificação</a:t>
            </a:r>
            <a:r>
              <a:rPr dirty="0"/>
              <a:t> de </a:t>
            </a:r>
            <a:r>
              <a:rPr dirty="0" err="1"/>
              <a:t>Erosão</a:t>
            </a:r>
            <a:r>
              <a:rPr dirty="0"/>
              <a:t> Laminar &amp; </a:t>
            </a:r>
            <a:r>
              <a:rPr lang="pt-BR" dirty="0"/>
              <a:t>Integração</a:t>
            </a:r>
            <a:r>
              <a:rPr dirty="0"/>
              <a:t> </a:t>
            </a:r>
            <a:r>
              <a:rPr dirty="0" err="1"/>
              <a:t>Fundiária</a:t>
            </a:r>
            <a:endParaRPr dirty="0"/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dirty="0" err="1"/>
              <a:t>Sensoriamento</a:t>
            </a:r>
            <a:r>
              <a:rPr dirty="0"/>
              <a:t> </a:t>
            </a:r>
            <a:r>
              <a:rPr dirty="0" err="1"/>
              <a:t>Remoto</a:t>
            </a:r>
            <a:r>
              <a:rPr dirty="0"/>
              <a:t> Orbital (Copernicus/GEE), </a:t>
            </a:r>
            <a:r>
              <a:rPr dirty="0" err="1"/>
              <a:t>Modelagem</a:t>
            </a:r>
            <a:r>
              <a:rPr dirty="0"/>
              <a:t> RUSLE </a:t>
            </a:r>
            <a:r>
              <a:rPr dirty="0" err="1"/>
              <a:t>Geodésica</a:t>
            </a:r>
            <a:r>
              <a:rPr dirty="0"/>
              <a:t> e Fusão de Dados SICAR, SIGEF e SNCR/</a:t>
            </a:r>
            <a:r>
              <a:rPr dirty="0" err="1"/>
              <a:t>Receita</a:t>
            </a:r>
            <a:r>
              <a:rPr dirty="0"/>
              <a:t> Federal</a:t>
            </a:r>
          </a:p>
          <a:p>
            <a:pPr>
              <a:spcBef>
                <a:spcPts val="2400"/>
              </a:spcBef>
              <a:defRPr sz="1100" b="1">
                <a:solidFill>
                  <a:srgbClr val="10B981"/>
                </a:solidFill>
              </a:defRPr>
            </a:pPr>
            <a:r>
              <a:rPr dirty="0" err="1"/>
              <a:t>Pesquisador</a:t>
            </a:r>
            <a:r>
              <a:rPr dirty="0"/>
              <a:t>: Luis Alfredo | </a:t>
            </a:r>
            <a:r>
              <a:rPr dirty="0" err="1"/>
              <a:t>Mestrando</a:t>
            </a:r>
            <a:r>
              <a:rPr dirty="0"/>
              <a:t> PPGTCA 2026</a:t>
            </a:r>
            <a:br>
              <a:rPr dirty="0"/>
            </a:br>
            <a:r>
              <a:rPr dirty="0" err="1"/>
              <a:t>Linha</a:t>
            </a:r>
            <a:r>
              <a:rPr dirty="0"/>
              <a:t> de Pesquisa: </a:t>
            </a:r>
            <a:r>
              <a:rPr dirty="0" err="1"/>
              <a:t>Geotecnologias</a:t>
            </a:r>
            <a:r>
              <a:rPr dirty="0"/>
              <a:t> </a:t>
            </a:r>
            <a:r>
              <a:rPr dirty="0" err="1"/>
              <a:t>Aplicadas</a:t>
            </a:r>
            <a:r>
              <a:rPr dirty="0"/>
              <a:t> à </a:t>
            </a:r>
            <a:r>
              <a:rPr dirty="0" err="1"/>
              <a:t>Conservação</a:t>
            </a:r>
            <a:r>
              <a:rPr dirty="0"/>
              <a:t> do Solo e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Hídricos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Contexto da Pesquisa &amp; O Desafio da Erosão Laminar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Invisível</a:t>
            </a:r>
            <a:endParaRPr dirty="0"/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rPr dirty="0"/>
              <a:t>A </a:t>
            </a:r>
            <a:r>
              <a:rPr dirty="0" err="1"/>
              <a:t>erosão</a:t>
            </a:r>
            <a:r>
              <a:rPr dirty="0"/>
              <a:t> laminar remove </a:t>
            </a:r>
            <a:r>
              <a:rPr dirty="0" err="1"/>
              <a:t>uniformemente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horizontes</a:t>
            </a:r>
            <a:r>
              <a:rPr dirty="0"/>
              <a:t> </a:t>
            </a:r>
            <a:r>
              <a:rPr dirty="0" err="1"/>
              <a:t>superficiais</a:t>
            </a:r>
            <a:r>
              <a:rPr dirty="0"/>
              <a:t> </a:t>
            </a:r>
            <a:r>
              <a:rPr dirty="0" err="1"/>
              <a:t>férteis</a:t>
            </a:r>
            <a:r>
              <a:rPr dirty="0"/>
              <a:t> do solo </a:t>
            </a:r>
            <a:r>
              <a:rPr dirty="0" err="1"/>
              <a:t>agrícola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abrir</a:t>
            </a:r>
            <a:r>
              <a:rPr dirty="0"/>
              <a:t> </a:t>
            </a:r>
            <a:r>
              <a:rPr dirty="0" err="1"/>
              <a:t>sulcos</a:t>
            </a:r>
            <a:r>
              <a:rPr dirty="0"/>
              <a:t> </a:t>
            </a:r>
            <a:r>
              <a:rPr dirty="0" err="1"/>
              <a:t>visíveis</a:t>
            </a:r>
            <a:r>
              <a:rPr dirty="0"/>
              <a:t> de </a:t>
            </a:r>
            <a:r>
              <a:rPr dirty="0" err="1"/>
              <a:t>imediato</a:t>
            </a:r>
            <a:r>
              <a:rPr dirty="0"/>
              <a:t>. Quando as </a:t>
            </a:r>
            <a:r>
              <a:rPr dirty="0" err="1"/>
              <a:t>voçorocas</a:t>
            </a:r>
            <a:r>
              <a:rPr dirty="0"/>
              <a:t> </a:t>
            </a:r>
            <a:r>
              <a:rPr dirty="0" err="1"/>
              <a:t>aparecem</a:t>
            </a:r>
            <a:r>
              <a:rPr dirty="0"/>
              <a:t>, </a:t>
            </a:r>
            <a:r>
              <a:rPr dirty="0" err="1"/>
              <a:t>toneladas</a:t>
            </a:r>
            <a:r>
              <a:rPr dirty="0"/>
              <a:t> de </a:t>
            </a:r>
            <a:r>
              <a:rPr dirty="0" err="1"/>
              <a:t>carbono</a:t>
            </a:r>
            <a:r>
              <a:rPr dirty="0"/>
              <a:t> </a:t>
            </a:r>
            <a:r>
              <a:rPr dirty="0" err="1"/>
              <a:t>orgânico</a:t>
            </a:r>
            <a:r>
              <a:rPr dirty="0"/>
              <a:t> e </a:t>
            </a:r>
            <a:r>
              <a:rPr dirty="0" err="1"/>
              <a:t>nutrientes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carreados</a:t>
            </a:r>
            <a:r>
              <a:rPr dirty="0"/>
              <a:t> para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rios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Gargalo da Amostragem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Vistorias de campo convencionais são lentas, caras e cobrem áreas restritas. Faltam ferramentas computacionais que unam sensoriamento remoto de alta frequência temporal com a malha cadastral das propriedades rurais.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 Solução Desenvolvida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Um sistema que automatiza a triagem satelital com Google Earth Engine (Sentinel-2), quantifica a perda de solo por RUSLE/MMF e cruza espacialmente com quase 4,5M de registros oficiais fundiários em milissegundos.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Arquitetura Tecnológica da Plataforma (Full-Stack)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3716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52704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Interface do Usuário (Frontend)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Next.js 14 (App Router) • React 18 • TypeScript • Tailwind CSS • Lucide Icons • MapLibre GL / Mapbox para visualização de ortomosaicos satelitais e perímetros vetoriais com alta taxa de quadros (60 FPS).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3716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76148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Camada de API &amp; Orquestração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API Routes serverless (/api/gee/* e /api/fundiario/*) com sanitização rigorosa de parâmetros, execução assíncrona com timeout de resiliência e controle de sessão OAuth2 com o Google Cloud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13716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9592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Motor Geodésico &amp; Processamento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Google Earth Engine Python API (Serverless Cloud Processing) integrado com scripts locais em Python (Shapely, PyShp, NumPy) para análise espectral, cálculo de declividade corrigida e point-in-polygon.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3716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23036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Banco de Dados Espacial Local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SQLite com extensão virtual R*Tree indexando 1,46M de propriedades SICAR, 501K parcelas certificadas SIGEF e 2,46M de cadastros alfanuméricos SNCR/Receita Federal com tempos de resposta &lt; 5ms.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Origem dos Dados: Satélites, Relevo, Cobertura e Pedologia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Sentinel-2 MSI (Copernicus)</a:t>
            </a:r>
          </a:p>
          <a:p>
            <a:pPr>
              <a:spcBef>
                <a:spcPts val="200"/>
              </a:spcBef>
              <a:defRPr sz="950" b="1">
                <a:solidFill>
                  <a:srgbClr val="065F46"/>
                </a:solidFill>
              </a:defRPr>
            </a:pPr>
            <a:r>
              <a:t>Fonte Oficial: Agência Espacial Europeia (ESA)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Bandas B2, B3, B4, B8, B11, B12 a 10m/20m. Refletância de Superfície Nível 2A (BOA). Mosaicos sem nuvens dos últimos 120 dias filtrando aerossóis e cirrus.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SRTM 30m / DEM HydroSHEDS</a:t>
            </a:r>
          </a:p>
          <a:p>
            <a:pPr>
              <a:spcBef>
                <a:spcPts val="200"/>
              </a:spcBef>
              <a:defRPr sz="950" b="1">
                <a:solidFill>
                  <a:srgbClr val="065F46"/>
                </a:solidFill>
              </a:defRPr>
            </a:pPr>
            <a:r>
              <a:t>Fonte Oficial: NASA / USGS / WWF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Modelo Digital de Elevação corrigido para análise hidrológica. Extração de direção de escoamento superficial, acúmulo de fluxo e gradiente de rampa.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MapBiomas Brasil (Coleção 8/9)</a:t>
            </a:r>
          </a:p>
          <a:p>
            <a:pPr>
              <a:spcBef>
                <a:spcPts val="200"/>
              </a:spcBef>
              <a:defRPr sz="950" b="1">
                <a:solidFill>
                  <a:srgbClr val="065F46"/>
                </a:solidFill>
              </a:defRPr>
            </a:pPr>
            <a:r>
              <a:t>Fonte Oficial: Rede MapBiomas / Observatório do Clima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Classificação de uso e cobertura da terra a 30m anual. Permite filtrar lavouras temporárias e pastagens, excluindo florestas primárias e massas d'água de falsos positivos.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Base Pedológica Nacional</a:t>
            </a:r>
          </a:p>
          <a:p>
            <a:pPr>
              <a:spcBef>
                <a:spcPts val="200"/>
              </a:spcBef>
              <a:defRPr sz="950" b="1">
                <a:solidFill>
                  <a:srgbClr val="065F46"/>
                </a:solidFill>
              </a:defRPr>
            </a:pPr>
            <a:r>
              <a:t>Fonte Oficial: Embrapa Solos / IBGE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Classes taxonômicas do SiBCS (Latossolos, Nitossolos, Neossolos, Cambissolos) para determinação empírica do Fator K de erodibilidade dos solos brasileiros.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Cálculo da Perda de Solo: Equação Universal Revisada (RUSLE)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F46"/>
                </a:solidFill>
              </a:defRPr>
            </a:pPr>
            <a:r>
              <a:t>A = R × K × LS × C × P   [Estimativa de Perda de Solo em t / (ha · ano)]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47472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 (Erosividade)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Energia cinética e intensidade pluvial anual (MJ·mm/ha·h·ano), calibrada para os regimes tropicais e subtropicais do Sul e Sudeste.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68880"/>
            <a:ext cx="347472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K (Erodibilidade)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Suscetibilidade intrínseca da ordem de solo: Latossolos (0.015-0.025), Nitossolos (0.025-0.035), Argissolos/Neossolos (0.040-0.060 t·h/MJ·mm).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468880"/>
            <a:ext cx="347472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60604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LS (Topografia)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Comprimento e gradiente de rampa com Correção Geodésica em Projeção EPSG:3857 a 10m, eliminando distorções de coordenadas esféricas.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4480560"/>
            <a:ext cx="347472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46177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 (Uso e Cobertura)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Fator de proteção do dossel vegetal calculado dinamicamente através de NDVI e NDRE do Sentinel-2 no período crítico de solo descoberto.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480560"/>
            <a:ext cx="3474720" cy="1783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6177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 (Práticas de Manejo)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Ponderação de terraceamento, curvas de nível e plantio direto vs. preparo convencional e solo sem contenção mecânica.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Algoritmo de Seleção Automática dos Top-N Focos Críticos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82496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82496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572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Etapa 1: Filtragem por Máscara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O algoritmo recorta o polígono da bacia hidrográfica e aplica máscara de exclusão sobre água, florestas nativas e áreas urbanas, focando estritamente em áreas agrícolas e pastagens suscetíveis.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916936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16936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0720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Etapa 2: Análise Multiespectral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Varredura na cena Sentinel-2 calculando NDVI (vigor vegetal), NBR2 (umidade/matéria orgânica) e índice de solo exposto BSI (Bare Soil Index) para detectar talhões com exposição crítica pré-plantio.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151376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6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04164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Etapa 3: Cálculo do Risco Integrado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Composição do Priority Score (0 a 100): 40% Perda de Solo Estimada (RUSLE) + 25% Declividade e Fator LS + 20% Exposição de Solo + 15% Proximidade a Cursos D'água (risco de assoreamento).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5385816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85816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27608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Etapa 4: Re-eleição Dinâmica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Caso o agrônomo ou perito descarte um candidato em campo (ex: falso positivo por terraplanagem), o sistema executa a re-eleição imediata do próximo foco mais crítico na bacia com 1 clique.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 Novo Pipeline Fundiário: Cruzamento Espacial + Alfanumérico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Inovação para superar as restrições da LGPD e identificar o produtor rural legalmente: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5146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Coordenada Orbital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Foco de erosão detectado via satélite no talhão (Latitude, Longitude em WGS84).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5146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R*Tree Espacial (SICAR)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Identifica o Código CAR Oficial do Ministério do Meio Ambiente e a área total (ha).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5146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R*Tree Espacial (SIGEF)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Resgata a Gleba Certificada pelo INCRA, Matrícula no Cartório (CRI) e ART do CREA.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5146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Database Merge (SNCR)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Fusão alfanumérica por código do imóvel e matrícula na base de dados abertos da Receita Federal.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As Três Fontes Oficiais Integradas no Banco Local (Quase 4,5M Registros)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SICAR / MMA</a:t>
            </a:r>
          </a:p>
          <a:p>
            <a:pPr>
              <a:spcBef>
                <a:spcPts val="200"/>
              </a:spcBef>
              <a:defRPr sz="1100" b="1">
                <a:solidFill>
                  <a:srgbClr val="065F46"/>
                </a:solidFill>
              </a:defRPr>
            </a:pPr>
            <a:r>
              <a:t>1.462.268 Imóveis Rurais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Paraná: 559.899 | SC: 422.385 | SP: 479.984</a:t>
            </a:r>
          </a:p>
          <a:p>
            <a:pPr>
              <a:spcBef>
                <a:spcPts val="1400"/>
              </a:spcBef>
              <a:defRPr sz="1000">
                <a:solidFill>
                  <a:srgbClr val="475569"/>
                </a:solidFill>
              </a:defRPr>
            </a:pPr>
            <a:r>
              <a:t>• Fornece o Código CAR oficial federal</a:t>
            </a:r>
            <a:br/>
            <a:r>
              <a:t>• Módulos Fiscais e Área Declarada</a:t>
            </a:r>
            <a:br/>
            <a:r>
              <a:t>• Situação Cadastral (Ativo/Pendente)</a:t>
            </a:r>
            <a:br/>
            <a:r>
              <a:t>• Polígono Vetorial do Perímetro da Fazenda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SIGEF / INCRA</a:t>
            </a:r>
          </a:p>
          <a:p>
            <a:pPr>
              <a:spcBef>
                <a:spcPts val="200"/>
              </a:spcBef>
              <a:defRPr sz="1100" b="1">
                <a:solidFill>
                  <a:srgbClr val="065F46"/>
                </a:solidFill>
              </a:defRPr>
            </a:pPr>
            <a:r>
              <a:t>501.183 Parcelas Certificadas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Paraná: 170.046 | SC: 111.747 | SP: 219.390</a:t>
            </a:r>
          </a:p>
          <a:p>
            <a:pPr>
              <a:spcBef>
                <a:spcPts val="1400"/>
              </a:spcBef>
              <a:defRPr sz="1000">
                <a:solidFill>
                  <a:srgbClr val="475569"/>
                </a:solidFill>
              </a:defRPr>
            </a:pPr>
            <a:r>
              <a:t>• Lei Federal do Georreferenciamento (10.267)</a:t>
            </a:r>
            <a:br/>
            <a:r>
              <a:t>• Denominação oficial da fazenda/gleba</a:t>
            </a:r>
            <a:br/>
            <a:r>
              <a:t>• Número da Matrícula no Cartório (CRI)</a:t>
            </a:r>
            <a:br/>
            <a:r>
              <a:t>• ART do CREA do engenheiro agrimensor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SNCR / Receita Federal</a:t>
            </a:r>
          </a:p>
          <a:p>
            <a:pPr>
              <a:spcBef>
                <a:spcPts val="200"/>
              </a:spcBef>
              <a:defRPr sz="1100" b="1">
                <a:solidFill>
                  <a:srgbClr val="065F46"/>
                </a:solidFill>
              </a:defRPr>
            </a:pPr>
            <a:r>
              <a:t>2.464.653 Cadastros de Titulares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Paraná: 957.183 | SC: 625.516 | SP: 881.954</a:t>
            </a:r>
          </a:p>
          <a:p>
            <a:pPr>
              <a:spcBef>
                <a:spcPts val="1400"/>
              </a:spcBef>
              <a:defRPr sz="1000">
                <a:solidFill>
                  <a:srgbClr val="475569"/>
                </a:solidFill>
              </a:defRPr>
            </a:pPr>
            <a:r>
              <a:t>• Dados Cadastrais Abertos do INCRA / RFB</a:t>
            </a:r>
            <a:br/>
            <a:r>
              <a:t>• Nome do Titular / Proprietário</a:t>
            </a:r>
            <a:br/>
            <a:r>
              <a:t>• Natureza Jurídica e Condição da Pessoa</a:t>
            </a:r>
            <a:br/>
            <a:r>
              <a:t>• Percentual de Detenção da Propriedade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 Espacial: Indexação R*Tree e Visualização Vetorial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Indexação R*Tree no SQLite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Em vez de percorrer milhões de linhas por força bruta, criamos árvores R*Tree multidimensionais no SQLite. A busca da coordenada em PR, SC ou SP é resolvida em menos de 5 milissegundos.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Verificação Topológica Point-in-Polygon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Quando ocorrem sobreposições na Bounding Box, o motor invoca algoritmos de topologia computacional via Shapely com os arquivos vetoriais em cache, confirmando a inclusão geométrica exata.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Projeção do Perímetro sob Demanda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O botão 'Visualizar Perímetro no Mapa' busca as coordenadas vetoriais do CAR, projeta uma camada GeoJSON semitransparente em verde-esmeralda e ajusta o zoom da câmera automaticamente (fitBounds).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05072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Resiliência para Divisas e Carreadores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Caso o ponto de erosão laminar caia exatamente na borda de um carreador ou cerca, o motor possui buffer de proximidade geodésica para associar ao imóvel confrontante correto.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Dossiê de Auditoria &amp; Laudo Pericial em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Metodologia Científica Passo a Passo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O laudo descreve detalhadamente cada etapa pericial: aquisição orbital Sentinel-2, índices espectrais (NDVI/NBR2), correção topográfica DEM e classificação pedológica SiBCS.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80720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Rastreabilidade &amp; Integridade Criptográfica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Cada documento gerado inclui a data/hora exata UTC da amostragem e um Hash SHA-256 de validação pericial, garantindo autenticidade jurídica e reprodutibilidade acadêmica.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4164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Dados Fundiários Completos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Quadro estruturado com Nome da Fazenda, Matrícula no Cartório (CRI), Código CAR, Titularidade SNCR e área total em hectares, com layout dinâmico imune a sobreposição de textos.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6984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27608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Opção de Edição Manual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Permite ao pesquisador completar o sobrenome de produtores ou inserir anotações de entrevistas de campo caso o registro possua proteção ou máscara fiscal.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MESTRADO PPGTCA 2026 • GESTÃO &amp; TECNOLOGIA AMBIENTAL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Exportação Versátil de Dados e Interoperabilidade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Geodesic AI • Sistema Integrado de Detecção de Erosão Laminar e Auditoria Fundiária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PDF Pericial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Documento formal de auditoria com diagramação vetorial precisa, tabelas estruturadas, coordenadas DMS e assinatura metodológica.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GeoJSON Oficial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Formato aberto padrão para sistemas SIG modernos, com atributos de perda de solo, fatores RUSLE e dados do CAR embutidos.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KML (Google Earth)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Arquivo de visualização 3D para navegação imersiva no Google Earth Web ou Desktop, permitindo sobrevoo sobre os focos.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920240"/>
            <a:ext cx="2240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CSV para Machine Learning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Dataset formatado com atributos de sensoriamento remoto, elevação, solo e alvos de erosão para treinamento de redes neurais.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CONCLUSÃO &amp; CONTRIBUIÇÃO CIENTÍFICA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Inovação Tecnológica Aplicada à Conservação de Solos e Gestão Ambiental</a:t>
            </a:r>
          </a:p>
          <a:p>
            <a:pPr>
              <a:spcBef>
                <a:spcPts val="1800"/>
              </a:spcBef>
              <a:defRPr sz="1300">
                <a:solidFill>
                  <a:srgbClr val="94A3B8"/>
                </a:solidFill>
              </a:defRPr>
            </a:pPr>
            <a:r>
              <a:t>• Transição do monitoramento pontual passivo para a triagem orbital proativa e automatizada.</a:t>
            </a:r>
            <a:br/>
            <a:r>
              <a:t>• Solução inédita de fusão espacial e alfanumérica (SICAR + SIGEF + SNCR) com conformidade à LGPD.</a:t>
            </a:r>
            <a:br/>
            <a:r>
              <a:t>• Rigor metodológico embasado na Equação Universal de Perda de Solo com correção geodésica.</a:t>
            </a:r>
            <a:br/>
            <a:r>
              <a:t>• Plataforma aberta e pronta para replicação em qualquer bacia hidrográfica do território nacional.</a:t>
            </a:r>
            <a:br/>
            <a:br/>
            <a:r>
              <a:t>Mestrado Profissional em Tecnologia e Gestão Ambiental (PPGTCA 2026)</a:t>
            </a:r>
            <a:br/>
            <a:r>
              <a:t>Autor: Luis Alfredo • Contato: PPGTCA / UFPR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1955</Words>
  <Application>Microsoft Office PowerPoint</Application>
  <PresentationFormat>Ecrã Panorâmico</PresentationFormat>
  <Paragraphs>140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Alfredo</cp:lastModifiedBy>
  <cp:revision>2</cp:revision>
  <dcterms:created xsi:type="dcterms:W3CDTF">2013-01-27T09:14:16Z</dcterms:created>
  <dcterms:modified xsi:type="dcterms:W3CDTF">2026-09-03T04:58:29Z</dcterms:modified>
  <cp:category/>
</cp:coreProperties>
</file>