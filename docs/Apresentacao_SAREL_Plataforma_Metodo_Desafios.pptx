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 Onde entra a série temporal: a frequência de solo nu, calculada sobre a fração de cenas Sentinel-2 válidas de 2016 a 2026, é o eixo de solo nu dos estratos; as métricas da série, como persistência e maior sequência de solo nu, também alimentam os preditores do modelo; e há um mínimo de 6 observações válidas por célula e janela, abaixo do qual a métrica é indisponível, não deflacionada. A frequência de solo nu ainda não foi medida, por falta da credencial do Google Earth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Aeronave: Spectral 2, da Nuvem UAV, com a câmera multiespectral MicaSense Altum; há 3 baterias disponíveis. Quantidade de voos: são 72 polígonos de 5,02 ha, ou seja, 72 missões de mapeamento, uma por polígono; eram 36 no desenho anterior. Por que 72: é a estrutura de 18 estratos com 4 polígonos cada. A área total, de cerca de 361 ha, é o que o custo de voo suporta e rende cerca de 1.845 unidades espacialmente independentes (D24), no limite para o bloco espectral e abaixo do recomendado para solo, chuva e terreno. Tempo: o plano de voo para 4 cm de resolução usa altitude de 92,8 m, cerca de 7 linhas e 123 disparos por polígono, com velocidade medida de 8,7 a 9,2 m/s nos logs reais; isso dá cerca de 3 minutos de mapeamento por polígono, mais as curvas. Em horas, são pelo menos 3,6 h de mapeamento nos 72 polígonos, sem contar decolagem, pouso, troca de bateria e deslocamento, que dominam a campanha. Com teto padrão de 6 polígonos por jornada, são cerca de 12 jornadas e dois polígonos por bateria; isso é compatível com as duas missões já voadas, de 9 a 13 minutos, mas a autonomia útil de cada bateria ainda precisa ser confirmada. Nas duas missões medidas a produtividade foi de 2,3 ha/min na Missão 009 e 0,53 ha/min na 000, de modo que o tempo real pode ser maior que o planejado. Há ainda 72 autorizações de proprietário a obter.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 Há ainda um quarto desfecho, independente dos três: se a regressão penalizada empatar com o XGBoost ou vencê-lo dentro do intervalo, a hipótese de que é preciso um ensemble de árvores fica refutada, mesmo que o sensoriamento remoto vença o RUSLE. São resultados distintos e ambos publicáveis; o segundo indicaria que o ganho está nos preditores e não na flexibilidade do algoritmo.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914400"/>
            <a:ext cx="2468880" cy="1783080"/>
          </a:xfrm>
          <a:prstGeom prst="roundRect">
            <a:avLst>
              <a:gd name="adj" fmla="val 4103"/>
            </a:avLst>
          </a:prstGeom>
          <a:solidFill>
            <a:srgbClr val="EEF3EF"/>
          </a:solidFill>
          <a:ln w="12700">
            <a:solidFill>
              <a:srgbClr val="EEF3EF"/>
            </a:solidFill>
            <a:prstDash val="solid"/>
          </a:ln>
        </p:spPr>
      </p:sp>
      <p:sp>
        <p:nvSpPr>
          <p:cNvPr id="6" name="Text 3"/>
          <p:cNvSpPr txBox="1"/>
          <p:nvPr/>
        </p:nvSpPr>
        <p:spPr>
          <a:xfrm>
            <a:off x="59436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050" dirty="0"/>
          </a:p>
        </p:txBody>
      </p:sp>
      <p:sp>
        <p:nvSpPr>
          <p:cNvPr id="9" name="Text 6"/>
          <p:cNvSpPr txBox="1"/>
          <p:nvPr/>
        </p:nvSpPr>
        <p:spPr>
          <a:xfrm>
            <a:off x="292608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914400"/>
            <a:ext cx="2468880" cy="1783080"/>
          </a:xfrm>
          <a:prstGeom prst="roundRect">
            <a:avLst>
              <a:gd name="adj" fmla="val 4103"/>
            </a:avLst>
          </a:prstGeom>
          <a:solidFill>
            <a:srgbClr val="EEF3EF"/>
          </a:solidFill>
          <a:ln w="12700">
            <a:solidFill>
              <a:srgbClr val="EEF3EF"/>
            </a:solidFill>
            <a:prstDash val="solid"/>
          </a:ln>
        </p:spPr>
      </p:sp>
      <p:sp>
        <p:nvSpPr>
          <p:cNvPr id="11" name="Text 8"/>
          <p:cNvSpPr txBox="1"/>
          <p:nvPr/>
        </p:nvSpPr>
        <p:spPr>
          <a:xfrm>
            <a:off x="342900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050" dirty="0"/>
          </a:p>
        </p:txBody>
      </p:sp>
      <p:sp>
        <p:nvSpPr>
          <p:cNvPr id="14" name="Text 11"/>
          <p:cNvSpPr txBox="1"/>
          <p:nvPr/>
        </p:nvSpPr>
        <p:spPr>
          <a:xfrm>
            <a:off x="5760720" y="15544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914400"/>
            <a:ext cx="2468880" cy="1783080"/>
          </a:xfrm>
          <a:prstGeom prst="roundRect">
            <a:avLst>
              <a:gd name="adj" fmla="val 4103"/>
            </a:avLst>
          </a:prstGeom>
          <a:solidFill>
            <a:srgbClr val="EEF3EF"/>
          </a:solidFill>
          <a:ln w="12700">
            <a:solidFill>
              <a:srgbClr val="EEF3EF"/>
            </a:solidFill>
            <a:prstDash val="solid"/>
          </a:ln>
        </p:spPr>
      </p:sp>
      <p:sp>
        <p:nvSpPr>
          <p:cNvPr id="16" name="Text 13"/>
          <p:cNvSpPr txBox="1"/>
          <p:nvPr/>
        </p:nvSpPr>
        <p:spPr>
          <a:xfrm>
            <a:off x="6263640" y="987552"/>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325880"/>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627632"/>
            <a:ext cx="2194560" cy="1051560"/>
          </a:xfrm>
          <a:prstGeom prst="rect">
            <a:avLst/>
          </a:prstGeom>
          <a:noFill/>
          <a:ln/>
        </p:spPr>
        <p:txBody>
          <a:bodyPr wrap="square" lIns="0" tIns="0" rIns="0" bIns="0" rtlCol="0" anchor="t"/>
          <a:lstStyle/>
          <a:p>
            <a:pPr indent="0" marL="0">
              <a:buNone/>
            </a:pPr>
            <a:r>
              <a:rPr lang="en-US" sz="1050" dirty="0">
                <a:solidFill>
                  <a:srgbClr val="1B2A22"/>
                </a:solidFill>
                <a:latin typeface="Calibri" pitchFamily="34" charset="0"/>
                <a:ea typeface="Calibri" pitchFamily="34" charset="-122"/>
                <a:cs typeface="Calibri" pitchFamily="34" charset="-120"/>
              </a:rPr>
              <a:t>Carta Embrapa 2024. Nível 1: muito baixa a média (K ≤ 0,0285). Nível 2: alta e muito alta (K ≥ 0,0300); a extremamente alta entra por emenda em registro.</a:t>
            </a:r>
            <a:endParaRPr lang="en-US" sz="1050" dirty="0"/>
          </a:p>
        </p:txBody>
      </p:sp>
      <p:sp>
        <p:nvSpPr>
          <p:cNvPr id="19" name="Text 16"/>
          <p:cNvSpPr txBox="1"/>
          <p:nvPr/>
        </p:nvSpPr>
        <p:spPr>
          <a:xfrm>
            <a:off x="457200" y="2788920"/>
            <a:ext cx="8229600" cy="320040"/>
          </a:xfrm>
          <a:prstGeom prst="rect">
            <a:avLst/>
          </a:prstGeom>
          <a:noFill/>
          <a:ln/>
        </p:spPr>
        <p:txBody>
          <a:bodyPr wrap="square" lIns="0" tIns="0" rIns="0" bIns="0" rtlCol="0" anchor="t"/>
          <a:lstStyle/>
          <a:p>
            <a:pPr indent="0" marL="0">
              <a:buNone/>
            </a:pPr>
            <a:r>
              <a:rPr lang="en-US" sz="14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400" dirty="0"/>
          </a:p>
        </p:txBody>
      </p:sp>
      <p:sp>
        <p:nvSpPr>
          <p:cNvPr id="20" name="Text 17"/>
          <p:cNvSpPr txBox="1"/>
          <p:nvPr/>
        </p:nvSpPr>
        <p:spPr>
          <a:xfrm>
            <a:off x="457200" y="3154680"/>
            <a:ext cx="8229600" cy="731520"/>
          </a:xfrm>
          <a:prstGeom prst="rect">
            <a:avLst/>
          </a:prstGeom>
          <a:noFill/>
          <a:ln/>
        </p:spPr>
        <p:txBody>
          <a:bodyPr wrap="square" lIns="0" tIns="0" rIns="0" bIns="0" rtlCol="0" anchor="t"/>
          <a:lstStyle/>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 maior interesse</a:t>
            </a:r>
            <a:endParaRPr lang="en-US" sz="1050" dirty="0"/>
          </a:p>
          <a:p>
            <a:pPr marL="342900" indent="-342900">
              <a:spcAft>
                <a:spcPts val="200"/>
              </a:spcAft>
              <a:buSzPct val="100000"/>
              <a:buChar char="•"/>
            </a:pPr>
            <a:r>
              <a:rPr lang="en-US" sz="1050" dirty="0">
                <a:solidFill>
                  <a:srgbClr val="1B2A22"/>
                </a:solidFill>
                <a:latin typeface="Calibri" pitchFamily="34" charset="0"/>
                <a:ea typeface="Calibri" pitchFamily="34" charset="-122"/>
                <a:cs typeface="Calibri" pitchFamily="34" charset="-120"/>
              </a:rPr>
              <a:t>Tercil: três grupos de tamanho aproximado; o corte é calculado sobre os candidatos da própria área e empates caem no grupo mais baixo</a:t>
            </a:r>
            <a:endParaRPr lang="en-US" sz="1050" dirty="0"/>
          </a:p>
        </p:txBody>
      </p:sp>
      <p:sp>
        <p:nvSpPr>
          <p:cNvPr id="21" name="Shape 18"/>
          <p:cNvSpPr/>
          <p:nvPr/>
        </p:nvSpPr>
        <p:spPr>
          <a:xfrm>
            <a:off x="457200" y="3886200"/>
            <a:ext cx="8229600" cy="822960"/>
          </a:xfrm>
          <a:prstGeom prst="roundRect">
            <a:avLst>
              <a:gd name="adj" fmla="val 8889"/>
            </a:avLst>
          </a:prstGeom>
          <a:solidFill>
            <a:srgbClr val="FBEFE6"/>
          </a:solidFill>
          <a:ln w="12700">
            <a:solidFill>
              <a:srgbClr val="FBEFE6"/>
            </a:solidFill>
            <a:prstDash val="solid"/>
          </a:ln>
        </p:spPr>
      </p:sp>
      <p:sp>
        <p:nvSpPr>
          <p:cNvPr id="22" name="Text 19"/>
          <p:cNvSpPr txBox="1"/>
          <p:nvPr/>
        </p:nvSpPr>
        <p:spPr>
          <a:xfrm>
            <a:off x="594360" y="3922776"/>
            <a:ext cx="7955280" cy="228600"/>
          </a:xfrm>
          <a:prstGeom prst="rect">
            <a:avLst/>
          </a:prstGeom>
          <a:noFill/>
          <a:ln/>
        </p:spPr>
        <p:txBody>
          <a:bodyPr wrap="square" lIns="0" tIns="0" rIns="0" bIns="0" rtlCol="0" anchor="t"/>
          <a:lstStyle/>
          <a:p>
            <a:pPr indent="0" marL="0">
              <a:buNone/>
            </a:pPr>
            <a:r>
              <a:rPr lang="en-US" sz="1150" b="1" dirty="0">
                <a:solidFill>
                  <a:srgbClr val="C65D3B"/>
                </a:solidFill>
                <a:latin typeface="Cambria" pitchFamily="34" charset="0"/>
                <a:ea typeface="Cambria" pitchFamily="34" charset="-122"/>
                <a:cs typeface="Cambria" pitchFamily="34" charset="-120"/>
              </a:rPr>
              <a:t>Onde entra a série temporal (Sentinel-2, 2016–2026)</a:t>
            </a:r>
            <a:endParaRPr lang="en-US" sz="1150" dirty="0"/>
          </a:p>
        </p:txBody>
      </p:sp>
      <p:sp>
        <p:nvSpPr>
          <p:cNvPr id="23" name="Text 20"/>
          <p:cNvSpPr txBox="1"/>
          <p:nvPr/>
        </p:nvSpPr>
        <p:spPr>
          <a:xfrm>
            <a:off x="594360" y="4160520"/>
            <a:ext cx="7955280" cy="548640"/>
          </a:xfrm>
          <a:prstGeom prst="rect">
            <a:avLst/>
          </a:prstGeom>
          <a:noFill/>
          <a:ln/>
        </p:spPr>
        <p:txBody>
          <a:bodyPr wrap="square" lIns="0" tIns="0" rIns="0" bIns="0" rtlCol="0" anchor="t"/>
          <a:lstStyle/>
          <a:p>
            <a:pPr indent="0" marL="0">
              <a:buNone/>
            </a:pPr>
            <a:r>
              <a:rPr lang="en-US" sz="1000" dirty="0">
                <a:solidFill>
                  <a:srgbClr val="1B2A22"/>
                </a:solidFill>
                <a:latin typeface="Calibri" pitchFamily="34" charset="0"/>
                <a:ea typeface="Calibri" pitchFamily="34" charset="-122"/>
                <a:cs typeface="Calibri" pitchFamily="34" charset="-120"/>
              </a:rPr>
              <a:t>1) Solo nu: fração de cenas válidas em que a célula está exposta = eixo dos estratos.  2) Preditores do modelo: persistência, maior sequência de solo nu e composto espectral.  3) Qualidade: mínimo de 6 observações válidas por célula e janela; abaixo disso a métrica é “indisponível”. A frequência de solo nu ainda não foi medida (falta a credencial do GEE).</a:t>
            </a:r>
            <a:endParaRPr lang="en-US" sz="1000" dirty="0"/>
          </a:p>
        </p:txBody>
      </p:sp>
      <p:sp>
        <p:nvSpPr>
          <p:cNvPr id="24" name="Text 21"/>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com até 6 polígonos e 3 baterias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mapeamento por polígono, mais curvas (plano de voo)</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2144374" y="2267712"/>
            <a:ext cx="4855251" cy="104241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2162662" y="2286000"/>
            <a:ext cx="4818675" cy="1005840"/>
          </a:xfrm>
          <a:prstGeom prst="rect">
            <a:avLst/>
          </a:prstGeom>
        </p:spPr>
      </p:pic>
      <p:sp>
        <p:nvSpPr>
          <p:cNvPr id="19" name="Text 15"/>
          <p:cNvSpPr txBox="1"/>
          <p:nvPr/>
        </p:nvSpPr>
        <p:spPr>
          <a:xfrm>
            <a:off x="457200" y="3337560"/>
            <a:ext cx="8229600" cy="137160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Aeronave: Spectral 2 (Nuvem UAV), câmera MicaSense Altum; 3 baterias. Plano: 4 cm de GSD, 92,8 m de altitude, 8,7 a 9,2 m/s (medido), cerca de 7 linhas e 123 disparos por polígono</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Por que 72: 18 estratos × 4 polígonos (2 treino + 2 teste); a área total, cerca de 361 ha, é o que o custo de voo suporta e rende cerca de 1.845 unidades independentes (D24)</a:t>
            </a:r>
            <a:endParaRPr lang="en-US" sz="1000" dirty="0"/>
          </a:p>
          <a:p>
            <a:pPr marL="342900" indent="-342900">
              <a:spcAft>
                <a:spcPts val="200"/>
              </a:spcAft>
              <a:buSzPct val="100000"/>
              <a:buChar char="•"/>
            </a:pPr>
            <a:r>
              <a:rPr lang="en-US" sz="1000" dirty="0">
                <a:solidFill>
                  <a:srgbClr val="1B2A22"/>
                </a:solidFill>
                <a:latin typeface="Calibri" pitchFamily="34" charset="0"/>
                <a:ea typeface="Calibri" pitchFamily="34" charset="-122"/>
                <a:cs typeface="Calibri" pitchFamily="34" charset="-120"/>
              </a:rPr>
              <a:t>Tempo: pelo menos 3,6 h de mapeamento nos 72; 6 polígonos por jornada = 2 por bateria, compatível com as missões já voadas (9 a 13 min); autonomia útil a confirmar. Produtividade medida: 2,3 ha/min (Missão 009) e 0,53 (000)</a:t>
            </a:r>
            <a:endParaRPr lang="en-US" sz="10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plano de voo (exportação NControl); cobertura_voos.geojson (Missões 000 e 009). Jornadas: planejador (teto padrão 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05840"/>
            <a:ext cx="4251960" cy="3703320"/>
          </a:xfrm>
          <a:prstGeom prst="rect">
            <a:avLst/>
          </a:prstGeom>
          <a:noFill/>
          <a:ln/>
        </p:spPr>
        <p:txBody>
          <a:bodyPr wrap="square" lIns="0" tIns="0" rIns="0" bIns="0" rtlCol="0" anchor="t"/>
          <a:lstStyle/>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100" dirty="0"/>
          </a:p>
          <a:p>
            <a:pPr marL="342900" indent="-342900">
              <a:spcAft>
                <a:spcPts val="700"/>
              </a:spcAft>
              <a:buSzPct val="100000"/>
              <a:buChar char="•"/>
            </a:pPr>
            <a:r>
              <a:rPr lang="en-US" sz="1100" dirty="0">
                <a:solidFill>
                  <a:srgbClr val="1B2A22"/>
                </a:solidFill>
                <a:latin typeface="Calibri" pitchFamily="34" charset="0"/>
                <a:ea typeface="Calibri" pitchFamily="34" charset="-122"/>
                <a:cs typeface="Calibri" pitchFamily="34" charset="-120"/>
              </a:rPr>
              <a:t>Quarto desfecho, independente: se a regressão penalizada empatar com o XGBoost ou o vencer (IC 95% da diferença com limite inferior ≤ 0), a hipótese de que é preciso ensemble de árvores fica refutada, mesmo que o sensoriamento remoto vença o RUSLE</a:t>
            </a:r>
            <a:endParaRPr lang="en-US" sz="11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2026-10-19T09:41:39Z</dcterms:created>
  <dcterms:modified xsi:type="dcterms:W3CDTF">2026-10-19T09:41:39Z</dcterms:modified>
</cp:coreProperties>
</file>