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007" autoAdjust="0"/>
  </p:normalViewPr>
  <p:slideViewPr>
    <p:cSldViewPr snapToGrid="0" snapToObjects="1">
      <p:cViewPr varScale="1">
        <p:scale>
          <a:sx n="76" d="100"/>
          <a:sy n="76" d="100"/>
        </p:scale>
        <p:origin x="1914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08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[TEMPO: 0:00 a 0:45 — 45 </a:t>
            </a:r>
            <a:r>
              <a:rPr dirty="0" err="1"/>
              <a:t>segundos</a:t>
            </a:r>
            <a:r>
              <a:rPr dirty="0"/>
              <a:t>]</a:t>
            </a:r>
          </a:p>
          <a:p>
            <a:r>
              <a:rPr dirty="0"/>
              <a:t>Olá a </a:t>
            </a:r>
            <a:r>
              <a:rPr dirty="0" err="1"/>
              <a:t>todos</a:t>
            </a:r>
            <a:r>
              <a:rPr dirty="0"/>
              <a:t>. Meu </a:t>
            </a:r>
            <a:r>
              <a:rPr dirty="0" err="1"/>
              <a:t>nome</a:t>
            </a:r>
            <a:r>
              <a:rPr dirty="0"/>
              <a:t> é Luis Alfredo, sou </a:t>
            </a:r>
            <a:r>
              <a:rPr dirty="0" err="1"/>
              <a:t>mestrando</a:t>
            </a:r>
            <a:r>
              <a:rPr dirty="0"/>
              <a:t> do </a:t>
            </a:r>
            <a:r>
              <a:rPr dirty="0" err="1"/>
              <a:t>Programa</a:t>
            </a:r>
            <a:r>
              <a:rPr dirty="0"/>
              <a:t> de Pós-</a:t>
            </a:r>
            <a:r>
              <a:rPr dirty="0" err="1"/>
              <a:t>Graduação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Tecnologias</a:t>
            </a:r>
            <a:r>
              <a:rPr dirty="0"/>
              <a:t> Computacionais para o </a:t>
            </a:r>
            <a:r>
              <a:rPr dirty="0" err="1"/>
              <a:t>Agronegócio</a:t>
            </a:r>
            <a:r>
              <a:rPr dirty="0"/>
              <a:t> (PPGTCA) da UTFPR Campus </a:t>
            </a:r>
            <a:r>
              <a:rPr dirty="0" err="1"/>
              <a:t>Medianeira</a:t>
            </a:r>
            <a:r>
              <a:rPr dirty="0"/>
              <a:t>.</a:t>
            </a:r>
          </a:p>
          <a:p>
            <a:r>
              <a:rPr dirty="0"/>
              <a:t>Neste </a:t>
            </a:r>
            <a:r>
              <a:rPr dirty="0" err="1"/>
              <a:t>vídeo</a:t>
            </a:r>
            <a:r>
              <a:rPr dirty="0"/>
              <a:t> </a:t>
            </a:r>
            <a:r>
              <a:rPr dirty="0" err="1"/>
              <a:t>vou</a:t>
            </a:r>
            <a:r>
              <a:rPr dirty="0"/>
              <a:t> </a:t>
            </a:r>
            <a:r>
              <a:rPr dirty="0" err="1"/>
              <a:t>apresentar</a:t>
            </a:r>
            <a:r>
              <a:rPr dirty="0"/>
              <a:t> o </a:t>
            </a:r>
            <a:r>
              <a:rPr dirty="0" err="1"/>
              <a:t>desenvolvimento</a:t>
            </a:r>
            <a:r>
              <a:rPr dirty="0"/>
              <a:t> do </a:t>
            </a:r>
            <a:r>
              <a:rPr dirty="0" err="1"/>
              <a:t>nosso</a:t>
            </a:r>
            <a:r>
              <a:rPr dirty="0"/>
              <a:t> </a:t>
            </a:r>
            <a:r>
              <a:rPr dirty="0" err="1"/>
              <a:t>projeto</a:t>
            </a:r>
            <a:r>
              <a:rPr dirty="0"/>
              <a:t> de </a:t>
            </a:r>
            <a:r>
              <a:rPr dirty="0" err="1"/>
              <a:t>pesquisa</a:t>
            </a:r>
            <a:r>
              <a:rPr dirty="0"/>
              <a:t>: um </a:t>
            </a:r>
            <a:r>
              <a:rPr dirty="0" err="1"/>
              <a:t>arcabouço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 </a:t>
            </a:r>
            <a:r>
              <a:rPr dirty="0" err="1"/>
              <a:t>auditável</a:t>
            </a:r>
            <a:r>
              <a:rPr dirty="0"/>
              <a:t> </a:t>
            </a:r>
            <a:r>
              <a:rPr lang="pt-BR" dirty="0"/>
              <a:t>-</a:t>
            </a:r>
            <a:r>
              <a:rPr dirty="0"/>
              <a:t> </a:t>
            </a:r>
            <a:r>
              <a:rPr dirty="0" err="1"/>
              <a:t>batizado</a:t>
            </a:r>
            <a:r>
              <a:rPr dirty="0"/>
              <a:t> de SAREL </a:t>
            </a:r>
            <a:r>
              <a:rPr lang="pt-BR" dirty="0"/>
              <a:t>- Sistema de Amostragem e Rotulagem para Erosão Laminar -</a:t>
            </a:r>
            <a:r>
              <a:rPr dirty="0"/>
              <a:t> </a:t>
            </a:r>
            <a:r>
              <a:rPr dirty="0" err="1"/>
              <a:t>projetado</a:t>
            </a:r>
            <a:r>
              <a:rPr dirty="0"/>
              <a:t> para </a:t>
            </a:r>
            <a:r>
              <a:rPr dirty="0" err="1"/>
              <a:t>realizar</a:t>
            </a:r>
            <a:r>
              <a:rPr dirty="0"/>
              <a:t> a </a:t>
            </a:r>
            <a:r>
              <a:rPr dirty="0" err="1"/>
              <a:t>amostragem</a:t>
            </a:r>
            <a:r>
              <a:rPr dirty="0"/>
              <a:t> </a:t>
            </a:r>
            <a:r>
              <a:rPr dirty="0" err="1"/>
              <a:t>estratificada</a:t>
            </a:r>
            <a:r>
              <a:rPr dirty="0"/>
              <a:t> e </a:t>
            </a:r>
            <a:r>
              <a:rPr dirty="0" err="1"/>
              <a:t>localizar</a:t>
            </a:r>
            <a:r>
              <a:rPr dirty="0"/>
              <a:t> </a:t>
            </a:r>
            <a:r>
              <a:rPr dirty="0" err="1"/>
              <a:t>focos</a:t>
            </a:r>
            <a:r>
              <a:rPr dirty="0"/>
              <a:t> </a:t>
            </a:r>
            <a:r>
              <a:rPr dirty="0" err="1"/>
              <a:t>prováveis</a:t>
            </a:r>
            <a:r>
              <a:rPr dirty="0"/>
              <a:t> de </a:t>
            </a:r>
            <a:r>
              <a:rPr dirty="0" err="1"/>
              <a:t>erosão</a:t>
            </a:r>
            <a:r>
              <a:rPr dirty="0"/>
              <a:t> </a:t>
            </a:r>
            <a:r>
              <a:rPr dirty="0" err="1"/>
              <a:t>hídrica</a:t>
            </a:r>
            <a:r>
              <a:rPr dirty="0"/>
              <a:t> laminar </a:t>
            </a:r>
            <a:r>
              <a:rPr dirty="0" err="1"/>
              <a:t>na</a:t>
            </a:r>
            <a:r>
              <a:rPr dirty="0"/>
              <a:t> Bacia </a:t>
            </a:r>
            <a:r>
              <a:rPr dirty="0" err="1"/>
              <a:t>Hidrográfica</a:t>
            </a:r>
            <a:r>
              <a:rPr dirty="0"/>
              <a:t> do Paraná 3, </a:t>
            </a:r>
            <a:r>
              <a:rPr dirty="0" err="1"/>
              <a:t>combinando</a:t>
            </a:r>
            <a:r>
              <a:rPr dirty="0"/>
              <a:t> </a:t>
            </a:r>
            <a:r>
              <a:rPr dirty="0" err="1"/>
              <a:t>sensoriamento</a:t>
            </a:r>
            <a:r>
              <a:rPr dirty="0"/>
              <a:t> </a:t>
            </a:r>
            <a:r>
              <a:rPr dirty="0" err="1"/>
              <a:t>remoto</a:t>
            </a:r>
            <a:r>
              <a:rPr dirty="0"/>
              <a:t> orbital e bases </a:t>
            </a:r>
            <a:r>
              <a:rPr dirty="0" err="1"/>
              <a:t>territoriais</a:t>
            </a:r>
            <a:r>
              <a:rPr dirty="0"/>
              <a:t> </a:t>
            </a:r>
            <a:r>
              <a:rPr dirty="0" err="1"/>
              <a:t>oficiais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[TEMPO: 0:45 a 1:40 — 55 </a:t>
            </a:r>
            <a:r>
              <a:rPr dirty="0" err="1"/>
              <a:t>segundos</a:t>
            </a:r>
            <a:r>
              <a:rPr dirty="0"/>
              <a:t>]</a:t>
            </a:r>
          </a:p>
          <a:p>
            <a:r>
              <a:rPr dirty="0"/>
              <a:t>Por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estudar</a:t>
            </a:r>
            <a:r>
              <a:rPr dirty="0"/>
              <a:t> </a:t>
            </a:r>
            <a:r>
              <a:rPr dirty="0" err="1"/>
              <a:t>erosão</a:t>
            </a:r>
            <a:r>
              <a:rPr dirty="0"/>
              <a:t> laminar </a:t>
            </a:r>
            <a:r>
              <a:rPr dirty="0" err="1"/>
              <a:t>na</a:t>
            </a:r>
            <a:r>
              <a:rPr dirty="0"/>
              <a:t> Bacia do Paraná 3?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sendo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região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Sistema </a:t>
            </a:r>
            <a:r>
              <a:rPr dirty="0" err="1"/>
              <a:t>Plantio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, o </a:t>
            </a:r>
            <a:r>
              <a:rPr dirty="0" err="1"/>
              <a:t>relevo</a:t>
            </a:r>
            <a:r>
              <a:rPr dirty="0"/>
              <a:t> </a:t>
            </a:r>
            <a:r>
              <a:rPr dirty="0" err="1"/>
              <a:t>ondulado</a:t>
            </a:r>
            <a:r>
              <a:rPr dirty="0"/>
              <a:t> e as </a:t>
            </a:r>
            <a:r>
              <a:rPr dirty="0" err="1"/>
              <a:t>chuvas</a:t>
            </a:r>
            <a:r>
              <a:rPr dirty="0"/>
              <a:t> </a:t>
            </a:r>
            <a:r>
              <a:rPr dirty="0" err="1"/>
              <a:t>intensas</a:t>
            </a:r>
            <a:r>
              <a:rPr dirty="0"/>
              <a:t> </a:t>
            </a:r>
            <a:r>
              <a:rPr dirty="0" err="1"/>
              <a:t>provocam</a:t>
            </a:r>
            <a:r>
              <a:rPr dirty="0"/>
              <a:t> </a:t>
            </a:r>
            <a:r>
              <a:rPr dirty="0" err="1"/>
              <a:t>escoamento</a:t>
            </a:r>
            <a:r>
              <a:rPr dirty="0"/>
              <a:t> superficial </a:t>
            </a:r>
            <a:r>
              <a:rPr dirty="0" err="1"/>
              <a:t>que</a:t>
            </a:r>
            <a:r>
              <a:rPr dirty="0"/>
              <a:t> </a:t>
            </a:r>
            <a:r>
              <a:rPr lang="pt-BR" dirty="0"/>
              <a:t>corta</a:t>
            </a:r>
            <a:r>
              <a:rPr dirty="0"/>
              <a:t> lentamente o </a:t>
            </a:r>
            <a:r>
              <a:rPr dirty="0" err="1"/>
              <a:t>horizonte</a:t>
            </a:r>
            <a:r>
              <a:rPr dirty="0"/>
              <a:t> superficial do solo.</a:t>
            </a:r>
          </a:p>
          <a:p>
            <a:r>
              <a:rPr dirty="0" err="1"/>
              <a:t>Diferente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voçoroca</a:t>
            </a:r>
            <a:r>
              <a:rPr dirty="0"/>
              <a:t>, a </a:t>
            </a:r>
            <a:r>
              <a:rPr dirty="0" err="1"/>
              <a:t>erosão</a:t>
            </a:r>
            <a:r>
              <a:rPr dirty="0"/>
              <a:t> laminar é </a:t>
            </a:r>
            <a:r>
              <a:rPr dirty="0" err="1"/>
              <a:t>difusa</a:t>
            </a:r>
            <a:r>
              <a:rPr dirty="0"/>
              <a:t> e </a:t>
            </a:r>
            <a:r>
              <a:rPr dirty="0" err="1"/>
              <a:t>silenciosa</a:t>
            </a:r>
            <a:r>
              <a:rPr dirty="0"/>
              <a:t>. 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mapas</a:t>
            </a:r>
            <a:r>
              <a:rPr dirty="0"/>
              <a:t> </a:t>
            </a:r>
            <a:r>
              <a:rPr dirty="0" err="1"/>
              <a:t>tradicionais</a:t>
            </a:r>
            <a:r>
              <a:rPr dirty="0"/>
              <a:t> </a:t>
            </a:r>
            <a:r>
              <a:rPr dirty="0" err="1"/>
              <a:t>baseados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médias</a:t>
            </a:r>
            <a:r>
              <a:rPr dirty="0"/>
              <a:t> </a:t>
            </a:r>
            <a:r>
              <a:rPr dirty="0" err="1"/>
              <a:t>regionais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conseguem</a:t>
            </a:r>
            <a:r>
              <a:rPr dirty="0"/>
              <a:t> </a:t>
            </a:r>
            <a:r>
              <a:rPr dirty="0" err="1"/>
              <a:t>dizer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pesquisador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gestor </a:t>
            </a:r>
            <a:r>
              <a:rPr dirty="0" err="1"/>
              <a:t>exatamente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qual </a:t>
            </a:r>
            <a:r>
              <a:rPr dirty="0" err="1"/>
              <a:t>talhão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encosta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acontecendo</a:t>
            </a:r>
            <a:r>
              <a:rPr dirty="0"/>
              <a:t>.</a:t>
            </a:r>
          </a:p>
          <a:p>
            <a:r>
              <a:rPr dirty="0"/>
              <a:t>Por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nós</a:t>
            </a:r>
            <a:r>
              <a:rPr dirty="0"/>
              <a:t> </a:t>
            </a:r>
            <a:r>
              <a:rPr dirty="0" err="1"/>
              <a:t>desenvolvemos</a:t>
            </a:r>
            <a:r>
              <a:rPr dirty="0"/>
              <a:t> o SAREL: para usar </a:t>
            </a:r>
            <a:r>
              <a:rPr lang="pt-BR" dirty="0"/>
              <a:t>linha temporal </a:t>
            </a:r>
            <a:r>
              <a:rPr dirty="0"/>
              <a:t>de imagens de </a:t>
            </a:r>
            <a:r>
              <a:rPr dirty="0" err="1"/>
              <a:t>satélite</a:t>
            </a:r>
            <a:r>
              <a:rPr dirty="0"/>
              <a:t> de 10 metros de </a:t>
            </a:r>
            <a:r>
              <a:rPr dirty="0" err="1"/>
              <a:t>resolução</a:t>
            </a:r>
            <a:r>
              <a:rPr dirty="0"/>
              <a:t> e </a:t>
            </a:r>
            <a:r>
              <a:rPr dirty="0" err="1"/>
              <a:t>apontar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de </a:t>
            </a:r>
            <a:r>
              <a:rPr dirty="0" err="1"/>
              <a:t>erosão</a:t>
            </a:r>
            <a:r>
              <a:rPr dirty="0"/>
              <a:t> </a:t>
            </a:r>
            <a:r>
              <a:rPr dirty="0" err="1"/>
              <a:t>provável</a:t>
            </a:r>
            <a:r>
              <a:rPr dirty="0"/>
              <a:t> antes de </a:t>
            </a:r>
            <a:r>
              <a:rPr dirty="0" err="1"/>
              <a:t>ir</a:t>
            </a:r>
            <a:r>
              <a:rPr dirty="0"/>
              <a:t> a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[TEMPO: 1:40 a 2:35 — 55 segundos]</a:t>
            </a:r>
          </a:p>
          <a:p>
            <a:r>
              <a:t>Aqui na tela vocês veem a interface principal do aplicativo SAREL que desenvolvemos no mestrado.</a:t>
            </a:r>
          </a:p>
          <a:p>
            <a:r>
              <a:t>À esquerda temos o painel de controle de áreas de amostragem, filtros biofísicos e conexão autenticada com as APIs científicas.</a:t>
            </a:r>
          </a:p>
          <a:p>
            <a:r>
              <a:t>À direita, o visualizador cartográfico 3D permite inspecionar o relevo real das vertentes agrícolas da Bacia do Paraná 3. Toda a plataforma foi construída para transformar dados brutos de satélite em candidatos auditáveis de erosão.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[TEMPO: 2:35 a 3:35 — 60 segundos]</a:t>
            </a:r>
          </a:p>
          <a:p>
            <a:r>
              <a:t>Um ponto crucial que resolvemos no sistema é a exatidão territorial da Bacia Hidrográfica do Paraná 3.</a:t>
            </a:r>
          </a:p>
          <a:p>
            <a:r>
              <a:t>Como mostra a tela do aplicativo, o SAREL implementa uma solução híbrida inédita que sobrepõe três recortes oficiais:</a:t>
            </a:r>
          </a:p>
          <a:p>
            <a:r>
              <a:t>Primeiro, o divisor hidrológico estrito do Instituto Água e Terra, de quase 8 mil km², que drena para o Lago de Itaipu.</a:t>
            </a:r>
          </a:p>
          <a:p>
            <a:r>
              <a:t>Segundo, a malha legal oficial do IBGE dos 28 municípios que integram a bacia.</a:t>
            </a:r>
          </a:p>
          <a:p>
            <a:r>
              <a:t>E terceiro, o destaque para o Corredor Experimental de 6 municípios entre Foz do Iguaçu, Medianeira e Céu Azul, onde saímos de 180 metros de altitude na beira do lago até 750 metros no rebordo do Terceiro Planalto.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[TEMPO: 3:35 a 4:40 — 65 </a:t>
            </a:r>
            <a:r>
              <a:rPr dirty="0" err="1"/>
              <a:t>segundos</a:t>
            </a:r>
            <a:r>
              <a:rPr dirty="0"/>
              <a:t>]</a:t>
            </a:r>
          </a:p>
          <a:p>
            <a:r>
              <a:rPr dirty="0"/>
              <a:t>Mas </a:t>
            </a:r>
            <a:r>
              <a:rPr dirty="0" err="1"/>
              <a:t>como</a:t>
            </a:r>
            <a:r>
              <a:rPr dirty="0"/>
              <a:t> o software decide </a:t>
            </a:r>
            <a:r>
              <a:rPr dirty="0" err="1"/>
              <a:t>que</a:t>
            </a:r>
            <a:r>
              <a:rPr dirty="0"/>
              <a:t> um </a:t>
            </a:r>
            <a:r>
              <a:rPr dirty="0" err="1"/>
              <a:t>determinado</a:t>
            </a:r>
            <a:r>
              <a:rPr dirty="0"/>
              <a:t> </a:t>
            </a:r>
            <a:r>
              <a:rPr dirty="0" err="1"/>
              <a:t>ponto</a:t>
            </a:r>
            <a:r>
              <a:rPr dirty="0"/>
              <a:t> da </a:t>
            </a:r>
            <a:r>
              <a:rPr dirty="0" err="1"/>
              <a:t>bacia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probabilidade</a:t>
            </a:r>
            <a:r>
              <a:rPr dirty="0"/>
              <a:t> de </a:t>
            </a:r>
            <a:r>
              <a:rPr dirty="0" err="1"/>
              <a:t>erosão</a:t>
            </a:r>
            <a:r>
              <a:rPr dirty="0"/>
              <a:t> laminar?</a:t>
            </a:r>
          </a:p>
          <a:p>
            <a:r>
              <a:rPr dirty="0"/>
              <a:t>O SAREL </a:t>
            </a:r>
            <a:r>
              <a:rPr dirty="0" err="1"/>
              <a:t>cruza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evidências</a:t>
            </a:r>
            <a:r>
              <a:rPr dirty="0"/>
              <a:t> </a:t>
            </a:r>
            <a:r>
              <a:rPr dirty="0" err="1"/>
              <a:t>físicas</a:t>
            </a:r>
            <a:r>
              <a:rPr dirty="0"/>
              <a:t> reais:</a:t>
            </a:r>
          </a:p>
          <a:p>
            <a:r>
              <a:rPr dirty="0"/>
              <a:t>Primeiro, a </a:t>
            </a:r>
            <a:r>
              <a:rPr dirty="0" err="1"/>
              <a:t>declividade</a:t>
            </a:r>
            <a:r>
              <a:rPr dirty="0"/>
              <a:t> </a:t>
            </a:r>
            <a:r>
              <a:rPr dirty="0" err="1"/>
              <a:t>medida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digital de </a:t>
            </a:r>
            <a:r>
              <a:rPr dirty="0" err="1"/>
              <a:t>elevação</a:t>
            </a:r>
            <a:r>
              <a:rPr dirty="0"/>
              <a:t> Copernicus de 30 metros, </a:t>
            </a:r>
            <a:r>
              <a:rPr dirty="0" err="1"/>
              <a:t>focando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rampas</a:t>
            </a:r>
            <a:r>
              <a:rPr dirty="0"/>
              <a:t> </a:t>
            </a:r>
            <a:r>
              <a:rPr dirty="0" err="1"/>
              <a:t>críticas</a:t>
            </a:r>
            <a:r>
              <a:rPr dirty="0"/>
              <a:t> de 3% a 20%.</a:t>
            </a:r>
          </a:p>
          <a:p>
            <a:r>
              <a:rPr dirty="0"/>
              <a:t>Segundo, a </a:t>
            </a:r>
            <a:r>
              <a:rPr dirty="0" err="1"/>
              <a:t>série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do </a:t>
            </a:r>
            <a:r>
              <a:rPr dirty="0" err="1"/>
              <a:t>satélite</a:t>
            </a:r>
            <a:r>
              <a:rPr dirty="0"/>
              <a:t> Sentinel-2 a 10 metros: </a:t>
            </a:r>
            <a:r>
              <a:rPr dirty="0" err="1"/>
              <a:t>locais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sofrem</a:t>
            </a:r>
            <a:r>
              <a:rPr dirty="0"/>
              <a:t> </a:t>
            </a:r>
            <a:r>
              <a:rPr dirty="0" err="1"/>
              <a:t>erosão</a:t>
            </a:r>
            <a:r>
              <a:rPr dirty="0"/>
              <a:t> laminar </a:t>
            </a:r>
            <a:r>
              <a:rPr dirty="0" err="1"/>
              <a:t>apresentam</a:t>
            </a:r>
            <a:r>
              <a:rPr dirty="0"/>
              <a:t> </a:t>
            </a:r>
            <a:r>
              <a:rPr dirty="0" err="1"/>
              <a:t>exposição</a:t>
            </a:r>
            <a:r>
              <a:rPr dirty="0"/>
              <a:t> </a:t>
            </a:r>
            <a:r>
              <a:rPr dirty="0" err="1"/>
              <a:t>recorrente</a:t>
            </a:r>
            <a:r>
              <a:rPr dirty="0"/>
              <a:t> de solo nu — </a:t>
            </a:r>
            <a:r>
              <a:rPr dirty="0" err="1"/>
              <a:t>medida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 BSI — e cicatrizes de </a:t>
            </a:r>
            <a:r>
              <a:rPr dirty="0" err="1"/>
              <a:t>baixo</a:t>
            </a:r>
            <a:r>
              <a:rPr dirty="0"/>
              <a:t> vigor </a:t>
            </a:r>
            <a:r>
              <a:rPr dirty="0" err="1"/>
              <a:t>vegetativo</a:t>
            </a:r>
            <a:r>
              <a:rPr dirty="0"/>
              <a:t> no </a:t>
            </a:r>
            <a:r>
              <a:rPr dirty="0" err="1"/>
              <a:t>índice</a:t>
            </a:r>
            <a:r>
              <a:rPr dirty="0"/>
              <a:t> NDVI.</a:t>
            </a:r>
          </a:p>
          <a:p>
            <a:r>
              <a:rPr dirty="0"/>
              <a:t>E </a:t>
            </a:r>
            <a:r>
              <a:rPr dirty="0" err="1"/>
              <a:t>terceiro</a:t>
            </a:r>
            <a:r>
              <a:rPr dirty="0"/>
              <a:t>,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cruza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coordenada</a:t>
            </a:r>
            <a:r>
              <a:rPr dirty="0"/>
              <a:t> com o </a:t>
            </a:r>
            <a:r>
              <a:rPr dirty="0" err="1"/>
              <a:t>mapa</a:t>
            </a:r>
            <a:r>
              <a:rPr dirty="0"/>
              <a:t> de </a:t>
            </a:r>
            <a:r>
              <a:rPr dirty="0" err="1"/>
              <a:t>erodibilidade</a:t>
            </a:r>
            <a:r>
              <a:rPr dirty="0"/>
              <a:t> de solos da Embrapa e com o </a:t>
            </a:r>
            <a:r>
              <a:rPr dirty="0" err="1"/>
              <a:t>polígono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imóvel</a:t>
            </a:r>
            <a:r>
              <a:rPr dirty="0"/>
              <a:t> no </a:t>
            </a:r>
            <a:r>
              <a:rPr dirty="0" err="1"/>
              <a:t>Cadastro</a:t>
            </a:r>
            <a:r>
              <a:rPr dirty="0"/>
              <a:t> Ambiental Rural (SICAR), </a:t>
            </a:r>
            <a:r>
              <a:rPr dirty="0" err="1"/>
              <a:t>garantindo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ponto</a:t>
            </a:r>
            <a:r>
              <a:rPr dirty="0"/>
              <a:t> </a:t>
            </a:r>
            <a:r>
              <a:rPr dirty="0" err="1"/>
              <a:t>candidato</a:t>
            </a:r>
            <a:r>
              <a:rPr dirty="0"/>
              <a:t> </a:t>
            </a:r>
            <a:r>
              <a:rPr dirty="0" err="1"/>
              <a:t>pertença</a:t>
            </a:r>
            <a:r>
              <a:rPr dirty="0"/>
              <a:t> a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agrícola</a:t>
            </a:r>
            <a:r>
              <a:rPr dirty="0"/>
              <a:t>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[TEMPO: 4:40 a 5:45 — 65 segundos]</a:t>
            </a:r>
          </a:p>
          <a:p>
            <a:r>
              <a:t>Para que a seleção desses pontos de erosão provável seja cientificamente válida e sem viés, implementamos esta janela de Eleição Amostral no Google Earth Engine.</a:t>
            </a:r>
          </a:p>
          <a:p>
            <a:r>
              <a:t>Primeiro, o algoritmo divide a bacia em 18 estratos ortogonais combinando declividade, frequência de solo exposto e erodibilidade.</a:t>
            </a:r>
          </a:p>
          <a:p>
            <a:r>
              <a:t>Segundo, aplicamos o Thinning Geodésico de Haversine: o sistema impõe um raio mínimo de 1 a 5 quilômetros entre um ponto e outro, evitando selecionar pixels vizinhos no mesmo talhão.</a:t>
            </a:r>
          </a:p>
          <a:p>
            <a:r>
              <a:t>E terceiro, veja no painel inferior do modal: ao pedir o sorteio na Bacia do Paraná 3, o sistema já reserva automaticamente uma proporção — por padrão 20% da amostra — dentro do corredor entre Foz do Iguaçu e Céu Azul para a verificação presencial em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[TEMPO: 5:45 a 6:30 — 45 segundos]</a:t>
            </a:r>
          </a:p>
          <a:p>
            <a:r>
              <a:t>Todo esse processo de seleção conta com 270 testes automatizados no código e um bloqueio estrito contra dados sintéticos: cada ponto selecionado gera um dossiê auditável com a data da imagem e a matrícula do CAR.</a:t>
            </a:r>
          </a:p>
          <a:p>
            <a:r>
              <a:t>Com os pontos de erosão provável já selecionados pelo sistema, nossas próximas etapas na pesquisa são a campanha presencial duplo-cega no corredor Foz–Céu Azul e o sobrevoo com drone multiespectral de precisão centimétrica em quatro sítios de referência de 50 hectares em Medianeira e Céu Azul.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[TEMPO: 6:30 a 7:00 — 30 </a:t>
            </a:r>
            <a:r>
              <a:rPr dirty="0" err="1"/>
              <a:t>segundos</a:t>
            </a:r>
            <a:r>
              <a:rPr dirty="0"/>
              <a:t>]</a:t>
            </a:r>
          </a:p>
          <a:p>
            <a:r>
              <a:rPr dirty="0" err="1"/>
              <a:t>Concluindo</a:t>
            </a:r>
            <a:r>
              <a:rPr dirty="0"/>
              <a:t>, o </a:t>
            </a:r>
            <a:r>
              <a:rPr dirty="0" err="1"/>
              <a:t>arcabouço</a:t>
            </a:r>
            <a:r>
              <a:rPr dirty="0"/>
              <a:t> SAREL </a:t>
            </a:r>
            <a:r>
              <a:rPr dirty="0" err="1"/>
              <a:t>demonstra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unir</a:t>
            </a:r>
            <a:r>
              <a:rPr dirty="0"/>
              <a:t> rigor </a:t>
            </a:r>
            <a:r>
              <a:rPr dirty="0" err="1"/>
              <a:t>estatístico</a:t>
            </a:r>
            <a:r>
              <a:rPr dirty="0"/>
              <a:t>, </a:t>
            </a:r>
            <a:r>
              <a:rPr dirty="0" err="1"/>
              <a:t>sensoriamento</a:t>
            </a:r>
            <a:r>
              <a:rPr dirty="0"/>
              <a:t> </a:t>
            </a:r>
            <a:r>
              <a:rPr dirty="0" err="1"/>
              <a:t>remoto</a:t>
            </a:r>
            <a:r>
              <a:rPr dirty="0"/>
              <a:t> e bases </a:t>
            </a:r>
            <a:r>
              <a:rPr dirty="0" err="1"/>
              <a:t>oficiais</a:t>
            </a:r>
            <a:r>
              <a:rPr dirty="0"/>
              <a:t> </a:t>
            </a:r>
            <a:r>
              <a:rPr dirty="0" err="1"/>
              <a:t>brasileiras</a:t>
            </a:r>
            <a:r>
              <a:rPr dirty="0"/>
              <a:t> para </a:t>
            </a:r>
            <a:r>
              <a:rPr dirty="0" err="1"/>
              <a:t>guiar</a:t>
            </a:r>
            <a:r>
              <a:rPr dirty="0"/>
              <a:t> a </a:t>
            </a:r>
            <a:r>
              <a:rPr dirty="0" err="1"/>
              <a:t>conservação</a:t>
            </a:r>
            <a:r>
              <a:rPr dirty="0"/>
              <a:t> de solos </a:t>
            </a:r>
            <a:r>
              <a:rPr dirty="0" err="1"/>
              <a:t>na</a:t>
            </a:r>
            <a:r>
              <a:rPr dirty="0"/>
              <a:t> Bacia do Paraná 3 com total </a:t>
            </a:r>
            <a:r>
              <a:rPr dirty="0" err="1"/>
              <a:t>rastreabilidade</a:t>
            </a:r>
            <a:r>
              <a:rPr dirty="0"/>
              <a:t>.</a:t>
            </a:r>
          </a:p>
          <a:p>
            <a:r>
              <a:rPr dirty="0" err="1"/>
              <a:t>Agradeço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PPGTCA da UTFPR Campus </a:t>
            </a:r>
            <a:r>
              <a:rPr dirty="0" err="1"/>
              <a:t>Medianeira</a:t>
            </a:r>
            <a:r>
              <a:rPr dirty="0"/>
              <a:t>, </a:t>
            </a:r>
            <a:r>
              <a:rPr dirty="0" err="1"/>
              <a:t>ao</a:t>
            </a:r>
            <a:r>
              <a:rPr dirty="0"/>
              <a:t> meu </a:t>
            </a:r>
            <a:r>
              <a:rPr dirty="0" err="1"/>
              <a:t>orientador</a:t>
            </a:r>
            <a:r>
              <a:rPr dirty="0"/>
              <a:t>, </a:t>
            </a:r>
            <a:r>
              <a:rPr dirty="0" err="1"/>
              <a:t>ao</a:t>
            </a:r>
            <a:r>
              <a:rPr dirty="0"/>
              <a:t> Itaipu </a:t>
            </a:r>
            <a:r>
              <a:rPr dirty="0" err="1"/>
              <a:t>Parquetec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financiamento</a:t>
            </a:r>
            <a:r>
              <a:rPr dirty="0"/>
              <a:t> e </a:t>
            </a:r>
            <a:r>
              <a:rPr dirty="0" err="1"/>
              <a:t>apoio</a:t>
            </a:r>
            <a:r>
              <a:rPr dirty="0"/>
              <a:t> à </a:t>
            </a:r>
            <a:r>
              <a:rPr dirty="0" err="1"/>
              <a:t>pesquisa</a:t>
            </a:r>
            <a:r>
              <a:rPr dirty="0"/>
              <a:t>, e a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vocês</a:t>
            </a:r>
            <a:r>
              <a:rPr dirty="0"/>
              <a:t> pela </a:t>
            </a:r>
            <a:r>
              <a:rPr dirty="0" err="1"/>
              <a:t>atenção</a:t>
            </a:r>
            <a:r>
              <a:rPr dirty="0"/>
              <a:t>.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obrigado</a:t>
            </a:r>
            <a:r>
              <a:rPr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812951"/>
            <a:ext cx="10515600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1050" b="1">
                <a:solidFill>
                  <a:srgbClr val="10B981"/>
                </a:solidFill>
              </a:defRPr>
            </a:pPr>
            <a:r>
              <a:rPr sz="1400" dirty="0"/>
              <a:t>UNIVERSIDADE TECNOLÓGICA FEDERAL DO PARANÁ (UTFPR) • CAMPUS MEDIANEIRA</a:t>
            </a:r>
            <a:br>
              <a:rPr sz="1400" dirty="0"/>
            </a:br>
            <a:r>
              <a:rPr sz="1400" dirty="0"/>
              <a:t>PROGRAMA DE PÓS-GRADUAÇÃO EM TECNOLOGIAS COMPUTACIONAIS PARA O AGRONEGÓCIO (PPGTCA)</a:t>
            </a:r>
          </a:p>
          <a:p>
            <a:pPr algn="ctr"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rPr lang="pt-BR" sz="2600" b="1" dirty="0">
                <a:solidFill>
                  <a:srgbClr val="FFFFFF"/>
                </a:solidFill>
              </a:rPr>
              <a:t>ARCABOUÇO COMPUTACIONAL AUDITÁVEL PARA AMOSTRAGEM        </a:t>
            </a:r>
            <a:br>
              <a:rPr lang="pt-BR" sz="2600" b="1" dirty="0">
                <a:solidFill>
                  <a:srgbClr val="FFFFFF"/>
                </a:solidFill>
              </a:rPr>
            </a:br>
            <a:r>
              <a:rPr lang="pt-BR" sz="2600" b="1" dirty="0">
                <a:solidFill>
                  <a:srgbClr val="FFFFFF"/>
                </a:solidFill>
              </a:rPr>
              <a:t>ESTRATIFICADA DE EROSÃO LAMINAR </a:t>
            </a:r>
          </a:p>
          <a:p>
            <a:pPr algn="ctr"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rPr sz="1400" dirty="0" err="1"/>
              <a:t>Integração</a:t>
            </a:r>
            <a:r>
              <a:rPr sz="1400" dirty="0"/>
              <a:t> Multi-Sensor (Sentinel-2, Copernicus DEM e Bases </a:t>
            </a:r>
            <a:r>
              <a:rPr sz="1400" dirty="0" err="1"/>
              <a:t>Oficiais</a:t>
            </a:r>
            <a:r>
              <a:rPr sz="1400" dirty="0"/>
              <a:t>) para </a:t>
            </a:r>
            <a:r>
              <a:rPr sz="1400" dirty="0" err="1"/>
              <a:t>Triagem</a:t>
            </a:r>
            <a:r>
              <a:rPr sz="1400" dirty="0"/>
              <a:t> Territorial </a:t>
            </a:r>
            <a:r>
              <a:rPr sz="1400" dirty="0" err="1"/>
              <a:t>na</a:t>
            </a:r>
            <a:r>
              <a:rPr sz="1400" dirty="0"/>
              <a:t> Bacia </a:t>
            </a:r>
            <a:r>
              <a:rPr sz="1400" dirty="0" err="1"/>
              <a:t>Hidrográfica</a:t>
            </a:r>
            <a:r>
              <a:rPr sz="1400" dirty="0"/>
              <a:t> do Paraná 3</a:t>
            </a:r>
          </a:p>
          <a:p>
            <a:pPr algn="ctr">
              <a:spcAft>
                <a:spcPts val="1800"/>
              </a:spcAft>
              <a:defRPr sz="1200" b="1">
                <a:solidFill>
                  <a:srgbClr val="F59E0B"/>
                </a:solidFill>
              </a:defRPr>
            </a:pPr>
            <a:r>
              <a:rPr dirty="0"/>
              <a:t>Autor</a:t>
            </a:r>
            <a:r>
              <a:rPr lang="pt-BR" dirty="0"/>
              <a:t>es</a:t>
            </a:r>
            <a:r>
              <a:rPr dirty="0"/>
              <a:t>: </a:t>
            </a:r>
            <a:r>
              <a:rPr lang="pt-BR" sz="1200" b="1" dirty="0">
                <a:solidFill>
                  <a:srgbClr val="F59E0B"/>
                </a:solidFill>
              </a:rPr>
              <a:t>LUIS ALFREDO FERREIRA DA SILVA; FABIANA COSTA DE ARAUJO SCHUTZ; KIRIA VITORIA NAKAHATI; CLAUDIO LEONES BAZZI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rPr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Apoio</a:t>
            </a:r>
            <a:r>
              <a:rPr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Institucional</a:t>
            </a:r>
            <a:r>
              <a:rPr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e </a:t>
            </a:r>
            <a:r>
              <a:rPr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Financiamento</a:t>
            </a:r>
            <a:r>
              <a:rPr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PPGTCA / UTFPR  •  Itaipu </a:t>
            </a:r>
            <a:r>
              <a:rPr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Parquetec</a:t>
            </a:r>
            <a:endParaRPr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D090D76-4BED-728C-298D-646E4E64D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500" y="4302863"/>
            <a:ext cx="2901696" cy="884064"/>
          </a:xfrm>
          <a:prstGeom prst="rect">
            <a:avLst/>
          </a:prstGeom>
          <a:effectLst>
            <a:glow rad="76200">
              <a:schemeClr val="bg1"/>
            </a:glo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2B28B8A-BF3B-DCF9-416F-12322301C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886" y="4235752"/>
            <a:ext cx="3064791" cy="1018286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1. Contextualização: O Desafio da Erosão Laminar na Bacia do Paraná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2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227685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312546"/>
            <a:ext cx="5084064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E123C"/>
                </a:solidFill>
              </a:defRPr>
            </a:pPr>
            <a:r>
              <a:rPr sz="1400" dirty="0"/>
              <a:t>A </a:t>
            </a:r>
            <a:r>
              <a:rPr sz="1400" dirty="0" err="1"/>
              <a:t>Erosão</a:t>
            </a:r>
            <a:r>
              <a:rPr sz="1400" dirty="0"/>
              <a:t> </a:t>
            </a:r>
            <a:r>
              <a:rPr sz="1400" dirty="0" err="1"/>
              <a:t>Silenciosa</a:t>
            </a:r>
            <a:r>
              <a:rPr sz="1400" dirty="0"/>
              <a:t> sob Sistema </a:t>
            </a:r>
            <a:r>
              <a:rPr sz="1400" dirty="0" err="1"/>
              <a:t>Plantio</a:t>
            </a:r>
            <a:r>
              <a:rPr sz="1400" dirty="0"/>
              <a:t> </a:t>
            </a:r>
            <a:r>
              <a:rPr sz="1400" dirty="0" err="1"/>
              <a:t>Direto</a:t>
            </a:r>
            <a:r>
              <a:rPr sz="1400" dirty="0"/>
              <a:t> (SPD)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Mesmo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lavouras</a:t>
            </a:r>
            <a:r>
              <a:rPr sz="1400" dirty="0"/>
              <a:t> </a:t>
            </a:r>
            <a:r>
              <a:rPr sz="1400" dirty="0" err="1"/>
              <a:t>tecnificadas</a:t>
            </a:r>
            <a:r>
              <a:rPr sz="1400" dirty="0"/>
              <a:t> sob </a:t>
            </a:r>
            <a:r>
              <a:rPr sz="1400" dirty="0" err="1"/>
              <a:t>Plantio</a:t>
            </a:r>
            <a:r>
              <a:rPr sz="1400" dirty="0"/>
              <a:t> </a:t>
            </a:r>
            <a:r>
              <a:rPr sz="1400" dirty="0" err="1"/>
              <a:t>Direto</a:t>
            </a:r>
            <a:r>
              <a:rPr sz="1400" dirty="0"/>
              <a:t> no Oeste do Paraná, </a:t>
            </a:r>
            <a:r>
              <a:rPr sz="1400" dirty="0" err="1"/>
              <a:t>eventos</a:t>
            </a:r>
            <a:r>
              <a:rPr sz="1400" dirty="0"/>
              <a:t> </a:t>
            </a:r>
            <a:r>
              <a:rPr sz="1400" dirty="0" err="1"/>
              <a:t>extremos</a:t>
            </a:r>
            <a:r>
              <a:rPr sz="1400" dirty="0"/>
              <a:t> de </a:t>
            </a:r>
            <a:r>
              <a:rPr sz="1400" dirty="0" err="1"/>
              <a:t>precipitação</a:t>
            </a:r>
            <a:r>
              <a:rPr sz="1400" dirty="0"/>
              <a:t> </a:t>
            </a:r>
            <a:r>
              <a:rPr sz="1400" dirty="0" err="1"/>
              <a:t>causam</a:t>
            </a:r>
            <a:r>
              <a:rPr sz="1400" dirty="0"/>
              <a:t> </a:t>
            </a:r>
            <a:r>
              <a:rPr sz="1400" dirty="0" err="1"/>
              <a:t>escoamento</a:t>
            </a:r>
            <a:r>
              <a:rPr sz="1400" dirty="0"/>
              <a:t> superficial </a:t>
            </a:r>
            <a:r>
              <a:rPr sz="1400" dirty="0" err="1"/>
              <a:t>concentrado</a:t>
            </a:r>
            <a:r>
              <a:rPr sz="1400" dirty="0"/>
              <a:t> (Dieckow et al., 2009).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400" dirty="0"/>
              <a:t>• A </a:t>
            </a:r>
            <a:r>
              <a:rPr sz="1400" dirty="0" err="1"/>
              <a:t>erosão</a:t>
            </a:r>
            <a:r>
              <a:rPr sz="1400" dirty="0"/>
              <a:t> laminar remove </a:t>
            </a:r>
            <a:r>
              <a:rPr sz="1400" dirty="0" err="1"/>
              <a:t>seletivamente</a:t>
            </a:r>
            <a:r>
              <a:rPr sz="1400" dirty="0"/>
              <a:t> a </a:t>
            </a:r>
            <a:r>
              <a:rPr sz="1400" dirty="0" err="1"/>
              <a:t>fração</a:t>
            </a:r>
            <a:r>
              <a:rPr sz="1400" dirty="0"/>
              <a:t> </a:t>
            </a:r>
            <a:r>
              <a:rPr sz="1400" dirty="0" err="1"/>
              <a:t>coloidal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fértil</a:t>
            </a:r>
            <a:r>
              <a:rPr sz="1400" dirty="0"/>
              <a:t> (</a:t>
            </a:r>
            <a:r>
              <a:rPr sz="1400" dirty="0" err="1"/>
              <a:t>argila</a:t>
            </a:r>
            <a:r>
              <a:rPr sz="1400" dirty="0"/>
              <a:t>, </a:t>
            </a:r>
            <a:r>
              <a:rPr sz="1400" dirty="0" err="1"/>
              <a:t>matéria</a:t>
            </a:r>
            <a:r>
              <a:rPr sz="1400" dirty="0"/>
              <a:t> </a:t>
            </a:r>
            <a:r>
              <a:rPr sz="1400" dirty="0" err="1"/>
              <a:t>orgânica</a:t>
            </a:r>
            <a:r>
              <a:rPr sz="1400" dirty="0"/>
              <a:t> e </a:t>
            </a:r>
            <a:r>
              <a:rPr sz="1400" dirty="0" err="1"/>
              <a:t>fósforo</a:t>
            </a:r>
            <a:r>
              <a:rPr sz="1400" dirty="0"/>
              <a:t>) </a:t>
            </a:r>
            <a:r>
              <a:rPr sz="1400" dirty="0" err="1"/>
              <a:t>sem</a:t>
            </a:r>
            <a:r>
              <a:rPr sz="1400" dirty="0"/>
              <a:t> </a:t>
            </a:r>
            <a:r>
              <a:rPr sz="1400" dirty="0" err="1"/>
              <a:t>formar</a:t>
            </a:r>
            <a:r>
              <a:rPr sz="1400" dirty="0"/>
              <a:t> </a:t>
            </a:r>
            <a:r>
              <a:rPr sz="1400" dirty="0" err="1"/>
              <a:t>crateras</a:t>
            </a:r>
            <a:r>
              <a:rPr sz="1400" dirty="0"/>
              <a:t> </a:t>
            </a:r>
            <a:r>
              <a:rPr sz="1400" dirty="0" err="1"/>
              <a:t>óbvias</a:t>
            </a:r>
            <a:r>
              <a:rPr sz="1400" dirty="0"/>
              <a:t> de </a:t>
            </a:r>
            <a:r>
              <a:rPr sz="1400" dirty="0" err="1"/>
              <a:t>imediato</a:t>
            </a:r>
            <a:r>
              <a:rPr sz="14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400" dirty="0"/>
              <a:t>• Impacto </a:t>
            </a:r>
            <a:r>
              <a:rPr sz="1400" dirty="0" err="1"/>
              <a:t>direto</a:t>
            </a:r>
            <a:r>
              <a:rPr sz="1400" dirty="0"/>
              <a:t>: </a:t>
            </a:r>
            <a:r>
              <a:rPr sz="1400" dirty="0" err="1"/>
              <a:t>perda</a:t>
            </a:r>
            <a:r>
              <a:rPr sz="1400" dirty="0"/>
              <a:t> de </a:t>
            </a:r>
            <a:r>
              <a:rPr sz="1400" dirty="0" err="1"/>
              <a:t>produtividade</a:t>
            </a:r>
            <a:r>
              <a:rPr sz="1400" dirty="0"/>
              <a:t> </a:t>
            </a:r>
            <a:r>
              <a:rPr sz="1400" dirty="0" err="1"/>
              <a:t>agrícola</a:t>
            </a:r>
            <a:r>
              <a:rPr sz="1400" dirty="0"/>
              <a:t> e </a:t>
            </a:r>
            <a:r>
              <a:rPr sz="1400" dirty="0" err="1"/>
              <a:t>assoreamento</a:t>
            </a:r>
            <a:r>
              <a:rPr sz="1400" dirty="0"/>
              <a:t>/</a:t>
            </a:r>
            <a:r>
              <a:rPr sz="1400" dirty="0" err="1"/>
              <a:t>eutrofização</a:t>
            </a:r>
            <a:r>
              <a:rPr sz="1400" dirty="0"/>
              <a:t> dos </a:t>
            </a:r>
            <a:r>
              <a:rPr sz="1400" dirty="0" err="1"/>
              <a:t>tributários</a:t>
            </a:r>
            <a:r>
              <a:rPr sz="1400" dirty="0"/>
              <a:t> do </a:t>
            </a:r>
            <a:r>
              <a:rPr sz="1400" dirty="0" err="1"/>
              <a:t>Reservatório</a:t>
            </a:r>
            <a:r>
              <a:rPr sz="1400" dirty="0"/>
              <a:t> de Itaipu.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53312"/>
            <a:ext cx="82296" cy="2276856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325880"/>
            <a:ext cx="50840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rPr sz="1400" dirty="0" err="1"/>
              <a:t>Limitação</a:t>
            </a:r>
            <a:r>
              <a:rPr sz="1400" dirty="0"/>
              <a:t> das </a:t>
            </a:r>
            <a:r>
              <a:rPr sz="1400" dirty="0" err="1"/>
              <a:t>Abordagens</a:t>
            </a:r>
            <a:r>
              <a:rPr sz="1400" dirty="0"/>
              <a:t> </a:t>
            </a:r>
            <a:r>
              <a:rPr sz="1400" dirty="0" err="1"/>
              <a:t>Cartográficas</a:t>
            </a:r>
            <a:r>
              <a:rPr sz="1400" dirty="0"/>
              <a:t> </a:t>
            </a:r>
            <a:r>
              <a:rPr sz="1400" dirty="0" err="1"/>
              <a:t>Clássicas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Modelos</a:t>
            </a:r>
            <a:r>
              <a:rPr sz="1400" dirty="0"/>
              <a:t> </a:t>
            </a:r>
            <a:r>
              <a:rPr sz="1400" dirty="0" err="1"/>
              <a:t>empíricos</a:t>
            </a:r>
            <a:r>
              <a:rPr sz="1400" dirty="0"/>
              <a:t> </a:t>
            </a:r>
            <a:r>
              <a:rPr sz="1400" dirty="0" err="1"/>
              <a:t>tradicionais</a:t>
            </a:r>
            <a:r>
              <a:rPr sz="1400" dirty="0"/>
              <a:t> (</a:t>
            </a:r>
            <a:r>
              <a:rPr sz="1400" dirty="0" err="1"/>
              <a:t>como</a:t>
            </a:r>
            <a:r>
              <a:rPr sz="1400" dirty="0"/>
              <a:t> a RUSLE </a:t>
            </a:r>
            <a:r>
              <a:rPr sz="1400" dirty="0" err="1"/>
              <a:t>aplicada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escala</a:t>
            </a:r>
            <a:r>
              <a:rPr sz="1400" dirty="0"/>
              <a:t> macro) </a:t>
            </a:r>
            <a:r>
              <a:rPr sz="1400" dirty="0" err="1"/>
              <a:t>apoiam</a:t>
            </a:r>
            <a:r>
              <a:rPr sz="1400" dirty="0"/>
              <a:t>-se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médias</a:t>
            </a:r>
            <a:r>
              <a:rPr sz="1400" dirty="0"/>
              <a:t> </a:t>
            </a:r>
            <a:r>
              <a:rPr sz="1400" dirty="0" err="1"/>
              <a:t>generalizadas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suavizam</a:t>
            </a:r>
            <a:r>
              <a:rPr sz="1400" dirty="0"/>
              <a:t> </a:t>
            </a:r>
            <a:r>
              <a:rPr sz="1400" dirty="0" err="1"/>
              <a:t>feições</a:t>
            </a:r>
            <a:r>
              <a:rPr sz="1400" dirty="0"/>
              <a:t> </a:t>
            </a:r>
            <a:r>
              <a:rPr sz="1400" dirty="0" err="1"/>
              <a:t>locais</a:t>
            </a:r>
            <a:r>
              <a:rPr sz="14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Vistorias</a:t>
            </a:r>
            <a:r>
              <a:rPr sz="1400" dirty="0"/>
              <a:t> </a:t>
            </a:r>
            <a:r>
              <a:rPr sz="1400" dirty="0" err="1"/>
              <a:t>presenciais</a:t>
            </a:r>
            <a:r>
              <a:rPr sz="1400" dirty="0"/>
              <a:t> </a:t>
            </a:r>
            <a:r>
              <a:rPr sz="1400" dirty="0" err="1"/>
              <a:t>às</a:t>
            </a:r>
            <a:r>
              <a:rPr sz="1400" dirty="0"/>
              <a:t> </a:t>
            </a:r>
            <a:r>
              <a:rPr sz="1400" dirty="0" err="1"/>
              <a:t>cegas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uma</a:t>
            </a:r>
            <a:r>
              <a:rPr sz="1400" dirty="0"/>
              <a:t> </a:t>
            </a:r>
            <a:r>
              <a:rPr sz="1400" dirty="0" err="1"/>
              <a:t>bacia</a:t>
            </a:r>
            <a:r>
              <a:rPr sz="1400" dirty="0"/>
              <a:t> de </a:t>
            </a:r>
            <a:r>
              <a:rPr sz="1400" dirty="0" err="1"/>
              <a:t>mais</a:t>
            </a:r>
            <a:r>
              <a:rPr sz="1400" dirty="0"/>
              <a:t> de 8.000 km² </a:t>
            </a:r>
            <a:r>
              <a:rPr sz="1400" dirty="0" err="1"/>
              <a:t>têm</a:t>
            </a:r>
            <a:r>
              <a:rPr sz="1400" dirty="0"/>
              <a:t> </a:t>
            </a:r>
            <a:r>
              <a:rPr sz="1400" dirty="0" err="1"/>
              <a:t>custo</a:t>
            </a:r>
            <a:r>
              <a:rPr sz="1400" dirty="0"/>
              <a:t> </a:t>
            </a:r>
            <a:r>
              <a:rPr sz="1400" dirty="0" err="1"/>
              <a:t>logístico</a:t>
            </a:r>
            <a:r>
              <a:rPr sz="1400" dirty="0"/>
              <a:t> </a:t>
            </a:r>
            <a:r>
              <a:rPr sz="1400" dirty="0" err="1"/>
              <a:t>proibitivo</a:t>
            </a:r>
            <a:r>
              <a:rPr sz="14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Pergunta</a:t>
            </a:r>
            <a:r>
              <a:rPr sz="1400" dirty="0"/>
              <a:t> da Pesquisa: Como </a:t>
            </a:r>
            <a:r>
              <a:rPr sz="1400" dirty="0" err="1"/>
              <a:t>filtrar</a:t>
            </a:r>
            <a:r>
              <a:rPr sz="1400" dirty="0"/>
              <a:t> </a:t>
            </a:r>
            <a:r>
              <a:rPr sz="1400" dirty="0" err="1"/>
              <a:t>milhões</a:t>
            </a:r>
            <a:r>
              <a:rPr sz="1400" dirty="0"/>
              <a:t> de pixels </a:t>
            </a:r>
            <a:r>
              <a:rPr sz="1400" dirty="0" err="1"/>
              <a:t>orbitais</a:t>
            </a:r>
            <a:r>
              <a:rPr sz="1400" dirty="0"/>
              <a:t> para </a:t>
            </a:r>
            <a:r>
              <a:rPr sz="1400" dirty="0" err="1"/>
              <a:t>apontar</a:t>
            </a:r>
            <a:r>
              <a:rPr sz="1400" dirty="0"/>
              <a:t>, com </a:t>
            </a:r>
            <a:r>
              <a:rPr sz="1400" dirty="0" err="1"/>
              <a:t>precisão</a:t>
            </a:r>
            <a:r>
              <a:rPr sz="1400" dirty="0"/>
              <a:t> </a:t>
            </a:r>
            <a:r>
              <a:rPr sz="1400" dirty="0" err="1"/>
              <a:t>métrica</a:t>
            </a:r>
            <a:r>
              <a:rPr sz="1400" dirty="0"/>
              <a:t> (10 m) e </a:t>
            </a:r>
            <a:r>
              <a:rPr sz="1400" dirty="0" err="1"/>
              <a:t>lastro</a:t>
            </a:r>
            <a:r>
              <a:rPr sz="1400" dirty="0"/>
              <a:t> </a:t>
            </a:r>
            <a:r>
              <a:rPr sz="1400" dirty="0" err="1"/>
              <a:t>jurídico</a:t>
            </a:r>
            <a:r>
              <a:rPr sz="1400" dirty="0"/>
              <a:t>, </a:t>
            </a:r>
            <a:r>
              <a:rPr sz="1400" dirty="0" err="1"/>
              <a:t>onde</a:t>
            </a:r>
            <a:r>
              <a:rPr sz="1400" dirty="0"/>
              <a:t> </a:t>
            </a:r>
            <a:r>
              <a:rPr sz="1400" dirty="0" err="1"/>
              <a:t>estão</a:t>
            </a:r>
            <a:r>
              <a:rPr sz="1400" dirty="0"/>
              <a:t> </a:t>
            </a:r>
            <a:r>
              <a:rPr sz="1400" dirty="0" err="1"/>
              <a:t>os</a:t>
            </a:r>
            <a:r>
              <a:rPr sz="1400" dirty="0"/>
              <a:t> </a:t>
            </a:r>
            <a:r>
              <a:rPr sz="1400" dirty="0" err="1"/>
              <a:t>pontos</a:t>
            </a:r>
            <a:r>
              <a:rPr sz="1400" dirty="0"/>
              <a:t> de </a:t>
            </a:r>
            <a:r>
              <a:rPr sz="1400" dirty="0" err="1"/>
              <a:t>erosão</a:t>
            </a:r>
            <a:r>
              <a:rPr sz="1400" dirty="0"/>
              <a:t> </a:t>
            </a:r>
            <a:r>
              <a:rPr sz="1400" dirty="0" err="1"/>
              <a:t>provável</a:t>
            </a:r>
            <a:r>
              <a:rPr sz="1400" dirty="0"/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11064240" cy="2331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005072"/>
            <a:ext cx="82296" cy="2185415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023359"/>
            <a:ext cx="10753344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5F46"/>
                </a:solidFill>
              </a:defRPr>
            </a:pPr>
            <a:r>
              <a:rPr sz="1600" dirty="0"/>
              <a:t>A </a:t>
            </a:r>
            <a:r>
              <a:rPr sz="1600" dirty="0" err="1"/>
              <a:t>Solução</a:t>
            </a:r>
            <a:r>
              <a:rPr sz="1600" dirty="0"/>
              <a:t> </a:t>
            </a:r>
            <a:r>
              <a:rPr sz="1600" dirty="0" err="1"/>
              <a:t>Proposta</a:t>
            </a:r>
            <a:r>
              <a:rPr sz="1600" dirty="0"/>
              <a:t>: Plataforma </a:t>
            </a:r>
            <a:r>
              <a:rPr sz="1600" dirty="0" err="1"/>
              <a:t>Computacional</a:t>
            </a:r>
            <a:r>
              <a:rPr sz="1600" dirty="0"/>
              <a:t> SAREL (</a:t>
            </a:r>
            <a:r>
              <a:rPr sz="1600" dirty="0" err="1"/>
              <a:t>Triagem</a:t>
            </a:r>
            <a:r>
              <a:rPr sz="1600" dirty="0"/>
              <a:t> Multi-Sensor </a:t>
            </a:r>
            <a:r>
              <a:rPr sz="1600" dirty="0" err="1"/>
              <a:t>Auditável</a:t>
            </a:r>
            <a:r>
              <a:rPr sz="1600"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Integração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</a:t>
            </a:r>
            <a:r>
              <a:rPr sz="1600" dirty="0" err="1"/>
              <a:t>nuvem</a:t>
            </a:r>
            <a:r>
              <a:rPr sz="1600" dirty="0"/>
              <a:t> via Google Earth Engine (GEE): </a:t>
            </a:r>
            <a:r>
              <a:rPr sz="1600" dirty="0" err="1"/>
              <a:t>varredura</a:t>
            </a:r>
            <a:r>
              <a:rPr sz="1600" dirty="0"/>
              <a:t> </a:t>
            </a:r>
            <a:r>
              <a:rPr sz="1600" dirty="0" err="1"/>
              <a:t>histórica</a:t>
            </a:r>
            <a:r>
              <a:rPr sz="1600" dirty="0"/>
              <a:t> da </a:t>
            </a:r>
            <a:r>
              <a:rPr sz="1600" dirty="0" err="1"/>
              <a:t>constelação</a:t>
            </a:r>
            <a:r>
              <a:rPr sz="1600" dirty="0"/>
              <a:t> Sentinel-2 MSI (10 m) </a:t>
            </a:r>
            <a:r>
              <a:rPr sz="1600" dirty="0" err="1"/>
              <a:t>combinada</a:t>
            </a:r>
            <a:r>
              <a:rPr sz="1600" dirty="0"/>
              <a:t> </a:t>
            </a:r>
            <a:r>
              <a:rPr sz="1600" dirty="0" err="1"/>
              <a:t>ao</a:t>
            </a:r>
            <a:r>
              <a:rPr sz="1600" dirty="0"/>
              <a:t> </a:t>
            </a:r>
            <a:r>
              <a:rPr sz="1600" dirty="0" err="1"/>
              <a:t>relevo</a:t>
            </a:r>
            <a:r>
              <a:rPr sz="1600" dirty="0"/>
              <a:t> Copernicus DEM (30 m).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Ancoragem</a:t>
            </a:r>
            <a:r>
              <a:rPr sz="1600" dirty="0"/>
              <a:t> </a:t>
            </a:r>
            <a:r>
              <a:rPr sz="1600" dirty="0" err="1"/>
              <a:t>Oficial</a:t>
            </a:r>
            <a:r>
              <a:rPr sz="1600" dirty="0"/>
              <a:t>: </a:t>
            </a:r>
            <a:r>
              <a:rPr sz="1600" dirty="0" err="1"/>
              <a:t>cruzamento</a:t>
            </a:r>
            <a:r>
              <a:rPr sz="1600" dirty="0"/>
              <a:t> </a:t>
            </a:r>
            <a:r>
              <a:rPr sz="1600" dirty="0" err="1"/>
              <a:t>automático</a:t>
            </a:r>
            <a:r>
              <a:rPr sz="1600" dirty="0"/>
              <a:t> com </a:t>
            </a:r>
            <a:r>
              <a:rPr sz="1600" dirty="0" err="1"/>
              <a:t>imóveis</a:t>
            </a:r>
            <a:r>
              <a:rPr sz="1600" dirty="0"/>
              <a:t> </a:t>
            </a:r>
            <a:r>
              <a:rPr sz="1600" dirty="0" err="1"/>
              <a:t>rurais</a:t>
            </a:r>
            <a:r>
              <a:rPr sz="1600" dirty="0"/>
              <a:t> do SICAR/CAR, </a:t>
            </a:r>
            <a:r>
              <a:rPr sz="1600" dirty="0" err="1"/>
              <a:t>malhas</a:t>
            </a:r>
            <a:r>
              <a:rPr sz="1600" dirty="0"/>
              <a:t> </a:t>
            </a:r>
            <a:r>
              <a:rPr sz="1600" dirty="0" err="1"/>
              <a:t>legais</a:t>
            </a:r>
            <a:r>
              <a:rPr sz="1600" dirty="0"/>
              <a:t> do IBGE/ITCG e </a:t>
            </a:r>
            <a:r>
              <a:rPr sz="1600" dirty="0" err="1"/>
              <a:t>erodibilidade</a:t>
            </a:r>
            <a:r>
              <a:rPr sz="1600" dirty="0"/>
              <a:t> </a:t>
            </a:r>
            <a:r>
              <a:rPr sz="1600" dirty="0" err="1"/>
              <a:t>pedológica</a:t>
            </a:r>
            <a:r>
              <a:rPr sz="1600" dirty="0"/>
              <a:t> da Embrapa Solos (Coelho et al., 2024).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Objetivo</a:t>
            </a:r>
            <a:r>
              <a:rPr sz="1600" dirty="0"/>
              <a:t> </a:t>
            </a:r>
            <a:r>
              <a:rPr sz="1600" dirty="0" err="1"/>
              <a:t>desta</a:t>
            </a:r>
            <a:r>
              <a:rPr sz="1600" dirty="0"/>
              <a:t> </a:t>
            </a:r>
            <a:r>
              <a:rPr sz="1600" dirty="0" err="1"/>
              <a:t>etapa</a:t>
            </a:r>
            <a:r>
              <a:rPr sz="1600" dirty="0"/>
              <a:t>: </a:t>
            </a:r>
            <a:r>
              <a:rPr sz="1600" dirty="0" err="1"/>
              <a:t>apresentar</a:t>
            </a:r>
            <a:r>
              <a:rPr sz="1600" dirty="0"/>
              <a:t> a </a:t>
            </a:r>
            <a:r>
              <a:rPr sz="1600" dirty="0" err="1"/>
              <a:t>arquitetura</a:t>
            </a:r>
            <a:r>
              <a:rPr sz="1600" dirty="0"/>
              <a:t> territorial e o motor </a:t>
            </a:r>
            <a:r>
              <a:rPr sz="1600" dirty="0" err="1"/>
              <a:t>matemático</a:t>
            </a:r>
            <a:r>
              <a:rPr sz="1600" dirty="0"/>
              <a:t> de </a:t>
            </a:r>
            <a:r>
              <a:rPr sz="1600" dirty="0" err="1"/>
              <a:t>seleção</a:t>
            </a:r>
            <a:r>
              <a:rPr sz="1600" dirty="0"/>
              <a:t> dos </a:t>
            </a:r>
            <a:r>
              <a:rPr sz="1600" dirty="0" err="1"/>
              <a:t>pontos</a:t>
            </a:r>
            <a:r>
              <a:rPr sz="1600" dirty="0"/>
              <a:t> </a:t>
            </a:r>
            <a:r>
              <a:rPr sz="1600" dirty="0" err="1"/>
              <a:t>candidatos</a:t>
            </a:r>
            <a:r>
              <a:rPr sz="1600" dirty="0"/>
              <a:t> de </a:t>
            </a:r>
            <a:r>
              <a:rPr sz="1600" dirty="0" err="1"/>
              <a:t>erosão</a:t>
            </a:r>
            <a:r>
              <a:rPr sz="1600" dirty="0"/>
              <a:t> laminar </a:t>
            </a:r>
            <a:r>
              <a:rPr sz="1600" dirty="0" err="1"/>
              <a:t>provável</a:t>
            </a:r>
            <a:r>
              <a:rPr sz="1600" dirty="0"/>
              <a:t>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A5BA784-3F66-ED00-4A96-BB27151EC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849" y="271503"/>
            <a:ext cx="1024874" cy="340518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2. O Arcabouço Computacional SAREL: Visão Geral da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3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568175"/>
            <a:ext cx="4443984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rPr sz="1600" dirty="0" err="1"/>
              <a:t>Arquitetura</a:t>
            </a:r>
            <a:r>
              <a:rPr sz="1600" dirty="0"/>
              <a:t> </a:t>
            </a:r>
            <a:r>
              <a:rPr sz="1600" dirty="0" err="1"/>
              <a:t>WebGIS</a:t>
            </a:r>
            <a:r>
              <a:rPr sz="1600" dirty="0"/>
              <a:t> 3D &amp; Motor </a:t>
            </a:r>
            <a:r>
              <a:rPr sz="1600" dirty="0" err="1"/>
              <a:t>Científico</a:t>
            </a: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Ambiente</a:t>
            </a:r>
            <a:r>
              <a:rPr sz="1600" dirty="0"/>
              <a:t> </a:t>
            </a:r>
            <a:r>
              <a:rPr sz="1600" dirty="0" err="1"/>
              <a:t>Interativo</a:t>
            </a:r>
            <a:r>
              <a:rPr sz="1600" dirty="0"/>
              <a:t> Tridimensional: </a:t>
            </a:r>
            <a:r>
              <a:rPr sz="1600" dirty="0" err="1"/>
              <a:t>renderização</a:t>
            </a:r>
            <a:r>
              <a:rPr sz="1600" dirty="0"/>
              <a:t> </a:t>
            </a:r>
            <a:r>
              <a:rPr sz="1600" dirty="0" err="1"/>
              <a:t>topográfica</a:t>
            </a:r>
            <a:r>
              <a:rPr sz="1600" dirty="0"/>
              <a:t> </a:t>
            </a:r>
            <a:r>
              <a:rPr sz="1600" dirty="0" err="1"/>
              <a:t>exagerada</a:t>
            </a:r>
            <a:r>
              <a:rPr sz="1600" dirty="0"/>
              <a:t> (DEM 3D) </a:t>
            </a:r>
            <a:r>
              <a:rPr sz="1600" dirty="0" err="1"/>
              <a:t>sobre</a:t>
            </a:r>
            <a:r>
              <a:rPr sz="1600" dirty="0"/>
              <a:t> imagens </a:t>
            </a:r>
            <a:r>
              <a:rPr sz="1600" dirty="0" err="1"/>
              <a:t>orbitais</a:t>
            </a:r>
            <a:r>
              <a:rPr sz="1600" dirty="0"/>
              <a:t> de </a:t>
            </a:r>
            <a:r>
              <a:rPr sz="1600" dirty="0" err="1"/>
              <a:t>alta</a:t>
            </a:r>
            <a:r>
              <a:rPr sz="1600" dirty="0"/>
              <a:t> </a:t>
            </a:r>
            <a:r>
              <a:rPr sz="1600" dirty="0" err="1"/>
              <a:t>definição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Conexão</a:t>
            </a:r>
            <a:r>
              <a:rPr sz="1600" dirty="0"/>
              <a:t> </a:t>
            </a:r>
            <a:r>
              <a:rPr sz="1600" dirty="0" err="1"/>
              <a:t>Direta</a:t>
            </a:r>
            <a:r>
              <a:rPr sz="1600" dirty="0"/>
              <a:t> com Serviços </a:t>
            </a:r>
            <a:r>
              <a:rPr sz="1600" dirty="0" err="1"/>
              <a:t>Oficiais</a:t>
            </a:r>
            <a:r>
              <a:rPr sz="1600" dirty="0"/>
              <a:t>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1. Google Earth Engine (GEE) para </a:t>
            </a:r>
            <a:r>
              <a:rPr sz="1600" dirty="0" err="1"/>
              <a:t>redução</a:t>
            </a:r>
            <a:r>
              <a:rPr sz="1600" dirty="0"/>
              <a:t> de </a:t>
            </a:r>
            <a:r>
              <a:rPr sz="1600" dirty="0" err="1"/>
              <a:t>séries</a:t>
            </a:r>
            <a:r>
              <a:rPr sz="1600" dirty="0"/>
              <a:t> </a:t>
            </a:r>
            <a:r>
              <a:rPr sz="1600" dirty="0" err="1"/>
              <a:t>temporais</a:t>
            </a:r>
            <a:r>
              <a:rPr sz="1600" dirty="0"/>
              <a:t> Sentinel-2 L2A;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2. API </a:t>
            </a:r>
            <a:r>
              <a:rPr sz="1600" dirty="0" err="1"/>
              <a:t>Oficial</a:t>
            </a:r>
            <a:r>
              <a:rPr sz="1600" dirty="0"/>
              <a:t> de </a:t>
            </a:r>
            <a:r>
              <a:rPr sz="1600" dirty="0" err="1"/>
              <a:t>Malhas</a:t>
            </a:r>
            <a:r>
              <a:rPr sz="1600" dirty="0"/>
              <a:t> do IBGE e Instituto </a:t>
            </a:r>
            <a:r>
              <a:rPr sz="1600" dirty="0" err="1"/>
              <a:t>Água</a:t>
            </a:r>
            <a:r>
              <a:rPr sz="1600" dirty="0"/>
              <a:t> e Terra (IAT-PR);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3. Banco </a:t>
            </a:r>
            <a:r>
              <a:rPr sz="1600" dirty="0" err="1"/>
              <a:t>geoespacial</a:t>
            </a:r>
            <a:r>
              <a:rPr sz="1600" dirty="0"/>
              <a:t> local com </a:t>
            </a:r>
            <a:r>
              <a:rPr sz="1600" dirty="0" err="1"/>
              <a:t>milhares</a:t>
            </a:r>
            <a:r>
              <a:rPr sz="1600" dirty="0"/>
              <a:t> de </a:t>
            </a:r>
            <a:r>
              <a:rPr sz="1600" dirty="0" err="1"/>
              <a:t>polígonos</a:t>
            </a:r>
            <a:r>
              <a:rPr sz="1600" dirty="0"/>
              <a:t> reais do SICAR/CAR e SIGEF;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4. </a:t>
            </a:r>
            <a:r>
              <a:rPr sz="1600" dirty="0" err="1"/>
              <a:t>Integração</a:t>
            </a:r>
            <a:r>
              <a:rPr sz="1600" dirty="0"/>
              <a:t> com </a:t>
            </a:r>
            <a:r>
              <a:rPr sz="1600" dirty="0" err="1"/>
              <a:t>parâmetros</a:t>
            </a:r>
            <a:r>
              <a:rPr sz="1600" dirty="0"/>
              <a:t> </a:t>
            </a:r>
            <a:r>
              <a:rPr sz="1600" dirty="0" err="1"/>
              <a:t>pedológicos</a:t>
            </a:r>
            <a:r>
              <a:rPr sz="1600" dirty="0"/>
              <a:t> da Embrapa (</a:t>
            </a:r>
            <a:r>
              <a:rPr sz="1600" dirty="0" err="1"/>
              <a:t>SiBCS</a:t>
            </a:r>
            <a:r>
              <a:rPr sz="1600" dirty="0"/>
              <a:t>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Fluxo</a:t>
            </a:r>
            <a:r>
              <a:rPr sz="1600" dirty="0"/>
              <a:t> de </a:t>
            </a:r>
            <a:r>
              <a:rPr sz="1600" dirty="0" err="1"/>
              <a:t>Trabalho</a:t>
            </a:r>
            <a:r>
              <a:rPr sz="1600" dirty="0"/>
              <a:t> </a:t>
            </a:r>
            <a:r>
              <a:rPr sz="1600" dirty="0" err="1"/>
              <a:t>Guiado</a:t>
            </a:r>
            <a:r>
              <a:rPr sz="1600" dirty="0"/>
              <a:t>: </a:t>
            </a:r>
            <a:r>
              <a:rPr sz="1600" dirty="0" err="1"/>
              <a:t>Delimitação</a:t>
            </a:r>
            <a:r>
              <a:rPr sz="1600" dirty="0"/>
              <a:t> da </a:t>
            </a:r>
            <a:r>
              <a:rPr sz="1600" dirty="0" err="1"/>
              <a:t>Área</a:t>
            </a:r>
            <a:r>
              <a:rPr sz="1600" dirty="0"/>
              <a:t> (AOI) → </a:t>
            </a:r>
            <a:r>
              <a:rPr sz="1600" dirty="0" err="1"/>
              <a:t>Eleição</a:t>
            </a:r>
            <a:r>
              <a:rPr sz="1600" dirty="0"/>
              <a:t> </a:t>
            </a:r>
            <a:r>
              <a:rPr sz="1600" dirty="0" err="1"/>
              <a:t>Estratificada</a:t>
            </a:r>
            <a:r>
              <a:rPr sz="1600" dirty="0"/>
              <a:t> de </a:t>
            </a:r>
            <a:r>
              <a:rPr sz="1600" dirty="0" err="1"/>
              <a:t>Candidatos</a:t>
            </a:r>
            <a:r>
              <a:rPr sz="1600" dirty="0"/>
              <a:t> → </a:t>
            </a:r>
            <a:r>
              <a:rPr sz="1600" dirty="0" err="1"/>
              <a:t>Inspeção</a:t>
            </a:r>
            <a:r>
              <a:rPr sz="1600" dirty="0"/>
              <a:t> Multi-Sensor → </a:t>
            </a:r>
            <a:r>
              <a:rPr sz="1600" dirty="0" err="1"/>
              <a:t>Exportação</a:t>
            </a:r>
            <a:r>
              <a:rPr sz="1600" dirty="0"/>
              <a:t> para Campo.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#1: Visão Geral do SAREL e Mapa 3D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1: Interface principal do sistema SAREL v2.0 com renderização topográfica 3D.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6564BECD-4C4D-09AE-D778-EA9283C8F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771908"/>
            <a:ext cx="5745480" cy="39593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1B5310B-577F-D2DE-CB61-5BC87E642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4849" y="271503"/>
            <a:ext cx="1024874" cy="340518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3. Recorte Espacial Híbrido: Bacia Hidrográfica do Paraná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4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670667"/>
            <a:ext cx="444398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369A1"/>
                </a:solidFill>
              </a:defRPr>
            </a:pPr>
            <a:r>
              <a:rPr sz="1600" dirty="0" err="1"/>
              <a:t>Solução</a:t>
            </a:r>
            <a:r>
              <a:rPr sz="1600" dirty="0"/>
              <a:t> </a:t>
            </a:r>
            <a:r>
              <a:rPr sz="1600" dirty="0" err="1"/>
              <a:t>Cartográfica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3 </a:t>
            </a:r>
            <a:r>
              <a:rPr sz="1600" dirty="0" err="1"/>
              <a:t>Camadas</a:t>
            </a:r>
            <a:r>
              <a:rPr sz="1600" dirty="0"/>
              <a:t> </a:t>
            </a:r>
            <a:r>
              <a:rPr sz="1600" dirty="0" err="1"/>
              <a:t>Oficiais</a:t>
            </a: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Superamos</a:t>
            </a:r>
            <a:r>
              <a:rPr sz="1600" dirty="0"/>
              <a:t> </a:t>
            </a:r>
            <a:r>
              <a:rPr sz="1600" dirty="0" err="1"/>
              <a:t>polígonos</a:t>
            </a:r>
            <a:r>
              <a:rPr sz="1600" dirty="0"/>
              <a:t> </a:t>
            </a:r>
            <a:r>
              <a:rPr sz="1600" dirty="0" err="1"/>
              <a:t>simplificados</a:t>
            </a:r>
            <a:r>
              <a:rPr sz="1600" dirty="0"/>
              <a:t> </a:t>
            </a:r>
            <a:r>
              <a:rPr sz="1600" dirty="0" err="1"/>
              <a:t>unindo</a:t>
            </a:r>
            <a:r>
              <a:rPr sz="1600" dirty="0"/>
              <a:t> a </a:t>
            </a:r>
            <a:r>
              <a:rPr sz="1600" dirty="0" err="1"/>
              <a:t>hidrografia</a:t>
            </a:r>
            <a:r>
              <a:rPr sz="1600" dirty="0"/>
              <a:t> </a:t>
            </a:r>
            <a:r>
              <a:rPr sz="1600" dirty="0" err="1"/>
              <a:t>física</a:t>
            </a:r>
            <a:r>
              <a:rPr sz="1600" dirty="0"/>
              <a:t> </a:t>
            </a:r>
            <a:r>
              <a:rPr sz="1600" dirty="0" err="1"/>
              <a:t>aos</a:t>
            </a:r>
            <a:r>
              <a:rPr sz="1600" dirty="0"/>
              <a:t> </a:t>
            </a:r>
            <a:r>
              <a:rPr sz="1600" dirty="0" err="1"/>
              <a:t>limites</a:t>
            </a:r>
            <a:r>
              <a:rPr sz="1600" dirty="0"/>
              <a:t> </a:t>
            </a:r>
            <a:r>
              <a:rPr sz="1600" dirty="0" err="1"/>
              <a:t>legais</a:t>
            </a:r>
            <a:r>
              <a:rPr sz="1600" dirty="0"/>
              <a:t> </a:t>
            </a:r>
            <a:r>
              <a:rPr sz="1600" dirty="0" err="1"/>
              <a:t>municipais</a:t>
            </a:r>
            <a:r>
              <a:rPr sz="1600" dirty="0"/>
              <a:t> (SIRGAS 2000):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1. Divisor </a:t>
            </a:r>
            <a:r>
              <a:rPr sz="1600" dirty="0" err="1"/>
              <a:t>Hidrológico</a:t>
            </a:r>
            <a:r>
              <a:rPr sz="1600" dirty="0"/>
              <a:t> </a:t>
            </a:r>
            <a:r>
              <a:rPr sz="1600" dirty="0" err="1"/>
              <a:t>Oficial</a:t>
            </a:r>
            <a:r>
              <a:rPr sz="1600" dirty="0"/>
              <a:t> (IAT — 7.979 km²): </a:t>
            </a:r>
            <a:r>
              <a:rPr sz="1600" dirty="0" err="1"/>
              <a:t>área</a:t>
            </a:r>
            <a:r>
              <a:rPr sz="1600" dirty="0"/>
              <a:t> </a:t>
            </a:r>
            <a:r>
              <a:rPr sz="1600" dirty="0" err="1"/>
              <a:t>exata</a:t>
            </a:r>
            <a:r>
              <a:rPr sz="1600" dirty="0"/>
              <a:t> de </a:t>
            </a:r>
            <a:r>
              <a:rPr sz="1600" dirty="0" err="1"/>
              <a:t>drenagem</a:t>
            </a:r>
            <a:r>
              <a:rPr sz="1600" dirty="0"/>
              <a:t> </a:t>
            </a:r>
            <a:r>
              <a:rPr sz="1600" dirty="0" err="1"/>
              <a:t>direta</a:t>
            </a:r>
            <a:r>
              <a:rPr sz="1600" dirty="0"/>
              <a:t> </a:t>
            </a:r>
            <a:r>
              <a:rPr sz="1600" dirty="0" err="1"/>
              <a:t>ao</a:t>
            </a:r>
            <a:r>
              <a:rPr sz="1600" dirty="0"/>
              <a:t> </a:t>
            </a:r>
            <a:r>
              <a:rPr sz="1600" dirty="0" err="1"/>
              <a:t>Reservatório</a:t>
            </a:r>
            <a:r>
              <a:rPr sz="1600" dirty="0"/>
              <a:t> de Itaipu.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2. </a:t>
            </a:r>
            <a:r>
              <a:rPr sz="1600" dirty="0" err="1"/>
              <a:t>Limite</a:t>
            </a:r>
            <a:r>
              <a:rPr sz="1600" dirty="0"/>
              <a:t> Legal dos 28 </a:t>
            </a:r>
            <a:r>
              <a:rPr sz="1600" dirty="0" err="1"/>
              <a:t>Municípios</a:t>
            </a:r>
            <a:r>
              <a:rPr sz="1600" dirty="0"/>
              <a:t> (IBGE/ITCG — 13.350 km²): de </a:t>
            </a:r>
            <a:r>
              <a:rPr sz="1600" dirty="0" err="1"/>
              <a:t>Guaíra</a:t>
            </a:r>
            <a:r>
              <a:rPr sz="1600" dirty="0"/>
              <a:t> (06) e </a:t>
            </a:r>
            <a:r>
              <a:rPr sz="1600" dirty="0" err="1"/>
              <a:t>Cascavel</a:t>
            </a:r>
            <a:r>
              <a:rPr sz="1600" dirty="0"/>
              <a:t> (01) </a:t>
            </a:r>
            <a:r>
              <a:rPr sz="1600" dirty="0" err="1"/>
              <a:t>até</a:t>
            </a:r>
            <a:r>
              <a:rPr sz="1600" dirty="0"/>
              <a:t> </a:t>
            </a:r>
            <a:r>
              <a:rPr sz="1600" dirty="0" err="1"/>
              <a:t>Medianeira</a:t>
            </a:r>
            <a:r>
              <a:rPr sz="1600" dirty="0"/>
              <a:t> (24) e Foz do Iguaçu (28).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3. Corredor Experimental Foz do Iguaçu – Céu Azul (6 </a:t>
            </a:r>
            <a:r>
              <a:rPr sz="1600" dirty="0" err="1"/>
              <a:t>Municípios</a:t>
            </a:r>
            <a:r>
              <a:rPr sz="1600" dirty="0"/>
              <a:t> — 2.920 km²): </a:t>
            </a:r>
            <a:r>
              <a:rPr sz="1600" dirty="0" err="1"/>
              <a:t>eixo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captura</a:t>
            </a:r>
            <a:r>
              <a:rPr sz="1600" dirty="0"/>
              <a:t> o </a:t>
            </a:r>
            <a:r>
              <a:rPr sz="1600" dirty="0" err="1"/>
              <a:t>gradiente</a:t>
            </a:r>
            <a:r>
              <a:rPr sz="1600" dirty="0"/>
              <a:t> </a:t>
            </a:r>
            <a:r>
              <a:rPr sz="1600" dirty="0" err="1"/>
              <a:t>completo</a:t>
            </a:r>
            <a:r>
              <a:rPr sz="1600" dirty="0"/>
              <a:t> de altitude (180 m a 750 m), </a:t>
            </a:r>
            <a:r>
              <a:rPr sz="1600" dirty="0" err="1"/>
              <a:t>declividade</a:t>
            </a:r>
            <a:r>
              <a:rPr sz="1600" dirty="0"/>
              <a:t> (2% a 20%) e </a:t>
            </a:r>
            <a:r>
              <a:rPr sz="1600" dirty="0" err="1"/>
              <a:t>transição</a:t>
            </a:r>
            <a:r>
              <a:rPr sz="1600" dirty="0"/>
              <a:t> </a:t>
            </a:r>
            <a:r>
              <a:rPr sz="1600" dirty="0" err="1"/>
              <a:t>Latossolo</a:t>
            </a:r>
            <a:r>
              <a:rPr sz="1600" dirty="0"/>
              <a:t>/</a:t>
            </a:r>
            <a:r>
              <a:rPr sz="1600" dirty="0" err="1"/>
              <a:t>Nitossolo</a:t>
            </a:r>
            <a:r>
              <a:rPr sz="1600" dirty="0"/>
              <a:t> para </a:t>
            </a:r>
            <a:r>
              <a:rPr sz="1600" dirty="0" err="1"/>
              <a:t>verificação</a:t>
            </a:r>
            <a:r>
              <a:rPr sz="1600" dirty="0"/>
              <a:t> </a:t>
            </a:r>
            <a:r>
              <a:rPr sz="1600" dirty="0" err="1"/>
              <a:t>presencial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#2: Recorte Híbrido da Bacia do Paraná 3 no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2: Sobreposição oficial do Divisor Hidrológico (IAT), 28 Municípios (IBGE) e Corredor Foz–Céu Azul.</a:t>
            </a:r>
          </a:p>
        </p:txBody>
      </p:sp>
      <p:pic>
        <p:nvPicPr>
          <p:cNvPr id="20" name="Escolha das Áreas">
            <a:hlinkClick r:id="" action="ppaction://media"/>
            <a:extLst>
              <a:ext uri="{FF2B5EF4-FFF2-40B4-BE49-F238E27FC236}">
                <a16:creationId xmlns:a16="http://schemas.microsoft.com/office/drawing/2014/main" id="{156BF368-249E-A421-A84F-EC45D31013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69582" y="1792223"/>
            <a:ext cx="5706138" cy="389492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4517E595-B22E-2C29-524D-7948F5981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4849" y="271503"/>
            <a:ext cx="1024874" cy="340518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4. Critérios Biofísicos: Como Localizar um Ponto de Erosão Provável?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5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472184"/>
            <a:ext cx="4443984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45309"/>
                </a:solidFill>
              </a:defRPr>
            </a:pPr>
            <a:r>
              <a:rPr sz="1600" dirty="0"/>
              <a:t>Fusão de </a:t>
            </a:r>
            <a:r>
              <a:rPr sz="1600" dirty="0" err="1"/>
              <a:t>Evidências</a:t>
            </a:r>
            <a:r>
              <a:rPr sz="1600" dirty="0"/>
              <a:t> </a:t>
            </a:r>
            <a:r>
              <a:rPr sz="1600" dirty="0" err="1"/>
              <a:t>Físicas</a:t>
            </a:r>
            <a:r>
              <a:rPr sz="1600" dirty="0"/>
              <a:t> e </a:t>
            </a:r>
            <a:r>
              <a:rPr sz="1600" dirty="0" err="1"/>
              <a:t>Espectrais</a:t>
            </a: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O </a:t>
            </a:r>
            <a:r>
              <a:rPr sz="1600" dirty="0" err="1"/>
              <a:t>satélite</a:t>
            </a:r>
            <a:r>
              <a:rPr sz="1600" dirty="0"/>
              <a:t> </a:t>
            </a:r>
            <a:r>
              <a:rPr sz="1600" dirty="0" err="1"/>
              <a:t>não</a:t>
            </a:r>
            <a:r>
              <a:rPr sz="1600" dirty="0"/>
              <a:t> </a:t>
            </a:r>
            <a:r>
              <a:rPr sz="1600" dirty="0" err="1"/>
              <a:t>vê</a:t>
            </a:r>
            <a:r>
              <a:rPr sz="1600" dirty="0"/>
              <a:t> a '</a:t>
            </a:r>
            <a:r>
              <a:rPr sz="1600" dirty="0" err="1"/>
              <a:t>lâmina</a:t>
            </a:r>
            <a:r>
              <a:rPr sz="1600" dirty="0"/>
              <a:t> de terra' </a:t>
            </a:r>
            <a:r>
              <a:rPr sz="1600" dirty="0" err="1"/>
              <a:t>isolada</a:t>
            </a:r>
            <a:r>
              <a:rPr sz="1600" dirty="0"/>
              <a:t>, mas sim a </a:t>
            </a:r>
            <a:r>
              <a:rPr sz="1600" dirty="0" err="1"/>
              <a:t>assinatura</a:t>
            </a:r>
            <a:r>
              <a:rPr sz="1600" dirty="0"/>
              <a:t> </a:t>
            </a:r>
            <a:r>
              <a:rPr sz="1600" dirty="0" err="1"/>
              <a:t>física</a:t>
            </a:r>
            <a:r>
              <a:rPr sz="1600" dirty="0"/>
              <a:t> </a:t>
            </a:r>
            <a:r>
              <a:rPr sz="1600" dirty="0" err="1"/>
              <a:t>deixada</a:t>
            </a:r>
            <a:r>
              <a:rPr sz="1600" dirty="0"/>
              <a:t> pela </a:t>
            </a:r>
            <a:r>
              <a:rPr sz="1600" dirty="0" err="1"/>
              <a:t>erosão</a:t>
            </a:r>
            <a:r>
              <a:rPr sz="1600" dirty="0"/>
              <a:t> </a:t>
            </a:r>
            <a:r>
              <a:rPr sz="1600" dirty="0" err="1"/>
              <a:t>ao</a:t>
            </a:r>
            <a:r>
              <a:rPr sz="1600" dirty="0"/>
              <a:t> </a:t>
            </a:r>
            <a:r>
              <a:rPr sz="1600" dirty="0" err="1"/>
              <a:t>longo</a:t>
            </a:r>
            <a:r>
              <a:rPr sz="1600" dirty="0"/>
              <a:t> do tempo: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• </a:t>
            </a:r>
            <a:r>
              <a:rPr sz="1600" dirty="0" err="1"/>
              <a:t>Critério</a:t>
            </a:r>
            <a:r>
              <a:rPr sz="1600" dirty="0"/>
              <a:t> 1 — Energia </a:t>
            </a:r>
            <a:r>
              <a:rPr sz="1600" dirty="0" err="1"/>
              <a:t>Topográfica</a:t>
            </a:r>
            <a:r>
              <a:rPr sz="1600" dirty="0"/>
              <a:t> (Copernicus DEM 30 m): </a:t>
            </a:r>
            <a:r>
              <a:rPr sz="1600" dirty="0" err="1"/>
              <a:t>seleção</a:t>
            </a:r>
            <a:r>
              <a:rPr sz="1600" dirty="0"/>
              <a:t> de </a:t>
            </a:r>
            <a:r>
              <a:rPr sz="1600" dirty="0" err="1"/>
              <a:t>rampas</a:t>
            </a:r>
            <a:r>
              <a:rPr sz="1600" dirty="0"/>
              <a:t> </a:t>
            </a:r>
            <a:r>
              <a:rPr sz="1600" dirty="0" err="1"/>
              <a:t>agrícolas</a:t>
            </a:r>
            <a:r>
              <a:rPr sz="1600" dirty="0"/>
              <a:t> com </a:t>
            </a:r>
            <a:r>
              <a:rPr sz="1600" dirty="0" err="1"/>
              <a:t>declividade</a:t>
            </a:r>
            <a:r>
              <a:rPr sz="1600" dirty="0"/>
              <a:t> entre 3% e 20% (</a:t>
            </a:r>
            <a:r>
              <a:rPr sz="1600" dirty="0" err="1"/>
              <a:t>projeção</a:t>
            </a:r>
            <a:r>
              <a:rPr sz="1600" dirty="0"/>
              <a:t> </a:t>
            </a:r>
            <a:r>
              <a:rPr sz="1600" dirty="0" err="1"/>
              <a:t>métrica</a:t>
            </a:r>
            <a:r>
              <a:rPr sz="1600" dirty="0"/>
              <a:t> UTM 22S).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• </a:t>
            </a:r>
            <a:r>
              <a:rPr sz="1600" dirty="0" err="1"/>
              <a:t>Critério</a:t>
            </a:r>
            <a:r>
              <a:rPr sz="1600" dirty="0"/>
              <a:t> 2 — </a:t>
            </a:r>
            <a:r>
              <a:rPr sz="1600" dirty="0" err="1"/>
              <a:t>Frequência</a:t>
            </a:r>
            <a:r>
              <a:rPr sz="1600" dirty="0"/>
              <a:t> </a:t>
            </a:r>
            <a:r>
              <a:rPr sz="1600" dirty="0" err="1"/>
              <a:t>Histórica</a:t>
            </a:r>
            <a:r>
              <a:rPr sz="1600" dirty="0"/>
              <a:t> de Solo </a:t>
            </a:r>
            <a:r>
              <a:rPr sz="1600" dirty="0" err="1"/>
              <a:t>Exposto</a:t>
            </a:r>
            <a:r>
              <a:rPr sz="1600" dirty="0"/>
              <a:t> (Sentinel-2, 10 m): </a:t>
            </a:r>
            <a:r>
              <a:rPr sz="1600" dirty="0" err="1"/>
              <a:t>cálculo</a:t>
            </a:r>
            <a:r>
              <a:rPr sz="1600" dirty="0"/>
              <a:t> multitemporal do Bare Soil Index (BSI) e </a:t>
            </a:r>
            <a:r>
              <a:rPr sz="1600" dirty="0" err="1"/>
              <a:t>queda</a:t>
            </a:r>
            <a:r>
              <a:rPr sz="1600" dirty="0"/>
              <a:t> </a:t>
            </a:r>
            <a:r>
              <a:rPr sz="1600" dirty="0" err="1"/>
              <a:t>crônica</a:t>
            </a:r>
            <a:r>
              <a:rPr sz="1600" dirty="0"/>
              <a:t> do NDVI (Fator C de </a:t>
            </a:r>
            <a:r>
              <a:rPr sz="1600" dirty="0" err="1"/>
              <a:t>Durigon</a:t>
            </a:r>
            <a:r>
              <a:rPr sz="1600" dirty="0"/>
              <a:t> et al., 2014) </a:t>
            </a:r>
            <a:r>
              <a:rPr sz="1600" dirty="0" err="1"/>
              <a:t>onde</a:t>
            </a:r>
            <a:r>
              <a:rPr sz="1600" dirty="0"/>
              <a:t> a </a:t>
            </a:r>
            <a:r>
              <a:rPr sz="1600" dirty="0" err="1"/>
              <a:t>enxurrada</a:t>
            </a:r>
            <a:r>
              <a:rPr sz="1600" dirty="0"/>
              <a:t> </a:t>
            </a:r>
            <a:r>
              <a:rPr sz="1600" dirty="0" err="1"/>
              <a:t>expõe</a:t>
            </a:r>
            <a:r>
              <a:rPr sz="1600" dirty="0"/>
              <a:t> o </a:t>
            </a:r>
            <a:r>
              <a:rPr sz="1600" dirty="0" err="1"/>
              <a:t>horizonte</a:t>
            </a:r>
            <a:r>
              <a:rPr sz="1600" dirty="0"/>
              <a:t> </a:t>
            </a:r>
            <a:r>
              <a:rPr sz="1600" dirty="0" err="1"/>
              <a:t>subsuperficial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• </a:t>
            </a:r>
            <a:r>
              <a:rPr sz="1600" dirty="0" err="1"/>
              <a:t>Critério</a:t>
            </a:r>
            <a:r>
              <a:rPr sz="1600" dirty="0"/>
              <a:t> 3 — </a:t>
            </a:r>
            <a:r>
              <a:rPr sz="1600" dirty="0" err="1"/>
              <a:t>Erodibilidade</a:t>
            </a:r>
            <a:r>
              <a:rPr sz="1600" dirty="0"/>
              <a:t> </a:t>
            </a:r>
            <a:r>
              <a:rPr sz="1600" dirty="0" err="1"/>
              <a:t>Pedológica</a:t>
            </a:r>
            <a:r>
              <a:rPr sz="1600" dirty="0"/>
              <a:t> (Fator K — Embrapa) + </a:t>
            </a:r>
            <a:r>
              <a:rPr sz="1600" dirty="0" err="1"/>
              <a:t>Restrição</a:t>
            </a:r>
            <a:r>
              <a:rPr sz="1600" dirty="0"/>
              <a:t> SICAR/CAR: </a:t>
            </a:r>
            <a:r>
              <a:rPr sz="1600" dirty="0" err="1"/>
              <a:t>garante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todo</a:t>
            </a:r>
            <a:r>
              <a:rPr sz="1600" dirty="0"/>
              <a:t> </a:t>
            </a:r>
            <a:r>
              <a:rPr sz="1600" dirty="0" err="1"/>
              <a:t>ponto</a:t>
            </a:r>
            <a:r>
              <a:rPr sz="1600" dirty="0"/>
              <a:t> </a:t>
            </a:r>
            <a:r>
              <a:rPr sz="1600" dirty="0" err="1"/>
              <a:t>candidato</a:t>
            </a:r>
            <a:r>
              <a:rPr sz="1600" dirty="0"/>
              <a:t> </a:t>
            </a:r>
            <a:r>
              <a:rPr sz="1600" dirty="0" err="1"/>
              <a:t>caia</a:t>
            </a:r>
            <a:r>
              <a:rPr sz="1600" dirty="0"/>
              <a:t> </a:t>
            </a:r>
            <a:r>
              <a:rPr sz="1600" dirty="0" err="1"/>
              <a:t>dentro</a:t>
            </a:r>
            <a:r>
              <a:rPr sz="1600" dirty="0"/>
              <a:t> de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lavoura</a:t>
            </a:r>
            <a:r>
              <a:rPr sz="1600" dirty="0"/>
              <a:t> real </a:t>
            </a:r>
            <a:r>
              <a:rPr sz="1600" dirty="0" err="1"/>
              <a:t>cadastrada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#3: Inspetor de Ponto e Série Temporal Espectral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3: Inspeção biofísica e série temporal multiespectral de um ponto candidato a erosão laminar.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B1189BCF-EAF0-5A67-77CF-60D1B17C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464" y="1801367"/>
            <a:ext cx="5756255" cy="38862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1A496AE-F569-F990-57C4-D9DDCBD1D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4849" y="271503"/>
            <a:ext cx="1024874" cy="340518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5. Eleição Amostral no GEE: 18 Estratos, Thinning e Partição In-Loco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6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417320"/>
            <a:ext cx="444398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5F46"/>
                </a:solidFill>
              </a:defRPr>
            </a:pPr>
            <a:r>
              <a:rPr sz="1600" dirty="0" err="1"/>
              <a:t>Amostragem</a:t>
            </a:r>
            <a:r>
              <a:rPr sz="1600" dirty="0"/>
              <a:t> Sem </a:t>
            </a:r>
            <a:r>
              <a:rPr sz="1600" dirty="0" err="1"/>
              <a:t>Viés</a:t>
            </a:r>
            <a:r>
              <a:rPr sz="1600" dirty="0"/>
              <a:t> e Sem </a:t>
            </a:r>
            <a:r>
              <a:rPr sz="1600" dirty="0" err="1"/>
              <a:t>Autocorrelação</a:t>
            </a: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1. Grade de 18 </a:t>
            </a:r>
            <a:r>
              <a:rPr sz="1600" dirty="0" err="1"/>
              <a:t>Estratos</a:t>
            </a:r>
            <a:r>
              <a:rPr sz="1600" dirty="0"/>
              <a:t> </a:t>
            </a:r>
            <a:r>
              <a:rPr sz="1600" dirty="0" err="1"/>
              <a:t>Biofísicos</a:t>
            </a:r>
            <a:r>
              <a:rPr sz="1600" dirty="0"/>
              <a:t> </a:t>
            </a:r>
            <a:r>
              <a:rPr sz="1600" dirty="0" err="1"/>
              <a:t>Ortogonais</a:t>
            </a:r>
            <a:r>
              <a:rPr sz="1600" dirty="0"/>
              <a:t>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 • 3 classes de </a:t>
            </a:r>
            <a:r>
              <a:rPr sz="1600" dirty="0" err="1"/>
              <a:t>Declividade</a:t>
            </a:r>
            <a:r>
              <a:rPr sz="1600" dirty="0"/>
              <a:t> (S) × 3 </a:t>
            </a:r>
            <a:r>
              <a:rPr sz="1600" dirty="0" err="1"/>
              <a:t>faixas</a:t>
            </a:r>
            <a:r>
              <a:rPr sz="1600" dirty="0"/>
              <a:t> de </a:t>
            </a:r>
            <a:r>
              <a:rPr sz="1600" dirty="0" err="1"/>
              <a:t>Frequência</a:t>
            </a:r>
            <a:r>
              <a:rPr sz="1600" dirty="0"/>
              <a:t> de Solo Nu (E) × 2 classes de </a:t>
            </a:r>
            <a:r>
              <a:rPr sz="1600" dirty="0" err="1"/>
              <a:t>Erodibilidade</a:t>
            </a:r>
            <a:r>
              <a:rPr sz="1600" dirty="0"/>
              <a:t> (K).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 • </a:t>
            </a:r>
            <a:r>
              <a:rPr sz="1600" dirty="0" err="1"/>
              <a:t>Garante</a:t>
            </a:r>
            <a:r>
              <a:rPr sz="1600" dirty="0"/>
              <a:t> </a:t>
            </a:r>
            <a:r>
              <a:rPr sz="1600" dirty="0" err="1"/>
              <a:t>seleção</a:t>
            </a:r>
            <a:r>
              <a:rPr sz="1600" dirty="0"/>
              <a:t> </a:t>
            </a:r>
            <a:r>
              <a:rPr sz="1600" dirty="0" err="1"/>
              <a:t>equilibrada</a:t>
            </a:r>
            <a:r>
              <a:rPr sz="1600" dirty="0"/>
              <a:t> tanto de </a:t>
            </a:r>
            <a:r>
              <a:rPr sz="1600" dirty="0" err="1"/>
              <a:t>focos</a:t>
            </a:r>
            <a:r>
              <a:rPr sz="1600" dirty="0"/>
              <a:t> </a:t>
            </a:r>
            <a:r>
              <a:rPr sz="1600" dirty="0" err="1"/>
              <a:t>críticos</a:t>
            </a:r>
            <a:r>
              <a:rPr sz="1600" dirty="0"/>
              <a:t> de </a:t>
            </a:r>
            <a:r>
              <a:rPr sz="1600" dirty="0" err="1"/>
              <a:t>erosão</a:t>
            </a:r>
            <a:r>
              <a:rPr sz="1600" dirty="0"/>
              <a:t> </a:t>
            </a:r>
            <a:r>
              <a:rPr sz="1600" dirty="0" err="1"/>
              <a:t>provável</a:t>
            </a:r>
            <a:r>
              <a:rPr sz="1600" dirty="0"/>
              <a:t> </a:t>
            </a:r>
            <a:r>
              <a:rPr sz="1600" dirty="0" err="1"/>
              <a:t>quanto</a:t>
            </a:r>
            <a:r>
              <a:rPr sz="1600" dirty="0"/>
              <a:t> de </a:t>
            </a:r>
            <a:r>
              <a:rPr sz="1600" dirty="0" err="1"/>
              <a:t>áreas</a:t>
            </a:r>
            <a:r>
              <a:rPr sz="1600" dirty="0"/>
              <a:t> </a:t>
            </a:r>
            <a:r>
              <a:rPr sz="1600" dirty="0" err="1"/>
              <a:t>estáveis</a:t>
            </a:r>
            <a:r>
              <a:rPr sz="1600" dirty="0"/>
              <a:t> de </a:t>
            </a:r>
            <a:r>
              <a:rPr sz="1600" dirty="0" err="1"/>
              <a:t>controle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2. Thinning </a:t>
            </a:r>
            <a:r>
              <a:rPr sz="1600" dirty="0" err="1"/>
              <a:t>Geodésico</a:t>
            </a:r>
            <a:r>
              <a:rPr sz="1600" dirty="0"/>
              <a:t> Haversine (1 a 5 km):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 • </a:t>
            </a:r>
            <a:r>
              <a:rPr sz="1600" dirty="0" err="1"/>
              <a:t>Aplica</a:t>
            </a:r>
            <a:r>
              <a:rPr sz="1600" dirty="0"/>
              <a:t> a 1ª Lei da Geografia (Tobler, 1970), </a:t>
            </a:r>
            <a:r>
              <a:rPr sz="1600" dirty="0" err="1"/>
              <a:t>exigindo</a:t>
            </a:r>
            <a:r>
              <a:rPr sz="1600" dirty="0"/>
              <a:t> </a:t>
            </a:r>
            <a:r>
              <a:rPr sz="1600" dirty="0" err="1"/>
              <a:t>distância</a:t>
            </a:r>
            <a:r>
              <a:rPr sz="1600" dirty="0"/>
              <a:t> </a:t>
            </a:r>
            <a:r>
              <a:rPr sz="1600" dirty="0" err="1"/>
              <a:t>mínima</a:t>
            </a:r>
            <a:r>
              <a:rPr sz="1600" dirty="0"/>
              <a:t> entre </a:t>
            </a:r>
            <a:r>
              <a:rPr sz="1600" dirty="0" err="1"/>
              <a:t>candidatos</a:t>
            </a:r>
            <a:r>
              <a:rPr sz="1600" dirty="0"/>
              <a:t> para </a:t>
            </a:r>
            <a:r>
              <a:rPr sz="1600" dirty="0" err="1"/>
              <a:t>não</a:t>
            </a:r>
            <a:r>
              <a:rPr sz="1600" dirty="0"/>
              <a:t> </a:t>
            </a:r>
            <a:r>
              <a:rPr sz="1600" dirty="0" err="1"/>
              <a:t>repetir</a:t>
            </a:r>
            <a:r>
              <a:rPr sz="1600" dirty="0"/>
              <a:t> o </a:t>
            </a:r>
            <a:r>
              <a:rPr sz="1600" dirty="0" err="1"/>
              <a:t>mesmo</a:t>
            </a:r>
            <a:r>
              <a:rPr sz="1600" dirty="0"/>
              <a:t> </a:t>
            </a:r>
            <a:r>
              <a:rPr sz="1600" dirty="0" err="1"/>
              <a:t>talhão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3. </a:t>
            </a:r>
            <a:r>
              <a:rPr sz="1600" dirty="0" err="1"/>
              <a:t>Partição</a:t>
            </a:r>
            <a:r>
              <a:rPr sz="1600" dirty="0"/>
              <a:t> </a:t>
            </a:r>
            <a:r>
              <a:rPr sz="1600" dirty="0" err="1"/>
              <a:t>Proporcional</a:t>
            </a:r>
            <a:r>
              <a:rPr sz="1600" dirty="0"/>
              <a:t> </a:t>
            </a:r>
            <a:r>
              <a:rPr sz="1600" dirty="0" err="1"/>
              <a:t>Acoplada</a:t>
            </a:r>
            <a:r>
              <a:rPr sz="1600" dirty="0"/>
              <a:t> (80% / 20%):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 • Do total de </a:t>
            </a:r>
            <a:r>
              <a:rPr sz="1600" dirty="0" err="1"/>
              <a:t>pontos</a:t>
            </a:r>
            <a:r>
              <a:rPr sz="1600" dirty="0"/>
              <a:t> </a:t>
            </a:r>
            <a:r>
              <a:rPr sz="1600" dirty="0" err="1"/>
              <a:t>sorteados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bacia</a:t>
            </a:r>
            <a:r>
              <a:rPr sz="1600" dirty="0"/>
              <a:t> (Fase A), 20% </a:t>
            </a:r>
            <a:r>
              <a:rPr sz="1600" dirty="0" err="1"/>
              <a:t>já</a:t>
            </a:r>
            <a:r>
              <a:rPr sz="1600" dirty="0"/>
              <a:t> </a:t>
            </a:r>
            <a:r>
              <a:rPr sz="1600" dirty="0" err="1"/>
              <a:t>são</a:t>
            </a:r>
            <a:r>
              <a:rPr sz="1600" dirty="0"/>
              <a:t> </a:t>
            </a:r>
            <a:r>
              <a:rPr sz="1600" dirty="0" err="1"/>
              <a:t>automaticamente</a:t>
            </a:r>
            <a:r>
              <a:rPr sz="1600" dirty="0"/>
              <a:t> </a:t>
            </a:r>
            <a:r>
              <a:rPr sz="1600" dirty="0" err="1"/>
              <a:t>alocados</a:t>
            </a:r>
            <a:r>
              <a:rPr sz="1600" dirty="0"/>
              <a:t> no Corredor Foz–Céu Azul para </a:t>
            </a:r>
            <a:r>
              <a:rPr sz="1600" dirty="0" err="1"/>
              <a:t>vistoria</a:t>
            </a:r>
            <a:r>
              <a:rPr sz="1600" dirty="0"/>
              <a:t> </a:t>
            </a:r>
            <a:r>
              <a:rPr sz="1600" dirty="0" err="1"/>
              <a:t>presencial</a:t>
            </a:r>
            <a:r>
              <a:rPr sz="1600" dirty="0"/>
              <a:t> (Fase 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#4: Modal de Eleição Amostral GEE e Pontos Eleitos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29946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rPr dirty="0"/>
              <a:t>[ COLE AQUI O PRINT / VÍDEO DA TELA #4 DO APP ]</a:t>
            </a:r>
          </a:p>
          <a:p>
            <a:pPr algn="ctr">
              <a:defRPr sz="1050">
                <a:solidFill>
                  <a:srgbClr val="E2E8F0"/>
                </a:solidFill>
              </a:defRPr>
            </a:pPr>
            <a:r>
              <a:rPr dirty="0" err="1"/>
              <a:t>Sugestão</a:t>
            </a:r>
            <a:r>
              <a:rPr dirty="0"/>
              <a:t> de print: Modal '</a:t>
            </a:r>
            <a:r>
              <a:rPr dirty="0" err="1"/>
              <a:t>Eleição</a:t>
            </a:r>
            <a:r>
              <a:rPr dirty="0"/>
              <a:t> </a:t>
            </a:r>
            <a:r>
              <a:rPr dirty="0" err="1"/>
              <a:t>Amostral</a:t>
            </a:r>
            <a:r>
              <a:rPr dirty="0"/>
              <a:t> no Google Earth Engine (GEE)' </a:t>
            </a:r>
            <a:r>
              <a:rPr dirty="0" err="1"/>
              <a:t>mostrando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parâmetros</a:t>
            </a:r>
            <a:r>
              <a:rPr dirty="0"/>
              <a:t> (</a:t>
            </a:r>
            <a:r>
              <a:rPr dirty="0" err="1"/>
              <a:t>Quantidade</a:t>
            </a:r>
            <a:r>
              <a:rPr dirty="0"/>
              <a:t>, Raio de Thinning, </a:t>
            </a:r>
            <a:r>
              <a:rPr dirty="0" err="1"/>
              <a:t>Subamostra</a:t>
            </a:r>
            <a:r>
              <a:rPr dirty="0"/>
              <a:t> In-Loco 20% no Corredor Foz–Céu Azul) 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distribuídos</a:t>
            </a:r>
            <a:r>
              <a:rPr dirty="0"/>
              <a:t> no </a:t>
            </a:r>
            <a:r>
              <a:rPr dirty="0" err="1"/>
              <a:t>mapa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4: Motor de eleição amostral estratificada no GEE com partição automática Bacia (80%) + Corredor In-Loco (20%).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6A3792E2-F3B9-F94D-1C51-8EB411A1C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1" y="1792224"/>
            <a:ext cx="5779007" cy="394106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1C92C42-49FD-29B0-6B04-488C0E1D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4849" y="271503"/>
            <a:ext cx="1024874" cy="340518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6. Rastreabilidade Pericial e Próximas Etapas de Validação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7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98473"/>
            <a:ext cx="4443984" cy="436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rPr sz="1600" dirty="0" err="1"/>
              <a:t>Infraestrutura</a:t>
            </a:r>
            <a:r>
              <a:rPr sz="1600" dirty="0"/>
              <a:t> </a:t>
            </a:r>
            <a:r>
              <a:rPr sz="1600" dirty="0" err="1"/>
              <a:t>Auditável</a:t>
            </a:r>
            <a:r>
              <a:rPr sz="1600" dirty="0"/>
              <a:t> &amp; </a:t>
            </a:r>
            <a:r>
              <a:rPr sz="1600" dirty="0" err="1"/>
              <a:t>Validação</a:t>
            </a:r>
            <a:r>
              <a:rPr sz="1600" dirty="0"/>
              <a:t> </a:t>
            </a:r>
            <a:r>
              <a:rPr sz="1600" dirty="0" err="1"/>
              <a:t>Multiescala</a:t>
            </a: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Rigor de </a:t>
            </a:r>
            <a:r>
              <a:rPr sz="1600" dirty="0" err="1"/>
              <a:t>Engenharia</a:t>
            </a:r>
            <a:r>
              <a:rPr sz="1600" dirty="0"/>
              <a:t> de Software </a:t>
            </a:r>
            <a:r>
              <a:rPr sz="1600" dirty="0" err="1"/>
              <a:t>Científica</a:t>
            </a:r>
            <a:r>
              <a:rPr sz="1600" dirty="0"/>
              <a:t>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• 270 testes </a:t>
            </a:r>
            <a:r>
              <a:rPr sz="1600" dirty="0" err="1"/>
              <a:t>automatizados</a:t>
            </a:r>
            <a:r>
              <a:rPr sz="1600" dirty="0"/>
              <a:t> </a:t>
            </a:r>
            <a:r>
              <a:rPr sz="1600" dirty="0" err="1"/>
              <a:t>validando</a:t>
            </a:r>
            <a:r>
              <a:rPr sz="1600" dirty="0"/>
              <a:t> a </a:t>
            </a:r>
            <a:r>
              <a:rPr sz="1600" dirty="0" err="1"/>
              <a:t>integridade</a:t>
            </a:r>
            <a:r>
              <a:rPr sz="1600" dirty="0"/>
              <a:t> </a:t>
            </a:r>
            <a:r>
              <a:rPr sz="1600" dirty="0" err="1"/>
              <a:t>geométrica</a:t>
            </a:r>
            <a:r>
              <a:rPr sz="1600" dirty="0"/>
              <a:t>, </a:t>
            </a:r>
            <a:r>
              <a:rPr sz="1600" dirty="0" err="1"/>
              <a:t>geodésica</a:t>
            </a:r>
            <a:r>
              <a:rPr sz="1600" dirty="0"/>
              <a:t> e </a:t>
            </a:r>
            <a:r>
              <a:rPr sz="1600" dirty="0" err="1"/>
              <a:t>radiométrica</a:t>
            </a:r>
            <a:r>
              <a:rPr sz="1600" dirty="0"/>
              <a:t> do pipeline;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• </a:t>
            </a:r>
            <a:r>
              <a:rPr sz="1600" dirty="0" err="1"/>
              <a:t>Regra</a:t>
            </a:r>
            <a:r>
              <a:rPr sz="1600" dirty="0"/>
              <a:t> </a:t>
            </a:r>
            <a:r>
              <a:rPr sz="1600" dirty="0" err="1"/>
              <a:t>Estrita</a:t>
            </a:r>
            <a:r>
              <a:rPr sz="1600" dirty="0"/>
              <a:t> Anti-</a:t>
            </a:r>
            <a:r>
              <a:rPr sz="1600" dirty="0" err="1"/>
              <a:t>Sintético</a:t>
            </a:r>
            <a:r>
              <a:rPr sz="1600" dirty="0"/>
              <a:t>: </a:t>
            </a:r>
            <a:r>
              <a:rPr sz="1600" dirty="0" err="1"/>
              <a:t>todo</a:t>
            </a:r>
            <a:r>
              <a:rPr sz="1600" dirty="0"/>
              <a:t> </a:t>
            </a:r>
            <a:r>
              <a:rPr sz="1600" dirty="0" err="1"/>
              <a:t>atributo</a:t>
            </a:r>
            <a:r>
              <a:rPr sz="1600" dirty="0"/>
              <a:t> </a:t>
            </a:r>
            <a:r>
              <a:rPr sz="1600" dirty="0" err="1"/>
              <a:t>carrega</a:t>
            </a:r>
            <a:r>
              <a:rPr sz="1600" dirty="0"/>
              <a:t> </a:t>
            </a:r>
            <a:r>
              <a:rPr sz="1600" dirty="0" err="1"/>
              <a:t>selo</a:t>
            </a:r>
            <a:r>
              <a:rPr sz="1600" dirty="0"/>
              <a:t> de </a:t>
            </a:r>
            <a:r>
              <a:rPr sz="1600" dirty="0" err="1"/>
              <a:t>proveniência</a:t>
            </a:r>
            <a:r>
              <a:rPr sz="1600" dirty="0"/>
              <a:t> (</a:t>
            </a:r>
            <a:r>
              <a:rPr sz="1600" dirty="0" err="1"/>
              <a:t>fonte</a:t>
            </a:r>
            <a:r>
              <a:rPr sz="1600" dirty="0"/>
              <a:t> </a:t>
            </a:r>
            <a:r>
              <a:rPr sz="1600" dirty="0" err="1"/>
              <a:t>oficial</a:t>
            </a:r>
            <a:r>
              <a:rPr sz="1600" dirty="0"/>
              <a:t>, </a:t>
            </a:r>
            <a:r>
              <a:rPr sz="1600" dirty="0" err="1"/>
              <a:t>satélite</a:t>
            </a:r>
            <a:r>
              <a:rPr sz="1600" dirty="0"/>
              <a:t> e data); </a:t>
            </a:r>
            <a:r>
              <a:rPr sz="1600" dirty="0" err="1"/>
              <a:t>ausência</a:t>
            </a:r>
            <a:r>
              <a:rPr sz="1600" dirty="0"/>
              <a:t> de dado </a:t>
            </a:r>
            <a:r>
              <a:rPr sz="1600" dirty="0" err="1"/>
              <a:t>nunca</a:t>
            </a:r>
            <a:r>
              <a:rPr sz="1600" dirty="0"/>
              <a:t> é </a:t>
            </a:r>
            <a:r>
              <a:rPr sz="1600" dirty="0" err="1"/>
              <a:t>inventada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Próximos</a:t>
            </a:r>
            <a:r>
              <a:rPr sz="1600" dirty="0"/>
              <a:t> Passos </a:t>
            </a:r>
            <a:r>
              <a:rPr sz="1600" dirty="0" err="1"/>
              <a:t>sobre</a:t>
            </a:r>
            <a:r>
              <a:rPr sz="1600" dirty="0"/>
              <a:t> </a:t>
            </a:r>
            <a:r>
              <a:rPr sz="1600" dirty="0" err="1"/>
              <a:t>os</a:t>
            </a:r>
            <a:r>
              <a:rPr sz="1600" dirty="0"/>
              <a:t> Pontos </a:t>
            </a:r>
            <a:r>
              <a:rPr sz="1600" dirty="0" err="1"/>
              <a:t>Selecionados</a:t>
            </a:r>
            <a:r>
              <a:rPr sz="1600" dirty="0"/>
              <a:t>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• </a:t>
            </a:r>
            <a:r>
              <a:rPr sz="1600" dirty="0" err="1"/>
              <a:t>Campanha</a:t>
            </a:r>
            <a:r>
              <a:rPr sz="1600" dirty="0"/>
              <a:t> Duplo-</a:t>
            </a:r>
            <a:r>
              <a:rPr sz="1600" dirty="0" err="1"/>
              <a:t>Cega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Campo: </a:t>
            </a:r>
            <a:r>
              <a:rPr sz="1600" dirty="0" err="1"/>
              <a:t>exportação</a:t>
            </a:r>
            <a:r>
              <a:rPr sz="1600" dirty="0"/>
              <a:t> da </a:t>
            </a:r>
            <a:r>
              <a:rPr sz="1600" dirty="0" err="1"/>
              <a:t>planilha</a:t>
            </a:r>
            <a:r>
              <a:rPr sz="1600" dirty="0"/>
              <a:t> </a:t>
            </a:r>
            <a:r>
              <a:rPr sz="1600" dirty="0" err="1"/>
              <a:t>cega</a:t>
            </a:r>
            <a:r>
              <a:rPr sz="1600" dirty="0"/>
              <a:t> para </a:t>
            </a:r>
            <a:r>
              <a:rPr sz="1600" dirty="0" err="1"/>
              <a:t>vistoria</a:t>
            </a:r>
            <a:r>
              <a:rPr sz="1600" dirty="0"/>
              <a:t> </a:t>
            </a:r>
            <a:r>
              <a:rPr sz="1600" dirty="0" err="1"/>
              <a:t>presencial</a:t>
            </a:r>
            <a:r>
              <a:rPr sz="1600" dirty="0"/>
              <a:t> dos </a:t>
            </a:r>
            <a:r>
              <a:rPr sz="1600" dirty="0" err="1"/>
              <a:t>pontos</a:t>
            </a:r>
            <a:r>
              <a:rPr sz="1600" dirty="0"/>
              <a:t> do </a:t>
            </a:r>
            <a:r>
              <a:rPr sz="1600" dirty="0" err="1"/>
              <a:t>corredor</a:t>
            </a:r>
            <a:r>
              <a:rPr sz="1600" dirty="0"/>
              <a:t> Foz–Céu Azul;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/>
              <a:t>•   • </a:t>
            </a:r>
            <a:r>
              <a:rPr sz="1600" dirty="0" err="1"/>
              <a:t>Sítios</a:t>
            </a:r>
            <a:r>
              <a:rPr sz="1600" dirty="0"/>
              <a:t> </a:t>
            </a:r>
            <a:r>
              <a:rPr sz="1600" dirty="0" err="1"/>
              <a:t>Padrão</a:t>
            </a:r>
            <a:r>
              <a:rPr sz="1600" dirty="0"/>
              <a:t>-Ouro com VANT/Drone: 4 </a:t>
            </a:r>
            <a:r>
              <a:rPr sz="1600" dirty="0" err="1"/>
              <a:t>polígonos</a:t>
            </a:r>
            <a:r>
              <a:rPr sz="1600" dirty="0"/>
              <a:t> </a:t>
            </a:r>
            <a:r>
              <a:rPr sz="1600" dirty="0" err="1"/>
              <a:t>contínuos</a:t>
            </a:r>
            <a:r>
              <a:rPr sz="1600" dirty="0"/>
              <a:t> (~50 ha </a:t>
            </a:r>
            <a:r>
              <a:rPr sz="1600" dirty="0" err="1"/>
              <a:t>cada</a:t>
            </a:r>
            <a:r>
              <a:rPr sz="1600" dirty="0"/>
              <a:t>) </a:t>
            </a:r>
            <a:r>
              <a:rPr sz="1600" dirty="0" err="1"/>
              <a:t>em</a:t>
            </a:r>
            <a:r>
              <a:rPr sz="1600" dirty="0"/>
              <a:t> </a:t>
            </a:r>
            <a:r>
              <a:rPr sz="1600" dirty="0" err="1"/>
              <a:t>Medianeira</a:t>
            </a:r>
            <a:r>
              <a:rPr sz="1600" dirty="0"/>
              <a:t> e Céu Azul com </a:t>
            </a:r>
            <a:r>
              <a:rPr sz="1600" dirty="0" err="1"/>
              <a:t>câmera</a:t>
            </a:r>
            <a:r>
              <a:rPr sz="1600" dirty="0"/>
              <a:t> </a:t>
            </a:r>
            <a:r>
              <a:rPr sz="1600" dirty="0" err="1"/>
              <a:t>multiespectral</a:t>
            </a:r>
            <a:r>
              <a:rPr sz="1600" dirty="0"/>
              <a:t> de 5 </a:t>
            </a:r>
            <a:r>
              <a:rPr sz="1600" dirty="0" err="1"/>
              <a:t>bandas</a:t>
            </a:r>
            <a:r>
              <a:rPr sz="1600" dirty="0"/>
              <a:t> (GSD 3 a 7,5 cm, RTK/PPK) para </a:t>
            </a:r>
            <a:r>
              <a:rPr sz="1600" dirty="0" err="1"/>
              <a:t>aferição</a:t>
            </a:r>
            <a:r>
              <a:rPr sz="1600" dirty="0"/>
              <a:t>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#5: Sítios de Voo de Drone (Padrão-Ouro) ou Dossiê de Auditoria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29946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[ COLE AQUI O PRINT / VÍDEO DA TELA #5 DO APP ]</a:t>
            </a:r>
          </a:p>
          <a:p>
            <a:pPr algn="ctr">
              <a:defRPr sz="1050">
                <a:solidFill>
                  <a:srgbClr val="E2E8F0"/>
                </a:solidFill>
              </a:defRPr>
            </a:pPr>
            <a:r>
              <a:t>Sugestão de print: Mapa aproximado nos polígonos cianos dos Sítios Padrão-Ouro de Drone (Medianeira / Céu Azul ~50 ha) OU tela de Exportação da Planilha de Campo Cega / Selo de Proveniência.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5: Polígonos contínuos de referência para sobrevoo VANT/Drone e exportação auditável para campo.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244BB6E7-7413-7B92-92B3-F79079284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10" y="1805450"/>
            <a:ext cx="5647882" cy="392783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D074FAB-2115-AA8C-414C-E8F328FEF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4849" y="271503"/>
            <a:ext cx="1024874" cy="340518"/>
          </a:xfrm>
          <a:prstGeom prst="rect">
            <a:avLst/>
          </a:prstGeom>
          <a:effectLst>
            <a:glow rad="127000">
              <a:schemeClr val="bg1"/>
            </a:glo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10789920" cy="25146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667512"/>
            <a:ext cx="82296" cy="2368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704088"/>
            <a:ext cx="10479024" cy="2056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rPr sz="2000" dirty="0" err="1"/>
              <a:t>Considerações</a:t>
            </a:r>
            <a:r>
              <a:rPr sz="2000" dirty="0"/>
              <a:t> </a:t>
            </a:r>
            <a:r>
              <a:rPr sz="2000" dirty="0" err="1"/>
              <a:t>Finais</a:t>
            </a:r>
            <a:r>
              <a:rPr sz="2000" dirty="0"/>
              <a:t> &amp; </a:t>
            </a:r>
            <a:r>
              <a:rPr sz="2000" dirty="0" err="1"/>
              <a:t>Contribuições</a:t>
            </a:r>
            <a:r>
              <a:rPr sz="2000" dirty="0"/>
              <a:t> do </a:t>
            </a:r>
            <a:r>
              <a:rPr sz="2000" dirty="0" err="1"/>
              <a:t>Projeto</a:t>
            </a:r>
            <a:r>
              <a:rPr sz="2000" dirty="0"/>
              <a:t> SAREL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• </a:t>
            </a:r>
            <a:r>
              <a:rPr sz="1600" dirty="0" err="1">
                <a:solidFill>
                  <a:schemeClr val="bg1"/>
                </a:solidFill>
              </a:rPr>
              <a:t>Reprodutibilidade</a:t>
            </a:r>
            <a:r>
              <a:rPr sz="1600" dirty="0">
                <a:solidFill>
                  <a:schemeClr val="bg1"/>
                </a:solidFill>
              </a:rPr>
              <a:t> e </a:t>
            </a:r>
            <a:r>
              <a:rPr sz="1600" dirty="0" err="1">
                <a:solidFill>
                  <a:schemeClr val="bg1"/>
                </a:solidFill>
              </a:rPr>
              <a:t>Governança</a:t>
            </a:r>
            <a:r>
              <a:rPr sz="1600" dirty="0">
                <a:solidFill>
                  <a:schemeClr val="bg1"/>
                </a:solidFill>
              </a:rPr>
              <a:t> de </a:t>
            </a:r>
            <a:r>
              <a:rPr sz="1600" dirty="0" err="1">
                <a:solidFill>
                  <a:schemeClr val="bg1"/>
                </a:solidFill>
              </a:rPr>
              <a:t>Bacias</a:t>
            </a:r>
            <a:r>
              <a:rPr sz="1600" dirty="0">
                <a:solidFill>
                  <a:schemeClr val="bg1"/>
                </a:solidFill>
              </a:rPr>
              <a:t>: O SAREL </a:t>
            </a:r>
            <a:r>
              <a:rPr sz="1600" dirty="0" err="1">
                <a:solidFill>
                  <a:schemeClr val="bg1"/>
                </a:solidFill>
              </a:rPr>
              <a:t>entrega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uma</a:t>
            </a:r>
            <a:r>
              <a:rPr sz="1600" dirty="0">
                <a:solidFill>
                  <a:schemeClr val="bg1"/>
                </a:solidFill>
              </a:rPr>
              <a:t> ferramenta </a:t>
            </a:r>
            <a:r>
              <a:rPr sz="1600" dirty="0" err="1">
                <a:solidFill>
                  <a:schemeClr val="bg1"/>
                </a:solidFill>
              </a:rPr>
              <a:t>pronta</a:t>
            </a:r>
            <a:r>
              <a:rPr sz="1600" dirty="0">
                <a:solidFill>
                  <a:schemeClr val="bg1"/>
                </a:solidFill>
              </a:rPr>
              <a:t> e </a:t>
            </a:r>
            <a:r>
              <a:rPr sz="1600" dirty="0" err="1">
                <a:solidFill>
                  <a:schemeClr val="bg1"/>
                </a:solidFill>
              </a:rPr>
              <a:t>transparente</a:t>
            </a:r>
            <a:r>
              <a:rPr sz="1600" dirty="0">
                <a:solidFill>
                  <a:schemeClr val="bg1"/>
                </a:solidFill>
              </a:rPr>
              <a:t> para </a:t>
            </a:r>
            <a:r>
              <a:rPr sz="1600" dirty="0" err="1">
                <a:solidFill>
                  <a:schemeClr val="bg1"/>
                </a:solidFill>
              </a:rPr>
              <a:t>localizar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focos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prováveis</a:t>
            </a:r>
            <a:r>
              <a:rPr sz="1600" dirty="0">
                <a:solidFill>
                  <a:schemeClr val="bg1"/>
                </a:solidFill>
              </a:rPr>
              <a:t> de </a:t>
            </a:r>
            <a:r>
              <a:rPr sz="1600" dirty="0" err="1">
                <a:solidFill>
                  <a:schemeClr val="bg1"/>
                </a:solidFill>
              </a:rPr>
              <a:t>erosão</a:t>
            </a:r>
            <a:r>
              <a:rPr sz="1600" dirty="0">
                <a:solidFill>
                  <a:schemeClr val="bg1"/>
                </a:solidFill>
              </a:rPr>
              <a:t> laminar </a:t>
            </a:r>
            <a:r>
              <a:rPr sz="1600" dirty="0" err="1">
                <a:solidFill>
                  <a:schemeClr val="bg1"/>
                </a:solidFill>
              </a:rPr>
              <a:t>na</a:t>
            </a:r>
            <a:r>
              <a:rPr sz="1600" dirty="0">
                <a:solidFill>
                  <a:schemeClr val="bg1"/>
                </a:solidFill>
              </a:rPr>
              <a:t> Bacia </a:t>
            </a:r>
            <a:r>
              <a:rPr sz="1600" dirty="0" err="1">
                <a:solidFill>
                  <a:schemeClr val="bg1"/>
                </a:solidFill>
              </a:rPr>
              <a:t>Hidrográfica</a:t>
            </a:r>
            <a:r>
              <a:rPr sz="1600" dirty="0">
                <a:solidFill>
                  <a:schemeClr val="bg1"/>
                </a:solidFill>
              </a:rPr>
              <a:t> do Paraná 3 com amparo </a:t>
            </a:r>
            <a:r>
              <a:rPr sz="1600" dirty="0" err="1">
                <a:solidFill>
                  <a:schemeClr val="bg1"/>
                </a:solidFill>
              </a:rPr>
              <a:t>nos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limites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legais</a:t>
            </a:r>
            <a:r>
              <a:rPr sz="1600" dirty="0">
                <a:solidFill>
                  <a:schemeClr val="bg1"/>
                </a:solidFill>
              </a:rPr>
              <a:t> do IBGE e </a:t>
            </a:r>
            <a:r>
              <a:rPr sz="1600" dirty="0" err="1">
                <a:solidFill>
                  <a:schemeClr val="bg1"/>
                </a:solidFill>
              </a:rPr>
              <a:t>hidrográficos</a:t>
            </a:r>
            <a:r>
              <a:rPr sz="1600" dirty="0">
                <a:solidFill>
                  <a:schemeClr val="bg1"/>
                </a:solidFill>
              </a:rPr>
              <a:t> do IAT.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• </a:t>
            </a:r>
            <a:r>
              <a:rPr sz="1600" dirty="0" err="1">
                <a:solidFill>
                  <a:schemeClr val="bg1"/>
                </a:solidFill>
              </a:rPr>
              <a:t>Redução</a:t>
            </a:r>
            <a:r>
              <a:rPr sz="1600" dirty="0">
                <a:solidFill>
                  <a:schemeClr val="bg1"/>
                </a:solidFill>
              </a:rPr>
              <a:t> de Custos de Campo: A </a:t>
            </a:r>
            <a:r>
              <a:rPr sz="1600" dirty="0" err="1">
                <a:solidFill>
                  <a:schemeClr val="bg1"/>
                </a:solidFill>
              </a:rPr>
              <a:t>triagem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estratificada</a:t>
            </a:r>
            <a:r>
              <a:rPr sz="1600" dirty="0">
                <a:solidFill>
                  <a:schemeClr val="bg1"/>
                </a:solidFill>
              </a:rPr>
              <a:t> (18 </a:t>
            </a:r>
            <a:r>
              <a:rPr sz="1600" dirty="0" err="1">
                <a:solidFill>
                  <a:schemeClr val="bg1"/>
                </a:solidFill>
              </a:rPr>
              <a:t>estratos</a:t>
            </a:r>
            <a:r>
              <a:rPr sz="1600" dirty="0">
                <a:solidFill>
                  <a:schemeClr val="bg1"/>
                </a:solidFill>
              </a:rPr>
              <a:t> + Thinning Haversine) </a:t>
            </a:r>
            <a:r>
              <a:rPr sz="1600" dirty="0" err="1">
                <a:solidFill>
                  <a:schemeClr val="bg1"/>
                </a:solidFill>
              </a:rPr>
              <a:t>direciona</a:t>
            </a:r>
            <a:r>
              <a:rPr sz="1600" dirty="0">
                <a:solidFill>
                  <a:schemeClr val="bg1"/>
                </a:solidFill>
              </a:rPr>
              <a:t> o </a:t>
            </a:r>
            <a:r>
              <a:rPr sz="1600" dirty="0" err="1">
                <a:solidFill>
                  <a:schemeClr val="bg1"/>
                </a:solidFill>
              </a:rPr>
              <a:t>esforço</a:t>
            </a:r>
            <a:r>
              <a:rPr sz="1600" dirty="0">
                <a:solidFill>
                  <a:schemeClr val="bg1"/>
                </a:solidFill>
              </a:rPr>
              <a:t> de equipes </a:t>
            </a:r>
            <a:r>
              <a:rPr sz="1600" dirty="0" err="1">
                <a:solidFill>
                  <a:schemeClr val="bg1"/>
                </a:solidFill>
              </a:rPr>
              <a:t>técnicas</a:t>
            </a:r>
            <a:r>
              <a:rPr sz="1600" dirty="0">
                <a:solidFill>
                  <a:schemeClr val="bg1"/>
                </a:solidFill>
              </a:rPr>
              <a:t> e drones </a:t>
            </a:r>
            <a:r>
              <a:rPr sz="1600" dirty="0" err="1">
                <a:solidFill>
                  <a:schemeClr val="bg1"/>
                </a:solidFill>
              </a:rPr>
              <a:t>exatamente</a:t>
            </a:r>
            <a:r>
              <a:rPr sz="1600" dirty="0">
                <a:solidFill>
                  <a:schemeClr val="bg1"/>
                </a:solidFill>
              </a:rPr>
              <a:t> para as </a:t>
            </a:r>
            <a:r>
              <a:rPr sz="1600" dirty="0" err="1">
                <a:solidFill>
                  <a:schemeClr val="bg1"/>
                </a:solidFill>
              </a:rPr>
              <a:t>rampas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agrícolas</a:t>
            </a:r>
            <a:r>
              <a:rPr sz="1600" dirty="0">
                <a:solidFill>
                  <a:schemeClr val="bg1"/>
                </a:solidFill>
              </a:rPr>
              <a:t> de </a:t>
            </a:r>
            <a:r>
              <a:rPr sz="1600" dirty="0" err="1">
                <a:solidFill>
                  <a:schemeClr val="bg1"/>
                </a:solidFill>
              </a:rPr>
              <a:t>maior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risco</a:t>
            </a:r>
            <a:r>
              <a:rPr sz="1600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• Impacto Regional: </a:t>
            </a:r>
            <a:r>
              <a:rPr sz="1600" dirty="0" err="1">
                <a:solidFill>
                  <a:schemeClr val="bg1"/>
                </a:solidFill>
              </a:rPr>
              <a:t>Apoio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direto</a:t>
            </a:r>
            <a:r>
              <a:rPr sz="1600" dirty="0">
                <a:solidFill>
                  <a:schemeClr val="bg1"/>
                </a:solidFill>
              </a:rPr>
              <a:t> a </a:t>
            </a:r>
            <a:r>
              <a:rPr sz="1600" dirty="0" err="1">
                <a:solidFill>
                  <a:schemeClr val="bg1"/>
                </a:solidFill>
              </a:rPr>
              <a:t>programas</a:t>
            </a:r>
            <a:r>
              <a:rPr sz="1600" dirty="0">
                <a:solidFill>
                  <a:schemeClr val="bg1"/>
                </a:solidFill>
              </a:rPr>
              <a:t> de </a:t>
            </a:r>
            <a:r>
              <a:rPr sz="1600" dirty="0" err="1">
                <a:solidFill>
                  <a:schemeClr val="bg1"/>
                </a:solidFill>
              </a:rPr>
              <a:t>conservação</a:t>
            </a:r>
            <a:r>
              <a:rPr sz="1600" dirty="0">
                <a:solidFill>
                  <a:schemeClr val="bg1"/>
                </a:solidFill>
              </a:rPr>
              <a:t> de solo e </a:t>
            </a:r>
            <a:r>
              <a:rPr sz="1600" dirty="0" err="1">
                <a:solidFill>
                  <a:schemeClr val="bg1"/>
                </a:solidFill>
              </a:rPr>
              <a:t>água</a:t>
            </a:r>
            <a:r>
              <a:rPr sz="1600" dirty="0">
                <a:solidFill>
                  <a:schemeClr val="bg1"/>
                </a:solidFill>
              </a:rPr>
              <a:t> no Oeste do Paraná e </a:t>
            </a:r>
            <a:r>
              <a:rPr sz="1600" dirty="0" err="1">
                <a:solidFill>
                  <a:schemeClr val="bg1"/>
                </a:solidFill>
              </a:rPr>
              <a:t>proteção</a:t>
            </a:r>
            <a:r>
              <a:rPr sz="1600" dirty="0">
                <a:solidFill>
                  <a:schemeClr val="bg1"/>
                </a:solidFill>
              </a:rPr>
              <a:t> da </a:t>
            </a:r>
            <a:r>
              <a:rPr sz="1600" dirty="0" err="1">
                <a:solidFill>
                  <a:schemeClr val="bg1"/>
                </a:solidFill>
              </a:rPr>
              <a:t>vida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útil</a:t>
            </a:r>
            <a:r>
              <a:rPr sz="1600" dirty="0">
                <a:solidFill>
                  <a:schemeClr val="bg1"/>
                </a:solidFill>
              </a:rPr>
              <a:t> do </a:t>
            </a:r>
            <a:r>
              <a:rPr sz="1600" dirty="0" err="1">
                <a:solidFill>
                  <a:schemeClr val="bg1"/>
                </a:solidFill>
              </a:rPr>
              <a:t>Reservatório</a:t>
            </a:r>
            <a:r>
              <a:rPr sz="1600" dirty="0">
                <a:solidFill>
                  <a:schemeClr val="bg1"/>
                </a:solidFill>
              </a:rPr>
              <a:t> de Itaipu.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59"/>
            <a:ext cx="10789920" cy="3301365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591686"/>
            <a:ext cx="91440" cy="2771013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3429000"/>
            <a:ext cx="10479024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rPr sz="2000" dirty="0" err="1"/>
              <a:t>Referências</a:t>
            </a:r>
            <a:r>
              <a:rPr sz="2000" dirty="0"/>
              <a:t> </a:t>
            </a:r>
            <a:r>
              <a:rPr sz="2000" dirty="0" err="1"/>
              <a:t>Principais</a:t>
            </a:r>
            <a:r>
              <a:rPr sz="2000" dirty="0"/>
              <a:t> (Normas APA 7ª </a:t>
            </a:r>
            <a:r>
              <a:rPr sz="2000" dirty="0" err="1"/>
              <a:t>Edição</a:t>
            </a:r>
            <a:r>
              <a:rPr sz="2000" dirty="0"/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Coelho, M. R., et al. (2024). </a:t>
            </a:r>
            <a:r>
              <a:rPr sz="1700" dirty="0" err="1">
                <a:solidFill>
                  <a:schemeClr val="bg1"/>
                </a:solidFill>
              </a:rPr>
              <a:t>Erodibilidade</a:t>
            </a:r>
            <a:r>
              <a:rPr sz="1700" dirty="0">
                <a:solidFill>
                  <a:schemeClr val="bg1"/>
                </a:solidFill>
              </a:rPr>
              <a:t> dos solos do </a:t>
            </a:r>
            <a:r>
              <a:rPr sz="1700" dirty="0" err="1">
                <a:solidFill>
                  <a:schemeClr val="bg1"/>
                </a:solidFill>
              </a:rPr>
              <a:t>Brasil</a:t>
            </a:r>
            <a:r>
              <a:rPr sz="1700" dirty="0">
                <a:solidFill>
                  <a:schemeClr val="bg1"/>
                </a:solidFill>
              </a:rPr>
              <a:t> (</a:t>
            </a:r>
            <a:r>
              <a:rPr sz="1700" dirty="0" err="1">
                <a:solidFill>
                  <a:schemeClr val="bg1"/>
                </a:solidFill>
              </a:rPr>
              <a:t>Documentos</a:t>
            </a:r>
            <a:r>
              <a:rPr sz="1700" dirty="0">
                <a:solidFill>
                  <a:schemeClr val="bg1"/>
                </a:solidFill>
              </a:rPr>
              <a:t> 246). Embrapa Solos.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Dieckow, J., et al. (2009). Land use, tillage, texture and organic matter stock in Brazilian soils. European Journal of Soil Science, 60(2), 240–249.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</a:t>
            </a:r>
            <a:r>
              <a:rPr sz="1700" dirty="0" err="1">
                <a:solidFill>
                  <a:schemeClr val="bg1"/>
                </a:solidFill>
              </a:rPr>
              <a:t>Durigon</a:t>
            </a:r>
            <a:r>
              <a:rPr sz="1700" dirty="0">
                <a:solidFill>
                  <a:schemeClr val="bg1"/>
                </a:solidFill>
              </a:rPr>
              <a:t>, V. L., et al. (2014). NDVI time series for monitoring RUSLE cover management factor. Int. Journal of Remote Sensing, 35(2), 441–453.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Roberts, D. R., et al. (2017). Cross-validation strategies for data with spatial or temporal structure. </a:t>
            </a:r>
            <a:r>
              <a:rPr sz="1700" dirty="0" err="1">
                <a:solidFill>
                  <a:schemeClr val="bg1"/>
                </a:solidFill>
              </a:rPr>
              <a:t>Ecography</a:t>
            </a:r>
            <a:r>
              <a:rPr sz="1700" dirty="0">
                <a:solidFill>
                  <a:schemeClr val="bg1"/>
                </a:solidFill>
              </a:rPr>
              <a:t>, 40(8), 913–929.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Tobler, W. R. (1970). A computer movie simulating urban growth in the Detroit region. Economic Geography, 46, 234–240.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2794</Words>
  <Application>Microsoft Office PowerPoint</Application>
  <PresentationFormat>Ecrã Panorâmico</PresentationFormat>
  <Paragraphs>126</Paragraphs>
  <Slides>8</Slides>
  <Notes>8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Alfredo</cp:lastModifiedBy>
  <cp:revision>6</cp:revision>
  <dcterms:created xsi:type="dcterms:W3CDTF">2013-01-27T09:14:16Z</dcterms:created>
  <dcterms:modified xsi:type="dcterms:W3CDTF">2026-09-26T03:16:26Z</dcterms:modified>
  <cp:category/>
</cp:coreProperties>
</file>