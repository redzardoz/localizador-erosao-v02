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10B981"/>
                </a:solidFill>
              </a:defRPr>
            </a:pPr>
            <a:r>
              <a:t>PROGRAMA DE PÓS-GRADUAÇÃO EM TECNOLOGIAS COMPUTACIONAIS PARA O AGRONEGÓCIO (PPGTCA - 2026)</a:t>
            </a:r>
          </a:p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</a:defRPr>
            </a:pPr>
            <a:r>
              <a:t>SAREL: Sistema de Amostragem e</a:t>
            </a:r>
            <a:br/>
            <a:r>
              <a:t>Rotulagem para Erosão Laminar</a:t>
            </a:r>
          </a:p>
          <a:p>
            <a:pPr>
              <a:spcAft>
                <a:spcPts val="2600"/>
              </a:spcAft>
              <a:defRPr sz="1600">
                <a:solidFill>
                  <a:srgbClr val="CBD5E1"/>
                </a:solidFill>
              </a:defRPr>
            </a:pPr>
            <a:r>
              <a:t>Validação e Predição de Erosão Laminar Utilizando Sensoriamento Remoto Multitemporal e Gradient Boosting (XGBoost)</a:t>
            </a:r>
          </a:p>
          <a:p>
            <a:pPr>
              <a:defRPr sz="1150">
                <a:solidFill>
                  <a:srgbClr val="10B981"/>
                </a:solidFill>
              </a:defRPr>
            </a:pPr>
            <a:r>
              <a:t>Pesquisador: Luis Alfredo  •  Universidade Tecnológica Federal do Paraná (UTFPR) — Campus Medianeira</a:t>
            </a:r>
            <a:br/>
            <a:r>
              <a:t>Área de Estudo: Bacia Hidrográfica do Paraná 3 (BP3), Paraná, Brasil  •  Versão: 2.0 (Setembro/2026)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O Problema Científico e as Lacunas Metodológicas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2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57800" cy="1097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O Fenômeno Físico Difuso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 erosão laminar desagrega finas camadas superficiais por impacto de gotas (splash) e escoamento raso. Diferente de voçorocas, é visualmente sutil e quase invisível ao olho destreinado em imagens isoladas.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257800" cy="109728"/>
          </a:xfrm>
          <a:prstGeom prst="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65F46"/>
                </a:solidFill>
              </a:defRPr>
            </a:pPr>
            <a:r>
              <a:t>A Falácia Espectral Direta (Vrieling, 2006)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Sensores orbitais de média resolução (Sentinel-2, 10 m) NÃO detectam a lâmina de solo perdida diretamente, mas sim proxies biofísicos: solo exposto, palhada em dessecação e atrofia crônica de biomassa.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257800" cy="109728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45309"/>
                </a:solidFill>
              </a:defRPr>
            </a:pPr>
            <a:r>
              <a:t>Vazamento Temporal / Data Leakage (Kaufman et al., 2012)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Treinar modelos com dados contemporâneos ou posteriores ao dano causa vazamento de informação. Para prognóstico preventivo real (Modelo P), é mandatório isolar a série temporal com guarda de 2 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5257800" cy="109728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E123C"/>
                </a:solidFill>
              </a:defRPr>
            </a:pPr>
            <a:r>
              <a:t>Autocorrelação Espacial Inflada (Roberts et al., 2017)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 validação cruzada aleatória tradicional (Random k-fold) gera métricas ilusoriamente altas por proximidade espacial (Primeira Lei de Tobler). O SAREL exige Spatial Block Cross-Validation.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Arquitetura de Software e Distribuição de Responsabilidades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3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389888"/>
            <a:ext cx="2926080" cy="658368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Nuvem / Google Earth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38988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Ingestão e pré-processamento orbital massivo de Sentinel-2 L2A (2016-2026), MDE Copernicus GLO-30 e grades de chuva CHIRPS/IMERG. Aplicação de máscaras de nuvem/sombra (QA60/SCL) e redução zonal.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67712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2926080" cy="658368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Motor Local do SAREL (TypeScript / Node.js)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774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Estratificação multivariada (18 estratos), rarefação espacial geodésica (1 km), decomposição harmônica OLS, cálculo de persistência temporal (NDVI &lt;= 0.25), Linha de Base RUSLE (A = R·K·LS·C·P) e cruzamento fundiário SQLite (SICAR/SIGEF).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55264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364992"/>
            <a:ext cx="2926080" cy="65836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92424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Alta Resolução PlanetScope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36499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Extração de trios de cenas de altíssima resolução espacial (3 m) em pares antes/depois de eventos pluviométricos erosivos. Subsidia a fotointerpretação cega independente por dois auditores humanos.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42816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352544"/>
            <a:ext cx="292608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79976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Auditoria Cognitiva Jev (TypeSafe 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35254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Motor de julgamento tipado estritamente para triagem rápida, auditoria física de plausibilidade e apoio logístico de campo. Opera em arquitetura Dual-Engine com degradação graciosa para o Motor Local.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30368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340096"/>
            <a:ext cx="2926080" cy="658368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6752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Ambiente de IA Supervisionada (Python / XGBoost)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34009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Treinamento preditivo externo sobre matriz desidentificada (sem coordenadas), validação cruzada espacial em blocos (Spatial Block CV com buffer) e explicabilidade com valores SHAP.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Mapeamento de Onde os Cálculos são Executados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4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5257800" cy="41148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CÁLCULOS NO GOOGLE EARTH ENGINE (NUVEM)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Filtragem de Nuvem e Sombra: </a:t>
            </a:r>
            <a:r>
              <a:rPr sz="950">
                <a:solidFill>
                  <a:srgbClr val="0F172A"/>
                </a:solidFill>
              </a:rPr>
              <a:t>Processamento orbital por pixel via SCL e QA60.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Extração Espectral Zonal: </a:t>
            </a:r>
            <a:r>
              <a:rPr sz="950">
                <a:solidFill>
                  <a:srgbClr val="0F172A"/>
                </a:solidFill>
              </a:rPr>
              <a:t>Amostragem das bandas B2, B4, B8, B11, B12 em mais de 100 cenas por ponto na série 2016-2026.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Derivação Topográfica MDE: </a:t>
            </a:r>
            <a:r>
              <a:rPr sz="950">
                <a:solidFill>
                  <a:srgbClr val="0F172A"/>
                </a:solidFill>
              </a:rPr>
              <a:t>Cálculo de declividade contínua (%) e elevação a partir do Copernicus GLO-30.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Redução Zonal Pluviométrica: </a:t>
            </a:r>
            <a:r>
              <a:rPr sz="950">
                <a:solidFill>
                  <a:srgbClr val="0F172A"/>
                </a:solidFill>
              </a:rPr>
              <a:t>Cruzamento geoespacial de grades diárias CHIRPS e semi-horárias IMERG GPM.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Máscaras de Elegibilidade: </a:t>
            </a:r>
            <a:r>
              <a:rPr sz="950">
                <a:solidFill>
                  <a:srgbClr val="0F172A"/>
                </a:solidFill>
              </a:rPr>
              <a:t>Aplicação das classes agrícolas da ESA WorldCover e buffers de corpos d'água e malha urbana.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257800" cy="41148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CÁLCULOS NO MOTOR LOCAL DO SAREL (EDGE / ON-PREMISE)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Estratificação e Thinning Geodésico: </a:t>
            </a:r>
            <a:r>
              <a:rPr sz="950">
                <a:solidFill>
                  <a:srgbClr val="0F172A"/>
                </a:solidFill>
              </a:rPr>
              <a:t>Particionamento em 18 estratos (S^ x E^ x K^) e rarefação de 1 km por Fisher-Yates.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Time-Series Stacking e Lags: </a:t>
            </a:r>
            <a:r>
              <a:rPr sz="950">
                <a:solidFill>
                  <a:srgbClr val="0F172A"/>
                </a:solidFill>
              </a:rPr>
              <a:t>Cálculo de percentis (p10, p50, p90), lags temporais (t0, t-3m, t-6m, t-12m) e harmônicos OLS.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Persistência Temporal (GEOS3): </a:t>
            </a:r>
            <a:r>
              <a:rPr sz="950">
                <a:solidFill>
                  <a:srgbClr val="0F172A"/>
                </a:solidFill>
              </a:rPr>
              <a:t>Cálculo da frequência de solo nu com limiar estrito NDVI &lt;= 0.25 (Decisão D10).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Linha de Base RUSLE (A = R·K·LS·C·P): </a:t>
            </a:r>
            <a:r>
              <a:rPr sz="950">
                <a:solidFill>
                  <a:srgbClr val="0F172A"/>
                </a:solidFill>
              </a:rPr>
              <a:t>Fator C (Durigon et al., 2014) e Fator K numérico da Tabela 5 da Embrapa Solos (Doc. 246/2024 / Mannigel et al., 2002).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Concordância Inter-intérpretes: </a:t>
            </a:r>
            <a:r>
              <a:rPr sz="950">
                <a:solidFill>
                  <a:srgbClr val="0F172A"/>
                </a:solidFill>
              </a:rPr>
              <a:t>Cálculo do Kappa de Cohen e validação dos 7 Invariantes.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Cruzamento Fundiário Offline: </a:t>
            </a:r>
            <a:r>
              <a:rPr sz="950">
                <a:solidFill>
                  <a:srgbClr val="0F172A"/>
                </a:solidFill>
              </a:rPr>
              <a:t>Auditoria geoespacial de polígonos SICAR, SIGEF e SNCR em SQLite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O Uso do Jev: Auditoria Cognitiva e Degradação Graciosa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5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57800" cy="1097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O que é o Jev?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Subsistema baseado em Inteligência Artificial Tipo-Segura (TypeSafe AI) que emite respostas rigorosamente tipadas: Noul (booleano calibrado), Choice (classificação em taxonomia fechada) e Score (escala ordinal 0 a 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257800" cy="109728"/>
          </a:xfrm>
          <a:prstGeom prst="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369A1"/>
                </a:solidFill>
              </a:defRPr>
            </a:pPr>
            <a:r>
              <a:t>Quando é Optado pelo Pesquisador?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Ativado opcionalmente para triagem rápida em lote, detecção prévia de anomalias nos dados espectrais e apoio na priorização de rotas logísticas para as equipes de campo.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257800" cy="109728"/>
          </a:xfrm>
          <a:prstGeom prst="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65F46"/>
                </a:solidFill>
              </a:defRPr>
            </a:pPr>
            <a:r>
              <a:t>Degradação Graciosa (Dual-Engine)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Caso a chave de API não esteja presente, ocorra timeout ou falha de conectividade, o sistema comuta instantaneamente para o MOTOR_LOCAL_RUSLE determinístico, garantindo 100% de disponibilidade.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5257800" cy="109728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E123C"/>
                </a:solidFill>
              </a:defRPr>
            </a:pPr>
            <a:r>
              <a:t>REGRA DE OURO 4 (Blindagem contra Circularidade)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O Jev NUNCA define o rótulo da matriz de treinamento! Os rótulos de verdade terrestre provêm unicamente de observadores humanos (interpretação cega PlanetScope, campo e drone).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Passo a Passo do Aplicativo: Amostragem e Estratificação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6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1: Delimitação da AOI e Elegibilidade Agrícola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Definição do polígono da Área de Interesse (Bacia Hidrográfica do Paraná 3 - BP3).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Filtragem por máscara ESA WorldCover: classes elegíveis 30 (lavouras), 40 (mosaicos agrícolas) e 60 (pastagens).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Exclusão espacial preventiva: buffer de 30 metros ao longo de corpos d'água e 150 metros em torno de perímetros urbanos.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Domínio agrícola estrito: exclusão de dunas, afloramentos rochosos e áreas de mineração.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44368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44368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35808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2: Estratificação Geoespacial Multivariada (18 Estratos)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Combinação ortogonal de 3 eixos biofísicos disjuntos (3 x 3 x 2 = 18 estratos):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Declividade (S^): 3 tercis obtidos do MDE Copernicus GLO-30 (Plano/Suave, Moderado, Forte).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Exposição de Solo Nu (E^): 3 tercis calculados sobre a série histórica Sentinel-2 (Baixa, Média, Alta exposição).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Erodibilidade (K^): 2 níveis pedológicos (Nível 1: Baixa/Média K &lt;= 0.0285; Nível 2: Alta/Muito Alta K &gt;= 0.0300 — Decisão D09).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08576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08576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3: Rarefação Espacial Geodésica (Spatial Thinning)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Aplicação do algoritmo determinístico de Fisher-Yates com semente pseudoaleatória auditável registrada a cada execução (P07).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Espaçamento euclidiano/geodésico mínimo de 1,0 km entre quaisquer pares de pontos amostrais candidatos.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Eliminação da autocorrelação espacial redundante em microescala e garantia de dispersão uniforme pela bacia hidrográfica.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Passo a Passo do Aplicativo: Séries Temporais e Fenologia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7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4: Agrupamento em Blocos Espaciais (Spatial Blocks)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Particionamento do domínio geográfico em blocos poligonais com aresta de 20 km (derivada do semivariograma empírico).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Isolamento dos blocos para viabilizar a Validação Cruzada Espacial em Blocos (Spatial Block CV com buffer de 1 km).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Garante que amostras de treino e teste pertençam a unidades morfoestruturais distintas (Roberts et al., 2017).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44368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44368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35808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5: Extração Multitemporal e Índices Biofísicos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Coleta de trajetórias temporais Sentinel-2 L2A (2016-2026) sem nuvem/sombra (bandas B2, B4, B8, B11, B12).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Cálculo contínuo de índices biofísicos: NDVI (Índice de Vegetação) e BSI (Índice de Solo Exposto).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Mínimo rigoroso de 6 observações válidas por janela temporal exigido para análise válida (Decisão D11).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08576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08576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6: Decomposição Harmônica e Persistência de Solo Nu (GEOS3)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Ajuste harmônico OLS com 1 e 2 ciclos anuais (Zhu &amp; Woodcock, 2014 / CCDC) para modelar fenologia cíclica.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Cálculo da tendência linear no SWIR B12: aumento positivo sinaliza exposição mineral do horizonte B do solo.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Discriminação de Pousio vs Degradação Crônica com o limiar estrito NDVI &lt;= 0.25 (Safanelli et al., 2021 — Decisão D10).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Passo a Passo do Aplicativo: RUSLE e Curadoria de Rótulos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8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37160" cy="2240280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7: Montagem da Linha de Base RUSLE (A = R · K · LS · C · P)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C: Função regionalizada de Durigon et al. (2014) baseada em NDVI: C = [(1 - NDVI)/2]^(1 + NDVI) — Decisão D01.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K: Conversão oficial da Tabela 5 da Embrapa Solos (Doc. 246/2024 / Mannigel et al., 2002 — Decisão D14).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P: Práticas conservacionistas (Renard et al., 1997; valor tabelado P = 1.0 na ausência de terraceamento).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Invariante 1 de Integridade: Perda de solo (A) só é calculada se os 5 fatores estiverem simultaneamente disponíveis com valores finitos.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37160" cy="2240280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8: Protocolos Cegos de Coleta e Validação Multicamada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A (PlanetScope 3 m): 2 intérpretes humanos independentes; pares antes/depois de chuva; validação por Kappa de Cohen (k &gt;= 0.60).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B (Auditoria em Campo): Coleta padronizada via formulário KoboToolbox com cruzamento cadastral fundiário (SIGEF, SICAR, SNCR).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D (Ortomosaicos de Drone): Resolução de 2 cm/pixel; isolado estritamente como conjunto held-out de teste (nunca entra no treino).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Regra Inviolável 6: Coordenadas geográficas NUNCA entram na matriz de treino tabular, impedindo o aprendizado de viés de localização.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Passo a Passo do Aplicativo: Treinamento XGBoost 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9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37160" cy="2240280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9: Modelagem Preditiva com Gradient Tree Boosting (XGBoost)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Treinamento supervisionado a partir da matriz tabular limpa e desidentificada (sem coordenadas).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Otimização da função objetivo com regularização L1 (alpha) e L2 (lambda) e penalidade por número de folhas (gamma) (Chen &amp; Guestrin, 2016).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Tratamento formal do desbalanceamento severo de classes da erosão laminar via parâmetro scale_pos_weight.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Time-Series Stacking: inclusão de lags multitemporais (t0, t-3m, t-6m, t-12m) de NDVI e BSI.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37160" cy="2240280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10: Avaliação Espaço-Temporal e Explicabilidade Física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Segregação Modelo D (Detecção contemporânea até t0) vs. Modelo P (Prognóstico antecipado).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Modelo P: Janela de guarda temporal bienal de 24 meses antes do evento (Kaufman et al., 2012 — Decisão D04) contra data leakage.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Validação Cruzada Espacial em Blocos (Spatial Block CV com buffer de 1 km) para neutralizar a autocorrelação espacial (Roberts et al., 2017).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Explicabilidade biofísica com valores SHAP (Lundberg &amp; Lee, 2017): abertura da caixa-preta e confronto com a teoria pedológica.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Cálculos Matemáticos: Índices Espectrais e Fenologia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10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1. Índice de Vegetação por Diferença Normalizada (NDVI)</a:t>
            </a:r>
          </a:p>
          <a:p>
            <a:pPr>
              <a:spcAft>
                <a:spcPts val="600"/>
              </a:spcAft>
              <a:defRPr b="1" sz="1100">
                <a:solidFill>
                  <a:srgbClr val="065F46"/>
                </a:solidFill>
              </a:defRPr>
            </a:pPr>
            <a:r>
              <a:t>NDVI = (B8 - B4) / (B8 + B4)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Mede o vigor fotossintético da biomassa vegetal ativa. Varia de -1 a +1. Banda B8 (Infravermelho Próximo) e Banda B4 (Vermelho). Base seminal: Rouse et al. (1974).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2. Índice de Solo Exposto (Bare Soil Index - BSI)</a:t>
            </a:r>
          </a:p>
          <a:p>
            <a:pPr>
              <a:spcAft>
                <a:spcPts val="600"/>
              </a:spcAft>
              <a:defRPr b="1" sz="1100">
                <a:solidFill>
                  <a:srgbClr val="065F46"/>
                </a:solidFill>
              </a:defRPr>
            </a:pPr>
            <a:r>
              <a:t>BSI = [(B11 + B4) - (B8 + B2)] / [(B11 + B4) + (B8 + B2)]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Discrimina solo mineralizado desnudo de cobertura vegetal densa. Valores positivos (&gt; 0.10) associam-se a solo descoberto ou horizonte B exposto (Rikimaru et al., 2002).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3. Decomposição Harmônica OLS (Zhu &amp; Woodcock, 2014)</a:t>
            </a:r>
          </a:p>
          <a:p>
            <a:pPr>
              <a:spcAft>
                <a:spcPts val="600"/>
              </a:spcAft>
              <a:defRPr b="1" sz="1100">
                <a:solidFill>
                  <a:srgbClr val="065F46"/>
                </a:solidFill>
              </a:defRPr>
            </a:pPr>
            <a:r>
              <a:t>y^(t) = c0 + c1·t + SUM_{k=1..m} [ak·cos(2·pi·k·t / T) + bk·sen(2·pi·k·t / T)]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Modela a sazonalidade fenológica regular e estima a taxa de degradação linear (c1) no SWIR B12, separando ciclos agrícolas de erosão progressiva.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4. Frequência de Solo Nu (E^) — Decisão D10 (GEOS3)</a:t>
            </a:r>
          </a:p>
          <a:p>
            <a:pPr>
              <a:spcAft>
                <a:spcPts val="600"/>
              </a:spcAft>
              <a:defRPr b="1" sz="1100">
                <a:solidFill>
                  <a:srgbClr val="065F46"/>
                </a:solidFill>
              </a:defRPr>
            </a:pPr>
            <a:r>
              <a:t>E^ = (1 / N_valido) * SUM_{i=1..N} I(NDVI_i &lt;= 0.25)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Fração temporal em que o solo permanece exposto ao impacto de chuva torrencial. Calibrado pelo sistema GEOS3 (Demattê et al., 2018; Safanelli et al., 2021).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Cálculos Matemáticos: Fatores RUSLE e Dinâmica G2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11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5. Fator C da RUSLE Regional Tropical (Decisão D01)</a:t>
            </a:r>
          </a:p>
          <a:p>
            <a:pPr>
              <a:spcAft>
                <a:spcPts val="600"/>
              </a:spcAft>
              <a:defRPr b="1" sz="1050">
                <a:solidFill>
                  <a:srgbClr val="065F46"/>
                </a:solidFill>
              </a:defRPr>
            </a:pPr>
            <a:r>
              <a:t>C = [(1 - NDVI) / 2]^(1 + NDVI)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Modelo calibrado para bacias brasileiras por Durigon et al. (2014). Para solo nu (NDVI = 0.0), C = 0.50; para vegetação densa (NDVI = 0.80), C = 0.026. Evita subestimação.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6. Fator K Numérico (Tabela 5 Embrapa Solos / D14)</a:t>
            </a:r>
          </a:p>
          <a:p>
            <a:pPr>
              <a:spcAft>
                <a:spcPts val="600"/>
              </a:spcAft>
              <a:defRPr b="1" sz="1050">
                <a:solidFill>
                  <a:srgbClr val="065F46"/>
                </a:solidFill>
              </a:defRPr>
            </a:pPr>
            <a:r>
              <a:t>K = [0.0052; 0.0117; 0.0218; 0.0360; 0.0518] t·h/(MJ·mm)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Conversão oficial da carta pedológica para valores numéricos contínuos (Doc. 246/2024 / Mannigel et al., 2002). Estratificação K^: Nível 1 &lt;= 0.0285; Nível 2 &gt;= 0.0300 (D09).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7. Equação de Perda de Solo (RUSLE)</a:t>
            </a:r>
          </a:p>
          <a:p>
            <a:pPr>
              <a:spcAft>
                <a:spcPts val="600"/>
              </a:spcAft>
              <a:defRPr b="1" sz="1050">
                <a:solidFill>
                  <a:srgbClr val="065F46"/>
                </a:solidFill>
              </a:defRPr>
            </a:pPr>
            <a:r>
              <a:t>A = R * K * LS * C * P  (t/ha/ano)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Equação Universal de Perda de Solo Revisada (Renard et al., 1997). Invariante 1: só calculada se os 5 fatores e a memória de cálculo existirem simultaneamente.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8. Índice Dinâmico Chuva-Solo Nu (Modelo G2)</a:t>
            </a:r>
          </a:p>
          <a:p>
            <a:pPr>
              <a:spcAft>
                <a:spcPts val="600"/>
              </a:spcAft>
              <a:defRPr b="1" sz="1050">
                <a:solidFill>
                  <a:srgbClr val="065F46"/>
                </a:solidFill>
              </a:defRPr>
            </a:pPr>
            <a:r>
              <a:t>I_mecanismo = SUM_t [ R_t * I(NDVI_t &lt;= 0.25) ]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Acoplamento físico-temporal: quantifica a ocorrência simultânea de chuva erosiva com solo exposto desprotegido (Karydas &amp; Panagos, 2018).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Cálculos Matemáticos: Otimização XGBoost 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12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9. Função Objetivo do XGBoost (Chen &amp; Guestrin, 2016)</a:t>
            </a:r>
          </a:p>
          <a:p>
            <a:pPr>
              <a:spcAft>
                <a:spcPts val="600"/>
              </a:spcAft>
              <a:defRPr b="1" sz="1000">
                <a:solidFill>
                  <a:srgbClr val="BE123C"/>
                </a:solidFill>
              </a:defRPr>
            </a:pPr>
            <a:r>
              <a:t>L^(t) ~ SUM [ gi·ft(xi) + 0.5·hi·ft^2(xi) ] + gamma·T + 0.5·lambda·SUM wj^2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Aproximação de Taylor de 2ª ordem da perda com gradientes gi e hessianas hi. Regularização L2 (lambda) e penalidade por número de folhas T (gamma) contra overfitting.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10. Critério de Ganho de Divisão de Árvore (Split Gain)</a:t>
            </a:r>
          </a:p>
          <a:p>
            <a:pPr>
              <a:spcAft>
                <a:spcPts val="600"/>
              </a:spcAft>
              <a:defRPr b="1" sz="1000">
                <a:solidFill>
                  <a:srgbClr val="BE123C"/>
                </a:solidFill>
              </a:defRPr>
            </a:pPr>
            <a:r>
              <a:t>Gain = 0.5 * [ GL^2/(HL + lambda) + GR^2/(HR + lambda) - (G)^2/(H + lambda) ] - gamma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Avalia se a divisão de um nó folha produz melhoria marginal superior ao custo de complexidade gamma da árvore.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11. Concordância Inter-intérpretes (Kappa de Cohen)</a:t>
            </a:r>
          </a:p>
          <a:p>
            <a:pPr>
              <a:spcAft>
                <a:spcPts val="600"/>
              </a:spcAft>
              <a:defRPr b="1" sz="1000">
                <a:solidFill>
                  <a:srgbClr val="BE123C"/>
                </a:solidFill>
              </a:defRPr>
            </a:pPr>
            <a:r>
              <a:t>kappa = (Po - Pe) / (1 - Pe)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Mede a concordância real Po descontada a concordância puramente casual Pe entre os dois fotointérpretes humanos independentes (Landis &amp; Koch, 1977).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12. Valores SHAP de Explicabilidade Aditiva (Lundberg &amp; Lee, 2017)</a:t>
            </a:r>
          </a:p>
          <a:p>
            <a:pPr>
              <a:spcAft>
                <a:spcPts val="600"/>
              </a:spcAft>
              <a:defRPr b="1" sz="1000">
                <a:solidFill>
                  <a:srgbClr val="BE123C"/>
                </a:solidFill>
              </a:defRPr>
            </a:pPr>
            <a:r>
              <a:t>phi_i(f, x) = SUM_{S} [ |S|!(|F|-|S|-1)! / |F|! ] * [ f(S U {i}) - f(S) ]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Distribui o crédito marginal exato de cada preditor na probabilidade final de erosão, garantindo consistência teórica via teoria dos jogos.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Governança e Blindagem: 9 Regras e 7 Invariantes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13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BE123C"/>
                </a:solidFill>
              </a:defRPr>
            </a:pPr>
            <a:r>
              <a:t>AS 9 REGRAS INVIOLÁVEIS DO SAREL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R1 — Sem Valores Fabricados: </a:t>
            </a:r>
            <a:r>
              <a:rPr sz="900">
                <a:solidFill>
                  <a:srgbClr val="0F172A"/>
                </a:solidFill>
              </a:rPr>
              <a:t>Ausência de dado permanece estritamente indisponivel.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R2 — Sem Cortes Silenciosos: </a:t>
            </a:r>
            <a:r>
              <a:rPr sz="900">
                <a:solidFill>
                  <a:srgbClr val="0F172A"/>
                </a:solidFill>
              </a:rPr>
              <a:t>Proibição de Math.max/min arbitrários; domínio estrito.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R3 — Rastreabilidade Total: </a:t>
            </a:r>
            <a:r>
              <a:rPr sz="900">
                <a:solidFill>
                  <a:srgbClr val="0F172A"/>
                </a:solidFill>
              </a:rPr>
              <a:t>Encapsulamento em Proveniencia&lt;T&gt;.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R4 — Nada Calculado Vira Rótulo: </a:t>
            </a:r>
            <a:r>
              <a:rPr sz="900">
                <a:solidFill>
                  <a:srgbClr val="0F172A"/>
                </a:solidFill>
              </a:rPr>
              <a:t>Modelos ou IA jamais viram verdade terrestre.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R5 — Guarda Antissintética: </a:t>
            </a:r>
            <a:r>
              <a:rPr sz="900">
                <a:solidFill>
                  <a:srgbClr val="0F172A"/>
                </a:solidFill>
              </a:rPr>
              <a:t>Proibição universal de pontos com origemSintetica: true.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R6 — Segregação Cega: </a:t>
            </a:r>
            <a:r>
              <a:rPr sz="900">
                <a:solidFill>
                  <a:srgbClr val="0F172A"/>
                </a:solidFill>
              </a:rPr>
              <a:t>Coordenadas não entram na matriz de treino tabular.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R7 — Preservação de Máscaras: </a:t>
            </a:r>
            <a:r>
              <a:rPr sz="900">
                <a:solidFill>
                  <a:srgbClr val="0F172A"/>
                </a:solidFill>
              </a:rPr>
              <a:t>Nuvens e sombras mantidas como lacunas reais.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R8 — Evidência de Verificação: </a:t>
            </a:r>
            <a:r>
              <a:rPr sz="900">
                <a:solidFill>
                  <a:srgbClr val="0F172A"/>
                </a:solidFill>
              </a:rPr>
              <a:t>Asserções exigem arquivos físicos de prova.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R9 — Preservação Histórica: </a:t>
            </a:r>
            <a:r>
              <a:rPr sz="900">
                <a:solidFill>
                  <a:srgbClr val="0F172A"/>
                </a:solidFill>
              </a:rPr>
              <a:t>Rastreabilidade e integridade via branch sarel/v2.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065F46"/>
                </a:solidFill>
              </a:defRPr>
            </a:pPr>
            <a:r>
              <a:t>OS 7 INVARIANTES DE INTEGRIDADE COMPUTACIONAL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1: </a:t>
            </a:r>
            <a:r>
              <a:rPr sz="900">
                <a:solidFill>
                  <a:srgbClr val="0F172A"/>
                </a:solidFill>
              </a:rPr>
              <a:t>RUSLE completa: perdaSolo &lt;=&gt; 5 fatores presentes &lt;=&gt; memória cálculo.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2: </a:t>
            </a:r>
            <a:r>
              <a:rPr sz="900">
                <a:solidFill>
                  <a:srgbClr val="0F172A"/>
                </a:solidFill>
              </a:rPr>
              <a:t>Lista de permissão estrita: bloqueia vazamento de Phi_diag ou coordenadas.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3: </a:t>
            </a:r>
            <a:r>
              <a:rPr sz="900">
                <a:solidFill>
                  <a:srgbClr val="0F172A"/>
                </a:solidFill>
              </a:rPr>
              <a:t>Campos estimados derivados rigorosamente de estados não medidos.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4: </a:t>
            </a:r>
            <a:r>
              <a:rPr sz="900">
                <a:solidFill>
                  <a:srgbClr val="0F172A"/>
                </a:solidFill>
              </a:rPr>
              <a:t>Rastreabilidade orbital: exigência de PRODUCT_ID, motor e timestamp.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5: </a:t>
            </a:r>
            <a:r>
              <a:rPr sz="900">
                <a:solidFill>
                  <a:srgbClr val="0F172A"/>
                </a:solidFill>
              </a:rPr>
              <a:t>Afirmação negativa fundiária: exige histórico sem match geográfico.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6: </a:t>
            </a:r>
            <a:r>
              <a:rPr sz="900">
                <a:solidFill>
                  <a:srgbClr val="0F172A"/>
                </a:solidFill>
              </a:rPr>
              <a:t>Proibição de literais espúrios ('Custom', 'Bacia Local', etc.).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7: </a:t>
            </a:r>
            <a:r>
              <a:rPr sz="900">
                <a:solidFill>
                  <a:srgbClr val="0F172A"/>
                </a:solidFill>
              </a:rPr>
              <a:t>Detector de constante disfarçada: recusa colunas numéricas estáticas.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13. Segregação Temporal: Modelo D vs. Modelo 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14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369A1"/>
                </a:solidFill>
              </a:defRPr>
            </a:pPr>
            <a:r>
              <a:t>MODELO D — DETECÇÃO CONTEMPORÂNEA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Finalidade Operacional: </a:t>
            </a:r>
            <a:r>
              <a:rPr sz="950">
                <a:solidFill>
                  <a:srgbClr val="0F172A"/>
                </a:solidFill>
              </a:rPr>
              <a:t>Mapear feições de erosão laminar que JÁ se manifestaram visualmente no terreno (diagnóstico pericial contemporâneo).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Extensão da Janela Temporal: </a:t>
            </a:r>
            <a:r>
              <a:rPr sz="950">
                <a:solidFill>
                  <a:srgbClr val="0F172A"/>
                </a:solidFill>
              </a:rPr>
              <a:t>Série temporal orbitando continuamente até a data exata do evento ou inspeção pericial (t0).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Assinatura Biofísica: </a:t>
            </a:r>
            <a:r>
              <a:rPr sz="950">
                <a:solidFill>
                  <a:srgbClr val="0F172A"/>
                </a:solidFill>
              </a:rPr>
              <a:t>Detecta horizonte B exposto, BSI &gt; 0.10, redução drástica de biomassa e empobrecimento em carbono orgânico.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Aplicação Prática: </a:t>
            </a:r>
            <a:r>
              <a:rPr sz="950">
                <a:solidFill>
                  <a:srgbClr val="0F172A"/>
                </a:solidFill>
              </a:rPr>
              <a:t>Perícia judicial ambiental, fiscalização agropecuária, apuração de responsabilidade por degradação e autuações.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578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65F46"/>
                </a:solidFill>
              </a:defRPr>
            </a:pPr>
            <a:r>
              <a:t>MODELO P — PROGNÓSTICO PREDITIVO PREVENTIVO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Finalidade Operacional: </a:t>
            </a:r>
            <a:r>
              <a:rPr sz="950">
                <a:solidFill>
                  <a:srgbClr val="0F172A"/>
                </a:solidFill>
              </a:rPr>
              <a:t>Prever o RISCO FUTURO de surgimento de erosão laminar antes que a feição física se manifeste em superfície.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Guarda Temporal Bienal (D04): </a:t>
            </a:r>
            <a:r>
              <a:rPr sz="950">
                <a:solidFill>
                  <a:srgbClr val="0F172A"/>
                </a:solidFill>
              </a:rPr>
              <a:t>Janela de guarda mandatória de 24 meses (2 anos) antes de t0 (Kaufman et al., 2012 / Embrapa Soja), eliminando data leakage.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Assinatura Biofísica: </a:t>
            </a:r>
            <a:r>
              <a:rPr sz="950">
                <a:solidFill>
                  <a:srgbClr val="0F172A"/>
                </a:solidFill>
              </a:rPr>
              <a:t>Identifica fraquezas estruturais de manejo histórico (ausência de rotação, baixa biomassa prévia, alta frequência de solo nu).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Aplicação Prática: </a:t>
            </a:r>
            <a:r>
              <a:rPr sz="950">
                <a:solidFill>
                  <a:srgbClr val="0F172A"/>
                </a:solidFill>
              </a:rPr>
              <a:t>Planejamento conservacionista preditivo, crédito rural sustentável, subsídio para apólices de seguro agrícola e manejo preventivo de bacias.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14. Referências Bibliográficas (Normas ABNT NBR 6023:2018) — Parte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15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10149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COELHO, M. R. et al. Erodibilidade dos solos do Brasil. Rio de Janeiro: Embrapa Solos, 2024. 38 p. (Documentos / Embrapa Solos, n. 246). Disponível em: http://www.infoteca.cnptia.embrapa.br/infoteca/handle/doc/1170044.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CHEN, T.; GUESTRIN, C. XGBoost: A Scalable Tree Boosting System. In: ACM SIGKDD INTERNATIONAL CONFERENCE ON KNOWLEDGE DISCOVERY AND DATA MINING, 22., 2016, San Francisco. Proceedings [...]. New York: ACM, 2016. p. 785–794.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DEMATTÊ, J. A. M. et al. Geospatial Soil Sensing System (GEOS3): A powerful data mining procedure to retrieve soil spectral reflectance from satellite images. Remote Sensing of Environment, v. 212, p. 161–175, 2018.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DURIGON, V. L. et al. NDVI-based C-factor estimation for RUSLE in Brazilian watersheds. Revista Brasileira de Ciência do Solo, v. 38, n. 3, p. 726–734, 2014.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KARYDAS, C. G.; PANAGOS, P. The G2 erosion model: month-time step assessments at regional scale. Environmental Research, v. 161, p. 115–124, 2018.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KAUFMAN, S. et al. Leakage in data mining: formulation, detection, and avoidance. ACM Transactions on Knowledge Discovery from Data (TKDD), v. 6, n. 4, p. 1–21, 2012.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LANDIS, J. R.; KOCH, G. G. The measurement of observer agreement for categorical data. Biometrics, v. 33, n. 1, p. 159–174, 1977.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15. Referências Bibliográficas (Normas ABNT NBR 6023:2018) — Parte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16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10149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LUNDBERG, S. M.; LEE, S.-I. A Unified Approach to Interpreting Model Predictions. In: ADVANCES IN NEURAL INFORMATION PROCESSING SYSTEMS (NEURIPS 2017), 30., 2017, Long Beach. Proceedings [...]. Red Hook: Curran Associates, 2017. p. 4765–4774.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MANNIGEL, E. et al. Fator erodibilidade de solos do estado de São Paulo. Revista Brasileira de Ciência do Solo, v. 26, n. 4, p. 1039–1049, 2002.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RENARD, K. G. et al. Predicting soil erosion by water: a guide to conservation planning with the Revised Universal Soil Loss Equation (RUSLE). Washington, D.C.: United States Department of Agriculture, 1997. 404 p. (Agriculture Handbook, n. 703).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ROBERTS, D. R. et al. Cross-validation strategies for data with temporal, spatial, or hierarchical structure. Ecography, v. 40, n. 8, p. 913–929, 2017.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SAFANELLI, J. L.; DEMATTÊ, J. A. M. et al. Fine-scale soil mapping with Earth Observation data: a multiple geographic level comparison. Revista Brasileira de Ciência do Solo, v. 45, e0210080, p. 1–20, 2021.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VRIELING, A. Satellite remote sensing for water erosion assessment: A review. Catena, v. 65, n. 1, p. 2–18, 2006.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ZHU, Z.; WOODCOCK, C. E. Continuous change detection and classification of land cover using all available Landsat data. Remote Sensing of Environment, v. 144, p. 152–171, 2014.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