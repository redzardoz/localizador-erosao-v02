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22"/>
                </a:solidFill>
                <a:latin typeface="Arial"/>
              </a:defRPr>
            </a:pPr>
            <a:r>
              <a:rPr sz="1200" b="0" i="0" u="none" strike="noStrike">
                <a:solidFill>
                  <a:srgbClr val="1B2A22"/>
                </a:solidFill>
                <a:latin typeface="Arial"/>
              </a:rPr>
              <a:t>Elegibilidade (limite superior, %)</a:t>
            </a:r>
          </a:p>
        </c:rich>
      </c:tx>
      <c:layout/>
      <c:overlay val="0"/>
    </c:title>
    <c:autoTitleDeleted val="0"/>
    <c:plotArea>
      <c:layout/>
      <c:barChart>
        <c:barDir val="col"/>
        <c:grouping val="clustered"/>
        <c:varyColors val="0"/>
        <c:ser>
          <c:idx val="0"/>
          <c:order val="0"/>
          <c:tx>
            <c:strRef>
              <c:f>Sheet1!$B$1</c:f>
              <c:strCache>
                <c:ptCount val="1"/>
                <c:pt idx="0">
                  <c:v>Imóveis elegíveis (%)</c:v>
                </c:pt>
              </c:strCache>
            </c:strRef>
          </c:tx>
          <c:spPr>
            <a:solidFill>
              <a:srgbClr val="2F6B4F"/>
            </a:solidFill>
            <a:effectLst/>
          </c:spPr>
          <c:invertIfNegative val="0"/>
          <c:dLbls>
            <c:numFmt formatCode="0.0" sourceLinked="0"/>
            <c:txPr>
              <a:bodyPr/>
              <a:lstStyle/>
              <a:p>
                <a:pPr>
                  <a:defRPr b="0" i="0" strike="noStrike" sz="1200" u="none">
                    <a:solidFill>
                      <a:srgbClr val="1B2A22"/>
                    </a:solidFill>
                    <a:latin typeface="Arial"/>
                  </a:defRPr>
                </a:pPr>
              </a:p>
            </c:txPr>
            <c:showLegendKey val="0"/>
            <c:showVal val="1"/>
            <c:showCatName val="0"/>
            <c:showSerName val="0"/>
            <c:showPercent val="0"/>
            <c:showBubbleSize val="0"/>
            <c:showLeaderLines val="0"/>
          </c:dLbls>
          <c:cat>
            <c:multiLvlStrRef>
              <c:f>Sheet1!$A$2:$A$4</c:f>
              <c:multiLvlStrCache>
                <c:ptCount val="3"/>
                <c:lvl>
                  <c:pt idx="0">
                    <c:v>10 ha (quadrado)</c:v>
                  </c:pt>
                  <c:pt idx="1">
                    <c:v>5,02 ha (quadrado)</c:v>
                  </c:pt>
                  <c:pt idx="2">
                    <c:v>5,02 ha (retângulo até 1:2)</c:v>
                  </c:pt>
                </c:lvl>
              </c:multiLvlStrCache>
            </c:multiLvlStrRef>
          </c:cat>
          <c:val>
            <c:numRef>
              <c:f>Sheet1!$B$2:$B$4</c:f>
              <c:numCache>
                <c:formatCode>General</c:formatCode>
                <c:ptCount val="3"/>
                <c:pt idx="0">
                  <c:v>43.4</c:v>
                </c:pt>
                <c:pt idx="1">
                  <c:v>64.7</c:v>
                </c:pt>
                <c:pt idx="2">
                  <c:v>71.8</c:v>
                </c:pt>
              </c:numCache>
            </c:numRef>
          </c:val>
        </c:ser>
        <c:dLbls>
          <c:numFmt formatCode="0.0" sourceLinked="0"/>
          <c:txPr>
            <a:bodyPr/>
            <a:lstStyle/>
            <a:p>
              <a:pPr>
                <a:defRPr b="0" i="0" strike="noStrike" sz="1200" u="none">
                  <a:solidFill>
                    <a:srgbClr val="1B2A2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22"/>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5DDD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2605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Esta apresentação descreve o aplicativo e o método, com as telas atuais, e dedica uma parte às dificuldades reais de obter e coordenar amostras. Ainda não há resultado empírico; o que se apresenta é o método, a plataforma e o que já foi medido sobre a viabilidade da amostragem.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Três restrições moldam tudo. A erosão laminar é uma mancha contínua na vertente, então um ponto de campo representa mal o fenômeno. O rótulo só vale se vier de observação humana sobre imagem de alta resolução; o que é calculado nunca vira rótulo. E o acesso depende de proprietários de áreas pequenas: a mediana dos imóveis rurais da bacia é de 11,7 ha. A pergunta do trabalho: como obter uma amostra defensável sob essas restrições e registrar cada passo de forma auditável.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Tela inicial do aplicativo, versão atual. No topo, os módulos na ordem de uso: Amostragem GEE, Campanha e Rótulos, Matriz de Treino, Exportar, mais Configurações e Governança. À esquerda, as áreas de amostragem; no mapa, a legenda deixa claro que BSI e NDVI geram apenas candidatos espectrais, e não rótulos.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Este é o núcleo da justificativa da ordem. Cada linha diz o que se faz e por que vem naquele ponto. O ponto crítico é a etapa 4: como o sorteio é irreversível, é preciso saber antes se cada estrato tem candidatos suficientes. A etapa 5 vem antes do contato com os proprietários para que o local não seja escolhido por conveniência ou por suspeita de erosão.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 segunda metade. A etapa 6 só pode acontecer depois do selo, porque só então se sabe quem contatar; por isso a recusa precisa de um protocolo que não refaça o sorteio. O voo e a delineação são cegos para o estrato e o papel. O campo é âncora, não treino. A avaliação é única e por último.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Estratificar é dividir os candidatos em grupos internamente parecidos e amostrar cada grupo separadamente, para que as combinações raras também entrem na amostra. Usamos três dimensões. Declividade, em três faixas (tercis): é a energia do relevo, que governa o escoamento. Frequência de solo nu, em três faixas: é o tempo em que o solo fica descoberto e exposto à chuva. Erodibilidade, em dois níveis: é a suscetibilidade intrínseca do solo, vinda da carta da Embrapa de 2024; nível 2 são as classes alta, muito alta e extremamente alta. Tercil significa dividir os candidatos em três grupos de tamanho aproximado; os dois cortes são calculados sobre os candidatos da própria área, e valores empatados no corte caem no grupo mais baixo, de modo que os grupos podem diferir um pouco em tamanho. 3 x 3 x 2 dá 18 estratos, com quatro polígonos cada: dois para treino e dois para teste. A decisão sobre a classe 6 foi aprovada em 19/10 e está em registro. Onde entra a série temporal: a frequência de solo nu, calculada sobre a fração de cenas Sentinel-2 válidas de 2016 a 2026, é o eixo de solo nu dos estratos; as métricas da série, como persistência e maior sequência de solo nu, também alimentam os preditores do modelo; e há um mínimo de 6 observações válidas por célula e janela, abaixo do qual a métrica é indisponível, não deflacionada. A frequência de solo nu ainda não foi medida, por falta da credencial do Google Earth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Para voar é preciso autorização, e para pedir autorização o polígono tem de caber dentro de um só imóvel. Sobre os 73.643 imóveis rurais do envelope da bacia, com mediana de 11,7 ha, um quadrado de 10 ha cabia em apenas 43,4%. Ao reduzir para 5,02 ha, a elegibilidade sobe para 64,7%, e para 71,8% admitindo retângulo com razão até 1:2. Atenção: são limites superiores, pois o teste usa a caixa envolvente do imóvel. O custo foi dobrar as autorizações, de 36 para 72, e fica um viés declarado: amostras só em imóveis maiores, que tendem a ter outro manejo.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Aeronave: Spectral 2, da Nuvem UAV, com a câmera multiespectral MicaSense Altum; há 3 baterias disponíveis. Quantidade de voos: são 72 polígonos de 5,02 ha, ou seja, 72 missões de mapeamento, uma por polígono; eram 36 no desenho anterior. Por que 72: é a estrutura de 18 estratos com 4 polígonos cada. A área total, de cerca de 361 ha, é o que o custo de voo suporta e rende cerca de 1.845 unidades espacialmente independentes (D24), no limite para o bloco espectral e abaixo do recomendado para solo, chuva e terreno. Tempo: o plano de voo para 4 cm de resolução usa altitude de 92,8 m, cerca de 7 linhas e 123 disparos por polígono, com velocidade medida de 8,7 a 9,2 m/s nos logs reais; isso dá cerca de 3 minutos de mapeamento por polígono, mais as curvas. Em horas, são pelo menos 3,6 h de mapeamento nos 72 polígonos, sem contar decolagem, pouso, troca de bateria e deslocamento, que dominam a campanha. Com teto padrão de 6 polígonos por jornada, são cerca de 12 jornadas e dois polígonos por bateria; isso é compatível com as duas missões já voadas, de 9 a 13 minutos, mas a autonomia útil de cada bateria ainda precisa ser confirmada. Nas duas missões medidas a produtividade foi de 2,3 ha/min na Missão 009 e 0,53 ha/min na 000, de modo que o tempo real pode ser maior que o planejado. Há ainda 72 autorizações de proprietário a obter.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 alvo do modelo não é uma classe, e sim a fração da célula de 10 m delineada como erodida, entre 0 e 1, obtida por rasterização da delineação feita sobre o ortomosaico. O binário, fração maior ou igual a 25%, é derivado e secundário. O intérprete recebe só um código opaco, sem estrato nem papel; o app tem exportação cega por perfil. Isso impede que o modelo aprenda a concordar com o rastreio espectral. Planos de voo só saem com terreno real; os de demonstração são marcados como sintéticos.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O campo deixou de ser massa de treino e virou âncora: 60 a 80 pontos dispersos pela bacia, fora dos polígonos, sorteados com probabilidade conhecida, coletados no aplicativo SAREL Coletor, em Android, sob protocolo cego. A função é estimar a prevalência real, por estimador ponderado, e calibrar a acurácia posicional do aparelho. A campanha tem duas ondas; os 30 primeiros pontos são lote piloto. O KoboCollect foi substituído e a fotointerpretação foi aposentada, porque o rótulo centimétrico do voo é melhor e mais fiel ao fenômeno.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 tela mostra o registro oficial das decisões, com o critério de refutação de D25: três competidores (linha de base RUSLE, regressão penalizada e XGBoost), métrica primária de Spearman no held-out, piso de 0,40 e margem de 0,10 sobre a RUSLE. A inferência usa bootstrap por polígono, porque células do mesmo polígono não são independentes. Os desfechos são corroborada, inconclusiva ou refutada. O estado exibido hoje é 'não avaliado', e isso é intencional: não há resultado. O script grava uma trava e recusa uma segunda avaliação.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Honestidade sobre o estágio: o que está pronto e o que depende de decisões e de dados. Não há resultado empírico. O sorteio ainda não foi realizado; há decisões do pesquisador pendentes que o sorteio exige e a checagem do pool com candidatos reais. A cifra de acerto de atribuição, antes citada, segue em verificação.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(Consulta) Lista das referências que sustentam as decisões apresentadas, nos termos em que constam do registro de decisões. As marcadas com † tiveram a leitura e a conferência da fonte feitas no projeto; as demais constam do registro e aguardam conferência bibliográfica completa antes da dissertação.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41C"/>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13716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SAREL: uma plataforma para amostrar, rotular e auditar erosão laminar</a:t>
            </a:r>
            <a:endParaRPr lang="en-US" sz="3000" dirty="0"/>
          </a:p>
        </p:txBody>
      </p:sp>
      <p:sp>
        <p:nvSpPr>
          <p:cNvPr id="3" name="Text 1"/>
          <p:cNvSpPr txBox="1"/>
          <p:nvPr/>
        </p:nvSpPr>
        <p:spPr>
          <a:xfrm>
            <a:off x="548640" y="1874520"/>
            <a:ext cx="8046720" cy="640080"/>
          </a:xfrm>
          <a:prstGeom prst="rect">
            <a:avLst/>
          </a:prstGeom>
          <a:noFill/>
          <a:ln/>
        </p:spPr>
        <p:txBody>
          <a:bodyPr wrap="square" lIns="0" tIns="0" rIns="0" bIns="0" rtlCol="0" anchor="t"/>
          <a:lstStyle/>
          <a:p>
            <a:pPr indent="0" marL="0">
              <a:buNone/>
            </a:pPr>
            <a:r>
              <a:rPr lang="en-US" sz="1600" dirty="0">
                <a:solidFill>
                  <a:srgbClr val="8DB596"/>
                </a:solidFill>
                <a:latin typeface="Calibri" pitchFamily="34" charset="0"/>
                <a:ea typeface="Calibri" pitchFamily="34" charset="-122"/>
                <a:cs typeface="Calibri" pitchFamily="34" charset="-120"/>
              </a:rPr>
              <a:t>Como o aplicativo funciona, como a metodologia define a sequência e o que dificultou obter e coordenar as amostras</a:t>
            </a:r>
            <a:endParaRPr lang="en-US" sz="1600" dirty="0"/>
          </a:p>
        </p:txBody>
      </p:sp>
      <p:sp>
        <p:nvSpPr>
          <p:cNvPr id="4" name="Text 2"/>
          <p:cNvSpPr txBox="1"/>
          <p:nvPr/>
        </p:nvSpPr>
        <p:spPr>
          <a:xfrm>
            <a:off x="548640" y="2743200"/>
            <a:ext cx="8046720" cy="8686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Luis Alfredo Ferreira da Silva</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Fabiana Costa de Araujo Schutz</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Kiria Vitoria Nakahati</a:t>
            </a:r>
            <a:endParaRPr lang="en-US" sz="1400" dirty="0"/>
          </a:p>
        </p:txBody>
      </p:sp>
      <p:sp>
        <p:nvSpPr>
          <p:cNvPr id="5" name="Text 3"/>
          <p:cNvSpPr txBox="1"/>
          <p:nvPr/>
        </p:nvSpPr>
        <p:spPr>
          <a:xfrm>
            <a:off x="548640" y="3657600"/>
            <a:ext cx="8046720" cy="274320"/>
          </a:xfrm>
          <a:prstGeom prst="rect">
            <a:avLst/>
          </a:prstGeom>
          <a:noFill/>
          <a:ln/>
        </p:spPr>
        <p:txBody>
          <a:bodyPr wrap="square" lIns="0" tIns="0" rIns="0" bIns="0" rtlCol="0" anchor="t"/>
          <a:lstStyle/>
          <a:p>
            <a:pPr indent="0" marL="0">
              <a:buNone/>
            </a:pPr>
            <a:r>
              <a:rPr lang="en-US" sz="1400" dirty="0">
                <a:solidFill>
                  <a:srgbClr val="E4E9E3"/>
                </a:solidFill>
                <a:latin typeface="Calibri" pitchFamily="34" charset="0"/>
                <a:ea typeface="Calibri" pitchFamily="34" charset="-122"/>
                <a:cs typeface="Calibri" pitchFamily="34" charset="-120"/>
              </a:rPr>
              <a:t>Orientador: Claudio Leones Bazzi</a:t>
            </a:r>
            <a:endParaRPr lang="en-US" sz="1400" dirty="0"/>
          </a:p>
        </p:txBody>
      </p:sp>
      <p:sp>
        <p:nvSpPr>
          <p:cNvPr id="6" name="Text 4"/>
          <p:cNvSpPr txBox="1"/>
          <p:nvPr/>
        </p:nvSpPr>
        <p:spPr>
          <a:xfrm>
            <a:off x="548640" y="4160520"/>
            <a:ext cx="8046720" cy="548640"/>
          </a:xfrm>
          <a:prstGeom prst="rect">
            <a:avLst/>
          </a:prstGeom>
          <a:noFill/>
          <a:ln/>
        </p:spPr>
        <p:txBody>
          <a:bodyPr wrap="square" lIns="0" tIns="0" rIns="0" bIns="0" rtlCol="0" anchor="t"/>
          <a:lstStyle/>
          <a:p>
            <a:pPr indent="0" marL="0">
              <a:buNone/>
            </a:pPr>
            <a:r>
              <a:rPr lang="en-US" sz="1200" dirty="0">
                <a:solidFill>
                  <a:srgbClr val="E4E9E3"/>
                </a:solidFill>
                <a:latin typeface="Calibri" pitchFamily="34" charset="0"/>
                <a:ea typeface="Calibri" pitchFamily="34" charset="-122"/>
                <a:cs typeface="Calibri" pitchFamily="34" charset="-120"/>
              </a:rPr>
              <a:t>Programa de Pós-Graduação em Tecnologias Computacionais para o Agronegócio (PPGTCA), Universidade Tecnológica Federal do Paraná (UTFPR), Campus Medianeira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O desafio: amostrar o que só um observador consegue rotular</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2</a:t>
            </a:r>
            <a:endParaRPr lang="en-US" sz="1000" dirty="0"/>
          </a:p>
        </p:txBody>
      </p:sp>
      <p:sp>
        <p:nvSpPr>
          <p:cNvPr id="5" name="Shape 2"/>
          <p:cNvSpPr/>
          <p:nvPr/>
        </p:nvSpPr>
        <p:spPr>
          <a:xfrm>
            <a:off x="457200" y="1188720"/>
            <a:ext cx="2606040" cy="2286000"/>
          </a:xfrm>
          <a:prstGeom prst="roundRect">
            <a:avLst>
              <a:gd name="adj" fmla="val 3200"/>
            </a:avLst>
          </a:prstGeom>
          <a:solidFill>
            <a:srgbClr val="EEF3EF"/>
          </a:solidFill>
          <a:ln w="12700">
            <a:solidFill>
              <a:srgbClr val="EEF3EF"/>
            </a:solidFill>
            <a:prstDash val="solid"/>
          </a:ln>
        </p:spPr>
      </p:sp>
      <p:sp>
        <p:nvSpPr>
          <p:cNvPr id="6" name="Text 3"/>
          <p:cNvSpPr txBox="1"/>
          <p:nvPr/>
        </p:nvSpPr>
        <p:spPr>
          <a:xfrm>
            <a:off x="640080" y="1325880"/>
            <a:ext cx="2240280" cy="365760"/>
          </a:xfrm>
          <a:prstGeom prst="rect">
            <a:avLst/>
          </a:prstGeom>
          <a:noFill/>
          <a:ln/>
        </p:spPr>
        <p:txBody>
          <a:bodyPr wrap="square" lIns="0" tIns="0" rIns="0" bIns="0" rtlCol="0" anchor="t"/>
          <a:lstStyle/>
          <a:p>
            <a:pPr indent="0" marL="0">
              <a:buNone/>
            </a:pPr>
            <a:r>
              <a:rPr lang="en-US" sz="1800" b="1" dirty="0">
                <a:solidFill>
                  <a:srgbClr val="2F6B4F"/>
                </a:solidFill>
                <a:latin typeface="Cambria" pitchFamily="34" charset="0"/>
                <a:ea typeface="Cambria" pitchFamily="34" charset="-122"/>
                <a:cs typeface="Cambria" pitchFamily="34" charset="-120"/>
              </a:rPr>
              <a:t>O fenômeno</a:t>
            </a:r>
            <a:endParaRPr lang="en-US" sz="1800" dirty="0"/>
          </a:p>
        </p:txBody>
      </p:sp>
      <p:sp>
        <p:nvSpPr>
          <p:cNvPr id="7" name="Text 4"/>
          <p:cNvSpPr txBox="1"/>
          <p:nvPr/>
        </p:nvSpPr>
        <p:spPr>
          <a:xfrm>
            <a:off x="640080" y="1783080"/>
            <a:ext cx="2240280" cy="1645920"/>
          </a:xfrm>
          <a:prstGeom prst="rect">
            <a:avLst/>
          </a:prstGeom>
          <a:noFill/>
          <a:ln/>
        </p:spPr>
        <p:txBody>
          <a:bodyPr wrap="square" lIns="0" tIns="0" rIns="0" bIns="0" rtlCol="0" anchor="t"/>
          <a:lstStyle/>
          <a:p>
            <a:pPr indent="0" marL="0">
              <a:buNone/>
            </a:pPr>
            <a:r>
              <a:rPr lang="en-US" sz="1400" dirty="0">
                <a:solidFill>
                  <a:srgbClr val="1B2A22"/>
                </a:solidFill>
                <a:latin typeface="Calibri" pitchFamily="34" charset="0"/>
                <a:ea typeface="Calibri" pitchFamily="34" charset="-122"/>
                <a:cs typeface="Calibri" pitchFamily="34" charset="-120"/>
              </a:rPr>
              <a:t>A erosão laminar é uma mancha contínua na vertente, e não uma ocorrência pontual (D16).</a:t>
            </a:r>
            <a:endParaRPr lang="en-US" sz="1400" dirty="0"/>
          </a:p>
        </p:txBody>
      </p:sp>
      <p:sp>
        <p:nvSpPr>
          <p:cNvPr id="8" name="Shape 5"/>
          <p:cNvSpPr/>
          <p:nvPr/>
        </p:nvSpPr>
        <p:spPr>
          <a:xfrm>
            <a:off x="3246120" y="1188720"/>
            <a:ext cx="2606040" cy="2286000"/>
          </a:xfrm>
          <a:prstGeom prst="roundRect">
            <a:avLst>
              <a:gd name="adj" fmla="val 3200"/>
            </a:avLst>
          </a:prstGeom>
          <a:solidFill>
            <a:srgbClr val="EEF3EF"/>
          </a:solidFill>
          <a:ln w="12700">
            <a:solidFill>
              <a:srgbClr val="EEF3EF"/>
            </a:solidFill>
            <a:prstDash val="solid"/>
          </a:ln>
        </p:spPr>
      </p:sp>
      <p:sp>
        <p:nvSpPr>
          <p:cNvPr id="9" name="Text 6"/>
          <p:cNvSpPr txBox="1"/>
          <p:nvPr/>
        </p:nvSpPr>
        <p:spPr>
          <a:xfrm>
            <a:off x="3429000" y="1325880"/>
            <a:ext cx="2240280" cy="365760"/>
          </a:xfrm>
          <a:prstGeom prst="rect">
            <a:avLst/>
          </a:prstGeom>
          <a:noFill/>
          <a:ln/>
        </p:spPr>
        <p:txBody>
          <a:bodyPr wrap="square" lIns="0" tIns="0" rIns="0" bIns="0" rtlCol="0" anchor="t"/>
          <a:lstStyle/>
          <a:p>
            <a:pPr indent="0" marL="0">
              <a:buNone/>
            </a:pPr>
            <a:r>
              <a:rPr lang="en-US" sz="1800" b="1" dirty="0">
                <a:solidFill>
                  <a:srgbClr val="2F6B4F"/>
                </a:solidFill>
                <a:latin typeface="Cambria" pitchFamily="34" charset="0"/>
                <a:ea typeface="Cambria" pitchFamily="34" charset="-122"/>
                <a:cs typeface="Cambria" pitchFamily="34" charset="-120"/>
              </a:rPr>
              <a:t>O rótulo</a:t>
            </a:r>
            <a:endParaRPr lang="en-US" sz="1800" dirty="0"/>
          </a:p>
        </p:txBody>
      </p:sp>
      <p:sp>
        <p:nvSpPr>
          <p:cNvPr id="10" name="Text 7"/>
          <p:cNvSpPr txBox="1"/>
          <p:nvPr/>
        </p:nvSpPr>
        <p:spPr>
          <a:xfrm>
            <a:off x="3429000" y="1783080"/>
            <a:ext cx="2240280" cy="1645920"/>
          </a:xfrm>
          <a:prstGeom prst="rect">
            <a:avLst/>
          </a:prstGeom>
          <a:noFill/>
          <a:ln/>
        </p:spPr>
        <p:txBody>
          <a:bodyPr wrap="square" lIns="0" tIns="0" rIns="0" bIns="0" rtlCol="0" anchor="t"/>
          <a:lstStyle/>
          <a:p>
            <a:pPr indent="0" marL="0">
              <a:buNone/>
            </a:pPr>
            <a:r>
              <a:rPr lang="en-US" sz="1400" dirty="0">
                <a:solidFill>
                  <a:srgbClr val="1B2A22"/>
                </a:solidFill>
                <a:latin typeface="Calibri" pitchFamily="34" charset="0"/>
                <a:ea typeface="Calibri" pitchFamily="34" charset="-122"/>
                <a:cs typeface="Calibri" pitchFamily="34" charset="-120"/>
              </a:rPr>
              <a:t>Só vale observação humana sobre imagem de alta resolução (VANT, ≈ 4 cm). O que é calculado não vira rótulo (Regra 4).</a:t>
            </a:r>
            <a:endParaRPr lang="en-US" sz="1400" dirty="0"/>
          </a:p>
        </p:txBody>
      </p:sp>
      <p:sp>
        <p:nvSpPr>
          <p:cNvPr id="11" name="Shape 8"/>
          <p:cNvSpPr/>
          <p:nvPr/>
        </p:nvSpPr>
        <p:spPr>
          <a:xfrm>
            <a:off x="6035040" y="1188720"/>
            <a:ext cx="2606040" cy="2286000"/>
          </a:xfrm>
          <a:prstGeom prst="roundRect">
            <a:avLst>
              <a:gd name="adj" fmla="val 3200"/>
            </a:avLst>
          </a:prstGeom>
          <a:solidFill>
            <a:srgbClr val="EEF3EF"/>
          </a:solidFill>
          <a:ln w="12700">
            <a:solidFill>
              <a:srgbClr val="EEF3EF"/>
            </a:solidFill>
            <a:prstDash val="solid"/>
          </a:ln>
        </p:spPr>
      </p:sp>
      <p:sp>
        <p:nvSpPr>
          <p:cNvPr id="12" name="Text 9"/>
          <p:cNvSpPr txBox="1"/>
          <p:nvPr/>
        </p:nvSpPr>
        <p:spPr>
          <a:xfrm>
            <a:off x="6217920" y="1325880"/>
            <a:ext cx="2240280" cy="365760"/>
          </a:xfrm>
          <a:prstGeom prst="rect">
            <a:avLst/>
          </a:prstGeom>
          <a:noFill/>
          <a:ln/>
        </p:spPr>
        <p:txBody>
          <a:bodyPr wrap="square" lIns="0" tIns="0" rIns="0" bIns="0" rtlCol="0" anchor="t"/>
          <a:lstStyle/>
          <a:p>
            <a:pPr indent="0" marL="0">
              <a:buNone/>
            </a:pPr>
            <a:r>
              <a:rPr lang="en-US" sz="1800" b="1" dirty="0">
                <a:solidFill>
                  <a:srgbClr val="2F6B4F"/>
                </a:solidFill>
                <a:latin typeface="Cambria" pitchFamily="34" charset="0"/>
                <a:ea typeface="Cambria" pitchFamily="34" charset="-122"/>
                <a:cs typeface="Cambria" pitchFamily="34" charset="-120"/>
              </a:rPr>
              <a:t>O acesso</a:t>
            </a:r>
            <a:endParaRPr lang="en-US" sz="1800" dirty="0"/>
          </a:p>
        </p:txBody>
      </p:sp>
      <p:sp>
        <p:nvSpPr>
          <p:cNvPr id="13" name="Text 10"/>
          <p:cNvSpPr txBox="1"/>
          <p:nvPr/>
        </p:nvSpPr>
        <p:spPr>
          <a:xfrm>
            <a:off x="6217920" y="1783080"/>
            <a:ext cx="2240280" cy="1645920"/>
          </a:xfrm>
          <a:prstGeom prst="rect">
            <a:avLst/>
          </a:prstGeom>
          <a:noFill/>
          <a:ln/>
        </p:spPr>
        <p:txBody>
          <a:bodyPr wrap="square" lIns="0" tIns="0" rIns="0" bIns="0" rtlCol="0" anchor="t"/>
          <a:lstStyle/>
          <a:p>
            <a:pPr indent="0" marL="0">
              <a:buNone/>
            </a:pPr>
            <a:r>
              <a:rPr lang="en-US" sz="1400" dirty="0">
                <a:solidFill>
                  <a:srgbClr val="1B2A22"/>
                </a:solidFill>
                <a:latin typeface="Calibri" pitchFamily="34" charset="0"/>
                <a:ea typeface="Calibri" pitchFamily="34" charset="-122"/>
                <a:cs typeface="Calibri" pitchFamily="34" charset="-120"/>
              </a:rPr>
              <a:t>Cada polígono voado exige autorização do proprietário, em imóveis pequenos: mediana de 11,7 ha na bacia.</a:t>
            </a:r>
            <a:endParaRPr lang="en-US" sz="1400" dirty="0"/>
          </a:p>
        </p:txBody>
      </p:sp>
      <p:sp>
        <p:nvSpPr>
          <p:cNvPr id="14" name="Text 11"/>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800" i="1" dirty="0">
                <a:solidFill>
                  <a:srgbClr val="C65D3B"/>
                </a:solidFill>
                <a:latin typeface="Cambria" pitchFamily="34" charset="0"/>
                <a:ea typeface="Cambria" pitchFamily="34" charset="-122"/>
                <a:cs typeface="Cambria" pitchFamily="34" charset="-120"/>
              </a:rPr>
              <a:t>Como obter uma amostra defensável sob essas restrições e registrar cada passo de forma auditável?</a:t>
            </a:r>
            <a:endParaRPr lang="en-US" sz="1800" dirty="0"/>
          </a:p>
        </p:txBody>
      </p:sp>
      <p:sp>
        <p:nvSpPr>
          <p:cNvPr id="15" name="Text 1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Fonte: registro de decisões D16 e levantamento de 29/09/2026 (73.643 imóveis rurais do envelope da bacia).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O SAREL em uma tela</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3</a:t>
            </a:r>
            <a:endParaRPr lang="en-US" sz="1000" dirty="0"/>
          </a:p>
        </p:txBody>
      </p:sp>
      <p:sp>
        <p:nvSpPr>
          <p:cNvPr id="5" name="Shape 2"/>
          <p:cNvSpPr/>
          <p:nvPr/>
        </p:nvSpPr>
        <p:spPr>
          <a:xfrm>
            <a:off x="438912" y="987552"/>
            <a:ext cx="5242276" cy="3145536"/>
          </a:xfrm>
          <a:prstGeom prst="rect">
            <a:avLst/>
          </a:prstGeom>
          <a:solidFill>
            <a:srgbClr val="FFFFFF"/>
          </a:solidFill>
          <a:ln w="9525">
            <a:solidFill>
              <a:srgbClr val="B8C4BC"/>
            </a:solidFill>
            <a:prstDash val="solid"/>
          </a:ln>
        </p:spPr>
      </p:sp>
      <p:pic>
        <p:nvPicPr>
          <p:cNvPr id="6" name="Image 0" descr="img/principal.png">    </p:cNvPr>
          <p:cNvPicPr>
            <a:picLocks noChangeAspect="1"/>
          </p:cNvPicPr>
          <p:nvPr/>
        </p:nvPicPr>
        <p:blipFill>
          <a:blip r:embed="rId1"/>
          <a:stretch>
            <a:fillRect/>
          </a:stretch>
        </p:blipFill>
        <p:spPr>
          <a:xfrm>
            <a:off x="457200" y="1005840"/>
            <a:ext cx="5205700" cy="3108960"/>
          </a:xfrm>
          <a:prstGeom prst="rect">
            <a:avLst/>
          </a:prstGeom>
        </p:spPr>
      </p:pic>
      <p:sp>
        <p:nvSpPr>
          <p:cNvPr id="7" name="Text 3"/>
          <p:cNvSpPr txBox="1"/>
          <p:nvPr/>
        </p:nvSpPr>
        <p:spPr>
          <a:xfrm>
            <a:off x="457200" y="4206240"/>
            <a:ext cx="5212080" cy="457200"/>
          </a:xfrm>
          <a:prstGeom prst="rect">
            <a:avLst/>
          </a:prstGeom>
          <a:noFill/>
          <a:ln/>
        </p:spPr>
        <p:txBody>
          <a:bodyPr wrap="square" lIns="0" tIns="0" rIns="0" bIns="0" rtlCol="0" anchor="t"/>
          <a:lstStyle/>
          <a:p>
            <a:pPr indent="0" marL="0">
              <a:buNone/>
            </a:pPr>
            <a:r>
              <a:rPr lang="en-US" sz="1100" i="1" dirty="0">
                <a:solidFill>
                  <a:srgbClr val="52605A"/>
                </a:solidFill>
                <a:latin typeface="Calibri" pitchFamily="34" charset="0"/>
                <a:ea typeface="Calibri" pitchFamily="34" charset="-122"/>
                <a:cs typeface="Calibri" pitchFamily="34" charset="-120"/>
              </a:rPr>
              <a:t>Tela inicial: módulos no topo, áreas e filtros à esquerda, mapa e legenda.</a:t>
            </a:r>
            <a:endParaRPr lang="en-US" sz="1100" dirty="0"/>
          </a:p>
        </p:txBody>
      </p:sp>
      <p:sp>
        <p:nvSpPr>
          <p:cNvPr id="8" name="Text 4"/>
          <p:cNvSpPr txBox="1"/>
          <p:nvPr/>
        </p:nvSpPr>
        <p:spPr>
          <a:xfrm>
            <a:off x="5943600" y="1097280"/>
            <a:ext cx="2834640" cy="31089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Elege candidatos a amostra com imagens de satélite (Google Earth Engine)</a:t>
            </a:r>
            <a:endParaRPr lang="en-US" sz="1400" dirty="0"/>
          </a:p>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Planeja e integra a campanha de voo e de campo</a:t>
            </a:r>
            <a:endParaRPr lang="en-US" sz="1400" dirty="0"/>
          </a:p>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Monta a matriz de treino, com a origem de cada valor</a:t>
            </a:r>
            <a:endParaRPr lang="en-US" sz="1400" dirty="0"/>
          </a:p>
          <a:p>
            <a:pPr marL="342900" indent="-342900">
              <a:spcAft>
                <a:spcPts val="700"/>
              </a:spcAft>
              <a:buSzPct val="100000"/>
              <a:buChar char="•"/>
            </a:pPr>
            <a:r>
              <a:rPr lang="en-US" sz="1400" dirty="0">
                <a:solidFill>
                  <a:srgbClr val="1B2A22"/>
                </a:solidFill>
                <a:latin typeface="Calibri" pitchFamily="34" charset="0"/>
                <a:ea typeface="Calibri" pitchFamily="34" charset="-122"/>
                <a:cs typeface="Calibri" pitchFamily="34" charset="-120"/>
              </a:rPr>
              <a:t>Exporta um pacote que a banca consegue verificar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Sequência justificada (1/2): do domínio ao sorteio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03120"/>
                <a:gridCol w="3108960"/>
                <a:gridCol w="301752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Passo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 que se faz</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Por que vem aqui</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1. Definir o domínio e a área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se amostra onde o método vale: declividade 3 a 20%, lavoura e pastagem (D07).</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Sem domínio não existe "candidato válido"; ele precisa vir antes de tudo.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2. Eleger candidatos no GEE</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Filtros de solo nu, declividade e espaçamento mínimo de 1 km (P02).</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Produz o universo de onde se sorteia; exige o domínio da etapa 1.</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3. Estratificar em 18 estratos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Declividade × solo nu × erodibilidade (D12).</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Define o que o sorteio precisa cobrir; só com candidatos dá para contar N_h.</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4. Checar o pool por estrato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Contar candidatos por estrato antes de selar.</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O sorteio é irreversível: só se sela com pool que comporta 4 titulares e reservas.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5. Sorteio selado (72 polígonos)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4 por estrato, probabilidade de inclusão registrada (D23).</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Vem antes de contatar proprietários, para que ninguém escolha os locais.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bl>
          </a:graphicData>
        </a:graphic>
      </p:graphicFrame>
      <p:sp>
        <p:nvSpPr>
          <p:cNvPr id="6" name="Text 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Cada passo depende do anterior: o sorteio selado e a avaliação única são os dois pontos sem volta.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Sequência justificada (2/2): da autorização à avaliação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03120"/>
                <a:gridCol w="3108960"/>
                <a:gridCol w="301752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Passo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 que se faz</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Por que vem aqui</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solidFill>
                      <a:srgbClr val="2F6B4F"/>
                    </a:solidFill>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6. Autorização dos proprietários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Contato, e reserva em ordem em caso de recusa (proposta).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se sabe quem contatar depois do selo; a recusa não pode refazer o sorteio.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7. Voo cego e delineação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Intérprete sem ver estrato nem papel; rótulo por fração (D26).</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depois da autorização; a cegueira evita que o modelo "aprenda" o rastreio.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8. Âncora de campo</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60 a 80 pontos fora dos polígonos, coletados no SAREL Coletor (D16, D23).</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Estima prevalência e acurácia posicional; independe dos polígonos.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9. Matriz com proveniência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7 invariantes bloqueiam a exportação se violados.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Só com rótulos consolidados; garante origem declarada em cada valor.</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r h="502920">
                <a:tc>
                  <a:txBody>
                    <a:bodyPr/>
                    <a:lstStyle/>
                    <a:p>
                      <a:pPr indent="0" marL="0">
                        <a:buNone/>
                      </a:pPr>
                      <a:r>
                        <a:rPr lang="en-US" sz="1200" b="1" dirty="0">
                          <a:solidFill>
                            <a:srgbClr val="2F6B4F"/>
                          </a:solidFill>
                          <a:latin typeface="Calibri" pitchFamily="34" charset="0"/>
                          <a:ea typeface="Calibri" pitchFamily="34" charset="-122"/>
                          <a:cs typeface="Calibri" pitchFamily="34" charset="-120"/>
                        </a:rPr>
                        <a:t>10. Avaliação única</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Spearman no held-out, com trava de segunda execução (D25).</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c>
                  <a:txBody>
                    <a:bodyPr/>
                    <a:lstStyle/>
                    <a:p>
                      <a:pPr indent="0" marL="0">
                        <a:buNone/>
                      </a:pPr>
                      <a:r>
                        <a:rPr lang="en-US" sz="1200" dirty="0">
                          <a:solidFill>
                            <a:srgbClr val="1B2A22"/>
                          </a:solidFill>
                          <a:latin typeface="Calibri" pitchFamily="34" charset="0"/>
                          <a:ea typeface="Calibri" pitchFamily="34" charset="-122"/>
                          <a:cs typeface="Calibri" pitchFamily="34" charset="-120"/>
                        </a:rPr>
                        <a:t>Por último e uma só vez: o critério foi fixado antes dos dados.</a:t>
                      </a:r>
                      <a:endParaRPr lang="en-US" sz="1200" dirty="0">
                        <a:latin typeface="Calibri" charset="0"/>
                        <a:ea typeface="Calibri" charset="0"/>
                        <a:cs typeface="Calibri" charset="0"/>
                      </a:endParaRPr>
                    </a:p>
                  </a:txBody>
                  <a:tcPr marL="73152" marR="73152" marT="36576" marB="36576" anchor="ctr">
                    <a:lnL w="9525" cap="flat" cmpd="sng" algn="ctr">
                      <a:solidFill>
                        <a:srgbClr val="C9D4CC"/>
                      </a:solidFill>
                      <a:prstDash val="solid"/>
                      <a:round/>
                      <a:headEnd type="none" w="med" len="med"/>
                      <a:tailEnd type="none" w="med" len="med"/>
                    </a:lnL>
                    <a:lnR w="9525" cap="flat" cmpd="sng" algn="ctr">
                      <a:solidFill>
                        <a:srgbClr val="C9D4CC"/>
                      </a:solidFill>
                      <a:prstDash val="solid"/>
                      <a:round/>
                      <a:headEnd type="none" w="med" len="med"/>
                      <a:tailEnd type="none" w="med" len="med"/>
                    </a:lnR>
                    <a:lnT w="9525" cap="flat" cmpd="sng" algn="ctr">
                      <a:solidFill>
                        <a:srgbClr val="C9D4CC"/>
                      </a:solidFill>
                      <a:prstDash val="solid"/>
                      <a:round/>
                      <a:headEnd type="none" w="med" len="med"/>
                      <a:tailEnd type="none" w="med" len="med"/>
                    </a:lnT>
                    <a:lnB w="9525" cap="flat" cmpd="sng" algn="ctr">
                      <a:solidFill>
                        <a:srgbClr val="C9D4CC"/>
                      </a:solidFill>
                      <a:prstDash val="solid"/>
                      <a:round/>
                      <a:headEnd type="none" w="med" len="med"/>
                      <a:tailEnd type="none" w="med" len="med"/>
                    </a:lnB>
                  </a:tcPr>
                </a:tc>
              </a:tr>
            </a:tbl>
          </a:graphicData>
        </a:graphic>
      </p:graphicFrame>
      <p:sp>
        <p:nvSpPr>
          <p:cNvPr id="6" name="Text 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Cada passo depende do anterior: o sorteio selado e a avaliação única são os dois pontos sem volta.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Estratificação: como se chega aos 18 estratos</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6</a:t>
            </a:r>
            <a:endParaRPr lang="en-US" sz="1000" dirty="0"/>
          </a:p>
        </p:txBody>
      </p:sp>
      <p:sp>
        <p:nvSpPr>
          <p:cNvPr id="5" name="Shape 2"/>
          <p:cNvSpPr/>
          <p:nvPr/>
        </p:nvSpPr>
        <p:spPr>
          <a:xfrm>
            <a:off x="457200" y="914400"/>
            <a:ext cx="2468880" cy="1783080"/>
          </a:xfrm>
          <a:prstGeom prst="roundRect">
            <a:avLst>
              <a:gd name="adj" fmla="val 4103"/>
            </a:avLst>
          </a:prstGeom>
          <a:solidFill>
            <a:srgbClr val="EEF3EF"/>
          </a:solidFill>
          <a:ln w="12700">
            <a:solidFill>
              <a:srgbClr val="EEF3EF"/>
            </a:solidFill>
            <a:prstDash val="solid"/>
          </a:ln>
        </p:spPr>
      </p:sp>
      <p:sp>
        <p:nvSpPr>
          <p:cNvPr id="6" name="Text 3"/>
          <p:cNvSpPr txBox="1"/>
          <p:nvPr/>
        </p:nvSpPr>
        <p:spPr>
          <a:xfrm>
            <a:off x="594360" y="987552"/>
            <a:ext cx="2194560" cy="365760"/>
          </a:xfrm>
          <a:prstGeom prst="rect">
            <a:avLst/>
          </a:prstGeom>
          <a:noFill/>
          <a:ln/>
        </p:spPr>
        <p:txBody>
          <a:bodyPr wrap="square" lIns="0" tIns="0" rIns="0" bIns="0" rtlCol="0" anchor="t"/>
          <a:lstStyle/>
          <a:p>
            <a:pPr indent="0" marL="0">
              <a:buNone/>
            </a:pPr>
            <a:r>
              <a:rPr lang="en-US" sz="1600" b="1" dirty="0">
                <a:solidFill>
                  <a:srgbClr val="2F6B4F"/>
                </a:solidFill>
                <a:latin typeface="Cambria" pitchFamily="34" charset="0"/>
                <a:ea typeface="Cambria" pitchFamily="34" charset="-122"/>
                <a:cs typeface="Cambria" pitchFamily="34" charset="-120"/>
              </a:rPr>
              <a:t>Declividade</a:t>
            </a:r>
            <a:endParaRPr lang="en-US" sz="1600" dirty="0"/>
          </a:p>
        </p:txBody>
      </p:sp>
      <p:sp>
        <p:nvSpPr>
          <p:cNvPr id="7" name="Text 4"/>
          <p:cNvSpPr txBox="1"/>
          <p:nvPr/>
        </p:nvSpPr>
        <p:spPr>
          <a:xfrm>
            <a:off x="594360" y="1325880"/>
            <a:ext cx="2194560" cy="274320"/>
          </a:xfrm>
          <a:prstGeom prst="rect">
            <a:avLst/>
          </a:prstGeom>
          <a:noFill/>
          <a:ln/>
        </p:spPr>
        <p:txBody>
          <a:bodyPr wrap="square" lIns="0" tIns="0" rIns="0" bIns="0" rtlCol="0" anchor="t"/>
          <a:lstStyle/>
          <a:p>
            <a:pPr indent="0" marL="0">
              <a:buNone/>
            </a:pPr>
            <a:r>
              <a:rPr lang="en-US" sz="1200" b="1" dirty="0">
                <a:solidFill>
                  <a:srgbClr val="C65D3B"/>
                </a:solidFill>
                <a:latin typeface="Calibri" pitchFamily="34" charset="0"/>
                <a:ea typeface="Calibri" pitchFamily="34" charset="-122"/>
                <a:cs typeface="Calibri" pitchFamily="34" charset="-120"/>
              </a:rPr>
              <a:t>3 faixas (tercis)</a:t>
            </a:r>
            <a:endParaRPr lang="en-US" sz="1200" dirty="0"/>
          </a:p>
        </p:txBody>
      </p:sp>
      <p:sp>
        <p:nvSpPr>
          <p:cNvPr id="8" name="Text 5"/>
          <p:cNvSpPr txBox="1"/>
          <p:nvPr/>
        </p:nvSpPr>
        <p:spPr>
          <a:xfrm>
            <a:off x="594360" y="1627632"/>
            <a:ext cx="2194560" cy="1051560"/>
          </a:xfrm>
          <a:prstGeom prst="rect">
            <a:avLst/>
          </a:prstGeom>
          <a:noFill/>
          <a:ln/>
        </p:spPr>
        <p:txBody>
          <a:bodyPr wrap="square" lIns="0" tIns="0" rIns="0" bIns="0" rtlCol="0" anchor="t"/>
          <a:lstStyle/>
          <a:p>
            <a:pPr indent="0" marL="0">
              <a:buNone/>
            </a:pPr>
            <a:r>
              <a:rPr lang="en-US" sz="1050" dirty="0">
                <a:solidFill>
                  <a:srgbClr val="1B2A22"/>
                </a:solidFill>
                <a:latin typeface="Calibri" pitchFamily="34" charset="0"/>
                <a:ea typeface="Calibri" pitchFamily="34" charset="-122"/>
                <a:cs typeface="Calibri" pitchFamily="34" charset="-120"/>
              </a:rPr>
              <a:t>Energia do relevo: quanto mais inclinado, maior a capacidade de transporte do escoamento.</a:t>
            </a:r>
            <a:endParaRPr lang="en-US" sz="1050" dirty="0"/>
          </a:p>
        </p:txBody>
      </p:sp>
      <p:sp>
        <p:nvSpPr>
          <p:cNvPr id="9" name="Text 6"/>
          <p:cNvSpPr txBox="1"/>
          <p:nvPr/>
        </p:nvSpPr>
        <p:spPr>
          <a:xfrm>
            <a:off x="2926080" y="1554480"/>
            <a:ext cx="365760" cy="548640"/>
          </a:xfrm>
          <a:prstGeom prst="rect">
            <a:avLst/>
          </a:prstGeom>
          <a:noFill/>
          <a:ln/>
        </p:spPr>
        <p:txBody>
          <a:bodyPr wrap="square" lIns="0" tIns="0" rIns="0" bIns="0" rtlCol="0" anchor="t"/>
          <a:lstStyle/>
          <a:p>
            <a:pPr algn="ctr" indent="0" marL="0">
              <a:buNone/>
            </a:pPr>
            <a:r>
              <a:rPr lang="en-US" sz="2600" b="1" dirty="0">
                <a:solidFill>
                  <a:srgbClr val="C65D3B"/>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3291840" y="914400"/>
            <a:ext cx="2468880" cy="1783080"/>
          </a:xfrm>
          <a:prstGeom prst="roundRect">
            <a:avLst>
              <a:gd name="adj" fmla="val 4103"/>
            </a:avLst>
          </a:prstGeom>
          <a:solidFill>
            <a:srgbClr val="EEF3EF"/>
          </a:solidFill>
          <a:ln w="12700">
            <a:solidFill>
              <a:srgbClr val="EEF3EF"/>
            </a:solidFill>
            <a:prstDash val="solid"/>
          </a:ln>
        </p:spPr>
      </p:sp>
      <p:sp>
        <p:nvSpPr>
          <p:cNvPr id="11" name="Text 8"/>
          <p:cNvSpPr txBox="1"/>
          <p:nvPr/>
        </p:nvSpPr>
        <p:spPr>
          <a:xfrm>
            <a:off x="3429000" y="987552"/>
            <a:ext cx="2194560" cy="365760"/>
          </a:xfrm>
          <a:prstGeom prst="rect">
            <a:avLst/>
          </a:prstGeom>
          <a:noFill/>
          <a:ln/>
        </p:spPr>
        <p:txBody>
          <a:bodyPr wrap="square" lIns="0" tIns="0" rIns="0" bIns="0" rtlCol="0" anchor="t"/>
          <a:lstStyle/>
          <a:p>
            <a:pPr indent="0" marL="0">
              <a:buNone/>
            </a:pPr>
            <a:r>
              <a:rPr lang="en-US" sz="1600" b="1" dirty="0">
                <a:solidFill>
                  <a:srgbClr val="2F6B4F"/>
                </a:solidFill>
                <a:latin typeface="Cambria" pitchFamily="34" charset="0"/>
                <a:ea typeface="Cambria" pitchFamily="34" charset="-122"/>
                <a:cs typeface="Cambria" pitchFamily="34" charset="-120"/>
              </a:rPr>
              <a:t>Solo nu</a:t>
            </a:r>
            <a:endParaRPr lang="en-US" sz="1600" dirty="0"/>
          </a:p>
        </p:txBody>
      </p:sp>
      <p:sp>
        <p:nvSpPr>
          <p:cNvPr id="12" name="Text 9"/>
          <p:cNvSpPr txBox="1"/>
          <p:nvPr/>
        </p:nvSpPr>
        <p:spPr>
          <a:xfrm>
            <a:off x="3429000" y="1325880"/>
            <a:ext cx="2194560" cy="274320"/>
          </a:xfrm>
          <a:prstGeom prst="rect">
            <a:avLst/>
          </a:prstGeom>
          <a:noFill/>
          <a:ln/>
        </p:spPr>
        <p:txBody>
          <a:bodyPr wrap="square" lIns="0" tIns="0" rIns="0" bIns="0" rtlCol="0" anchor="t"/>
          <a:lstStyle/>
          <a:p>
            <a:pPr indent="0" marL="0">
              <a:buNone/>
            </a:pPr>
            <a:r>
              <a:rPr lang="en-US" sz="1200" b="1" dirty="0">
                <a:solidFill>
                  <a:srgbClr val="C65D3B"/>
                </a:solidFill>
                <a:latin typeface="Calibri" pitchFamily="34" charset="0"/>
                <a:ea typeface="Calibri" pitchFamily="34" charset="-122"/>
                <a:cs typeface="Calibri" pitchFamily="34" charset="-120"/>
              </a:rPr>
              <a:t>3 faixas (tercis)</a:t>
            </a:r>
            <a:endParaRPr lang="en-US" sz="1200" dirty="0"/>
          </a:p>
        </p:txBody>
      </p:sp>
      <p:sp>
        <p:nvSpPr>
          <p:cNvPr id="13" name="Text 10"/>
          <p:cNvSpPr txBox="1"/>
          <p:nvPr/>
        </p:nvSpPr>
        <p:spPr>
          <a:xfrm>
            <a:off x="3429000" y="1627632"/>
            <a:ext cx="2194560" cy="1051560"/>
          </a:xfrm>
          <a:prstGeom prst="rect">
            <a:avLst/>
          </a:prstGeom>
          <a:noFill/>
          <a:ln/>
        </p:spPr>
        <p:txBody>
          <a:bodyPr wrap="square" lIns="0" tIns="0" rIns="0" bIns="0" rtlCol="0" anchor="t"/>
          <a:lstStyle/>
          <a:p>
            <a:pPr indent="0" marL="0">
              <a:buNone/>
            </a:pPr>
            <a:r>
              <a:rPr lang="en-US" sz="1050" dirty="0">
                <a:solidFill>
                  <a:srgbClr val="1B2A22"/>
                </a:solidFill>
                <a:latin typeface="Calibri" pitchFamily="34" charset="0"/>
                <a:ea typeface="Calibri" pitchFamily="34" charset="-122"/>
                <a:cs typeface="Calibri" pitchFamily="34" charset="-120"/>
              </a:rPr>
              <a:t>Tempo de solo descoberto: fração de cenas de satélite válidas em que a célula aparece exposta à chuva.</a:t>
            </a:r>
            <a:endParaRPr lang="en-US" sz="1050" dirty="0"/>
          </a:p>
        </p:txBody>
      </p:sp>
      <p:sp>
        <p:nvSpPr>
          <p:cNvPr id="14" name="Text 11"/>
          <p:cNvSpPr txBox="1"/>
          <p:nvPr/>
        </p:nvSpPr>
        <p:spPr>
          <a:xfrm>
            <a:off x="5760720" y="1554480"/>
            <a:ext cx="365760" cy="548640"/>
          </a:xfrm>
          <a:prstGeom prst="rect">
            <a:avLst/>
          </a:prstGeom>
          <a:noFill/>
          <a:ln/>
        </p:spPr>
        <p:txBody>
          <a:bodyPr wrap="square" lIns="0" tIns="0" rIns="0" bIns="0" rtlCol="0" anchor="t"/>
          <a:lstStyle/>
          <a:p>
            <a:pPr algn="ctr" indent="0" marL="0">
              <a:buNone/>
            </a:pPr>
            <a:r>
              <a:rPr lang="en-US" sz="2600" b="1" dirty="0">
                <a:solidFill>
                  <a:srgbClr val="C65D3B"/>
                </a:solidFill>
                <a:latin typeface="Calibri" pitchFamily="34" charset="0"/>
                <a:ea typeface="Calibri" pitchFamily="34" charset="-122"/>
                <a:cs typeface="Calibri" pitchFamily="34" charset="-120"/>
              </a:rPr>
              <a:t>×</a:t>
            </a:r>
            <a:endParaRPr lang="en-US" sz="2600" dirty="0"/>
          </a:p>
        </p:txBody>
      </p:sp>
      <p:sp>
        <p:nvSpPr>
          <p:cNvPr id="15" name="Shape 12"/>
          <p:cNvSpPr/>
          <p:nvPr/>
        </p:nvSpPr>
        <p:spPr>
          <a:xfrm>
            <a:off x="6126480" y="914400"/>
            <a:ext cx="2468880" cy="1783080"/>
          </a:xfrm>
          <a:prstGeom prst="roundRect">
            <a:avLst>
              <a:gd name="adj" fmla="val 4103"/>
            </a:avLst>
          </a:prstGeom>
          <a:solidFill>
            <a:srgbClr val="EEF3EF"/>
          </a:solidFill>
          <a:ln w="12700">
            <a:solidFill>
              <a:srgbClr val="EEF3EF"/>
            </a:solidFill>
            <a:prstDash val="solid"/>
          </a:ln>
        </p:spPr>
      </p:sp>
      <p:sp>
        <p:nvSpPr>
          <p:cNvPr id="16" name="Text 13"/>
          <p:cNvSpPr txBox="1"/>
          <p:nvPr/>
        </p:nvSpPr>
        <p:spPr>
          <a:xfrm>
            <a:off x="6263640" y="987552"/>
            <a:ext cx="2194560" cy="365760"/>
          </a:xfrm>
          <a:prstGeom prst="rect">
            <a:avLst/>
          </a:prstGeom>
          <a:noFill/>
          <a:ln/>
        </p:spPr>
        <p:txBody>
          <a:bodyPr wrap="square" lIns="0" tIns="0" rIns="0" bIns="0" rtlCol="0" anchor="t"/>
          <a:lstStyle/>
          <a:p>
            <a:pPr indent="0" marL="0">
              <a:buNone/>
            </a:pPr>
            <a:r>
              <a:rPr lang="en-US" sz="1600" b="1" dirty="0">
                <a:solidFill>
                  <a:srgbClr val="2F6B4F"/>
                </a:solidFill>
                <a:latin typeface="Cambria" pitchFamily="34" charset="0"/>
                <a:ea typeface="Cambria" pitchFamily="34" charset="-122"/>
                <a:cs typeface="Cambria" pitchFamily="34" charset="-120"/>
              </a:rPr>
              <a:t>Erodibilidade</a:t>
            </a:r>
            <a:endParaRPr lang="en-US" sz="1600" dirty="0"/>
          </a:p>
        </p:txBody>
      </p:sp>
      <p:sp>
        <p:nvSpPr>
          <p:cNvPr id="17" name="Text 14"/>
          <p:cNvSpPr txBox="1"/>
          <p:nvPr/>
        </p:nvSpPr>
        <p:spPr>
          <a:xfrm>
            <a:off x="6263640" y="1325880"/>
            <a:ext cx="2194560" cy="274320"/>
          </a:xfrm>
          <a:prstGeom prst="rect">
            <a:avLst/>
          </a:prstGeom>
          <a:noFill/>
          <a:ln/>
        </p:spPr>
        <p:txBody>
          <a:bodyPr wrap="square" lIns="0" tIns="0" rIns="0" bIns="0" rtlCol="0" anchor="t"/>
          <a:lstStyle/>
          <a:p>
            <a:pPr indent="0" marL="0">
              <a:buNone/>
            </a:pPr>
            <a:r>
              <a:rPr lang="en-US" sz="1200" b="1" dirty="0">
                <a:solidFill>
                  <a:srgbClr val="C65D3B"/>
                </a:solidFill>
                <a:latin typeface="Calibri" pitchFamily="34" charset="0"/>
                <a:ea typeface="Calibri" pitchFamily="34" charset="-122"/>
                <a:cs typeface="Calibri" pitchFamily="34" charset="-120"/>
              </a:rPr>
              <a:t>2 níveis</a:t>
            </a:r>
            <a:endParaRPr lang="en-US" sz="1200" dirty="0"/>
          </a:p>
        </p:txBody>
      </p:sp>
      <p:sp>
        <p:nvSpPr>
          <p:cNvPr id="18" name="Text 15"/>
          <p:cNvSpPr txBox="1"/>
          <p:nvPr/>
        </p:nvSpPr>
        <p:spPr>
          <a:xfrm>
            <a:off x="6263640" y="1627632"/>
            <a:ext cx="2194560" cy="1051560"/>
          </a:xfrm>
          <a:prstGeom prst="rect">
            <a:avLst/>
          </a:prstGeom>
          <a:noFill/>
          <a:ln/>
        </p:spPr>
        <p:txBody>
          <a:bodyPr wrap="square" lIns="0" tIns="0" rIns="0" bIns="0" rtlCol="0" anchor="t"/>
          <a:lstStyle/>
          <a:p>
            <a:pPr indent="0" marL="0">
              <a:buNone/>
            </a:pPr>
            <a:r>
              <a:rPr lang="en-US" sz="1050" dirty="0">
                <a:solidFill>
                  <a:srgbClr val="1B2A22"/>
                </a:solidFill>
                <a:latin typeface="Calibri" pitchFamily="34" charset="0"/>
                <a:ea typeface="Calibri" pitchFamily="34" charset="-122"/>
                <a:cs typeface="Calibri" pitchFamily="34" charset="-120"/>
              </a:rPr>
              <a:t>Carta Embrapa 2024. Nível 1: muito baixa a média (K ≤ 0,0285). Nível 2: alta e muito alta (K ≥ 0,0300); a extremamente alta entra por emenda em registro.</a:t>
            </a:r>
            <a:endParaRPr lang="en-US" sz="1050" dirty="0"/>
          </a:p>
        </p:txBody>
      </p:sp>
      <p:sp>
        <p:nvSpPr>
          <p:cNvPr id="19" name="Text 16"/>
          <p:cNvSpPr txBox="1"/>
          <p:nvPr/>
        </p:nvSpPr>
        <p:spPr>
          <a:xfrm>
            <a:off x="457200" y="2788920"/>
            <a:ext cx="8229600" cy="320040"/>
          </a:xfrm>
          <a:prstGeom prst="rect">
            <a:avLst/>
          </a:prstGeom>
          <a:noFill/>
          <a:ln/>
        </p:spPr>
        <p:txBody>
          <a:bodyPr wrap="square" lIns="0" tIns="0" rIns="0" bIns="0" rtlCol="0" anchor="t"/>
          <a:lstStyle/>
          <a:p>
            <a:pPr indent="0" marL="0">
              <a:buNone/>
            </a:pPr>
            <a:r>
              <a:rPr lang="en-US" sz="1400" b="1" dirty="0">
                <a:solidFill>
                  <a:srgbClr val="1B2A22"/>
                </a:solidFill>
                <a:latin typeface="Cambria" pitchFamily="34" charset="0"/>
                <a:ea typeface="Cambria" pitchFamily="34" charset="-122"/>
                <a:cs typeface="Cambria" pitchFamily="34" charset="-120"/>
              </a:rPr>
              <a:t>3 × 3 × 2 = 18 estratos × 4 polígonos (2 treino + 2 held-out) = 72</a:t>
            </a:r>
            <a:endParaRPr lang="en-US" sz="1400" dirty="0"/>
          </a:p>
        </p:txBody>
      </p:sp>
      <p:sp>
        <p:nvSpPr>
          <p:cNvPr id="20" name="Text 17"/>
          <p:cNvSpPr txBox="1"/>
          <p:nvPr/>
        </p:nvSpPr>
        <p:spPr>
          <a:xfrm>
            <a:off x="457200" y="3154680"/>
            <a:ext cx="8229600" cy="73152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Por que estratificar: sem isso o acaso concentraria a amostra nas combinações comuns e deixaria vazios os estratos raros, de maior interesse</a:t>
            </a:r>
            <a:endParaRPr lang="en-US" sz="1050" dirty="0"/>
          </a:p>
          <a:p>
            <a:pPr marL="342900" indent="-342900">
              <a:spcAft>
                <a:spcPts val="200"/>
              </a:spcAft>
              <a:buSzPct val="100000"/>
              <a:buChar char="•"/>
            </a:pPr>
            <a:r>
              <a:rPr lang="en-US" sz="1050" dirty="0">
                <a:solidFill>
                  <a:srgbClr val="1B2A22"/>
                </a:solidFill>
                <a:latin typeface="Calibri" pitchFamily="34" charset="0"/>
                <a:ea typeface="Calibri" pitchFamily="34" charset="-122"/>
                <a:cs typeface="Calibri" pitchFamily="34" charset="-120"/>
              </a:rPr>
              <a:t>Tercil: três grupos de tamanho aproximado; o corte é calculado sobre os candidatos da própria área e empates caem no grupo mais baixo</a:t>
            </a:r>
            <a:endParaRPr lang="en-US" sz="1050" dirty="0"/>
          </a:p>
        </p:txBody>
      </p:sp>
      <p:sp>
        <p:nvSpPr>
          <p:cNvPr id="21" name="Shape 18"/>
          <p:cNvSpPr/>
          <p:nvPr/>
        </p:nvSpPr>
        <p:spPr>
          <a:xfrm>
            <a:off x="457200" y="3886200"/>
            <a:ext cx="8229600" cy="822960"/>
          </a:xfrm>
          <a:prstGeom prst="roundRect">
            <a:avLst>
              <a:gd name="adj" fmla="val 8889"/>
            </a:avLst>
          </a:prstGeom>
          <a:solidFill>
            <a:srgbClr val="FBEFE6"/>
          </a:solidFill>
          <a:ln w="12700">
            <a:solidFill>
              <a:srgbClr val="FBEFE6"/>
            </a:solidFill>
            <a:prstDash val="solid"/>
          </a:ln>
        </p:spPr>
      </p:sp>
      <p:sp>
        <p:nvSpPr>
          <p:cNvPr id="22" name="Text 19"/>
          <p:cNvSpPr txBox="1"/>
          <p:nvPr/>
        </p:nvSpPr>
        <p:spPr>
          <a:xfrm>
            <a:off x="594360" y="3922776"/>
            <a:ext cx="7955280" cy="228600"/>
          </a:xfrm>
          <a:prstGeom prst="rect">
            <a:avLst/>
          </a:prstGeom>
          <a:noFill/>
          <a:ln/>
        </p:spPr>
        <p:txBody>
          <a:bodyPr wrap="square" lIns="0" tIns="0" rIns="0" bIns="0" rtlCol="0" anchor="t"/>
          <a:lstStyle/>
          <a:p>
            <a:pPr indent="0" marL="0">
              <a:buNone/>
            </a:pPr>
            <a:r>
              <a:rPr lang="en-US" sz="1150" b="1" dirty="0">
                <a:solidFill>
                  <a:srgbClr val="C65D3B"/>
                </a:solidFill>
                <a:latin typeface="Cambria" pitchFamily="34" charset="0"/>
                <a:ea typeface="Cambria" pitchFamily="34" charset="-122"/>
                <a:cs typeface="Cambria" pitchFamily="34" charset="-120"/>
              </a:rPr>
              <a:t>Onde entra a série temporal (Sentinel-2, 2016–2026)</a:t>
            </a:r>
            <a:endParaRPr lang="en-US" sz="1150" dirty="0"/>
          </a:p>
        </p:txBody>
      </p:sp>
      <p:sp>
        <p:nvSpPr>
          <p:cNvPr id="23" name="Text 20"/>
          <p:cNvSpPr txBox="1"/>
          <p:nvPr/>
        </p:nvSpPr>
        <p:spPr>
          <a:xfrm>
            <a:off x="594360" y="4160520"/>
            <a:ext cx="7955280" cy="548640"/>
          </a:xfrm>
          <a:prstGeom prst="rect">
            <a:avLst/>
          </a:prstGeom>
          <a:noFill/>
          <a:ln/>
        </p:spPr>
        <p:txBody>
          <a:bodyPr wrap="square" lIns="0" tIns="0" rIns="0" bIns="0" rtlCol="0" anchor="t"/>
          <a:lstStyle/>
          <a:p>
            <a:pPr indent="0" marL="0">
              <a:buNone/>
            </a:pPr>
            <a:r>
              <a:rPr lang="en-US" sz="1000" dirty="0">
                <a:solidFill>
                  <a:srgbClr val="1B2A22"/>
                </a:solidFill>
                <a:latin typeface="Calibri" pitchFamily="34" charset="0"/>
                <a:ea typeface="Calibri" pitchFamily="34" charset="-122"/>
                <a:cs typeface="Calibri" pitchFamily="34" charset="-120"/>
              </a:rPr>
              <a:t>1) Solo nu: fração de cenas válidas em que a célula está exposta = eixo dos estratos.  2) Preditores do modelo: persistência, maior sequência de solo nu e composto espectral.  3) Qualidade: mínimo de 6 observações válidas por célula e janela; abaixo disso a métrica é “indisponível”. A frequência de solo nu ainda não foi medida (falta a credencial do GEE).</a:t>
            </a:r>
            <a:endParaRPr lang="en-US" sz="1000" dirty="0"/>
          </a:p>
        </p:txBody>
      </p:sp>
      <p:sp>
        <p:nvSpPr>
          <p:cNvPr id="24" name="Text 21"/>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Refs.: D12, D09; Cochran (1977) Sampling Techniques; Coelho et al. (2024) Embrapa Solos, Documentos 246.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Dificuldade: o polígono precisa caber em um único imóvel</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7</a:t>
            </a:r>
            <a:endParaRPr lang="en-US" sz="1000" dirty="0"/>
          </a:p>
        </p:txBody>
      </p:sp>
      <p:graphicFrame>
        <p:nvGraphicFramePr>
          <p:cNvPr id="5" name="Chart 0" descr=""/>
          <p:cNvGraphicFramePr/>
          <p:nvPr/>
        </p:nvGraphicFramePr>
        <p:xfrm>
          <a:off x="457200" y="1005840"/>
          <a:ext cx="4754880" cy="33832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0" y="1097280"/>
            <a:ext cx="3291840" cy="32918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73.643 imóveis rurais no envelope da bacia</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Mediana de 11,7 ha: minifúndio do oeste do Paraná</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Teste por caixa envolvente: valores são limites superiores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72 autorizações em vez de 36</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Viés declarado: amostra tende a imóveis maiores, com outro manejo</a:t>
            </a:r>
            <a:endParaRPr lang="en-US" sz="1250" dirty="0"/>
          </a:p>
        </p:txBody>
      </p:sp>
      <p:sp>
        <p:nvSpPr>
          <p:cNvPr id="7" name="Text 3"/>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Fonte: decisão D16 (medição de 29/09/2026 sobre data/fundiario_brasil.db).</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Dificuldade: quantos voos e quanto tempo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8</a:t>
            </a:r>
            <a:endParaRPr lang="en-US" sz="1000" dirty="0"/>
          </a:p>
        </p:txBody>
      </p:sp>
      <p:sp>
        <p:nvSpPr>
          <p:cNvPr id="5" name="Shape 2"/>
          <p:cNvSpPr/>
          <p:nvPr/>
        </p:nvSpPr>
        <p:spPr>
          <a:xfrm>
            <a:off x="457200" y="1005840"/>
            <a:ext cx="1920240" cy="1188720"/>
          </a:xfrm>
          <a:prstGeom prst="roundRect">
            <a:avLst>
              <a:gd name="adj" fmla="val 6154"/>
            </a:avLst>
          </a:prstGeom>
          <a:solidFill>
            <a:srgbClr val="EEF3EF"/>
          </a:solidFill>
          <a:ln w="12700">
            <a:solidFill>
              <a:srgbClr val="EEF3EF"/>
            </a:solidFill>
            <a:prstDash val="solid"/>
          </a:ln>
        </p:spPr>
      </p:sp>
      <p:sp>
        <p:nvSpPr>
          <p:cNvPr id="6" name="Text 3"/>
          <p:cNvSpPr txBox="1"/>
          <p:nvPr/>
        </p:nvSpPr>
        <p:spPr>
          <a:xfrm>
            <a:off x="457200" y="1115568"/>
            <a:ext cx="1920240" cy="594360"/>
          </a:xfrm>
          <a:prstGeom prst="rect">
            <a:avLst/>
          </a:prstGeom>
          <a:noFill/>
          <a:ln/>
        </p:spPr>
        <p:txBody>
          <a:bodyPr wrap="square" lIns="0" tIns="0" rIns="0" bIns="0" rtlCol="0" anchor="t"/>
          <a:lstStyle/>
          <a:p>
            <a:pPr algn="ctr" indent="0" marL="0">
              <a:buNone/>
            </a:pPr>
            <a:r>
              <a:rPr lang="en-US" sz="2200" b="1" dirty="0">
                <a:solidFill>
                  <a:srgbClr val="C65D3B"/>
                </a:solidFill>
                <a:latin typeface="Cambria" pitchFamily="34" charset="0"/>
                <a:ea typeface="Cambria" pitchFamily="34" charset="-122"/>
                <a:cs typeface="Cambria" pitchFamily="34" charset="-120"/>
              </a:rPr>
              <a:t>72</a:t>
            </a:r>
            <a:endParaRPr lang="en-US" sz="2200" dirty="0"/>
          </a:p>
        </p:txBody>
      </p:sp>
      <p:sp>
        <p:nvSpPr>
          <p:cNvPr id="7" name="Text 4"/>
          <p:cNvSpPr txBox="1"/>
          <p:nvPr/>
        </p:nvSpPr>
        <p:spPr>
          <a:xfrm>
            <a:off x="548640" y="1719072"/>
            <a:ext cx="173736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missões de mapeamento, uma por polígono (eram 36)</a:t>
            </a:r>
            <a:endParaRPr lang="en-US" sz="1100" dirty="0"/>
          </a:p>
        </p:txBody>
      </p:sp>
      <p:sp>
        <p:nvSpPr>
          <p:cNvPr id="8" name="Shape 5"/>
          <p:cNvSpPr/>
          <p:nvPr/>
        </p:nvSpPr>
        <p:spPr>
          <a:xfrm>
            <a:off x="2514600" y="1005840"/>
            <a:ext cx="1920240" cy="1188720"/>
          </a:xfrm>
          <a:prstGeom prst="roundRect">
            <a:avLst>
              <a:gd name="adj" fmla="val 6154"/>
            </a:avLst>
          </a:prstGeom>
          <a:solidFill>
            <a:srgbClr val="EEF3EF"/>
          </a:solidFill>
          <a:ln w="12700">
            <a:solidFill>
              <a:srgbClr val="EEF3EF"/>
            </a:solidFill>
            <a:prstDash val="solid"/>
          </a:ln>
        </p:spPr>
      </p:sp>
      <p:sp>
        <p:nvSpPr>
          <p:cNvPr id="9" name="Text 6"/>
          <p:cNvSpPr txBox="1"/>
          <p:nvPr/>
        </p:nvSpPr>
        <p:spPr>
          <a:xfrm>
            <a:off x="2514600" y="1115568"/>
            <a:ext cx="1920240" cy="594360"/>
          </a:xfrm>
          <a:prstGeom prst="rect">
            <a:avLst/>
          </a:prstGeom>
          <a:noFill/>
          <a:ln/>
        </p:spPr>
        <p:txBody>
          <a:bodyPr wrap="square" lIns="0" tIns="0" rIns="0" bIns="0" rtlCol="0" anchor="t"/>
          <a:lstStyle/>
          <a:p>
            <a:pPr algn="ctr" indent="0" marL="0">
              <a:buNone/>
            </a:pPr>
            <a:r>
              <a:rPr lang="en-US" sz="2200" b="1" dirty="0">
                <a:solidFill>
                  <a:srgbClr val="2F6B4F"/>
                </a:solidFill>
                <a:latin typeface="Cambria" pitchFamily="34" charset="0"/>
                <a:ea typeface="Cambria" pitchFamily="34" charset="-122"/>
                <a:cs typeface="Cambria" pitchFamily="34" charset="-120"/>
              </a:rPr>
              <a:t>≈ 12</a:t>
            </a:r>
            <a:endParaRPr lang="en-US" sz="2200" dirty="0"/>
          </a:p>
        </p:txBody>
      </p:sp>
      <p:sp>
        <p:nvSpPr>
          <p:cNvPr id="10" name="Text 7"/>
          <p:cNvSpPr txBox="1"/>
          <p:nvPr/>
        </p:nvSpPr>
        <p:spPr>
          <a:xfrm>
            <a:off x="2606040" y="1719072"/>
            <a:ext cx="173736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jornadas, com até 6 polígonos e 3 baterias cada (proposta)</a:t>
            </a:r>
            <a:endParaRPr lang="en-US" sz="1100" dirty="0"/>
          </a:p>
        </p:txBody>
      </p:sp>
      <p:sp>
        <p:nvSpPr>
          <p:cNvPr id="11" name="Shape 8"/>
          <p:cNvSpPr/>
          <p:nvPr/>
        </p:nvSpPr>
        <p:spPr>
          <a:xfrm>
            <a:off x="4572000" y="1005840"/>
            <a:ext cx="1920240" cy="1188720"/>
          </a:xfrm>
          <a:prstGeom prst="roundRect">
            <a:avLst>
              <a:gd name="adj" fmla="val 6154"/>
            </a:avLst>
          </a:prstGeom>
          <a:solidFill>
            <a:srgbClr val="EEF3EF"/>
          </a:solidFill>
          <a:ln w="12700">
            <a:solidFill>
              <a:srgbClr val="EEF3EF"/>
            </a:solidFill>
            <a:prstDash val="solid"/>
          </a:ln>
        </p:spPr>
      </p:sp>
      <p:sp>
        <p:nvSpPr>
          <p:cNvPr id="12" name="Text 9"/>
          <p:cNvSpPr txBox="1"/>
          <p:nvPr/>
        </p:nvSpPr>
        <p:spPr>
          <a:xfrm>
            <a:off x="4572000" y="1115568"/>
            <a:ext cx="1920240" cy="594360"/>
          </a:xfrm>
          <a:prstGeom prst="rect">
            <a:avLst/>
          </a:prstGeom>
          <a:noFill/>
          <a:ln/>
        </p:spPr>
        <p:txBody>
          <a:bodyPr wrap="square" lIns="0" tIns="0" rIns="0" bIns="0" rtlCol="0" anchor="t"/>
          <a:lstStyle/>
          <a:p>
            <a:pPr algn="ctr" indent="0" marL="0">
              <a:buNone/>
            </a:pPr>
            <a:r>
              <a:rPr lang="en-US" sz="2200" b="1" dirty="0">
                <a:solidFill>
                  <a:srgbClr val="2F6B4F"/>
                </a:solidFill>
                <a:latin typeface="Cambria" pitchFamily="34" charset="0"/>
                <a:ea typeface="Cambria" pitchFamily="34" charset="-122"/>
                <a:cs typeface="Cambria" pitchFamily="34" charset="-120"/>
              </a:rPr>
              <a:t>≈ 3 min</a:t>
            </a:r>
            <a:endParaRPr lang="en-US" sz="2200" dirty="0"/>
          </a:p>
        </p:txBody>
      </p:sp>
      <p:sp>
        <p:nvSpPr>
          <p:cNvPr id="13" name="Text 10"/>
          <p:cNvSpPr txBox="1"/>
          <p:nvPr/>
        </p:nvSpPr>
        <p:spPr>
          <a:xfrm>
            <a:off x="4663440" y="1719072"/>
            <a:ext cx="173736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de mapeamento por polígono, mais curvas (plano de voo)</a:t>
            </a:r>
            <a:endParaRPr lang="en-US" sz="1100" dirty="0"/>
          </a:p>
        </p:txBody>
      </p:sp>
      <p:sp>
        <p:nvSpPr>
          <p:cNvPr id="14" name="Shape 11"/>
          <p:cNvSpPr/>
          <p:nvPr/>
        </p:nvSpPr>
        <p:spPr>
          <a:xfrm>
            <a:off x="6629400" y="1005840"/>
            <a:ext cx="2057400" cy="1188720"/>
          </a:xfrm>
          <a:prstGeom prst="roundRect">
            <a:avLst>
              <a:gd name="adj" fmla="val 6154"/>
            </a:avLst>
          </a:prstGeom>
          <a:solidFill>
            <a:srgbClr val="EEF3EF"/>
          </a:solidFill>
          <a:ln w="12700">
            <a:solidFill>
              <a:srgbClr val="EEF3EF"/>
            </a:solidFill>
            <a:prstDash val="solid"/>
          </a:ln>
        </p:spPr>
      </p:sp>
      <p:sp>
        <p:nvSpPr>
          <p:cNvPr id="15" name="Text 12"/>
          <p:cNvSpPr txBox="1"/>
          <p:nvPr/>
        </p:nvSpPr>
        <p:spPr>
          <a:xfrm>
            <a:off x="6629400" y="1115568"/>
            <a:ext cx="2057400" cy="594360"/>
          </a:xfrm>
          <a:prstGeom prst="rect">
            <a:avLst/>
          </a:prstGeom>
          <a:noFill/>
          <a:ln/>
        </p:spPr>
        <p:txBody>
          <a:bodyPr wrap="square" lIns="0" tIns="0" rIns="0" bIns="0" rtlCol="0" anchor="t"/>
          <a:lstStyle/>
          <a:p>
            <a:pPr algn="ctr" indent="0" marL="0">
              <a:buNone/>
            </a:pPr>
            <a:r>
              <a:rPr lang="en-US" sz="2200" b="1" dirty="0">
                <a:solidFill>
                  <a:srgbClr val="C65D3B"/>
                </a:solidFill>
                <a:latin typeface="Cambria" pitchFamily="34" charset="0"/>
                <a:ea typeface="Cambria" pitchFamily="34" charset="-122"/>
                <a:cs typeface="Cambria" pitchFamily="34" charset="-120"/>
              </a:rPr>
              <a:t>72</a:t>
            </a:r>
            <a:endParaRPr lang="en-US" sz="2200" dirty="0"/>
          </a:p>
        </p:txBody>
      </p:sp>
      <p:sp>
        <p:nvSpPr>
          <p:cNvPr id="16" name="Text 13"/>
          <p:cNvSpPr txBox="1"/>
          <p:nvPr/>
        </p:nvSpPr>
        <p:spPr>
          <a:xfrm>
            <a:off x="6720840" y="1719072"/>
            <a:ext cx="1874520" cy="457200"/>
          </a:xfrm>
          <a:prstGeom prst="rect">
            <a:avLst/>
          </a:prstGeom>
          <a:noFill/>
          <a:ln/>
        </p:spPr>
        <p:txBody>
          <a:bodyPr wrap="square" lIns="0" tIns="0" rIns="0" bIns="0" rtlCol="0" anchor="t"/>
          <a:lstStyle/>
          <a:p>
            <a:pPr algn="ctr" indent="0" marL="0">
              <a:buNone/>
            </a:pPr>
            <a:r>
              <a:rPr lang="en-US" sz="1100" dirty="0">
                <a:solidFill>
                  <a:srgbClr val="52605A"/>
                </a:solidFill>
                <a:latin typeface="Calibri" pitchFamily="34" charset="0"/>
                <a:ea typeface="Calibri" pitchFamily="34" charset="-122"/>
                <a:cs typeface="Calibri" pitchFamily="34" charset="-120"/>
              </a:rPr>
              <a:t>autorizações de proprietário</a:t>
            </a:r>
            <a:endParaRPr lang="en-US" sz="1100" dirty="0"/>
          </a:p>
        </p:txBody>
      </p:sp>
      <p:sp>
        <p:nvSpPr>
          <p:cNvPr id="17" name="Shape 14"/>
          <p:cNvSpPr/>
          <p:nvPr/>
        </p:nvSpPr>
        <p:spPr>
          <a:xfrm>
            <a:off x="2144374" y="2267712"/>
            <a:ext cx="4855251" cy="1042416"/>
          </a:xfrm>
          <a:prstGeom prst="rect">
            <a:avLst/>
          </a:prstGeom>
          <a:solidFill>
            <a:srgbClr val="FFFFFF"/>
          </a:solidFill>
          <a:ln w="9525">
            <a:solidFill>
              <a:srgbClr val="B8C4BC"/>
            </a:solidFill>
            <a:prstDash val="solid"/>
          </a:ln>
        </p:spPr>
      </p:sp>
      <p:pic>
        <p:nvPicPr>
          <p:cNvPr id="18" name="Image 0" descr="img/camp_cards.png">    </p:cNvPr>
          <p:cNvPicPr>
            <a:picLocks noChangeAspect="1"/>
          </p:cNvPicPr>
          <p:nvPr/>
        </p:nvPicPr>
        <p:blipFill>
          <a:blip r:embed="rId1"/>
          <a:stretch>
            <a:fillRect/>
          </a:stretch>
        </p:blipFill>
        <p:spPr>
          <a:xfrm>
            <a:off x="2162662" y="2286000"/>
            <a:ext cx="4818675" cy="1005840"/>
          </a:xfrm>
          <a:prstGeom prst="rect">
            <a:avLst/>
          </a:prstGeom>
        </p:spPr>
      </p:pic>
      <p:sp>
        <p:nvSpPr>
          <p:cNvPr id="19" name="Text 15"/>
          <p:cNvSpPr txBox="1"/>
          <p:nvPr/>
        </p:nvSpPr>
        <p:spPr>
          <a:xfrm>
            <a:off x="457200" y="3337560"/>
            <a:ext cx="8229600" cy="137160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B2A22"/>
                </a:solidFill>
                <a:latin typeface="Calibri" pitchFamily="34" charset="0"/>
                <a:ea typeface="Calibri" pitchFamily="34" charset="-122"/>
                <a:cs typeface="Calibri" pitchFamily="34" charset="-120"/>
              </a:rPr>
              <a:t>Aeronave: Spectral 2 (Nuvem UAV), câmera MicaSense Altum; 3 baterias. Plano: 4 cm de GSD, 92,8 m de altitude, 8,7 a 9,2 m/s (medido), cerca de 7 linhas e 123 disparos por polígono</a:t>
            </a:r>
            <a:endParaRPr lang="en-US" sz="1000" dirty="0"/>
          </a:p>
          <a:p>
            <a:pPr marL="342900" indent="-342900">
              <a:spcAft>
                <a:spcPts val="200"/>
              </a:spcAft>
              <a:buSzPct val="100000"/>
              <a:buChar char="•"/>
            </a:pPr>
            <a:r>
              <a:rPr lang="en-US" sz="1000" dirty="0">
                <a:solidFill>
                  <a:srgbClr val="1B2A22"/>
                </a:solidFill>
                <a:latin typeface="Calibri" pitchFamily="34" charset="0"/>
                <a:ea typeface="Calibri" pitchFamily="34" charset="-122"/>
                <a:cs typeface="Calibri" pitchFamily="34" charset="-120"/>
              </a:rPr>
              <a:t>Por que 72: 18 estratos × 4 polígonos (2 treino + 2 teste); a área total, cerca de 361 ha, é o que o custo de voo suporta e rende cerca de 1.845 unidades independentes (D24)</a:t>
            </a:r>
            <a:endParaRPr lang="en-US" sz="1000" dirty="0"/>
          </a:p>
          <a:p>
            <a:pPr marL="342900" indent="-342900">
              <a:spcAft>
                <a:spcPts val="200"/>
              </a:spcAft>
              <a:buSzPct val="100000"/>
              <a:buChar char="•"/>
            </a:pPr>
            <a:r>
              <a:rPr lang="en-US" sz="1000" dirty="0">
                <a:solidFill>
                  <a:srgbClr val="1B2A22"/>
                </a:solidFill>
                <a:latin typeface="Calibri" pitchFamily="34" charset="0"/>
                <a:ea typeface="Calibri" pitchFamily="34" charset="-122"/>
                <a:cs typeface="Calibri" pitchFamily="34" charset="-120"/>
              </a:rPr>
              <a:t>Tempo: pelo menos 3,6 h de mapeamento nos 72; 6 polígonos por jornada = 2 por bateria, compatível com as missões já voadas (9 a 13 min); autonomia útil a confirmar. Produtividade medida: 2,3 ha/min (Missão 009) e 0,53 (000)</a:t>
            </a:r>
            <a:endParaRPr lang="en-US" sz="1000" dirty="0"/>
          </a:p>
        </p:txBody>
      </p:sp>
      <p:sp>
        <p:nvSpPr>
          <p:cNvPr id="20" name="Text 16"/>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Fonte: D16; plano de voo (exportação NControl); cobertura_voos.geojson (Missões 000 e 009). Jornadas: planejador (teto padrão 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Voo cego, delineação e rótulo por fração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9</a:t>
            </a:r>
            <a:endParaRPr lang="en-US" sz="1000" dirty="0"/>
          </a:p>
        </p:txBody>
      </p:sp>
      <p:sp>
        <p:nvSpPr>
          <p:cNvPr id="5" name="Shape 2"/>
          <p:cNvSpPr/>
          <p:nvPr/>
        </p:nvSpPr>
        <p:spPr>
          <a:xfrm>
            <a:off x="472440" y="987552"/>
            <a:ext cx="8199120" cy="1225296"/>
          </a:xfrm>
          <a:prstGeom prst="rect">
            <a:avLst/>
          </a:prstGeom>
          <a:solidFill>
            <a:srgbClr val="FFFFFF"/>
          </a:solidFill>
          <a:ln w="9525">
            <a:solidFill>
              <a:srgbClr val="B8C4BC"/>
            </a:solidFill>
            <a:prstDash val="solid"/>
          </a:ln>
        </p:spPr>
      </p:sp>
      <p:pic>
        <p:nvPicPr>
          <p:cNvPr id="6" name="Image 0" descr="img/camp_topo.png">    </p:cNvPr>
          <p:cNvPicPr>
            <a:picLocks noChangeAspect="1"/>
          </p:cNvPicPr>
          <p:nvPr/>
        </p:nvPicPr>
        <p:blipFill>
          <a:blip r:embed="rId1"/>
          <a:stretch>
            <a:fillRect/>
          </a:stretch>
        </p:blipFill>
        <p:spPr>
          <a:xfrm>
            <a:off x="490728" y="1005840"/>
            <a:ext cx="8162544" cy="1188720"/>
          </a:xfrm>
          <a:prstGeom prst="rect">
            <a:avLst/>
          </a:prstGeom>
        </p:spPr>
      </p:pic>
      <p:sp>
        <p:nvSpPr>
          <p:cNvPr id="7" name="Text 3"/>
          <p:cNvSpPr txBox="1"/>
          <p:nvPr/>
        </p:nvSpPr>
        <p:spPr>
          <a:xfrm>
            <a:off x="457200" y="2423160"/>
            <a:ext cx="8229600" cy="21945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Alvo primário: fração da célula de 10 m delineada como erodida, de 0 a 1 (D26); binário ≥ 0,25 é derivado</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Intérprete cego: recebe só um código opaco, sem estrato nem papel (exportação cega por perfil)</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Polígonos sorteados pelos estratos biofísicos, nunca pelo rastreio espectral (evita circularidade)</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Planos de voo só com terreno real (Copernicus 30 m); os de demonstração são marcados como sintéticos e não voáveis</a:t>
            </a:r>
            <a:endParaRPr lang="en-US" sz="1300" dirty="0"/>
          </a:p>
        </p:txBody>
      </p:sp>
      <p:sp>
        <p:nvSpPr>
          <p:cNvPr id="8" name="Text 4"/>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Refs.: D26, D16, D02; Altman &amp; Royston (2006) sobre dicotomizar variável contínua.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Âncora de campo com o SAREL Coletor</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10</a:t>
            </a:r>
            <a:endParaRPr lang="en-US" sz="1000" dirty="0"/>
          </a:p>
        </p:txBody>
      </p:sp>
      <p:sp>
        <p:nvSpPr>
          <p:cNvPr id="5" name="Shape 2"/>
          <p:cNvSpPr/>
          <p:nvPr/>
        </p:nvSpPr>
        <p:spPr>
          <a:xfrm>
            <a:off x="457200" y="1097280"/>
            <a:ext cx="2606040" cy="1828800"/>
          </a:xfrm>
          <a:prstGeom prst="roundRect">
            <a:avLst>
              <a:gd name="adj" fmla="val 4000"/>
            </a:avLst>
          </a:prstGeom>
          <a:solidFill>
            <a:srgbClr val="EEF3EF"/>
          </a:solidFill>
          <a:ln w="12700">
            <a:solidFill>
              <a:srgbClr val="EEF3EF"/>
            </a:solidFill>
            <a:prstDash val="solid"/>
          </a:ln>
        </p:spPr>
      </p:sp>
      <p:sp>
        <p:nvSpPr>
          <p:cNvPr id="6" name="Text 3"/>
          <p:cNvSpPr txBox="1"/>
          <p:nvPr/>
        </p:nvSpPr>
        <p:spPr>
          <a:xfrm>
            <a:off x="640080" y="1207008"/>
            <a:ext cx="2240280" cy="457200"/>
          </a:xfrm>
          <a:prstGeom prst="rect">
            <a:avLst/>
          </a:prstGeom>
          <a:noFill/>
          <a:ln/>
        </p:spPr>
        <p:txBody>
          <a:bodyPr wrap="square" lIns="0" tIns="0" rIns="0" bIns="0" rtlCol="0" anchor="t"/>
          <a:lstStyle/>
          <a:p>
            <a:pPr indent="0" marL="0">
              <a:buNone/>
            </a:pPr>
            <a:r>
              <a:rPr lang="en-US" sz="1700" b="1" dirty="0">
                <a:solidFill>
                  <a:srgbClr val="2F6B4F"/>
                </a:solidFill>
                <a:latin typeface="Cambria" pitchFamily="34" charset="0"/>
                <a:ea typeface="Cambria" pitchFamily="34" charset="-122"/>
                <a:cs typeface="Cambria" pitchFamily="34" charset="-120"/>
              </a:rPr>
              <a:t>60 a 80 pontos</a:t>
            </a:r>
            <a:endParaRPr lang="en-US" sz="1700" dirty="0"/>
          </a:p>
        </p:txBody>
      </p:sp>
      <p:sp>
        <p:nvSpPr>
          <p:cNvPr id="7" name="Text 4"/>
          <p:cNvSpPr txBox="1"/>
          <p:nvPr/>
        </p:nvSpPr>
        <p:spPr>
          <a:xfrm>
            <a:off x="640080" y="1737360"/>
            <a:ext cx="2240280" cy="1143000"/>
          </a:xfrm>
          <a:prstGeom prst="rect">
            <a:avLst/>
          </a:prstGeom>
          <a:noFill/>
          <a:ln/>
        </p:spPr>
        <p:txBody>
          <a:bodyPr wrap="square" lIns="0" tIns="0" rIns="0" bIns="0" rtlCol="0" anchor="t"/>
          <a:lstStyle/>
          <a:p>
            <a:pPr indent="0" marL="0">
              <a:buNone/>
            </a:pPr>
            <a:r>
              <a:rPr lang="en-US" sz="1300" dirty="0">
                <a:solidFill>
                  <a:srgbClr val="1B2A22"/>
                </a:solidFill>
                <a:latin typeface="Calibri" pitchFamily="34" charset="0"/>
                <a:ea typeface="Calibri" pitchFamily="34" charset="-122"/>
                <a:cs typeface="Calibri" pitchFamily="34" charset="-120"/>
              </a:rPr>
              <a:t>dispersos pela bacia, fora dos polígonos, com probabilidade de inclusão conhecida</a:t>
            </a:r>
            <a:endParaRPr lang="en-US" sz="1300" dirty="0"/>
          </a:p>
        </p:txBody>
      </p:sp>
      <p:sp>
        <p:nvSpPr>
          <p:cNvPr id="8" name="Shape 5"/>
          <p:cNvSpPr/>
          <p:nvPr/>
        </p:nvSpPr>
        <p:spPr>
          <a:xfrm>
            <a:off x="3246120" y="1097280"/>
            <a:ext cx="2606040" cy="1828800"/>
          </a:xfrm>
          <a:prstGeom prst="roundRect">
            <a:avLst>
              <a:gd name="adj" fmla="val 4000"/>
            </a:avLst>
          </a:prstGeom>
          <a:solidFill>
            <a:srgbClr val="EEF3EF"/>
          </a:solidFill>
          <a:ln w="12700">
            <a:solidFill>
              <a:srgbClr val="EEF3EF"/>
            </a:solidFill>
            <a:prstDash val="solid"/>
          </a:ln>
        </p:spPr>
      </p:sp>
      <p:sp>
        <p:nvSpPr>
          <p:cNvPr id="9" name="Text 6"/>
          <p:cNvSpPr txBox="1"/>
          <p:nvPr/>
        </p:nvSpPr>
        <p:spPr>
          <a:xfrm>
            <a:off x="3429000" y="1207008"/>
            <a:ext cx="2240280" cy="457200"/>
          </a:xfrm>
          <a:prstGeom prst="rect">
            <a:avLst/>
          </a:prstGeom>
          <a:noFill/>
          <a:ln/>
        </p:spPr>
        <p:txBody>
          <a:bodyPr wrap="square" lIns="0" tIns="0" rIns="0" bIns="0" rtlCol="0" anchor="t"/>
          <a:lstStyle/>
          <a:p>
            <a:pPr indent="0" marL="0">
              <a:buNone/>
            </a:pPr>
            <a:r>
              <a:rPr lang="en-US" sz="1700" b="1" dirty="0">
                <a:solidFill>
                  <a:srgbClr val="2F6B4F"/>
                </a:solidFill>
                <a:latin typeface="Cambria" pitchFamily="34" charset="0"/>
                <a:ea typeface="Cambria" pitchFamily="34" charset="-122"/>
                <a:cs typeface="Cambria" pitchFamily="34" charset="-120"/>
              </a:rPr>
              <a:t>2 ondas</a:t>
            </a:r>
            <a:endParaRPr lang="en-US" sz="1700" dirty="0"/>
          </a:p>
        </p:txBody>
      </p:sp>
      <p:sp>
        <p:nvSpPr>
          <p:cNvPr id="10" name="Text 7"/>
          <p:cNvSpPr txBox="1"/>
          <p:nvPr/>
        </p:nvSpPr>
        <p:spPr>
          <a:xfrm>
            <a:off x="3429000" y="1737360"/>
            <a:ext cx="2240280" cy="1143000"/>
          </a:xfrm>
          <a:prstGeom prst="rect">
            <a:avLst/>
          </a:prstGeom>
          <a:noFill/>
          <a:ln/>
        </p:spPr>
        <p:txBody>
          <a:bodyPr wrap="square" lIns="0" tIns="0" rIns="0" bIns="0" rtlCol="0" anchor="t"/>
          <a:lstStyle/>
          <a:p>
            <a:pPr indent="0" marL="0">
              <a:buNone/>
            </a:pPr>
            <a:r>
              <a:rPr lang="en-US" sz="1300" dirty="0">
                <a:solidFill>
                  <a:srgbClr val="1B2A22"/>
                </a:solidFill>
                <a:latin typeface="Calibri" pitchFamily="34" charset="0"/>
                <a:ea typeface="Calibri" pitchFamily="34" charset="-122"/>
                <a:cs typeface="Calibri" pitchFamily="34" charset="-120"/>
              </a:rPr>
              <a:t>os 30 primeiros pontos são lote piloto: validam o protocolo e medem a acurácia do aparelho</a:t>
            </a:r>
            <a:endParaRPr lang="en-US" sz="1300" dirty="0"/>
          </a:p>
        </p:txBody>
      </p:sp>
      <p:sp>
        <p:nvSpPr>
          <p:cNvPr id="11" name="Shape 8"/>
          <p:cNvSpPr/>
          <p:nvPr/>
        </p:nvSpPr>
        <p:spPr>
          <a:xfrm>
            <a:off x="6035040" y="1097280"/>
            <a:ext cx="2606040" cy="1828800"/>
          </a:xfrm>
          <a:prstGeom prst="roundRect">
            <a:avLst>
              <a:gd name="adj" fmla="val 4000"/>
            </a:avLst>
          </a:prstGeom>
          <a:solidFill>
            <a:srgbClr val="EEF3EF"/>
          </a:solidFill>
          <a:ln w="12700">
            <a:solidFill>
              <a:srgbClr val="EEF3EF"/>
            </a:solidFill>
            <a:prstDash val="solid"/>
          </a:ln>
        </p:spPr>
      </p:sp>
      <p:sp>
        <p:nvSpPr>
          <p:cNvPr id="12" name="Text 9"/>
          <p:cNvSpPr txBox="1"/>
          <p:nvPr/>
        </p:nvSpPr>
        <p:spPr>
          <a:xfrm>
            <a:off x="6217920" y="1207008"/>
            <a:ext cx="2240280" cy="457200"/>
          </a:xfrm>
          <a:prstGeom prst="rect">
            <a:avLst/>
          </a:prstGeom>
          <a:noFill/>
          <a:ln/>
        </p:spPr>
        <p:txBody>
          <a:bodyPr wrap="square" lIns="0" tIns="0" rIns="0" bIns="0" rtlCol="0" anchor="t"/>
          <a:lstStyle/>
          <a:p>
            <a:pPr indent="0" marL="0">
              <a:buNone/>
            </a:pPr>
            <a:r>
              <a:rPr lang="en-US" sz="1700" b="1" dirty="0">
                <a:solidFill>
                  <a:srgbClr val="2F6B4F"/>
                </a:solidFill>
                <a:latin typeface="Cambria" pitchFamily="34" charset="0"/>
                <a:ea typeface="Cambria" pitchFamily="34" charset="-122"/>
                <a:cs typeface="Cambria" pitchFamily="34" charset="-120"/>
              </a:rPr>
              <a:t>Função</a:t>
            </a:r>
            <a:endParaRPr lang="en-US" sz="1700" dirty="0"/>
          </a:p>
        </p:txBody>
      </p:sp>
      <p:sp>
        <p:nvSpPr>
          <p:cNvPr id="13" name="Text 10"/>
          <p:cNvSpPr txBox="1"/>
          <p:nvPr/>
        </p:nvSpPr>
        <p:spPr>
          <a:xfrm>
            <a:off x="6217920" y="1737360"/>
            <a:ext cx="2240280" cy="1143000"/>
          </a:xfrm>
          <a:prstGeom prst="rect">
            <a:avLst/>
          </a:prstGeom>
          <a:noFill/>
          <a:ln/>
        </p:spPr>
        <p:txBody>
          <a:bodyPr wrap="square" lIns="0" tIns="0" rIns="0" bIns="0" rtlCol="0" anchor="t"/>
          <a:lstStyle/>
          <a:p>
            <a:pPr indent="0" marL="0">
              <a:buNone/>
            </a:pPr>
            <a:r>
              <a:rPr lang="en-US" sz="1300" dirty="0">
                <a:solidFill>
                  <a:srgbClr val="1B2A22"/>
                </a:solidFill>
                <a:latin typeface="Calibri" pitchFamily="34" charset="0"/>
                <a:ea typeface="Calibri" pitchFamily="34" charset="-122"/>
                <a:cs typeface="Calibri" pitchFamily="34" charset="-120"/>
              </a:rPr>
              <a:t>estimar a prevalência real e calibrar a posição; não é para treinar o modelo</a:t>
            </a:r>
            <a:endParaRPr lang="en-US" sz="1300" dirty="0"/>
          </a:p>
        </p:txBody>
      </p:sp>
      <p:sp>
        <p:nvSpPr>
          <p:cNvPr id="14" name="Text 11"/>
          <p:cNvSpPr txBox="1"/>
          <p:nvPr/>
        </p:nvSpPr>
        <p:spPr>
          <a:xfrm>
            <a:off x="457200" y="3154680"/>
            <a:ext cx="8229600" cy="14630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Instrumento: SAREL Coletor (Android), em substituição ao KoboCollect</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Fotointerpretação (Fase A) aposentada: o rótulo centimétrico do voo é mais fiel à mancha contínua da erosão</a:t>
            </a:r>
            <a:endParaRPr lang="en-US" sz="1300" dirty="0"/>
          </a:p>
          <a:p>
            <a:pPr marL="342900" indent="-342900">
              <a:spcAft>
                <a:spcPts val="700"/>
              </a:spcAft>
              <a:buSzPct val="100000"/>
              <a:buChar char="•"/>
            </a:pPr>
            <a:r>
              <a:rPr lang="en-US" sz="1300" dirty="0">
                <a:solidFill>
                  <a:srgbClr val="1B2A22"/>
                </a:solidFill>
                <a:latin typeface="Calibri" pitchFamily="34" charset="0"/>
                <a:ea typeface="Calibri" pitchFamily="34" charset="-122"/>
                <a:cs typeface="Calibri" pitchFamily="34" charset="-120"/>
              </a:rPr>
              <a:t>Estimador ponderado pela probabilidade de inclusão (Horvitz-Thompson)</a:t>
            </a:r>
            <a:endParaRPr lang="en-US" sz="1300" dirty="0"/>
          </a:p>
        </p:txBody>
      </p:sp>
      <p:sp>
        <p:nvSpPr>
          <p:cNvPr id="15" name="Text 12"/>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Refs.: D16, D23; Olofsson et al. (2014), amostragem e estimativa de área em sensoriamento remoto.</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Avaliação única, com o critério fixado antes</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11</a:t>
            </a:r>
            <a:endParaRPr lang="en-US" sz="1000" dirty="0"/>
          </a:p>
        </p:txBody>
      </p:sp>
      <p:sp>
        <p:nvSpPr>
          <p:cNvPr id="5" name="Shape 2"/>
          <p:cNvSpPr/>
          <p:nvPr/>
        </p:nvSpPr>
        <p:spPr>
          <a:xfrm>
            <a:off x="438912" y="941832"/>
            <a:ext cx="3831336" cy="3310816"/>
          </a:xfrm>
          <a:prstGeom prst="rect">
            <a:avLst/>
          </a:prstGeom>
          <a:solidFill>
            <a:srgbClr val="FFFFFF"/>
          </a:solidFill>
          <a:ln w="9525">
            <a:solidFill>
              <a:srgbClr val="B8C4BC"/>
            </a:solidFill>
            <a:prstDash val="solid"/>
          </a:ln>
        </p:spPr>
      </p:sp>
      <p:pic>
        <p:nvPicPr>
          <p:cNvPr id="6" name="Image 0" descr="img/decisoes.png">    </p:cNvPr>
          <p:cNvPicPr>
            <a:picLocks noChangeAspect="1"/>
          </p:cNvPicPr>
          <p:nvPr/>
        </p:nvPicPr>
        <p:blipFill>
          <a:blip r:embed="rId1"/>
          <a:stretch>
            <a:fillRect/>
          </a:stretch>
        </p:blipFill>
        <p:spPr>
          <a:xfrm>
            <a:off x="457200" y="960120"/>
            <a:ext cx="3794760" cy="3274240"/>
          </a:xfrm>
          <a:prstGeom prst="rect">
            <a:avLst/>
          </a:prstGeom>
        </p:spPr>
      </p:pic>
      <p:sp>
        <p:nvSpPr>
          <p:cNvPr id="7" name="Text 3"/>
          <p:cNvSpPr txBox="1"/>
          <p:nvPr/>
        </p:nvSpPr>
        <p:spPr>
          <a:xfrm>
            <a:off x="4526280" y="1005840"/>
            <a:ext cx="4251960" cy="370332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Competidores: linha de base RUSLE, regressão penalizada e XGBoost (perda Tweedie)</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Métrica primária: Spearman no held-out; piso 0,40 e margem 0,10 sobre a RUSLE</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Bootstrap por polígono (as células de um polígono não são independentes)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Desfechos: corroborada, inconclusiva ou refutada (e inconclusiva por margem)</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Estado hoje: não avaliado. O script grava uma trava e recusa a segunda avaliação</a:t>
            </a:r>
            <a:endParaRPr lang="en-US" sz="1250" dirty="0"/>
          </a:p>
        </p:txBody>
      </p:sp>
      <p:sp>
        <p:nvSpPr>
          <p:cNvPr id="8" name="Text 4"/>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Refs.: D25, D24, D26; Nosek et al. (2018); Cameron et al. (2008); van der Ploeg et al. (2014); Hanley &amp; McNeil (1982).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Estado atual, limites e próximos passos</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12</a:t>
            </a:r>
            <a:endParaRPr lang="en-US" sz="1000" dirty="0"/>
          </a:p>
        </p:txBody>
      </p:sp>
      <p:sp>
        <p:nvSpPr>
          <p:cNvPr id="5" name="Shape 2"/>
          <p:cNvSpPr/>
          <p:nvPr/>
        </p:nvSpPr>
        <p:spPr>
          <a:xfrm>
            <a:off x="457200" y="1051560"/>
            <a:ext cx="4023360" cy="3474720"/>
          </a:xfrm>
          <a:prstGeom prst="roundRect">
            <a:avLst>
              <a:gd name="adj" fmla="val 2105"/>
            </a:avLst>
          </a:prstGeom>
          <a:solidFill>
            <a:srgbClr val="EEF3EF"/>
          </a:solidFill>
          <a:ln w="12700">
            <a:solidFill>
              <a:srgbClr val="EEF3EF"/>
            </a:solidFill>
            <a:prstDash val="solid"/>
          </a:ln>
        </p:spPr>
      </p:sp>
      <p:sp>
        <p:nvSpPr>
          <p:cNvPr id="6" name="Text 3"/>
          <p:cNvSpPr txBox="1"/>
          <p:nvPr/>
        </p:nvSpPr>
        <p:spPr>
          <a:xfrm>
            <a:off x="640080" y="1170432"/>
            <a:ext cx="3657600" cy="365760"/>
          </a:xfrm>
          <a:prstGeom prst="rect">
            <a:avLst/>
          </a:prstGeom>
          <a:noFill/>
          <a:ln/>
        </p:spPr>
        <p:txBody>
          <a:bodyPr wrap="square" lIns="0" tIns="0" rIns="0" bIns="0" rtlCol="0" anchor="t"/>
          <a:lstStyle/>
          <a:p>
            <a:pPr indent="0" marL="0">
              <a:buNone/>
            </a:pPr>
            <a:r>
              <a:rPr lang="en-US" sz="1900" b="1" dirty="0">
                <a:solidFill>
                  <a:srgbClr val="2F6B4F"/>
                </a:solidFill>
                <a:latin typeface="Cambria" pitchFamily="34" charset="0"/>
                <a:ea typeface="Cambria" pitchFamily="34" charset="-122"/>
                <a:cs typeface="Cambria" pitchFamily="34" charset="-120"/>
              </a:rPr>
              <a:t>Pronto</a:t>
            </a:r>
            <a:endParaRPr lang="en-US" sz="1900" dirty="0"/>
          </a:p>
        </p:txBody>
      </p:sp>
      <p:sp>
        <p:nvSpPr>
          <p:cNvPr id="7" name="Text 4"/>
          <p:cNvSpPr txBox="1"/>
          <p:nvPr/>
        </p:nvSpPr>
        <p:spPr>
          <a:xfrm>
            <a:off x="640080" y="1600200"/>
            <a:ext cx="3657600" cy="28346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Plataforma com os módulos do fluxo e recusa de dado sintético</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Desenho amostral e critério de avaliação pré-registrados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Ferramenta de checagem do pool por estrato (somente leitura)</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Pacote de reprodutibilidade com verificador de integridade</a:t>
            </a:r>
            <a:endParaRPr lang="en-US" sz="1250" dirty="0"/>
          </a:p>
        </p:txBody>
      </p:sp>
      <p:sp>
        <p:nvSpPr>
          <p:cNvPr id="8" name="Shape 5"/>
          <p:cNvSpPr/>
          <p:nvPr/>
        </p:nvSpPr>
        <p:spPr>
          <a:xfrm>
            <a:off x="4663440" y="1051560"/>
            <a:ext cx="4023360" cy="3474720"/>
          </a:xfrm>
          <a:prstGeom prst="roundRect">
            <a:avLst>
              <a:gd name="adj" fmla="val 2105"/>
            </a:avLst>
          </a:prstGeom>
          <a:solidFill>
            <a:srgbClr val="EEF3EF"/>
          </a:solidFill>
          <a:ln w="12700">
            <a:solidFill>
              <a:srgbClr val="EEF3EF"/>
            </a:solidFill>
            <a:prstDash val="solid"/>
          </a:ln>
        </p:spPr>
      </p:sp>
      <p:sp>
        <p:nvSpPr>
          <p:cNvPr id="9" name="Text 6"/>
          <p:cNvSpPr txBox="1"/>
          <p:nvPr/>
        </p:nvSpPr>
        <p:spPr>
          <a:xfrm>
            <a:off x="4846320" y="1170432"/>
            <a:ext cx="3657600" cy="365760"/>
          </a:xfrm>
          <a:prstGeom prst="rect">
            <a:avLst/>
          </a:prstGeom>
          <a:noFill/>
          <a:ln/>
        </p:spPr>
        <p:txBody>
          <a:bodyPr wrap="square" lIns="0" tIns="0" rIns="0" bIns="0" rtlCol="0" anchor="t"/>
          <a:lstStyle/>
          <a:p>
            <a:pPr indent="0" marL="0">
              <a:buNone/>
            </a:pPr>
            <a:r>
              <a:rPr lang="en-US" sz="1900" b="1" dirty="0">
                <a:solidFill>
                  <a:srgbClr val="C65D3B"/>
                </a:solidFill>
                <a:latin typeface="Cambria" pitchFamily="34" charset="0"/>
                <a:ea typeface="Cambria" pitchFamily="34" charset="-122"/>
                <a:cs typeface="Cambria" pitchFamily="34" charset="-120"/>
              </a:rPr>
              <a:t>Pendente</a:t>
            </a:r>
            <a:endParaRPr lang="en-US" sz="1900" dirty="0"/>
          </a:p>
        </p:txBody>
      </p:sp>
      <p:sp>
        <p:nvSpPr>
          <p:cNvPr id="10" name="Text 7"/>
          <p:cNvSpPr txBox="1"/>
          <p:nvPr/>
        </p:nvSpPr>
        <p:spPr>
          <a:xfrm>
            <a:off x="4846320" y="1600200"/>
            <a:ext cx="3657600" cy="283464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Nenhum resultado empírico ainda</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Medir o pool real por estrato e decidir reservas e n mínimo</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Decisões antes do sorteio: solo nu, declividade, empates dos tercis</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Autorizações, voos e delineação</a:t>
            </a:r>
            <a:endParaRPr lang="en-US" sz="1250" dirty="0"/>
          </a:p>
          <a:p>
            <a:pPr marL="342900" indent="-342900">
              <a:spcAft>
                <a:spcPts val="700"/>
              </a:spcAft>
              <a:buSzPct val="100000"/>
              <a:buChar char="•"/>
            </a:pPr>
            <a:r>
              <a:rPr lang="en-US" sz="1250" dirty="0">
                <a:solidFill>
                  <a:srgbClr val="1B2A22"/>
                </a:solidFill>
                <a:latin typeface="Calibri" pitchFamily="34" charset="0"/>
                <a:ea typeface="Calibri" pitchFamily="34" charset="-122"/>
                <a:cs typeface="Calibri" pitchFamily="34" charset="-120"/>
              </a:rPr>
              <a:t>Acerto de atribuição (antes ≈ 78%): em verificação</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685800"/>
          </a:xfrm>
          <a:prstGeom prst="rect">
            <a:avLst/>
          </a:prstGeom>
          <a:noFill/>
          <a:ln/>
        </p:spPr>
        <p:txBody>
          <a:bodyPr wrap="square" lIns="0" tIns="0" rIns="0" bIns="0" rtlCol="0" anchor="t"/>
          <a:lstStyle/>
          <a:p>
            <a:pPr indent="0" marL="0">
              <a:buNone/>
            </a:pPr>
            <a:r>
              <a:rPr lang="en-US" sz="2200" b="1" dirty="0">
                <a:solidFill>
                  <a:srgbClr val="1B2A22"/>
                </a:solidFill>
                <a:latin typeface="Cambria" pitchFamily="34" charset="0"/>
                <a:ea typeface="Cambria" pitchFamily="34" charset="-122"/>
                <a:cs typeface="Cambria" pitchFamily="34" charset="-120"/>
              </a:rPr>
              <a:t>Referências citadas nas decisões do projeto</a:t>
            </a:r>
            <a:endParaRPr lang="en-US" sz="2200" dirty="0"/>
          </a:p>
        </p:txBody>
      </p:sp>
      <p:sp>
        <p:nvSpPr>
          <p:cNvPr id="3" name="Text 1"/>
          <p:cNvSpPr txBox="1"/>
          <p:nvPr/>
        </p:nvSpPr>
        <p:spPr>
          <a:xfrm>
            <a:off x="8412480" y="4800600"/>
            <a:ext cx="457200" cy="228600"/>
          </a:xfrm>
          <a:prstGeom prst="rect">
            <a:avLst/>
          </a:prstGeom>
          <a:noFill/>
          <a:ln/>
        </p:spPr>
        <p:txBody>
          <a:bodyPr wrap="square" lIns="0" tIns="0" rIns="0" bIns="0" rtlCol="0" anchor="t"/>
          <a:lstStyle/>
          <a:p>
            <a:pPr algn="r" indent="0" marL="0">
              <a:buNone/>
            </a:pPr>
            <a:r>
              <a:rPr lang="en-US" sz="1000" dirty="0">
                <a:solidFill>
                  <a:srgbClr val="52605A"/>
                </a:solidFill>
                <a:latin typeface="Calibri" pitchFamily="34" charset="0"/>
                <a:ea typeface="Calibri" pitchFamily="34" charset="-122"/>
                <a:cs typeface="Calibri" pitchFamily="34" charset="-120"/>
              </a:rPr>
              <a:t>13</a:t>
            </a:r>
            <a:endParaRPr lang="en-US" sz="1000" dirty="0"/>
          </a:p>
        </p:txBody>
      </p:sp>
      <p:sp>
        <p:nvSpPr>
          <p:cNvPr id="5" name="Text 2"/>
          <p:cNvSpPr txBox="1"/>
          <p:nvPr/>
        </p:nvSpPr>
        <p:spPr>
          <a:xfrm>
            <a:off x="457200" y="1005840"/>
            <a:ext cx="4023360" cy="3566160"/>
          </a:xfrm>
          <a:prstGeom prst="rect">
            <a:avLst/>
          </a:prstGeom>
          <a:noFill/>
          <a:ln/>
        </p:spPr>
        <p:txBody>
          <a:bodyPr wrap="square" lIns="0" tIns="0" rIns="0" bIns="0" rtlCol="0" anchor="t"/>
          <a:lstStyle/>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Coelho, M. R. et al. (2024). Erodibilidade dos solos do Brasil. Embrapa Solos, Documentos 246.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Rufino, R. L. et al. (1993). Erosividade da chuva no Paraná (equação regional).</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Waltrick, P. C. et al. (2010; 2015). Erosividade das chuvas no Paraná.</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Desmet, P. J. J.; Govers, G. (1996). J. Soil Water Conserv. 51(5):427-433.</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 Renard, K. G. et al. (1997). Agriculture Handbook 703 (RUSLE).</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Durigon, V. L. et al. (2014). Int. J. Remote Sens. 35(2):441-453.</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Cochran, W. G. (1977). Sampling Techniques, 3a ed.</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Olofsson, P. et al. (2014). Remote Sens. Environ. 148:42-57.</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King, G.; Zeng, L. (2001). Political Analysis 9:137-163.</a:t>
            </a:r>
            <a:endParaRPr lang="en-US" sz="1050" dirty="0"/>
          </a:p>
        </p:txBody>
      </p:sp>
      <p:sp>
        <p:nvSpPr>
          <p:cNvPr id="6" name="Text 3"/>
          <p:cNvSpPr txBox="1"/>
          <p:nvPr/>
        </p:nvSpPr>
        <p:spPr>
          <a:xfrm>
            <a:off x="4663440" y="1005840"/>
            <a:ext cx="4023360" cy="3566160"/>
          </a:xfrm>
          <a:prstGeom prst="rect">
            <a:avLst/>
          </a:prstGeom>
          <a:noFill/>
          <a:ln/>
        </p:spPr>
        <p:txBody>
          <a:bodyPr wrap="square" lIns="0" tIns="0" rIns="0" bIns="0" rtlCol="0" anchor="t"/>
          <a:lstStyle/>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van der Ploeg, T.; Austin, P. C.; Steyerberg, E. W. (2014). BMC Med. Res. Methodol. 14:137.</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Altman, D. G.; Royston, P. (2006). BMJ 332:1080.</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Nosek, B. A. et al. (2018). PNAS 115(11):2600-2606.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Cameron, A. C.; Gelbach, J. B.; Miller, D. L. (2008). Rev. Econ. Stat. 90(3):414-427.</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Hanley, J. A.; McNeil, B. J. (1982). Radiology 143(1):29-36.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Roberts, D. R. et al. (2017). Ecography 40(8):913-929.</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Drusch, M. et al. (2012). Remote Sens. Environ. 120:25-36.</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Zanaga, D. et al. (2021; 2022). ESA WorldCover 10 m. Zenodo.</a:t>
            </a:r>
            <a:endParaRPr lang="en-US" sz="1050" dirty="0"/>
          </a:p>
          <a:p>
            <a:pPr indent="0" marL="0">
              <a:spcAft>
                <a:spcPts val="500"/>
              </a:spcAft>
              <a:buNone/>
            </a:pPr>
            <a:r>
              <a:rPr lang="en-US" sz="1050" dirty="0">
                <a:solidFill>
                  <a:srgbClr val="1B2A22"/>
                </a:solidFill>
                <a:latin typeface="Calibri" pitchFamily="34" charset="0"/>
                <a:ea typeface="Calibri" pitchFamily="34" charset="-122"/>
                <a:cs typeface="Calibri" pitchFamily="34" charset="-120"/>
              </a:rPr>
              <a:t>Funk, C. et al. (2015). CHIRPS. Scientific Data.</a:t>
            </a:r>
            <a:endParaRPr lang="en-US" sz="1050" dirty="0"/>
          </a:p>
        </p:txBody>
      </p:sp>
      <p:sp>
        <p:nvSpPr>
          <p:cNvPr id="7" name="Text 4"/>
          <p:cNvSpPr txBox="1"/>
          <p:nvPr/>
        </p:nvSpPr>
        <p:spPr>
          <a:xfrm>
            <a:off x="457200" y="4754880"/>
            <a:ext cx="7863840" cy="292608"/>
          </a:xfrm>
          <a:prstGeom prst="rect">
            <a:avLst/>
          </a:prstGeom>
          <a:noFill/>
          <a:ln/>
        </p:spPr>
        <p:txBody>
          <a:bodyPr wrap="square" lIns="0" tIns="0" rIns="0" bIns="0" rtlCol="0" anchor="ctr"/>
          <a:lstStyle/>
          <a:p>
            <a:pPr indent="0" marL="0">
              <a:buNone/>
            </a:pPr>
            <a:r>
              <a:rPr lang="en-US" sz="1000" i="1" dirty="0">
                <a:solidFill>
                  <a:srgbClr val="52605A"/>
                </a:solidFill>
                <a:latin typeface="Calibri" pitchFamily="34" charset="0"/>
                <a:ea typeface="Calibri" pitchFamily="34" charset="-122"/>
                <a:cs typeface="Calibri" pitchFamily="34" charset="-120"/>
              </a:rPr>
              <a:t>† leitura e conferência da fonte feitas no projeto. As demais constam do registro de decisões e aguardam conferência bibliográfica completa.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SAREL: plataforma para amostrar, rotular e auditar erosão laminar</dc:title>
  <dc:subject>PptxGenJS Presentation</dc:subject>
  <dc:creator>PptxGenJS</dc:creator>
  <cp:lastModifiedBy>PptxGenJS</cp:lastModifiedBy>
  <cp:revision>1</cp:revision>
  <dcterms:created xsi:type="dcterms:W3CDTF">2026-10-19T09:41:39Z</dcterms:created>
  <dcterms:modified xsi:type="dcterms:W3CDTF">2026-10-19T09:41:39Z</dcterms:modified>
</cp:coreProperties>
</file>