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2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Acerto de atribuição à célula (%)</c:v>
                </c:pt>
              </c:strCache>
            </c:strRef>
          </c:tx>
          <c:spPr>
            <a:solidFill>
              <a:srgbClr val="8E3A2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B1B1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σ=0,69 m (CE90 1,47 m)</c:v>
                  </c:pt>
                  <c:pt idx="1">
                    <c:v>σ=1,46 m (cifra de D06)</c:v>
                  </c:pt>
                  <c:pt idx="2">
                    <c:v>σ=3 m</c:v>
                  </c:pt>
                  <c:pt idx="3">
                    <c:v>σ=5 m</c:v>
                  </c:pt>
                  <c:pt idx="4">
                    <c:v>σ=8 m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89.4</c:v>
                </c:pt>
                <c:pt idx="1">
                  <c:v>78</c:v>
                </c:pt>
                <c:pt idx="2">
                  <c:v>57.9</c:v>
                </c:pt>
                <c:pt idx="3">
                  <c:v>37.2</c:v>
                </c:pt>
                <c:pt idx="4">
                  <c:v>19.6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2B1B1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1B1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D9D2C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5B5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Largura média do IC 95% de Δρ</c:v>
                </c:pt>
              </c:strCache>
            </c:strRef>
          </c:tx>
          <c:spPr>
            <a:solidFill>
              <a:srgbClr val="2E7D6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B1B1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18 polígonos</c:v>
                  </c:pt>
                  <c:pt idx="1">
                    <c:v>36 polígonos</c:v>
                  </c:pt>
                  <c:pt idx="2">
                    <c:v>72 polígonos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0.183</c:v>
                </c:pt>
                <c:pt idx="1">
                  <c:v>0.129</c:v>
                </c:pt>
                <c:pt idx="2">
                  <c:v>0.096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2B1B1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1B1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2"/>
          <c:min val="0"/>
        </c:scaling>
        <c:delete val="0"/>
        <c:axPos val="l"/>
        <c:majorGridlines>
          <c:spPr>
            <a:ln w="6350" cap="flat">
              <a:solidFill>
                <a:srgbClr val="D9D2C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5B5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Deixe claro desde o início que não há resultados: o que se apresenta é o desenho, os critérios de refutação fixados antes dos dados e o procedimento para executá-los.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instrumento prioriza onde visitar e mapear. A pergunta é falsificável: o método supera a RUSLE? E precisa de um ensemble de árvores para isso? Os números 72, 361 ha e 18 vêm de D12 e D16 em src/config/decisoes.ts.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D25 fixa quatro desfechos. A hipótese H2 pode falhar com H1 verdadeira: se a regressão penalizada empata com o XGBoost, o ganho está nos preditores e não na flexibilidade do algoritmo. Resultado igualmente publicável.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Árvores particionam por limiares: preencher lacuna com constante cria agrupamentos artificiais que o modelo aprende como padrão. Por isso ausência é NaN com causa, e nenhuma quantidade calculada pelo sistema pode virar rótulo (Regra 4). Vazamento de alvo: Kaufman et al. (2012).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Fora do domínio nenhuma predição é válida nem avaliada (D07). O truncamento da declividade reduz a amplitude do preditor de terreno: é o preço do domínio. A classe 60 do WorldCover foi excluída por circularidade com a dimensão Ê. Classe 30 tratada como pastagem cultivada por pressuposto declarado.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Ordem: candidatos e estratificação → sorteio probabilístico de polígonos → voo e ortomosaico → delineação cega → fração por célula → preditores → pré-registro → treino → avaliação única no held-out. Campo (60–80 pontos) é âncora de prevalência e confirmação, não treino (D16).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suporte nativo difere: terreno a 30 m (nunca reamostrado, D21), K no polígono de mapeamento 1:250.000, chuva em grade de 5 a 10 km. Tratar esses valores como medições independentes por célula de 10 m seria pseudorreplicação. Fórmulas: A=R·K·LS·C·P (Renard et al., 1997); C híbrido (D20) = ((1−NDVI)/2)·(1+BSI), com C em [0,1]; LS bidimensional (Desmet; Govers, 1996).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Tercis são percentis empíricos 33,33 e 66,67 do conjunto de candidatos, não limiares absolutos. Estratificação desproporcional com π_i registrado domina o balanceamento 50/50 e preserva a inferência populacional (D23). Estimador ponderado por 1/π_i: Horvitz; Thompson (1952).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delineação vetorial sobre ortomosaico de ~4 cm é rasterizada na grade nativa do Sentinel-2: fração = área erodida ∩ célula / área da célula. Dicotomizar descarta informação (Altman; Royston, 2006) e o recurso escasso é informação. O binário a 25% (25 m² de 100 m²) existe para AUC comparável à literatura e para D25.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Reproduzi a conta de P03: erro gaussiano isotrópico por eixo, ponto verdadeiro uniforme na célula, P = [(1/L)∫(Φ((L−x)/σ) − Φ(−x/σ))dx]². Dá 57,9% (σ=3 m), 37,2% (σ=5 m) e 19,6% (σ=8 m), idêntico a P03. Porém CE90 = 1,47 m corresponde a σ = 0,685 m e dá 89,4%; os 78% de D06/D16 só saem se 1,47 for tomado como σ. Ou 78% é cifra conservadora que embute erro extra, ou há confusão CE90/σ. O modelo ignora o erro de georreferenciamento do Sentinel-2.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D24 manda comparar RUSLE, regressão penalizada e XGBoost com a mesma métrica. O resultado admissível inclui a regressão parcimoniosa vencer o ensemble. Regressão Tweedie penalizada (L2/ridge) via scikit-learn; elastic net com Tweedie não está disponível no scikit-learn. Penalização: Friedman; Hastie; Tibshirani (2010).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1&lt;p&lt;2 a distribuição Tweedie é Poisson composta com incrementos gama: massa em zero e cauda contínua positiva. A variância cresce como μ^p. O p=1,5 é proposta P10 (não decidida); a escolha pode ser ajustada por perfil de verossimilhança, mas apenas dentro do treino. Dunn; Smyth (2005) descrevem a avaliação numérica das densidades.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n_eff = A / (π (r/2)²) com r=50 m. Para 10 ha dá 50,9 (D24 diz ~51). Para 361 ha dá 1.841 (D24: 1.845; diferença &lt; 0,3%). O held-out (36 polígonos) dá ≈ 920, enquanto D24 diz ~936 e a tela diz 922: precisa ser reconciliado. O critério de 200 eventos por variável vem de van der Ploeg et al. (2014); Riley et al. (2020) dão uma alternativa baseada em critérios de encolhimento.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Validação aleatória infla a estimativa quando há autocorrelação espacial (Roberts et al., 2017; Ploton et al., 2020). O agrupamento por polígono impede que 36.000 células vizinhas sejam tratadas como independentes. Ressalva de D24: com dois polígonos por estrato e um par no held-out, cada dobra interna perde um estrato; isso degrada o ajuste, não contamina a estimativa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Spearman = Pearson dos postos médios (trata empates, comuns porque muitas frações são 0). Reamostrar células trataria vizinhas do mesmo polígono como independentes. Com poucos agrupamentos a inferência por cluster é conservadora (Cameron; Gelbach; Miller, 2008). IC pelo método do percentil sobre B = 10.000 reamostras.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Simulação ilustrativa (dados sintéticos, parâmetros inventados para mostrar o mecanismo; NÃO é resultado da pesquisa): dois preditores com correlação distinta com um alvo com efeito de polígono; 26 células por polígono; B=300; 40 repetições por G. Largura média do IC 95% de Δρ: 0,183 (G=18), 0,129 (G=36), 0,096 (G=72). Fração em que o IC exclui zero: 68%, 88%, 100%. Código: ANEXOS_PROMPT_EXECUTOR_2026-10-06/avaliacao_d25_referencia.py.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Piso 0,40 e margem 0,10 são intermediários entre 0,15/0,50 (estrito) e 0,05 (permissivo). A AUC ≥ 0,70 (regra de bolso atribuída a Hosmer; Lemeshow, não conferida na fonte) e ΔAUC ≥ 0,05 são secundárias. A lacuna detectada (piso atingido, ρ_XGB ≥ ρ_RUSLE, margem &lt; 0,10) foi fechada por emenda aceita em 06/10/2026: INCONCLUSIVA_MARGEM; as secundárias não condicionam o desfecho.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Estratificação desproporcional com π_i registrado (D23): ordenação (Spearman, AUC) sobrevive; probabilidade, acurácia, precisão e kappa não. Âncora: 60–80 pontos dão ±0,08 de precisão a prevalência 0,15 (calculado: ±0,078 a ±0,090); ±0,05 exigiria ≈196. A correção a priori é de King; Zeng (2001); estimadores de área e acurácia de Olofsson et al. (2014).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Todas fixadas antes de qualquer resultado. A hierarquia (principal × sensibilidade) não pode ser escolhida depois em função do resultado.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Detalhamento passo a passo (P1 a P15) no Manual de Procedimentos. Cada fase tem portão: não se avança sem a evidência da anterior.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item consta de D06, D07, D12, D13, D14, D16, D21, D24 e D25. Declarar de antemão é o que torna a limitação auditável.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Medições de 06/10/2026 no commit 4834cf0: typecheck exit 0; lint 2 warnings; vitest 57 arquivos/435 testes, 6 falham (dados locais); next build falha por import de node:crypto/node:child_process em componente de cliente; next dev responde HTTP 500. A auditoria (A01–A54) gerou o prompt de correção (30 blocos) e o prompt do executor, com anexos de código de referência testados (38 testes Python).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Verificação: cada referência foi conferida por resultado de busca em 06/10/2026; os campos não confirmados estão listados no Manual de Procedimentos, Apêndice C. Links não foram abertos (acesso bloqueado nesta sessão).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Verificação: cada referência foi conferida por resultado de busca em 06/10/2026; os campos não confirmados estão listados no Manual de Procedimentos, Apêndice C. Links não foram abertos (acesso bloqueado nesta sessão).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Verificação: cada referência foi conferida por resultado de busca em 06/10/2026; os campos não confirmados estão listados no Manual de Procedimentos, Apêndice C. Links não foram abertos (acesso bloqueado nesta sessão).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82803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SAREL v2 · PPGTCA 2026 · método e modelagem estatística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9144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SAREL v2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Localização e predição de erosão laminar: método, procedimentos e modelagem estatística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175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Pesquisa de mestrado · PPGTCA 2026 · Bacia do Paraná 3 (PR)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319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Documento de 06/10/2026. Nenhum resultado empírico existe ainda: esta apresentação descreve o método pré-registrado e as razões de cada escolha.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 pesquisa faz, em uma frase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Valida um método que combina séries Sentinel-2, terreno, solo e chuva para localizar e predizer erosão laminar — e o compara, com critério fixado antes dos dados, à prática estabelecida (RUSLE).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457200" y="228600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23774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3154680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polígonos de VANT de 5,02 ha sorteados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542032" y="228600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542032" y="23774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361 ha</a:t>
            </a:r>
            <a:endParaRPr lang="en-US" sz="3200" dirty="0"/>
          </a:p>
        </p:txBody>
      </p:sp>
      <p:sp>
        <p:nvSpPr>
          <p:cNvPr id="10" name="Text 7"/>
          <p:cNvSpPr txBox="1"/>
          <p:nvPr/>
        </p:nvSpPr>
        <p:spPr>
          <a:xfrm>
            <a:off x="2651760" y="3154680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área total delineada (≈ 34.800 células de 10 m)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626864" y="228600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26864" y="23774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4736592" y="3154680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estratos: declividade × solo nu × erodibilidade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711696" y="228600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accent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711696" y="23774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200" dirty="0"/>
          </a:p>
        </p:txBody>
      </p:sp>
      <p:sp>
        <p:nvSpPr>
          <p:cNvPr id="16" name="Text 13"/>
          <p:cNvSpPr txBox="1"/>
          <p:nvPr/>
        </p:nvSpPr>
        <p:spPr>
          <a:xfrm>
            <a:off x="6821424" y="3154680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resultados empíricos até agora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Fonte das cifras: registro de decisões D12 e D16 (src/config/decisoes.ts).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Duas hipóteses separáveis, ambas refutáveis</a:t>
            </a:r>
            <a:endParaRPr lang="en-US" sz="2600" dirty="0"/>
          </a:p>
        </p:txBody>
      </p:sp>
      <p:sp>
        <p:nvSpPr>
          <p:cNvPr id="4" name="card H1 · Supera a RUSLE"/>
          <p:cNvSpPr/>
          <p:nvPr/>
        </p:nvSpPr>
        <p:spPr>
          <a:xfrm>
            <a:off x="457200" y="1188720"/>
            <a:ext cx="40233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126187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H1 · Supera a RUSLE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664208"/>
            <a:ext cx="3749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Preditores multifonte ordenam melhor a fração erodida do que A = R·K·LS·C·P, medido por correlação de postos de Spearman no conjunto held-out, com margem mínima de 0,10 e piso de 0,40.</a:t>
            </a:r>
            <a:endParaRPr lang="en-US" sz="1500" dirty="0"/>
          </a:p>
        </p:txBody>
      </p:sp>
      <p:sp>
        <p:nvSpPr>
          <p:cNvPr id="7" name="card H2 · Exige ensemble"/>
          <p:cNvSpPr/>
          <p:nvPr/>
        </p:nvSpPr>
        <p:spPr>
          <a:xfrm>
            <a:off x="4663440" y="1188720"/>
            <a:ext cx="40233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00600" y="126187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H2 · Exige ensemble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1664208"/>
            <a:ext cx="3749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Não linearidade e interação são necessárias. Se uma regressão Tweedie penalizada empatar com o XGBoost ou vencê-lo dentro do intervalo, H2 é refutada ainda que H1 se sustente.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Refutação é resultado científico válido e será apresentada como tal (D25). Fundamento: pré-registro evita flexibilidade analítica (NOSEK et al., 2018).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Princípio: dado verdadeiro ou ausência declarada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chemeClr val="accent1"/>
                </a:solidFill>
              </a:rPr>
              <a:t>Nunca um valor plausível de origem desconhecida.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737360"/>
            <a:ext cx="1920240" cy="9144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1737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medido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observação direta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2542032" y="1737360"/>
            <a:ext cx="1920240" cy="91440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542032" y="1737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modelado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saída de algoritmo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626864" y="1737360"/>
            <a:ext cx="1920240" cy="9144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26864" y="1737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tabelado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valor de tabela oficial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711696" y="1737360"/>
            <a:ext cx="1920240" cy="914400"/>
          </a:xfrm>
          <a:prstGeom prst="roundRect">
            <a:avLst>
              <a:gd name="adj" fmla="val 8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711696" y="1737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indisponível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ausente, com causa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292608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Selo de proveniência em todo valor: medido, modelado, tabelado ou indisponível.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Rótulo vem só de observação humana; nada calculado vira rótulo (evita vazamento de alvo (KAUFMAN et al., 2012)).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Ausente não é zero: K = 0 da camada Embrapa (área urbana, água) é "fora do domínio", não "sem erosão" (D14).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Domínio de validade: onde o método se aplica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1430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1143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188720" y="109728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Declividade 3–20 %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Relevo suave ondulado a ondulado; fora disso predomina sulco/voçoroca (D07).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57200" y="20116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19659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Uso e cobertura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ESA WorldCover classes 30 (pastagem) e 40 (lavoura), com concordância entre v100 (2020) e v200 (2021). Classe 60 excluída.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57200" y="2880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880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188720" y="283464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Série Sentinel-2 L2A, 2016–2026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Única fonte da matriz; Landsat só como camada de tendência, nunca preditor (D05).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57200" y="37490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" y="3749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370332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Célula de 10 × 10 m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Unidade de análise, na grade nativa do produto; cada preditor mantém o suporte da própria fonte (D06).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Fluxo do método, do sorteio ao critério de refutação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280160"/>
            <a:ext cx="182880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3716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73736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Candidatos e 18 estratos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160020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2542032" y="1280160"/>
            <a:ext cx="182880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633472" y="13716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633472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633472" y="173736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Sorteio de 72 polígonos (π_i)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370832" y="160020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4626864" y="1280160"/>
            <a:ext cx="182880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718304" y="13716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18304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718304" y="173736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Voo VANT ≈ 4 cm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455664" y="160020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6711696" y="1280160"/>
            <a:ext cx="182880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803136" y="13716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03136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6803136" y="173736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Delineação cega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457200" y="2834640"/>
            <a:ext cx="182880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48640" y="292608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329184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Fração por célula 10 m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286000" y="315468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2542032" y="2834640"/>
            <a:ext cx="182880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633472" y="292608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633472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2633472" y="329184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Preditores por bloco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4370832" y="315468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4626864" y="2834640"/>
            <a:ext cx="182880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718304" y="292608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718304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718304" y="329184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Pré-registro e treino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6455664" y="315468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6711696" y="2834640"/>
            <a:ext cx="1828800" cy="1097280"/>
          </a:xfrm>
          <a:prstGeom prst="roundRect">
            <a:avLst>
              <a:gd name="adj" fmla="val 6667"/>
            </a:avLst>
          </a:prstGeom>
          <a:solidFill>
            <a:schemeClr val="accent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803136" y="292608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803136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8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6803136" y="329184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Avaliação única (D25)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Em paralelo: 60 a 80 pontos de campo (SAREL Coletor, protocolo cego) estimam a prevalência real; confirmação prospectiva após o treino.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Preditores por bloco, fonte e suporte espacial nativo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377440"/>
                <a:gridCol w="2468880"/>
                <a:gridCol w="1188720"/>
                <a:gridCol w="82296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Bloco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Candidatos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Fonte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Suporte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Teto D24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Espectro-temporal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B2, B4, B8, B12, NDVI, BSI, frequência de solo nu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Sentinel-2 L2A (DRUSCH et al., 2012) via GEE (GORELICK et al., 2017)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10–20 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até 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Terreno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declividade, LS, curvatura, TWI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Copernicus GLO-30 (EUROPEAN SPACE AGENCY, [s. d.])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 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até 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Solo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K (k_solos)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Embrapa, carta de erodibilidade 2024 (COELHO et al., 2024)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polígono 1:250.000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Chuva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 climatológico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CHIRPS (FUNK et al., 2015) + equação regional (WALTRICK et al., 2015)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≈ 5 km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= R · K · LS · C · P  ·  C = ((1 − NDVI) / 2) · (1 + BSI)</a:t>
            </a:r>
            <a:endParaRPr lang="en-US" sz="15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C: (DURIGON et al., 2014); LS: (DESMET; GOVERS, 1996); A: (RENARD et al., 1997). R: sucedâneo regional do EI30 (D13); fator 10 de unidade (Rufino et al., 1993) inferido.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Estratificação em 18 estratos e sorteio probabilístico</a:t>
            </a:r>
            <a:endParaRPr lang="en-US" sz="2600" dirty="0"/>
          </a:p>
        </p:txBody>
      </p:sp>
      <p:sp>
        <p:nvSpPr>
          <p:cNvPr id="4" name="card Ŝ × Ê × K̂ = 3 × 3 × 2"/>
          <p:cNvSpPr/>
          <p:nvPr/>
        </p:nvSpPr>
        <p:spPr>
          <a:xfrm>
            <a:off x="457200" y="1143000"/>
            <a:ext cx="402336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12161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Ŝ × Ê × K̂ = 3 × 3 × 2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618488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Ŝ: tercis de declividade. Ê: tercis da frequência de solo nu (fração de cenas válidas). K̂: 2 níveis de erodibilidade (classes 1–3 × 4–5, D09).</a:t>
            </a:r>
            <a:endParaRPr lang="en-US" sz="1400" dirty="0"/>
          </a:p>
        </p:txBody>
      </p:sp>
      <p:sp>
        <p:nvSpPr>
          <p:cNvPr id="7" name="card 4 polígonos por estrato"/>
          <p:cNvSpPr/>
          <p:nvPr/>
        </p:nvSpPr>
        <p:spPr>
          <a:xfrm>
            <a:off x="4663440" y="1143000"/>
            <a:ext cx="402336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00600" y="12161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4 polígonos por estrato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1618488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Quadrado ≈ 224 m (ou retângulo até 1:2), sorteados com π_i = n_h / N_h. Dois treinam, dois ficam como held-out: replicação interna em todos os estratos.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20040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Guarda contra circularidade: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polígonos são sorteados pelos estratos biofísicos, nunca pelo rastreio espectral (D16).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Viés declarado: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exigir polígono dentro de um único imóvel favorece imóveis maiores (elegibilidade ≈ 65–72 %, limite superior).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rótulo: fração erodida por célula, não um ponto</a:t>
            </a:r>
            <a:endParaRPr lang="en-US" sz="2600" dirty="0"/>
          </a:p>
        </p:txBody>
      </p:sp>
      <p:sp>
        <p:nvSpPr>
          <p:cNvPr id="4" name="card Alvo primário (D26)"/>
          <p:cNvSpPr/>
          <p:nvPr/>
        </p:nvSpPr>
        <p:spPr>
          <a:xfrm>
            <a:off x="457200" y="1143000"/>
            <a:ext cx="40233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12161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Alvo primário (D26)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618488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Fração contínua da célula delineada como erodida, em [0, 1]. Muitas células são 0: objetivo reg:tweedie. Métrica primária: Spearman, independente de prevalência.</a:t>
            </a:r>
            <a:endParaRPr lang="en-US" sz="1400" dirty="0"/>
          </a:p>
        </p:txBody>
      </p:sp>
      <p:sp>
        <p:nvSpPr>
          <p:cNvPr id="7" name="card Binário e rótulos de campo"/>
          <p:cNvSpPr/>
          <p:nvPr/>
        </p:nvSpPr>
        <p:spPr>
          <a:xfrm>
            <a:off x="4663440" y="1143000"/>
            <a:ext cx="40233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00600" y="12161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Binário e rótulos de campo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1618488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Positivo se fração ≥ 25 % (secundário), pois dicotomizar custa informação (ALTMAN; ROYSTON, 2006). Campo (D03): ordinal ausente, incipiente, moderada, severa; incipiente conta como positivo; sensibilidade pré-registrada com corte alternativo.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611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Kappa de Cohen (COHEN, 1960) entre observadores: κ &lt; 0,60 indica critério não operacional; patamares conforme (LANDIS; KOCH, 1977).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κ = (p_o − p_e) / (1 − p_e)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o VANT rotula melhor que o GNSS de campo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097280"/>
          <a:ext cx="51206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card Leitura honesta"/>
          <p:cNvSpPr/>
          <p:nvPr/>
        </p:nvSpPr>
        <p:spPr>
          <a:xfrm>
            <a:off x="5760720" y="1143000"/>
            <a:ext cx="2926080" cy="329184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897880" y="12161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Leitura honesta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5897880" y="1618488"/>
            <a:ext cx="2651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Os valores de 3, 5 e 8 m reproduzem P03. A cifra de 78 % para CE90 = 1,47 m não se reproduz: com σ = 0,69 m o acerto seria 89 %. O texto de D06/D16 precisa ser revisto pelo pesquisador.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competidores, nenhum privilegiado a priori</a:t>
            </a:r>
            <a:endParaRPr lang="en-US" sz="2600" dirty="0"/>
          </a:p>
        </p:txBody>
      </p:sp>
      <p:sp>
        <p:nvSpPr>
          <p:cNvPr id="4" name="card 1 · RUSLE"/>
          <p:cNvSpPr/>
          <p:nvPr/>
        </p:nvSpPr>
        <p:spPr>
          <a:xfrm>
            <a:off x="457200" y="1143000"/>
            <a:ext cx="2651760" cy="31089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12161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 · RUSLE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618488"/>
            <a:ext cx="2377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Linha de base física: A = R·K·LS·C·P (RENARD et al., 1997; WISCHMEIER; SMITH, 1978). Se qualquer fator faltar, A é ausente (nunca 0).</a:t>
            </a:r>
            <a:endParaRPr lang="en-US" sz="1300" dirty="0"/>
          </a:p>
        </p:txBody>
      </p:sp>
      <p:sp>
        <p:nvSpPr>
          <p:cNvPr id="7" name="card 2 · Tweedie penal."/>
          <p:cNvSpPr/>
          <p:nvPr/>
        </p:nvSpPr>
        <p:spPr>
          <a:xfrm>
            <a:off x="3246120" y="1143000"/>
            <a:ext cx="2651760" cy="31089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83280" y="12161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2 · Tweedie penal.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383280" y="1618488"/>
            <a:ext cx="2377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GLM com ligação log, p ∈ {1,2; 1,5; 1,8} escolhido no treino, penalização L2 (FRIEDMAN; HASTIE; TIBSHIRANI, 2010), α escolhido por validação agrupada por polígono; imputação só com a mediana do treino da dobra, mais indicador de ausência.</a:t>
            </a:r>
            <a:endParaRPr lang="en-US" sz="1300" dirty="0"/>
          </a:p>
        </p:txBody>
      </p:sp>
      <p:sp>
        <p:nvSpPr>
          <p:cNvPr id="10" name="card 3 · XGBoost"/>
          <p:cNvSpPr/>
          <p:nvPr/>
        </p:nvSpPr>
        <p:spPr>
          <a:xfrm>
            <a:off x="6035040" y="1143000"/>
            <a:ext cx="2651760" cy="31089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172200" y="12161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3 · XGBoost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6172200" y="1618488"/>
            <a:ext cx="2377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reg:tweedie (CHEN; GUESTRIN, 2016), hist, monotonicidade física declarada antes do ajuste, ausentes tratados nativamente, hiperparâmetros por validação aninhada agrupada.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Tweedie: variável contínua, não negativa, cheia de zeros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143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Var(Y) = φ · μ^p, com 1 &lt; p &lt; 2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691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d(y, μ) = 2 [ y^(2−p) / ((1−p)(2−p)) − y μ^(1−p) / (1−p) + μ^(2−p) / (2−p) ]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377440"/>
            <a:ext cx="8229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 fração erodida tem massa em 0 e valores contínuos em (0, 1]: um modelo gaussiano violaria a restrição e ignoraria a assimetria (DUNN; SMYTH, 2005).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 desvio d(y, μ) é a perda; a ordenação final é avaliada por Spearman, que não depende da escala.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 expoente p é proposta (P10): escolhido por validação interna dentro da grade pré-registrada {1,2; 1,5; 1,8}.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Regime de dados: o teto de preditores é por bloco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972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n_eff = A / ( π · (r / 2)² )   ·   r = 50 m (alcance adotado)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457200" y="1691640"/>
            <a:ext cx="1920240" cy="20116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1.845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42316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espectro-temporal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admitiria 9 (200/var)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teto 8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542032" y="1691640"/>
            <a:ext cx="1920240" cy="20116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542032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396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2633472" y="242316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terreno 30 m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admitiria 1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teto 4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626864" y="1691640"/>
            <a:ext cx="1920240" cy="20116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26864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36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4718304" y="242316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solo (K)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admitiria 0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teto 1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711696" y="1691640"/>
            <a:ext cx="1920240" cy="20116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711696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36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6803136" y="242316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chuva (R)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admitiria 0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teto 1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38862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Só o espectro-temporal está dentro do regime de 200 eventos por variável (VAN DER PLOEG; AUSTIN; STEYERBERG, 2014), (RILEY et al., 2020); os demais entram por necessidade física (Invariante 1), com monotonicidade: mínimos mandatórios, não máximos estatisticamente suportados.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Validação: aninhada por polígono, e um único held-out</a:t>
            </a:r>
            <a:endParaRPr lang="en-US" sz="2600" dirty="0"/>
          </a:p>
        </p:txBody>
      </p:sp>
      <p:sp>
        <p:nvSpPr>
          <p:cNvPr id="4" name="card Interna (só o treino)"/>
          <p:cNvSpPr/>
          <p:nvPr/>
        </p:nvSpPr>
        <p:spPr>
          <a:xfrm>
            <a:off x="457200" y="1143000"/>
            <a:ext cx="4023360" cy="27432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12161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Interna (só o treino)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618488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GroupKFold por Poligono_ID: escolhe hiperparâmetros e penalização. Nunca seleciona preditores olhando o desempenho (a dimensionalidade é declarada de antemão por mecanismo físico).</a:t>
            </a:r>
            <a:endParaRPr lang="en-US" sz="1400" dirty="0"/>
          </a:p>
        </p:txBody>
      </p:sp>
      <p:sp>
        <p:nvSpPr>
          <p:cNvPr id="7" name="card Externa (held-out, uma vez)"/>
          <p:cNvSpPr/>
          <p:nvPr/>
        </p:nvSpPr>
        <p:spPr>
          <a:xfrm>
            <a:off x="4663440" y="1143000"/>
            <a:ext cx="4023360" cy="27432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00600" y="12161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Externa (held-out, uma vez)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1618488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36 polígonos nunca vistos. Uma única avaliação; o script grava uma trava e recusa a segunda. Validação interna jamais é reportada como desempenho.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Fundamentos: (ROBERTS et al., 2017); (PLOTON et al., 2020).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Métrica primária e inferência por bootstrap de polígonos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ρ = Pearson( rank(ŷ), rank(y) )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737360"/>
            <a:ext cx="82296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Independe de prevalência e da escala do predito: permite comparar RUSLE (t/ha/ano) e modelos (fração) (SPEARMAN, 1904).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Δρ = ρ_XGB − ρ_RUSLE calculada nas MESMAS células (pareada).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Reamostra-se o polígono, não a célula; 10.000 reamostras; IC 95 % pelos percentis 2,5 e 97,5 (EFRON, 1979).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Potência governada por 36 agrupamentos: o intervalo é largo, por isso o desfecho é ternário.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36 agrupamentos permitem enxergar (simulação)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097280"/>
          <a:ext cx="493776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card Leitura"/>
          <p:cNvSpPr/>
          <p:nvPr/>
        </p:nvSpPr>
        <p:spPr>
          <a:xfrm>
            <a:off x="5577840" y="1143000"/>
            <a:ext cx="3108960" cy="329184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715000" y="121615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Leitura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5715000" y="1618488"/>
            <a:ext cx="28346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Simulação sintética: o IC encolhe com a raiz do número de agrupamentos. Com 36, uma diferença real moderada excluiu zero em 88 % das repetições; com 18, em 68 %. Por isso INCONCLUSIVA é desfecho legítimo, não porta de saída.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Critério de refutação pré-registrado (D25)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2926080" y="1097280"/>
            <a:ext cx="3291840" cy="548640"/>
          </a:xfrm>
          <a:prstGeom prst="roundRect">
            <a:avLst>
              <a:gd name="adj" fmla="val 13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2999232" y="1097280"/>
            <a:ext cx="3145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Held-out avaliado uma única vez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57200" y="2011680"/>
            <a:ext cx="2011680" cy="1005840"/>
          </a:xfrm>
          <a:prstGeom prst="roundRect">
            <a:avLst>
              <a:gd name="adj" fmla="val 727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0352" y="2011680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ρ_XGB &lt; 0,40 ou ρ_XGB &lt; ρ_RUSLE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743200" y="2011680"/>
            <a:ext cx="3474720" cy="1005840"/>
          </a:xfrm>
          <a:prstGeom prst="roundRect">
            <a:avLst>
              <a:gd name="adj" fmla="val 727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816352" y="2011680"/>
            <a:ext cx="33284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ρ ≥ 0,40 e Δρ ≥ 0,10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492240" y="2011680"/>
            <a:ext cx="2194560" cy="1005840"/>
          </a:xfrm>
          <a:prstGeom prst="roundRect">
            <a:avLst>
              <a:gd name="adj" fmla="val 727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65392" y="2011680"/>
            <a:ext cx="20482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ρ ≥ 0,40, ρ_XGB ≥ ρ_RUSLE e Δρ &lt; 0,10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57200" y="3383280"/>
            <a:ext cx="2011680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30352" y="338328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REFUTADA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2743200" y="3383280"/>
            <a:ext cx="1691640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816352" y="338328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CORROBORADA (IC exclui 0)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526280" y="3383280"/>
            <a:ext cx="1691640" cy="54864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599432" y="338328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INCONCLUSIVA (IC contém 0)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492240" y="3383280"/>
            <a:ext cx="2194560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65392" y="3383280"/>
            <a:ext cx="20482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INCONCLUSIVA por margem (emenda)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463040" y="1645920"/>
            <a:ext cx="0" cy="365760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480560" y="1645920"/>
            <a:ext cx="0" cy="365760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589520" y="1645920"/>
            <a:ext cx="0" cy="365760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4º desfecho: se a Tweedie penalizada empatar com o XGBoost ou vencê-lo no intervalo, H2 é refutada. AUC (≥ 0,70; Δ ≥ 0,05) só reportada (HANLEY; MCNEIL, 1982).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 desbalanceamento preserva e o que destrói</a:t>
            </a:r>
            <a:endParaRPr lang="en-US" sz="2600" dirty="0"/>
          </a:p>
        </p:txBody>
      </p:sp>
      <p:sp>
        <p:nvSpPr>
          <p:cNvPr id="4" name="card Sobrevive"/>
          <p:cNvSpPr/>
          <p:nvPr/>
        </p:nvSpPr>
        <p:spPr>
          <a:xfrm>
            <a:off x="457200" y="1143000"/>
            <a:ext cx="40233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12161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Sobrevive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618488"/>
            <a:ext cx="3749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Correlação de postos e AUC (dependem só da ordenação). Por isso Spearman é a métrica primária.</a:t>
            </a:r>
            <a:endParaRPr lang="en-US" sz="1500" dirty="0"/>
          </a:p>
        </p:txBody>
      </p:sp>
      <p:sp>
        <p:nvSpPr>
          <p:cNvPr id="7" name="card Não sobrevive"/>
          <p:cNvSpPr/>
          <p:nvPr/>
        </p:nvSpPr>
        <p:spPr>
          <a:xfrm>
            <a:off x="4663440" y="1143000"/>
            <a:ext cx="40233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00600" y="12161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Não sobrevive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1618488"/>
            <a:ext cx="3749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Probabilidade predita, acurácia, precisão e kappa (dependem da prevalência): exigem correção a priori ancorada na prevalência estimada (KING; ZENG, 2001).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7033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Toda afirmação sobre a bacia usa estimadores estratificados com π_i e n efetivo declarado (OLOFSSON et al., 2014); prevalência por estimador ponderado por 1/π_i (HORVITZ; THOMPSON, 1952).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Análises de sensibilidade e proteções contra flexibilidade analítica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1430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1143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D03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188720" y="109728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D03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Corte alternativo dos rótulos de campo: incipiente excluída; contraste mede o sinal da erosão incipiente.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57200" y="20116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D08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19659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D08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Reavaliar sem células com marcador de composição pedológica verdadeiro ou indisponível; a diferença é o custo da incerteza pedológica.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57200" y="2880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880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D19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188720" y="283464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D19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Pares de evento: análise secundária, fora de D25; só se um evento ocorrer na janela de campanha.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57200" y="37490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" y="3749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370332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Trava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 avaliador recusa uma segunda avaliação do held-out e o modo probatório sem pré-registro congelado.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Procedimento operacional em seis fases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12801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 Preparação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6916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build, testes, domínio, credenciais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24612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83280" y="12801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Amostragem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383280" y="16916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candidatos, 18 estratos, sorteio com semente registrada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03504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172200" y="12801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Aquisição e rótulo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6172200" y="16916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voo ≈ 4 cm, ortomosaico, delineação cega, κ ≥ 0,60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288036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94360" y="29718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4 Preditores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594360" y="33832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fração por célula, S2 com máscara, R, K, LS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246120" y="288036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383280" y="29718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Avaliação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3383280" y="33832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blocos congelados, treino, held-out uma vez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035040" y="288036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172200" y="29718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6 Campo e arquivo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172200" y="33832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âncora 60–80 pontos, confirmação, ZIP com SHA-256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declaradas, antes dos resultados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143000"/>
            <a:ext cx="8229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Terreno a 30 m não enxerga terraços (15–40 m): P = 1 e LS modelado (D21, D22).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K da carta 1:250.000 generaliza associações: em 50 % dos pontos a composição não é resolvida; Neossolo Regolítico pode divergir do levantamento estadual (D08, D12).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 é sucedâneo regional do EI30 sobre CHIRPS diário; R: coeficientes de Rufino (1993) lidos, mas o fator 10 de unidade é inferido (D13); LS: equações conferidas.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Mudança de uso dentro da série (2016–2026) não é modelada (D07).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Solo e chuva operam em regime crítico (≈ 36 unidades efetivas); potência por 36 polígonos (D24, D25).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Viés de seleção pelo tamanho do imóvel; atribuição posicional ao pixel (slide 10).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do software e plano de correção (honesto)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188720"/>
            <a:ext cx="19202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12801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achados de auditoria (A01–A54)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2542032" y="1188720"/>
            <a:ext cx="19202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542032" y="12801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263347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HTTP do app em desenvolvimento (build também falha)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26864" y="1188720"/>
            <a:ext cx="19202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26864" y="12801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71830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testes falham (dependem de dados locais)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711696" y="1188720"/>
            <a:ext cx="19202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711696" y="12801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3600" dirty="0"/>
          </a:p>
        </p:txBody>
      </p:sp>
      <p:sp>
        <p:nvSpPr>
          <p:cNvPr id="15" name="Text 12"/>
          <p:cNvSpPr txBox="1"/>
          <p:nvPr/>
        </p:nvSpPr>
        <p:spPr>
          <a:xfrm>
            <a:off x="680313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testes Python dos anexos passam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30175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Front-end medido: 21 reprovações (cabeçalho com botões fora da tela já em 1440 px, modais sem role="dialog", controles sem nome acessível). O app só é utilizável para a pesquisa depois dessas correções.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Nenhum dado real foi usado em teste ou simulação; resultados sintéticos não são evidência científica.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Referências (ABNT NBR 6023) — 1/3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51560"/>
            <a:ext cx="822960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ALTMAN, D. G.; ROYSTON, P. The cost of dichotomising continuous variables.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BMJ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332, n. 7549, p. 1080, 2006.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ASSOCIAÇÃO BRASILEIRA DE NORMAS TÉCNICAS.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ABNT NBR 6023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: informação e documentação: referências: elaboração. Rio de Janeiro: ABNT, 2018.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CHEN, T.; GUESTRIN, C. XGBoost: a scalable tree boosting system. In: ACM SIGKDD INTERNATIONAL CONFERENCE ON KNOWLEDGE DISCOVERY AND DATA MINING, 22., 2016, San Francisco.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Proceedings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 [...]. New York: ACM, 2016. p. 785-794. DOI: 10.1145/2939672.2939785.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COELHO, M. R. et al.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Erodibilidade dos solos do Brasil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. Rio de Janeiro: Embrapa Solos, 2024. 38 p. (Documentos, 246). Disponível em: https://www.infoteca.cnptia.embrapa.br/infoteca/bitstream/doc/1170044/1/CNPS-DOC-246-2024.pdf.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COHEN, J. A coefficient of agreement for nominal scales.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Educational and Psychological Measurement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20, n. 1, p. 37-46, 1960.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DESMET, P. J. J.; GOVERS, G. A GIS procedure for automatically calculating the USLE LS factor on topographically complex landscape units.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Journal of Soil and Water Conservation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51, n. 5, p. 427-433, 1996.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DRUSCH, M. et al. Sentinel-2: ESA's optical high-resolution mission for GMES operational services.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Remote Sensing of Environment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120, p. 25-36, 2012.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DUNN, P. K.; SMYTH, G. K. Series evaluation of Tweedie exponential dispersion model densities.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Statistics and Computing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15, n. 4, p. 267-280, 2005. DOI: 10.1007/s11222-005-4070-y.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DURIGON, V. L. et al. NDVI time series for monitoring RUSLE cover management factor in a tropical watershed.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International Journal of Remote Sensing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35, n. 2, p. 441-453, 2014.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EFRON, B. Bootstrap methods: another look at the jackknife.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The Annals of Statistics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7, n. 1, p. 1-26, 1979. DOI: 10.1214/aos/1176344552.</a:t>
            </a:r>
            <a:pPr indent="0" marL="0">
              <a:spcAft>
                <a:spcPts val="400"/>
              </a:spcAft>
              <a:buNone/>
            </a:pP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Referências (ABNT NBR 6023) — 2/3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51560"/>
            <a:ext cx="822960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EUROPEAN SPACE AGENCY.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Copernicus Global Digital Elevation Model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. [S. l.]: ESA, [s. d.]. DOI: 10.5270/ESA-c5d3d65.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FRIEDMAN, J.; HASTIE, T.; TIBSHIRANI, R. Regularization paths for generalized linear models via coordinate descent.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Journal of Statistical Software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33, n. 1, p. 1-22, 2010.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FUNK, C. et al. The climate hazards infrared precipitation with stations: a new environmental record for monitoring extremes.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Scientific Data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2, art. 150066, 2015. DOI: 10.1038/sdata.2015.66.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GORELICK, N. et al. Google Earth Engine: planetary-scale geospatial analysis for everyone.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Remote Sensing of Environment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202, p. 18-27, 2017.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HANLEY, J. A.; MCNEIL, B. J. The meaning and use of the area under a receiver operating characteristic (ROC) curve.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Radiology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143, n. 1, p. 29-36, 1982.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HORVITZ, D. G.; THOMPSON, D. J. A generalization of sampling without replacement from a finite universe.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Journal of the American Statistical Association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47, p. 663-685, 1952.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KAUFMAN, S. et al. Leakage in data mining: formulation, detection, and avoidance.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ACM Transactions on Knowledge Discovery from Data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6, n. 4, art. 15, 2012.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KING, G.; ZENG, L. Logistic regression in rare events data.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Political Analysis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9, n. 2, p. 137-163, 2001.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LANDIS, J. R.; KOCH, G. G. The measurement of observer agreement for categorical data.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Biometrics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33, n. 1, p. 159-174, 1977.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NOSEK, B. A. et al. The preregistration revolution.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Proceedings of the National Academy of Sciences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115, n. 11, p. 2600-2606, 2018. DOI: 10.1073/pnas.1708274114.</a:t>
            </a:r>
            <a:pPr indent="0" marL="0">
              <a:spcAft>
                <a:spcPts val="400"/>
              </a:spcAft>
              <a:buNone/>
            </a:pP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Referências (ABNT NBR 6023) — 3/3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51560"/>
            <a:ext cx="822960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OLOFSSON, P. et al. Good practices for estimating area and assessing accuracy of land change.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Remote Sensing of Environment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148, p. 42-57, 2014.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PLOTON, P. et al. Spatial validation reveals poor predictive performance of large-scale ecological mapping models.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Nature Communications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11, 2020. DOI: 10.1038/s41467-020-18321-y.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RENARD, K. G. et al.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Predicting soil erosion by water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: a guide to conservation planning with the Revised Universal Soil Loss Equation (RUSLE). Washington, DC: USDA, 1997. 404 p. (Agriculture Handbook, 703).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RILEY, R. D. et al. Calculating the sample size required for developing a clinical prediction model.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BMJ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368, art. m441, 2020. DOI: 10.1136/bmj.m441.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ROBERTS, D. R. et al. Cross-validation strategies for data with temporal, spatial, hierarchical, or phylogenetic structure.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Ecography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40, n. 8, p. 913-929, 2017. DOI: 10.1111/ecog.02881.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SPEARMAN, C. The proof and measurement of association between two things.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The American Journal of Psychology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15, n. 1, p. 72-101, 1904.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VAN DER PLOEG, T.; AUSTIN, P. C.; STEYERBERG, E. W. Modern modelling techniques are data hungry: a simulation study for predicting dichotomous endpoints.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BMC Medical Research Methodology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14, art. 137, 2014. DOI: 10.1186/1471-2288-14-137.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WALTRICK, P. C. et al. Estimativa da erosividade de chuvas no estado do Paraná pelo método da pluviometria: atualização com dados de 1986 a 2008.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Revista Brasileira de Ciência do Solo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39, n. 1, p. 256-267, 2015. DOI: 10.1590/01000683rbcs20150147.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WISCHMEIER, W. H.; SMITH, D. D.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Predicting rainfall erosion losses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: a guide to conservation planning. Washington, DC: USDA, 1978. (Agriculture Handbook, 537).</a:t>
            </a:r>
            <a:pPr indent="0" marL="0">
              <a:spcAft>
                <a:spcPts val="400"/>
              </a:spcAft>
              <a:buNone/>
            </a:pP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REL Solo">
  <a:themeElements>
    <a:clrScheme name="SAREL Solo">
      <a:dk1>
        <a:srgbClr val="2B1B17"/>
      </a:dk1>
      <a:lt1>
        <a:srgbClr val="FFFFFF"/>
      </a:lt1>
      <a:dk2>
        <a:srgbClr val="8E3A24"/>
      </a:dk2>
      <a:lt2>
        <a:srgbClr val="F3EEEA"/>
      </a:lt2>
      <a:accent1>
        <a:srgbClr val="8E3A24"/>
      </a:accent1>
      <a:accent2>
        <a:srgbClr val="2E7D6B"/>
      </a:accent2>
      <a:accent3>
        <a:srgbClr val="D9A441"/>
      </a:accent3>
      <a:accent4>
        <a:srgbClr val="4A6FA5"/>
      </a:accent4>
      <a:accent5>
        <a:srgbClr val="6B5B53"/>
      </a:accent5>
      <a:accent6>
        <a:srgbClr val="B9AFA6"/>
      </a:accent6>
      <a:hlink>
        <a:srgbClr val="4A6FA5"/>
      </a:hlink>
      <a:folHlink>
        <a:srgbClr val="6B5B53"/>
      </a:folHlink>
    </a:clrScheme>
    <a:fontScheme name="SAREL Sol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SAREL v2 — método, procedimentos e modelagem estatística</dc:title>
  <dc:subject>PptxGenJS Presentation</dc:subject>
  <dc:creator>PPGTCA 2026</dc:creator>
  <cp:lastModifiedBy>PPGTCA 2026</cp:lastModifiedBy>
  <cp:revision>1</cp:revision>
  <dcterms:created xsi:type="dcterms:W3CDTF">2026-10-09T19:52:42Z</dcterms:created>
  <dcterms:modified xsi:type="dcterms:W3CDTF">2026-10-09T19:52:42Z</dcterms:modified>
</cp:coreProperties>
</file>