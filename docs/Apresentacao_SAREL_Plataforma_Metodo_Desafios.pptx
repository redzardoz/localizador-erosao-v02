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B2A22"/>
                </a:solidFill>
                <a:latin typeface="Arial"/>
              </a:defRPr>
            </a:pPr>
            <a:r>
              <a:rPr sz="1200" b="0" i="0" u="none" strike="noStrike">
                <a:solidFill>
                  <a:srgbClr val="1B2A22"/>
                </a:solidFill>
                <a:latin typeface="Arial"/>
              </a:rPr>
              <a:t>Elegibilidade (limite superior, %)</a:t>
            </a:r>
          </a:p>
        </c:rich>
      </c:tx>
      <c:layout/>
      <c:overlay val="0"/>
    </c:title>
    <c:autoTitleDeleted val="0"/>
    <c:plotArea>
      <c:layout/>
      <c:barChart>
        <c:barDir val="col"/>
        <c:grouping val="clustered"/>
        <c:varyColors val="0"/>
        <c:ser>
          <c:idx val="0"/>
          <c:order val="0"/>
          <c:tx>
            <c:strRef>
              <c:f>Sheet1!$B$1</c:f>
              <c:strCache>
                <c:ptCount val="1"/>
                <c:pt idx="0">
                  <c:v>Imóveis elegíveis (%)</c:v>
                </c:pt>
              </c:strCache>
            </c:strRef>
          </c:tx>
          <c:spPr>
            <a:solidFill>
              <a:srgbClr val="2F6B4F"/>
            </a:solidFill>
            <a:effectLst/>
          </c:spPr>
          <c:invertIfNegative val="0"/>
          <c:dLbls>
            <c:numFmt formatCode="0.0" sourceLinked="0"/>
            <c:txPr>
              <a:bodyPr/>
              <a:lstStyle/>
              <a:p>
                <a:pPr>
                  <a:defRPr b="0" i="0" strike="noStrike" sz="1200" u="none">
                    <a:solidFill>
                      <a:srgbClr val="1B2A22"/>
                    </a:solidFill>
                    <a:latin typeface="Arial"/>
                  </a:defRPr>
                </a:pPr>
              </a:p>
            </c:txPr>
            <c:showLegendKey val="0"/>
            <c:showVal val="1"/>
            <c:showCatName val="0"/>
            <c:showSerName val="0"/>
            <c:showPercent val="0"/>
            <c:showBubbleSize val="0"/>
            <c:showLeaderLines val="0"/>
          </c:dLbls>
          <c:cat>
            <c:multiLvlStrRef>
              <c:f>Sheet1!$A$2:$A$4</c:f>
              <c:multiLvlStrCache>
                <c:ptCount val="3"/>
                <c:lvl>
                  <c:pt idx="0">
                    <c:v>10 ha (quadrado)</c:v>
                  </c:pt>
                  <c:pt idx="1">
                    <c:v>5,02 ha (quadrado)</c:v>
                  </c:pt>
                  <c:pt idx="2">
                    <c:v>5,02 ha (retângulo até 1:2)</c:v>
                  </c:pt>
                </c:lvl>
              </c:multiLvlStrCache>
            </c:multiLvlStrRef>
          </c:cat>
          <c:val>
            <c:numRef>
              <c:f>Sheet1!$B$2:$B$4</c:f>
              <c:numCache>
                <c:formatCode>General</c:formatCode>
                <c:ptCount val="3"/>
                <c:pt idx="0">
                  <c:v>43.4</c:v>
                </c:pt>
                <c:pt idx="1">
                  <c:v>64.7</c:v>
                </c:pt>
                <c:pt idx="2">
                  <c:v>71.8</c:v>
                </c:pt>
              </c:numCache>
            </c:numRef>
          </c:val>
        </c:ser>
        <c:dLbls>
          <c:numFmt formatCode="0.0" sourceLinked="0"/>
          <c:txPr>
            <a:bodyPr/>
            <a:lstStyle/>
            <a:p>
              <a:pPr>
                <a:defRPr b="0" i="0" strike="noStrike" sz="1200" u="none">
                  <a:solidFill>
                    <a:srgbClr val="1B2A22"/>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B2A22"/>
                </a:solidFill>
                <a:latin typeface="Arial"/>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5DDD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2605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Esta apresentação descreve o aplicativo e o método, com as telas atuais, e dedica uma parte às dificuldades reais de obter e coordenar amostras. Ainda não há resultado empírico; o que se apresenta é o método, a plataforma e o que já foi medido sobre a viabilidade da amostragem.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Três restrições moldam tudo. A erosão laminar é uma mancha contínua na vertente, então um ponto de campo representa mal o fenômeno. O rótulo só vale se vier de observação humana sobre imagem de alta resolução; o que é calculado nunca vira rótulo. E o acesso depende de proprietários de áreas pequenas: a mediana dos imóveis rurais da bacia é de 11,7 ha. A pergunta do trabalho: como obter uma amostra defensável sob essas restrições e registrar cada passo de forma auditável.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Tela inicial do aplicativo, versão atual. No topo, os módulos na ordem de uso: Amostragem GEE, Campanha e Rótulos, Matriz de Treino, Exportar, mais Configurações e Governança. À esquerda, as áreas de amostragem; no mapa, a legenda deixa claro que BSI e NDVI geram apenas candidatos espectrais, e não rótulos.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Este é o núcleo da justificativa da ordem. Cada linha diz o que se faz e por que vem naquele ponto. O ponto crítico é a etapa 4: como o sorteio é irreversível, é preciso saber antes se cada estrato tem candidatos suficientes. A etapa 5 vem antes do contato com os proprietários para que o local não seja escolhido por conveniência ou por suspeita de erosão.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A segunda metade. A etapa 6 só pode acontecer depois do selo, porque só então se sabe quem contatar; por isso a recusa precisa de um protocolo que não refaça o sorteio. O voo e a delineação são cegos para o estrato e o papel. O campo é âncora, não treino. A avaliação é única e por último.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Estratificar é dividir os candidatos em grupos internamente parecidos e amostrar cada grupo separadamente, para que as combinações raras também entrem na amostra. Usamos três dimensões. Declividade, em três faixas (tercis): é a energia do relevo, que governa o escoamento. Frequência de solo nu, em três faixas: é o tempo em que o solo fica descoberto e exposto à chuva. Erodibilidade, em dois níveis: é a suscetibilidade intrínseca do solo, vinda da carta da Embrapa de 2024; nível 2 são as classes alta, muito alta e extremamente alta. Tercil significa dividir os candidatos em três grupos de tamanho aproximado; os dois cortes são calculados sobre os candidatos da própria área, e valores empatados no corte caem no grupo mais baixo, de modo que os grupos podem diferir um pouco em tamanho. 3 x 3 x 2 dá 18 estratos, com quatro polígonos cada: dois para treino e dois para teste. A decisão sobre a classe 6 foi aprovada em 19/10 e está em registro.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Esta é a primeira dificuldade real. Numa medição preliminar de 29/09/2026 sobre 90 candidatos, só 5 estavam no nível de erodibilidade alta dentro da faixa de declividade do método. A extrapolação para os 593 imóveis do divisor de águas dava cerca de 33. Hoje o desenho pede 36 titulares nesse nível (9 estratos vezes 4), mais reservas. Atenção: é um indício, calculado sobre um artefato pequeno, e o pool real ainda não foi medido. Há uma ferramenta pronta para medir. A tentação de mover o limiar de erodibilidade para acomodar a amostra foi recusada: o limiar é físico e vem da fonte.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Para voar é preciso autorização, e para pedir autorização o polígono tem de caber dentro de um só imóvel. Sobre os 73.643 imóveis rurais do envelope da bacia, com mediana de 11,7 ha, um quadrado de 10 ha cabia em apenas 43,4%. Ao reduzir para 5,02 ha, a elegibilidade sobe para 64,7%, e para 71,8% admitindo retângulo com razão até 1:2. Atenção: são limites superiores, pois o teste usa a caixa envolvente do imóvel. O custo foi dobrar as autorizações, de 36 para 72, e fica um viés declarado: amostras só em imóveis maiores, que tendem a ter outro manejo.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O sorteio registra semente, commit do código, hash do conjunto de candidatos e uma tabela reversa de códigos opacos, que fica fora do Git. Uma vez gerado, o selo não pode ser refeito, senão se poderia escolher o sorteio que favoreça o resultado. Mas e se o proprietário recusar? A proposta, ainda sem parâmetros decididos, é o mesmo selo trazer, por estrato, uma lista ordenada de reservas: a recusa aciona a próxima do mesmo estrato, que herda o papel de treino ou teste. A ferramenta de pool já existe; a parte das reservas está em implementação.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Quantidade de voos: são 72 polígonos de 5,02 ha, ou seja, 72 missões de mapeamento, uma por polígono; eram 36 no desenho anterior. Elas não precisam ser 72 saídas: o planejador agrupa polígonos próximos em jornadas de campo, com teto padrão de 6 polígonos por jornada, ajustável, o que dá cerca de 12 jornadas. Esse agrupamento é uma proposta do planejador, ainda não validada em campo. Tempo de voo: a produtividade medida foi de 2,3 ha/min na Missão 009, o que dá cerca de 2,2 min por polígono; mas a única outra missão válida, a 000, teve 0,53 ha/min, o que dá cerca de 9,5 min. Com duas missões medidas, a faixa honesta é de 2 a 10 minutos por polígono, ou de 2,6 a 11 horas de voo no total, sem contar deslocamento. O que domina a campanha é deslocamento, montagem e as 72 autorizações. O número de baterias e de decolagens não está definido: depende da aeronave e do agrupamento, e não tenho esse dado. A tela mostra os três conjuntos da campanha.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O alvo do modelo não é uma classe, e sim a fração da célula de 10 m delineada como erodida, entre 0 e 1, obtida por rasterização da delineação feita sobre o ortomosaico. O binário, fração maior ou igual a 25%, é derivado e secundário. O intérprete recebe só um código opaco, sem estrato nem papel; o app tem exportação cega por perfil. Isso impede que o modelo aprenda a concordar com o rastreio espectral. Planos de voo só saem com terreno real; os de demonstração são marcados como sintéticos.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O campo deixou de ser massa de treino e virou âncora: 60 a 80 pontos dispersos pela bacia, fora dos polígonos, sorteados com probabilidade conhecida, coletados no aplicativo SAREL Coletor, em Android, sob protocolo cego. A função é estimar a prevalência real, por estimador ponderado, e calibrar a acurácia posicional do aparelho. A campanha tem duas ondas; os 30 primeiros pontos são lote piloto. O KoboCollect foi substituído e a fotointerpretação foi aposentada, porque o rótulo centimétrico do voo é melhor e mais fiel ao fenômeno.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A tela mostra o registro oficial das decisões, com o critério de refutação de D25: três competidores (linha de base RUSLE, regressão penalizada e XGBoost), métrica primária de Spearman no held-out, piso de 0,40 e margem de 0,10 sobre a RUSLE. A inferência usa bootstrap por polígono, porque células do mesmo polígono não são independentes. Os desfechos são corroborada, inconclusiva ou refutada. O estado exibido hoje é 'não avaliado', e isso é intencional: não há resultado. O script grava uma trava e recusa uma segunda avaliação.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Honestidade sobre o estágio: o que está pronto e o que depende de decisões e de dados. Não há resultado empírico. O sorteio ainda não foi realizado; há decisões do pesquisador pendentes que o sorteio exige e a checagem do pool com candidatos reais. A cifra de acerto de atribuição, antes citada, segue em verificação.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(Consulta) Lista das referências que sustentam as decisões apresentadas, nos termos em que constam do registro de decisões. As marcadas com † tiveram a leitura e a conferência da fonte feitas no projeto; as demais constam do registro e aguardam conferência bibliográfica completa antes da dissertação.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241C"/>
        </a:solidFill>
      </p:bgPr>
    </p:bg>
    <p:spTree>
      <p:nvGrpSpPr>
        <p:cNvPr id="1" name=""/>
        <p:cNvGrpSpPr/>
        <p:nvPr/>
      </p:nvGrpSpPr>
      <p:grpSpPr>
        <a:xfrm>
          <a:off x="0" y="0"/>
          <a:ext cx="0" cy="0"/>
          <a:chOff x="0" y="0"/>
          <a:chExt cx="0" cy="0"/>
        </a:xfrm>
      </p:grpSpPr>
      <p:sp>
        <p:nvSpPr>
          <p:cNvPr id="2" name="Text 0"/>
          <p:cNvSpPr txBox="1"/>
          <p:nvPr/>
        </p:nvSpPr>
        <p:spPr>
          <a:xfrm>
            <a:off x="548640" y="411480"/>
            <a:ext cx="8046720" cy="137160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SAREL: uma plataforma para amostrar, rotular e auditar erosão laminar</a:t>
            </a:r>
            <a:endParaRPr lang="en-US" sz="3000" dirty="0"/>
          </a:p>
        </p:txBody>
      </p:sp>
      <p:sp>
        <p:nvSpPr>
          <p:cNvPr id="3" name="Text 1"/>
          <p:cNvSpPr txBox="1"/>
          <p:nvPr/>
        </p:nvSpPr>
        <p:spPr>
          <a:xfrm>
            <a:off x="548640" y="1874520"/>
            <a:ext cx="8046720" cy="640080"/>
          </a:xfrm>
          <a:prstGeom prst="rect">
            <a:avLst/>
          </a:prstGeom>
          <a:noFill/>
          <a:ln/>
        </p:spPr>
        <p:txBody>
          <a:bodyPr wrap="square" lIns="0" tIns="0" rIns="0" bIns="0" rtlCol="0" anchor="t"/>
          <a:lstStyle/>
          <a:p>
            <a:pPr indent="0" marL="0">
              <a:buNone/>
            </a:pPr>
            <a:r>
              <a:rPr lang="en-US" sz="1600" dirty="0">
                <a:solidFill>
                  <a:srgbClr val="8DB596"/>
                </a:solidFill>
                <a:latin typeface="Calibri" pitchFamily="34" charset="0"/>
                <a:ea typeface="Calibri" pitchFamily="34" charset="-122"/>
                <a:cs typeface="Calibri" pitchFamily="34" charset="-120"/>
              </a:rPr>
              <a:t>Como o aplicativo funciona, como a metodologia define a sequência e o que dificultou obter e coordenar as amostras</a:t>
            </a:r>
            <a:endParaRPr lang="en-US" sz="1600" dirty="0"/>
          </a:p>
        </p:txBody>
      </p:sp>
      <p:sp>
        <p:nvSpPr>
          <p:cNvPr id="4" name="Text 2"/>
          <p:cNvSpPr txBox="1"/>
          <p:nvPr/>
        </p:nvSpPr>
        <p:spPr>
          <a:xfrm>
            <a:off x="548640" y="2743200"/>
            <a:ext cx="8046720" cy="86868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Luis Alfredo Ferreira da Silva</a:t>
            </a:r>
            <a:endParaRPr lang="en-US" sz="1400" dirty="0"/>
          </a:p>
          <a:p>
            <a:pPr indent="0" marL="0">
              <a:buNone/>
            </a:pPr>
            <a:r>
              <a:rPr lang="en-US" sz="1400" b="1" dirty="0">
                <a:solidFill>
                  <a:srgbClr val="FFFFFF"/>
                </a:solidFill>
                <a:latin typeface="Calibri" pitchFamily="34" charset="0"/>
                <a:ea typeface="Calibri" pitchFamily="34" charset="-122"/>
                <a:cs typeface="Calibri" pitchFamily="34" charset="-120"/>
              </a:rPr>
              <a:t>Fabiana Costa de Araujo Schutz</a:t>
            </a:r>
            <a:endParaRPr lang="en-US" sz="1400" dirty="0"/>
          </a:p>
          <a:p>
            <a:pPr indent="0" marL="0">
              <a:buNone/>
            </a:pPr>
            <a:r>
              <a:rPr lang="en-US" sz="1400" b="1" dirty="0">
                <a:solidFill>
                  <a:srgbClr val="FFFFFF"/>
                </a:solidFill>
                <a:latin typeface="Calibri" pitchFamily="34" charset="0"/>
                <a:ea typeface="Calibri" pitchFamily="34" charset="-122"/>
                <a:cs typeface="Calibri" pitchFamily="34" charset="-120"/>
              </a:rPr>
              <a:t>Kiria Vitoria Nakahati</a:t>
            </a:r>
            <a:endParaRPr lang="en-US" sz="1400" dirty="0"/>
          </a:p>
        </p:txBody>
      </p:sp>
      <p:sp>
        <p:nvSpPr>
          <p:cNvPr id="5" name="Text 3"/>
          <p:cNvSpPr txBox="1"/>
          <p:nvPr/>
        </p:nvSpPr>
        <p:spPr>
          <a:xfrm>
            <a:off x="548640" y="3657600"/>
            <a:ext cx="8046720" cy="274320"/>
          </a:xfrm>
          <a:prstGeom prst="rect">
            <a:avLst/>
          </a:prstGeom>
          <a:noFill/>
          <a:ln/>
        </p:spPr>
        <p:txBody>
          <a:bodyPr wrap="square" lIns="0" tIns="0" rIns="0" bIns="0" rtlCol="0" anchor="t"/>
          <a:lstStyle/>
          <a:p>
            <a:pPr indent="0" marL="0">
              <a:buNone/>
            </a:pPr>
            <a:r>
              <a:rPr lang="en-US" sz="1400" dirty="0">
                <a:solidFill>
                  <a:srgbClr val="E4E9E3"/>
                </a:solidFill>
                <a:latin typeface="Calibri" pitchFamily="34" charset="0"/>
                <a:ea typeface="Calibri" pitchFamily="34" charset="-122"/>
                <a:cs typeface="Calibri" pitchFamily="34" charset="-120"/>
              </a:rPr>
              <a:t>Orientador: Claudio Leones Bazzi</a:t>
            </a:r>
            <a:endParaRPr lang="en-US" sz="1400" dirty="0"/>
          </a:p>
        </p:txBody>
      </p:sp>
      <p:sp>
        <p:nvSpPr>
          <p:cNvPr id="6" name="Text 4"/>
          <p:cNvSpPr txBox="1"/>
          <p:nvPr/>
        </p:nvSpPr>
        <p:spPr>
          <a:xfrm>
            <a:off x="548640" y="4160520"/>
            <a:ext cx="8046720" cy="548640"/>
          </a:xfrm>
          <a:prstGeom prst="rect">
            <a:avLst/>
          </a:prstGeom>
          <a:noFill/>
          <a:ln/>
        </p:spPr>
        <p:txBody>
          <a:bodyPr wrap="square" lIns="0" tIns="0" rIns="0" bIns="0" rtlCol="0" anchor="t"/>
          <a:lstStyle/>
          <a:p>
            <a:pPr indent="0" marL="0">
              <a:buNone/>
            </a:pPr>
            <a:r>
              <a:rPr lang="en-US" sz="1200" dirty="0">
                <a:solidFill>
                  <a:srgbClr val="E4E9E3"/>
                </a:solidFill>
                <a:latin typeface="Calibri" pitchFamily="34" charset="0"/>
                <a:ea typeface="Calibri" pitchFamily="34" charset="-122"/>
                <a:cs typeface="Calibri" pitchFamily="34" charset="-120"/>
              </a:rPr>
              <a:t>Programa de Pós-Graduação em Tecnologias Computacionais para o Agronegócio (PPGTCA), Universidade Tecnológica Federal do Paraná (UTFPR), Campus Medianeira</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O desafio: amostrar o que só um observador consegue rotular</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2</a:t>
            </a:r>
            <a:endParaRPr lang="en-US" sz="1000" dirty="0"/>
          </a:p>
        </p:txBody>
      </p:sp>
      <p:sp>
        <p:nvSpPr>
          <p:cNvPr id="5" name="Shape 2"/>
          <p:cNvSpPr/>
          <p:nvPr/>
        </p:nvSpPr>
        <p:spPr>
          <a:xfrm>
            <a:off x="457200" y="1188720"/>
            <a:ext cx="2606040" cy="2286000"/>
          </a:xfrm>
          <a:prstGeom prst="roundRect">
            <a:avLst>
              <a:gd name="adj" fmla="val 3200"/>
            </a:avLst>
          </a:prstGeom>
          <a:solidFill>
            <a:srgbClr val="EEF3EF"/>
          </a:solidFill>
          <a:ln w="12700">
            <a:solidFill>
              <a:srgbClr val="EEF3EF"/>
            </a:solidFill>
            <a:prstDash val="solid"/>
          </a:ln>
        </p:spPr>
      </p:sp>
      <p:sp>
        <p:nvSpPr>
          <p:cNvPr id="6" name="Text 3"/>
          <p:cNvSpPr txBox="1"/>
          <p:nvPr/>
        </p:nvSpPr>
        <p:spPr>
          <a:xfrm>
            <a:off x="640080" y="1325880"/>
            <a:ext cx="2240280" cy="365760"/>
          </a:xfrm>
          <a:prstGeom prst="rect">
            <a:avLst/>
          </a:prstGeom>
          <a:noFill/>
          <a:ln/>
        </p:spPr>
        <p:txBody>
          <a:bodyPr wrap="square" lIns="0" tIns="0" rIns="0" bIns="0" rtlCol="0" anchor="t"/>
          <a:lstStyle/>
          <a:p>
            <a:pPr indent="0" marL="0">
              <a:buNone/>
            </a:pPr>
            <a:r>
              <a:rPr lang="en-US" sz="1800" b="1" dirty="0">
                <a:solidFill>
                  <a:srgbClr val="2F6B4F"/>
                </a:solidFill>
                <a:latin typeface="Cambria" pitchFamily="34" charset="0"/>
                <a:ea typeface="Cambria" pitchFamily="34" charset="-122"/>
                <a:cs typeface="Cambria" pitchFamily="34" charset="-120"/>
              </a:rPr>
              <a:t>O fenômeno</a:t>
            </a:r>
            <a:endParaRPr lang="en-US" sz="1800" dirty="0"/>
          </a:p>
        </p:txBody>
      </p:sp>
      <p:sp>
        <p:nvSpPr>
          <p:cNvPr id="7" name="Text 4"/>
          <p:cNvSpPr txBox="1"/>
          <p:nvPr/>
        </p:nvSpPr>
        <p:spPr>
          <a:xfrm>
            <a:off x="640080" y="1783080"/>
            <a:ext cx="2240280" cy="1645920"/>
          </a:xfrm>
          <a:prstGeom prst="rect">
            <a:avLst/>
          </a:prstGeom>
          <a:noFill/>
          <a:ln/>
        </p:spPr>
        <p:txBody>
          <a:bodyPr wrap="square" lIns="0" tIns="0" rIns="0" bIns="0" rtlCol="0" anchor="t"/>
          <a:lstStyle/>
          <a:p>
            <a:pPr indent="0" marL="0">
              <a:buNone/>
            </a:pPr>
            <a:r>
              <a:rPr lang="en-US" sz="1400" dirty="0">
                <a:solidFill>
                  <a:srgbClr val="1B2A22"/>
                </a:solidFill>
                <a:latin typeface="Calibri" pitchFamily="34" charset="0"/>
                <a:ea typeface="Calibri" pitchFamily="34" charset="-122"/>
                <a:cs typeface="Calibri" pitchFamily="34" charset="-120"/>
              </a:rPr>
              <a:t>A erosão laminar é uma mancha contínua na vertente, e não uma ocorrência pontual (D16).</a:t>
            </a:r>
            <a:endParaRPr lang="en-US" sz="1400" dirty="0"/>
          </a:p>
        </p:txBody>
      </p:sp>
      <p:sp>
        <p:nvSpPr>
          <p:cNvPr id="8" name="Shape 5"/>
          <p:cNvSpPr/>
          <p:nvPr/>
        </p:nvSpPr>
        <p:spPr>
          <a:xfrm>
            <a:off x="3246120" y="1188720"/>
            <a:ext cx="2606040" cy="2286000"/>
          </a:xfrm>
          <a:prstGeom prst="roundRect">
            <a:avLst>
              <a:gd name="adj" fmla="val 3200"/>
            </a:avLst>
          </a:prstGeom>
          <a:solidFill>
            <a:srgbClr val="EEF3EF"/>
          </a:solidFill>
          <a:ln w="12700">
            <a:solidFill>
              <a:srgbClr val="EEF3EF"/>
            </a:solidFill>
            <a:prstDash val="solid"/>
          </a:ln>
        </p:spPr>
      </p:sp>
      <p:sp>
        <p:nvSpPr>
          <p:cNvPr id="9" name="Text 6"/>
          <p:cNvSpPr txBox="1"/>
          <p:nvPr/>
        </p:nvSpPr>
        <p:spPr>
          <a:xfrm>
            <a:off x="3429000" y="1325880"/>
            <a:ext cx="2240280" cy="365760"/>
          </a:xfrm>
          <a:prstGeom prst="rect">
            <a:avLst/>
          </a:prstGeom>
          <a:noFill/>
          <a:ln/>
        </p:spPr>
        <p:txBody>
          <a:bodyPr wrap="square" lIns="0" tIns="0" rIns="0" bIns="0" rtlCol="0" anchor="t"/>
          <a:lstStyle/>
          <a:p>
            <a:pPr indent="0" marL="0">
              <a:buNone/>
            </a:pPr>
            <a:r>
              <a:rPr lang="en-US" sz="1800" b="1" dirty="0">
                <a:solidFill>
                  <a:srgbClr val="2F6B4F"/>
                </a:solidFill>
                <a:latin typeface="Cambria" pitchFamily="34" charset="0"/>
                <a:ea typeface="Cambria" pitchFamily="34" charset="-122"/>
                <a:cs typeface="Cambria" pitchFamily="34" charset="-120"/>
              </a:rPr>
              <a:t>O rótulo</a:t>
            </a:r>
            <a:endParaRPr lang="en-US" sz="1800" dirty="0"/>
          </a:p>
        </p:txBody>
      </p:sp>
      <p:sp>
        <p:nvSpPr>
          <p:cNvPr id="10" name="Text 7"/>
          <p:cNvSpPr txBox="1"/>
          <p:nvPr/>
        </p:nvSpPr>
        <p:spPr>
          <a:xfrm>
            <a:off x="3429000" y="1783080"/>
            <a:ext cx="2240280" cy="1645920"/>
          </a:xfrm>
          <a:prstGeom prst="rect">
            <a:avLst/>
          </a:prstGeom>
          <a:noFill/>
          <a:ln/>
        </p:spPr>
        <p:txBody>
          <a:bodyPr wrap="square" lIns="0" tIns="0" rIns="0" bIns="0" rtlCol="0" anchor="t"/>
          <a:lstStyle/>
          <a:p>
            <a:pPr indent="0" marL="0">
              <a:buNone/>
            </a:pPr>
            <a:r>
              <a:rPr lang="en-US" sz="1400" dirty="0">
                <a:solidFill>
                  <a:srgbClr val="1B2A22"/>
                </a:solidFill>
                <a:latin typeface="Calibri" pitchFamily="34" charset="0"/>
                <a:ea typeface="Calibri" pitchFamily="34" charset="-122"/>
                <a:cs typeface="Calibri" pitchFamily="34" charset="-120"/>
              </a:rPr>
              <a:t>Só vale observação humana sobre imagem de alta resolução (VANT, ≈ 4 cm). O que é calculado não vira rótulo (Regra 4).</a:t>
            </a:r>
            <a:endParaRPr lang="en-US" sz="1400" dirty="0"/>
          </a:p>
        </p:txBody>
      </p:sp>
      <p:sp>
        <p:nvSpPr>
          <p:cNvPr id="11" name="Shape 8"/>
          <p:cNvSpPr/>
          <p:nvPr/>
        </p:nvSpPr>
        <p:spPr>
          <a:xfrm>
            <a:off x="6035040" y="1188720"/>
            <a:ext cx="2606040" cy="2286000"/>
          </a:xfrm>
          <a:prstGeom prst="roundRect">
            <a:avLst>
              <a:gd name="adj" fmla="val 3200"/>
            </a:avLst>
          </a:prstGeom>
          <a:solidFill>
            <a:srgbClr val="EEF3EF"/>
          </a:solidFill>
          <a:ln w="12700">
            <a:solidFill>
              <a:srgbClr val="EEF3EF"/>
            </a:solidFill>
            <a:prstDash val="solid"/>
          </a:ln>
        </p:spPr>
      </p:sp>
      <p:sp>
        <p:nvSpPr>
          <p:cNvPr id="12" name="Text 9"/>
          <p:cNvSpPr txBox="1"/>
          <p:nvPr/>
        </p:nvSpPr>
        <p:spPr>
          <a:xfrm>
            <a:off x="6217920" y="1325880"/>
            <a:ext cx="2240280" cy="365760"/>
          </a:xfrm>
          <a:prstGeom prst="rect">
            <a:avLst/>
          </a:prstGeom>
          <a:noFill/>
          <a:ln/>
        </p:spPr>
        <p:txBody>
          <a:bodyPr wrap="square" lIns="0" tIns="0" rIns="0" bIns="0" rtlCol="0" anchor="t"/>
          <a:lstStyle/>
          <a:p>
            <a:pPr indent="0" marL="0">
              <a:buNone/>
            </a:pPr>
            <a:r>
              <a:rPr lang="en-US" sz="1800" b="1" dirty="0">
                <a:solidFill>
                  <a:srgbClr val="2F6B4F"/>
                </a:solidFill>
                <a:latin typeface="Cambria" pitchFamily="34" charset="0"/>
                <a:ea typeface="Cambria" pitchFamily="34" charset="-122"/>
                <a:cs typeface="Cambria" pitchFamily="34" charset="-120"/>
              </a:rPr>
              <a:t>O acesso</a:t>
            </a:r>
            <a:endParaRPr lang="en-US" sz="1800" dirty="0"/>
          </a:p>
        </p:txBody>
      </p:sp>
      <p:sp>
        <p:nvSpPr>
          <p:cNvPr id="13" name="Text 10"/>
          <p:cNvSpPr txBox="1"/>
          <p:nvPr/>
        </p:nvSpPr>
        <p:spPr>
          <a:xfrm>
            <a:off x="6217920" y="1783080"/>
            <a:ext cx="2240280" cy="1645920"/>
          </a:xfrm>
          <a:prstGeom prst="rect">
            <a:avLst/>
          </a:prstGeom>
          <a:noFill/>
          <a:ln/>
        </p:spPr>
        <p:txBody>
          <a:bodyPr wrap="square" lIns="0" tIns="0" rIns="0" bIns="0" rtlCol="0" anchor="t"/>
          <a:lstStyle/>
          <a:p>
            <a:pPr indent="0" marL="0">
              <a:buNone/>
            </a:pPr>
            <a:r>
              <a:rPr lang="en-US" sz="1400" dirty="0">
                <a:solidFill>
                  <a:srgbClr val="1B2A22"/>
                </a:solidFill>
                <a:latin typeface="Calibri" pitchFamily="34" charset="0"/>
                <a:ea typeface="Calibri" pitchFamily="34" charset="-122"/>
                <a:cs typeface="Calibri" pitchFamily="34" charset="-120"/>
              </a:rPr>
              <a:t>Cada polígono voado exige autorização do proprietário, em imóveis pequenos: mediana de 11,7 ha na bacia.</a:t>
            </a:r>
            <a:endParaRPr lang="en-US" sz="1400" dirty="0"/>
          </a:p>
        </p:txBody>
      </p:sp>
      <p:sp>
        <p:nvSpPr>
          <p:cNvPr id="14" name="Text 11"/>
          <p:cNvSpPr txBox="1"/>
          <p:nvPr/>
        </p:nvSpPr>
        <p:spPr>
          <a:xfrm>
            <a:off x="457200" y="3749040"/>
            <a:ext cx="8229600" cy="731520"/>
          </a:xfrm>
          <a:prstGeom prst="rect">
            <a:avLst/>
          </a:prstGeom>
          <a:noFill/>
          <a:ln/>
        </p:spPr>
        <p:txBody>
          <a:bodyPr wrap="square" lIns="0" tIns="0" rIns="0" bIns="0" rtlCol="0" anchor="t"/>
          <a:lstStyle/>
          <a:p>
            <a:pPr indent="0" marL="0">
              <a:buNone/>
            </a:pPr>
            <a:r>
              <a:rPr lang="en-US" sz="1800" i="1" dirty="0">
                <a:solidFill>
                  <a:srgbClr val="C65D3B"/>
                </a:solidFill>
                <a:latin typeface="Cambria" pitchFamily="34" charset="0"/>
                <a:ea typeface="Cambria" pitchFamily="34" charset="-122"/>
                <a:cs typeface="Cambria" pitchFamily="34" charset="-120"/>
              </a:rPr>
              <a:t>Como obter uma amostra defensável sob essas restrições e registrar cada passo de forma auditável?</a:t>
            </a:r>
            <a:endParaRPr lang="en-US" sz="1800" dirty="0"/>
          </a:p>
        </p:txBody>
      </p:sp>
      <p:sp>
        <p:nvSpPr>
          <p:cNvPr id="15" name="Text 12"/>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Fonte: registro de decisões D16 e levantamento de 29/09/2026 (73.643 imóveis rurais do envelope da bacia).</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O SAREL em uma tela</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3</a:t>
            </a:r>
            <a:endParaRPr lang="en-US" sz="1000" dirty="0"/>
          </a:p>
        </p:txBody>
      </p:sp>
      <p:sp>
        <p:nvSpPr>
          <p:cNvPr id="5" name="Shape 2"/>
          <p:cNvSpPr/>
          <p:nvPr/>
        </p:nvSpPr>
        <p:spPr>
          <a:xfrm>
            <a:off x="438912" y="987552"/>
            <a:ext cx="5242276" cy="3145536"/>
          </a:xfrm>
          <a:prstGeom prst="rect">
            <a:avLst/>
          </a:prstGeom>
          <a:solidFill>
            <a:srgbClr val="FFFFFF"/>
          </a:solidFill>
          <a:ln w="9525">
            <a:solidFill>
              <a:srgbClr val="B8C4BC"/>
            </a:solidFill>
            <a:prstDash val="solid"/>
          </a:ln>
        </p:spPr>
      </p:sp>
      <p:pic>
        <p:nvPicPr>
          <p:cNvPr id="6" name="Image 0" descr="img/principal.png">    </p:cNvPr>
          <p:cNvPicPr>
            <a:picLocks noChangeAspect="1"/>
          </p:cNvPicPr>
          <p:nvPr/>
        </p:nvPicPr>
        <p:blipFill>
          <a:blip r:embed="rId1"/>
          <a:stretch>
            <a:fillRect/>
          </a:stretch>
        </p:blipFill>
        <p:spPr>
          <a:xfrm>
            <a:off x="457200" y="1005840"/>
            <a:ext cx="5205700" cy="3108960"/>
          </a:xfrm>
          <a:prstGeom prst="rect">
            <a:avLst/>
          </a:prstGeom>
        </p:spPr>
      </p:pic>
      <p:sp>
        <p:nvSpPr>
          <p:cNvPr id="7" name="Text 3"/>
          <p:cNvSpPr txBox="1"/>
          <p:nvPr/>
        </p:nvSpPr>
        <p:spPr>
          <a:xfrm>
            <a:off x="457200" y="4206240"/>
            <a:ext cx="5212080" cy="457200"/>
          </a:xfrm>
          <a:prstGeom prst="rect">
            <a:avLst/>
          </a:prstGeom>
          <a:noFill/>
          <a:ln/>
        </p:spPr>
        <p:txBody>
          <a:bodyPr wrap="square" lIns="0" tIns="0" rIns="0" bIns="0" rtlCol="0" anchor="t"/>
          <a:lstStyle/>
          <a:p>
            <a:pPr indent="0" marL="0">
              <a:buNone/>
            </a:pPr>
            <a:r>
              <a:rPr lang="en-US" sz="1100" i="1" dirty="0">
                <a:solidFill>
                  <a:srgbClr val="52605A"/>
                </a:solidFill>
                <a:latin typeface="Calibri" pitchFamily="34" charset="0"/>
                <a:ea typeface="Calibri" pitchFamily="34" charset="-122"/>
                <a:cs typeface="Calibri" pitchFamily="34" charset="-120"/>
              </a:rPr>
              <a:t>Tela inicial: módulos no topo, áreas e filtros à esquerda, mapa e legenda.</a:t>
            </a:r>
            <a:endParaRPr lang="en-US" sz="1100" dirty="0"/>
          </a:p>
        </p:txBody>
      </p:sp>
      <p:sp>
        <p:nvSpPr>
          <p:cNvPr id="8" name="Text 4"/>
          <p:cNvSpPr txBox="1"/>
          <p:nvPr/>
        </p:nvSpPr>
        <p:spPr>
          <a:xfrm>
            <a:off x="5943600" y="1097280"/>
            <a:ext cx="2834640" cy="310896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2A22"/>
                </a:solidFill>
                <a:latin typeface="Calibri" pitchFamily="34" charset="0"/>
                <a:ea typeface="Calibri" pitchFamily="34" charset="-122"/>
                <a:cs typeface="Calibri" pitchFamily="34" charset="-120"/>
              </a:rPr>
              <a:t>Elege candidatos a amostra com imagens de satélite (Google Earth Engine)</a:t>
            </a:r>
            <a:endParaRPr lang="en-US" sz="1400" dirty="0"/>
          </a:p>
          <a:p>
            <a:pPr marL="342900" indent="-342900">
              <a:spcAft>
                <a:spcPts val="700"/>
              </a:spcAft>
              <a:buSzPct val="100000"/>
              <a:buChar char="•"/>
            </a:pPr>
            <a:r>
              <a:rPr lang="en-US" sz="1400" dirty="0">
                <a:solidFill>
                  <a:srgbClr val="1B2A22"/>
                </a:solidFill>
                <a:latin typeface="Calibri" pitchFamily="34" charset="0"/>
                <a:ea typeface="Calibri" pitchFamily="34" charset="-122"/>
                <a:cs typeface="Calibri" pitchFamily="34" charset="-120"/>
              </a:rPr>
              <a:t>Planeja e integra a campanha de voo e de campo</a:t>
            </a:r>
            <a:endParaRPr lang="en-US" sz="1400" dirty="0"/>
          </a:p>
          <a:p>
            <a:pPr marL="342900" indent="-342900">
              <a:spcAft>
                <a:spcPts val="700"/>
              </a:spcAft>
              <a:buSzPct val="100000"/>
              <a:buChar char="•"/>
            </a:pPr>
            <a:r>
              <a:rPr lang="en-US" sz="1400" dirty="0">
                <a:solidFill>
                  <a:srgbClr val="1B2A22"/>
                </a:solidFill>
                <a:latin typeface="Calibri" pitchFamily="34" charset="0"/>
                <a:ea typeface="Calibri" pitchFamily="34" charset="-122"/>
                <a:cs typeface="Calibri" pitchFamily="34" charset="-120"/>
              </a:rPr>
              <a:t>Monta a matriz de treino, com a origem de cada valor</a:t>
            </a:r>
            <a:endParaRPr lang="en-US" sz="1400" dirty="0"/>
          </a:p>
          <a:p>
            <a:pPr marL="342900" indent="-342900">
              <a:spcAft>
                <a:spcPts val="700"/>
              </a:spcAft>
              <a:buSzPct val="100000"/>
              <a:buChar char="•"/>
            </a:pPr>
            <a:r>
              <a:rPr lang="en-US" sz="1400" dirty="0">
                <a:solidFill>
                  <a:srgbClr val="1B2A22"/>
                </a:solidFill>
                <a:latin typeface="Calibri" pitchFamily="34" charset="0"/>
                <a:ea typeface="Calibri" pitchFamily="34" charset="-122"/>
                <a:cs typeface="Calibri" pitchFamily="34" charset="-120"/>
              </a:rPr>
              <a:t>Exporta um pacote que a banca consegue verificar</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Sequência justificada (1/2): do domínio ao sorteio</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4</a:t>
            </a:r>
            <a:endParaRPr lang="en-US" sz="1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2103120"/>
                <a:gridCol w="3108960"/>
                <a:gridCol w="3017520"/>
              </a:tblGrid>
              <a:tr h="50292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Passo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solidFill>
                      <a:srgbClr val="2F6B4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O que se faz</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solidFill>
                      <a:srgbClr val="2F6B4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Por que vem aqui</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solidFill>
                      <a:srgbClr val="2F6B4F"/>
                    </a:solidFill>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1. Definir o domínio e a área</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Só se amostra onde o método vale: declividade 3 a 20%, lavoura e pastagem (D07).</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Sem domínio não existe "candidato válido"; ele precisa vir antes de tudo.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2. Eleger candidatos no GEE</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Filtros de solo nu, declividade e espaçamento mínimo de 1 km (P02).</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Produz o universo de onde se sorteia; exige o domínio da etapa 1.</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3. Estratificar em 18 estratos</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Declividade × solo nu × erodibilidade (D12).</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Define o que o sorteio precisa cobrir; só com candidatos dá para contar N_h.</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4. Checar o pool por estrato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Contar candidatos por estrato antes de selar.</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O sorteio é irreversível: só se sela com pool que comporta 4 titulares e reservas.</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5. Sorteio selado (72 polígonos)</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4 por estrato, probabilidade de inclusão registrada (D23).</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Vem antes de contatar proprietários, para que ninguém escolha os locais.</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bl>
          </a:graphicData>
        </a:graphic>
      </p:graphicFrame>
      <p:sp>
        <p:nvSpPr>
          <p:cNvPr id="6" name="Text 2"/>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Cada passo depende do anterior: o sorteio selado e a avaliação única são os dois pontos sem volta.</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Sequência justificada (2/2): da autorização à avaliação</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5</a:t>
            </a:r>
            <a:endParaRPr lang="en-US" sz="1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2103120"/>
                <a:gridCol w="3108960"/>
                <a:gridCol w="3017520"/>
              </a:tblGrid>
              <a:tr h="50292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Passo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solidFill>
                      <a:srgbClr val="2F6B4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O que se faz</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solidFill>
                      <a:srgbClr val="2F6B4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Por que vem aqui</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solidFill>
                      <a:srgbClr val="2F6B4F"/>
                    </a:solidFill>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6. Autorização dos proprietários</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Contato, e reserva em ordem em caso de recusa (proposta).</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Só se sabe quem contatar depois do selo; a recusa não pode refazer o sorteio.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7. Voo cego e delineação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Intérprete sem ver estrato nem papel; rótulo por fração (D26).</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Só depois da autorização; a cegueira evita que o modelo "aprenda" o rastreio.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8. Âncora de campo</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60 a 80 pontos fora dos polígonos, coletados no SAREL Coletor (D16, D23).</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Estima prevalência e acurácia posicional; independe dos polígonos.</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9. Matriz com proveniência</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7 invariantes bloqueiam a exportação se violados.</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Só com rótulos consolidados; garante origem declarada em cada valor.</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r h="502920">
                <a:tc>
                  <a:txBody>
                    <a:bodyPr/>
                    <a:lstStyle/>
                    <a:p>
                      <a:pPr indent="0" marL="0">
                        <a:buNone/>
                      </a:pPr>
                      <a:r>
                        <a:rPr lang="en-US" sz="1200" b="1" dirty="0">
                          <a:solidFill>
                            <a:srgbClr val="2F6B4F"/>
                          </a:solidFill>
                          <a:latin typeface="Calibri" pitchFamily="34" charset="0"/>
                          <a:ea typeface="Calibri" pitchFamily="34" charset="-122"/>
                          <a:cs typeface="Calibri" pitchFamily="34" charset="-120"/>
                        </a:rPr>
                        <a:t>10. Avaliação única</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Spearman no held-out, com trava de segunda execução (D25).</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c>
                  <a:txBody>
                    <a:bodyPr/>
                    <a:lstStyle/>
                    <a:p>
                      <a:pPr indent="0" marL="0">
                        <a:buNone/>
                      </a:pPr>
                      <a:r>
                        <a:rPr lang="en-US" sz="1200" dirty="0">
                          <a:solidFill>
                            <a:srgbClr val="1B2A22"/>
                          </a:solidFill>
                          <a:latin typeface="Calibri" pitchFamily="34" charset="0"/>
                          <a:ea typeface="Calibri" pitchFamily="34" charset="-122"/>
                          <a:cs typeface="Calibri" pitchFamily="34" charset="-120"/>
                        </a:rPr>
                        <a:t>Por último e uma só vez: o critério foi fixado antes dos dados.</a:t>
                      </a:r>
                      <a:endParaRPr lang="en-US" sz="1200" dirty="0">
                        <a:latin typeface="Calibri" charset="0"/>
                        <a:ea typeface="Calibri" charset="0"/>
                        <a:cs typeface="Calibri" charset="0"/>
                      </a:endParaRPr>
                    </a:p>
                  </a:txBody>
                  <a:tcPr marL="73152" marR="73152" marT="36576" marB="36576" anchor="ctr">
                    <a:lnL w="9525" cap="flat" cmpd="sng" algn="ctr">
                      <a:solidFill>
                        <a:srgbClr val="C9D4CC"/>
                      </a:solidFill>
                      <a:prstDash val="solid"/>
                      <a:round/>
                      <a:headEnd type="none" w="med" len="med"/>
                      <a:tailEnd type="none" w="med" len="med"/>
                    </a:lnL>
                    <a:lnR w="9525" cap="flat" cmpd="sng" algn="ctr">
                      <a:solidFill>
                        <a:srgbClr val="C9D4CC"/>
                      </a:solidFill>
                      <a:prstDash val="solid"/>
                      <a:round/>
                      <a:headEnd type="none" w="med" len="med"/>
                      <a:tailEnd type="none" w="med" len="med"/>
                    </a:lnR>
                    <a:lnT w="9525" cap="flat" cmpd="sng" algn="ctr">
                      <a:solidFill>
                        <a:srgbClr val="C9D4CC"/>
                      </a:solidFill>
                      <a:prstDash val="solid"/>
                      <a:round/>
                      <a:headEnd type="none" w="med" len="med"/>
                      <a:tailEnd type="none" w="med" len="med"/>
                    </a:lnT>
                    <a:lnB w="9525" cap="flat" cmpd="sng" algn="ctr">
                      <a:solidFill>
                        <a:srgbClr val="C9D4CC"/>
                      </a:solidFill>
                      <a:prstDash val="solid"/>
                      <a:round/>
                      <a:headEnd type="none" w="med" len="med"/>
                      <a:tailEnd type="none" w="med" len="med"/>
                    </a:lnB>
                  </a:tcPr>
                </a:tc>
              </a:tr>
            </a:tbl>
          </a:graphicData>
        </a:graphic>
      </p:graphicFrame>
      <p:sp>
        <p:nvSpPr>
          <p:cNvPr id="6" name="Text 2"/>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Cada passo depende do anterior: o sorteio selado e a avaliação única são os dois pontos sem volta.</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Estratificação: como se chega aos 18 estratos</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6</a:t>
            </a:r>
            <a:endParaRPr lang="en-US" sz="1000" dirty="0"/>
          </a:p>
        </p:txBody>
      </p:sp>
      <p:sp>
        <p:nvSpPr>
          <p:cNvPr id="5" name="Shape 2"/>
          <p:cNvSpPr/>
          <p:nvPr/>
        </p:nvSpPr>
        <p:spPr>
          <a:xfrm>
            <a:off x="457200" y="1005840"/>
            <a:ext cx="2468880" cy="1874520"/>
          </a:xfrm>
          <a:prstGeom prst="roundRect">
            <a:avLst>
              <a:gd name="adj" fmla="val 3902"/>
            </a:avLst>
          </a:prstGeom>
          <a:solidFill>
            <a:srgbClr val="EEF3EF"/>
          </a:solidFill>
          <a:ln w="12700">
            <a:solidFill>
              <a:srgbClr val="EEF3EF"/>
            </a:solidFill>
            <a:prstDash val="solid"/>
          </a:ln>
        </p:spPr>
      </p:sp>
      <p:sp>
        <p:nvSpPr>
          <p:cNvPr id="6" name="Text 3"/>
          <p:cNvSpPr txBox="1"/>
          <p:nvPr/>
        </p:nvSpPr>
        <p:spPr>
          <a:xfrm>
            <a:off x="594360" y="1097280"/>
            <a:ext cx="2194560" cy="365760"/>
          </a:xfrm>
          <a:prstGeom prst="rect">
            <a:avLst/>
          </a:prstGeom>
          <a:noFill/>
          <a:ln/>
        </p:spPr>
        <p:txBody>
          <a:bodyPr wrap="square" lIns="0" tIns="0" rIns="0" bIns="0" rtlCol="0" anchor="t"/>
          <a:lstStyle/>
          <a:p>
            <a:pPr indent="0" marL="0">
              <a:buNone/>
            </a:pPr>
            <a:r>
              <a:rPr lang="en-US" sz="1600" b="1" dirty="0">
                <a:solidFill>
                  <a:srgbClr val="2F6B4F"/>
                </a:solidFill>
                <a:latin typeface="Cambria" pitchFamily="34" charset="0"/>
                <a:ea typeface="Cambria" pitchFamily="34" charset="-122"/>
                <a:cs typeface="Cambria" pitchFamily="34" charset="-120"/>
              </a:rPr>
              <a:t>Declividade</a:t>
            </a:r>
            <a:endParaRPr lang="en-US" sz="1600" dirty="0"/>
          </a:p>
        </p:txBody>
      </p:sp>
      <p:sp>
        <p:nvSpPr>
          <p:cNvPr id="7" name="Text 4"/>
          <p:cNvSpPr txBox="1"/>
          <p:nvPr/>
        </p:nvSpPr>
        <p:spPr>
          <a:xfrm>
            <a:off x="594360" y="1481328"/>
            <a:ext cx="2194560" cy="274320"/>
          </a:xfrm>
          <a:prstGeom prst="rect">
            <a:avLst/>
          </a:prstGeom>
          <a:noFill/>
          <a:ln/>
        </p:spPr>
        <p:txBody>
          <a:bodyPr wrap="square" lIns="0" tIns="0" rIns="0" bIns="0" rtlCol="0" anchor="t"/>
          <a:lstStyle/>
          <a:p>
            <a:pPr indent="0" marL="0">
              <a:buNone/>
            </a:pPr>
            <a:r>
              <a:rPr lang="en-US" sz="1200" b="1" dirty="0">
                <a:solidFill>
                  <a:srgbClr val="C65D3B"/>
                </a:solidFill>
                <a:latin typeface="Calibri" pitchFamily="34" charset="0"/>
                <a:ea typeface="Calibri" pitchFamily="34" charset="-122"/>
                <a:cs typeface="Calibri" pitchFamily="34" charset="-120"/>
              </a:rPr>
              <a:t>3 faixas (tercis)</a:t>
            </a:r>
            <a:endParaRPr lang="en-US" sz="1200" dirty="0"/>
          </a:p>
        </p:txBody>
      </p:sp>
      <p:sp>
        <p:nvSpPr>
          <p:cNvPr id="8" name="Text 5"/>
          <p:cNvSpPr txBox="1"/>
          <p:nvPr/>
        </p:nvSpPr>
        <p:spPr>
          <a:xfrm>
            <a:off x="594360" y="1810512"/>
            <a:ext cx="2194560" cy="1280160"/>
          </a:xfrm>
          <a:prstGeom prst="rect">
            <a:avLst/>
          </a:prstGeom>
          <a:noFill/>
          <a:ln/>
        </p:spPr>
        <p:txBody>
          <a:bodyPr wrap="square" lIns="0" tIns="0" rIns="0" bIns="0" rtlCol="0" anchor="t"/>
          <a:lstStyle/>
          <a:p>
            <a:pPr indent="0" marL="0">
              <a:buNone/>
            </a:pPr>
            <a:r>
              <a:rPr lang="en-US" sz="1150" dirty="0">
                <a:solidFill>
                  <a:srgbClr val="1B2A22"/>
                </a:solidFill>
                <a:latin typeface="Calibri" pitchFamily="34" charset="0"/>
                <a:ea typeface="Calibri" pitchFamily="34" charset="-122"/>
                <a:cs typeface="Calibri" pitchFamily="34" charset="-120"/>
              </a:rPr>
              <a:t>Energia do relevo: quanto mais inclinado, maior a capacidade de transporte do escoamento.</a:t>
            </a:r>
            <a:endParaRPr lang="en-US" sz="1150" dirty="0"/>
          </a:p>
        </p:txBody>
      </p:sp>
      <p:sp>
        <p:nvSpPr>
          <p:cNvPr id="9" name="Text 6"/>
          <p:cNvSpPr txBox="1"/>
          <p:nvPr/>
        </p:nvSpPr>
        <p:spPr>
          <a:xfrm>
            <a:off x="2926080" y="1783080"/>
            <a:ext cx="365760" cy="548640"/>
          </a:xfrm>
          <a:prstGeom prst="rect">
            <a:avLst/>
          </a:prstGeom>
          <a:noFill/>
          <a:ln/>
        </p:spPr>
        <p:txBody>
          <a:bodyPr wrap="square" lIns="0" tIns="0" rIns="0" bIns="0" rtlCol="0" anchor="t"/>
          <a:lstStyle/>
          <a:p>
            <a:pPr algn="ctr" indent="0" marL="0">
              <a:buNone/>
            </a:pPr>
            <a:r>
              <a:rPr lang="en-US" sz="2600" b="1" dirty="0">
                <a:solidFill>
                  <a:srgbClr val="C65D3B"/>
                </a:solidFill>
                <a:latin typeface="Calibri" pitchFamily="34" charset="0"/>
                <a:ea typeface="Calibri" pitchFamily="34" charset="-122"/>
                <a:cs typeface="Calibri" pitchFamily="34" charset="-120"/>
              </a:rPr>
              <a:t>×</a:t>
            </a:r>
            <a:endParaRPr lang="en-US" sz="2600" dirty="0"/>
          </a:p>
        </p:txBody>
      </p:sp>
      <p:sp>
        <p:nvSpPr>
          <p:cNvPr id="10" name="Shape 7"/>
          <p:cNvSpPr/>
          <p:nvPr/>
        </p:nvSpPr>
        <p:spPr>
          <a:xfrm>
            <a:off x="3291840" y="1005840"/>
            <a:ext cx="2468880" cy="1874520"/>
          </a:xfrm>
          <a:prstGeom prst="roundRect">
            <a:avLst>
              <a:gd name="adj" fmla="val 3902"/>
            </a:avLst>
          </a:prstGeom>
          <a:solidFill>
            <a:srgbClr val="EEF3EF"/>
          </a:solidFill>
          <a:ln w="12700">
            <a:solidFill>
              <a:srgbClr val="EEF3EF"/>
            </a:solidFill>
            <a:prstDash val="solid"/>
          </a:ln>
        </p:spPr>
      </p:sp>
      <p:sp>
        <p:nvSpPr>
          <p:cNvPr id="11" name="Text 8"/>
          <p:cNvSpPr txBox="1"/>
          <p:nvPr/>
        </p:nvSpPr>
        <p:spPr>
          <a:xfrm>
            <a:off x="3429000" y="1097280"/>
            <a:ext cx="2194560" cy="365760"/>
          </a:xfrm>
          <a:prstGeom prst="rect">
            <a:avLst/>
          </a:prstGeom>
          <a:noFill/>
          <a:ln/>
        </p:spPr>
        <p:txBody>
          <a:bodyPr wrap="square" lIns="0" tIns="0" rIns="0" bIns="0" rtlCol="0" anchor="t"/>
          <a:lstStyle/>
          <a:p>
            <a:pPr indent="0" marL="0">
              <a:buNone/>
            </a:pPr>
            <a:r>
              <a:rPr lang="en-US" sz="1600" b="1" dirty="0">
                <a:solidFill>
                  <a:srgbClr val="2F6B4F"/>
                </a:solidFill>
                <a:latin typeface="Cambria" pitchFamily="34" charset="0"/>
                <a:ea typeface="Cambria" pitchFamily="34" charset="-122"/>
                <a:cs typeface="Cambria" pitchFamily="34" charset="-120"/>
              </a:rPr>
              <a:t>Solo nu</a:t>
            </a:r>
            <a:endParaRPr lang="en-US" sz="1600" dirty="0"/>
          </a:p>
        </p:txBody>
      </p:sp>
      <p:sp>
        <p:nvSpPr>
          <p:cNvPr id="12" name="Text 9"/>
          <p:cNvSpPr txBox="1"/>
          <p:nvPr/>
        </p:nvSpPr>
        <p:spPr>
          <a:xfrm>
            <a:off x="3429000" y="1481328"/>
            <a:ext cx="2194560" cy="274320"/>
          </a:xfrm>
          <a:prstGeom prst="rect">
            <a:avLst/>
          </a:prstGeom>
          <a:noFill/>
          <a:ln/>
        </p:spPr>
        <p:txBody>
          <a:bodyPr wrap="square" lIns="0" tIns="0" rIns="0" bIns="0" rtlCol="0" anchor="t"/>
          <a:lstStyle/>
          <a:p>
            <a:pPr indent="0" marL="0">
              <a:buNone/>
            </a:pPr>
            <a:r>
              <a:rPr lang="en-US" sz="1200" b="1" dirty="0">
                <a:solidFill>
                  <a:srgbClr val="C65D3B"/>
                </a:solidFill>
                <a:latin typeface="Calibri" pitchFamily="34" charset="0"/>
                <a:ea typeface="Calibri" pitchFamily="34" charset="-122"/>
                <a:cs typeface="Calibri" pitchFamily="34" charset="-120"/>
              </a:rPr>
              <a:t>3 faixas (tercis)</a:t>
            </a:r>
            <a:endParaRPr lang="en-US" sz="1200" dirty="0"/>
          </a:p>
        </p:txBody>
      </p:sp>
      <p:sp>
        <p:nvSpPr>
          <p:cNvPr id="13" name="Text 10"/>
          <p:cNvSpPr txBox="1"/>
          <p:nvPr/>
        </p:nvSpPr>
        <p:spPr>
          <a:xfrm>
            <a:off x="3429000" y="1810512"/>
            <a:ext cx="2194560" cy="1280160"/>
          </a:xfrm>
          <a:prstGeom prst="rect">
            <a:avLst/>
          </a:prstGeom>
          <a:noFill/>
          <a:ln/>
        </p:spPr>
        <p:txBody>
          <a:bodyPr wrap="square" lIns="0" tIns="0" rIns="0" bIns="0" rtlCol="0" anchor="t"/>
          <a:lstStyle/>
          <a:p>
            <a:pPr indent="0" marL="0">
              <a:buNone/>
            </a:pPr>
            <a:r>
              <a:rPr lang="en-US" sz="1150" dirty="0">
                <a:solidFill>
                  <a:srgbClr val="1B2A22"/>
                </a:solidFill>
                <a:latin typeface="Calibri" pitchFamily="34" charset="0"/>
                <a:ea typeface="Calibri" pitchFamily="34" charset="-122"/>
                <a:cs typeface="Calibri" pitchFamily="34" charset="-120"/>
              </a:rPr>
              <a:t>Tempo de solo descoberto: fração de cenas de satélite válidas em que a célula aparece exposta à chuva.</a:t>
            </a:r>
            <a:endParaRPr lang="en-US" sz="1150" dirty="0"/>
          </a:p>
        </p:txBody>
      </p:sp>
      <p:sp>
        <p:nvSpPr>
          <p:cNvPr id="14" name="Text 11"/>
          <p:cNvSpPr txBox="1"/>
          <p:nvPr/>
        </p:nvSpPr>
        <p:spPr>
          <a:xfrm>
            <a:off x="5760720" y="1783080"/>
            <a:ext cx="365760" cy="548640"/>
          </a:xfrm>
          <a:prstGeom prst="rect">
            <a:avLst/>
          </a:prstGeom>
          <a:noFill/>
          <a:ln/>
        </p:spPr>
        <p:txBody>
          <a:bodyPr wrap="square" lIns="0" tIns="0" rIns="0" bIns="0" rtlCol="0" anchor="t"/>
          <a:lstStyle/>
          <a:p>
            <a:pPr algn="ctr" indent="0" marL="0">
              <a:buNone/>
            </a:pPr>
            <a:r>
              <a:rPr lang="en-US" sz="2600" b="1" dirty="0">
                <a:solidFill>
                  <a:srgbClr val="C65D3B"/>
                </a:solidFill>
                <a:latin typeface="Calibri" pitchFamily="34" charset="0"/>
                <a:ea typeface="Calibri" pitchFamily="34" charset="-122"/>
                <a:cs typeface="Calibri" pitchFamily="34" charset="-120"/>
              </a:rPr>
              <a:t>×</a:t>
            </a:r>
            <a:endParaRPr lang="en-US" sz="2600" dirty="0"/>
          </a:p>
        </p:txBody>
      </p:sp>
      <p:sp>
        <p:nvSpPr>
          <p:cNvPr id="15" name="Shape 12"/>
          <p:cNvSpPr/>
          <p:nvPr/>
        </p:nvSpPr>
        <p:spPr>
          <a:xfrm>
            <a:off x="6126480" y="1005840"/>
            <a:ext cx="2468880" cy="1874520"/>
          </a:xfrm>
          <a:prstGeom prst="roundRect">
            <a:avLst>
              <a:gd name="adj" fmla="val 3902"/>
            </a:avLst>
          </a:prstGeom>
          <a:solidFill>
            <a:srgbClr val="EEF3EF"/>
          </a:solidFill>
          <a:ln w="12700">
            <a:solidFill>
              <a:srgbClr val="EEF3EF"/>
            </a:solidFill>
            <a:prstDash val="solid"/>
          </a:ln>
        </p:spPr>
      </p:sp>
      <p:sp>
        <p:nvSpPr>
          <p:cNvPr id="16" name="Text 13"/>
          <p:cNvSpPr txBox="1"/>
          <p:nvPr/>
        </p:nvSpPr>
        <p:spPr>
          <a:xfrm>
            <a:off x="6263640" y="1097280"/>
            <a:ext cx="2194560" cy="365760"/>
          </a:xfrm>
          <a:prstGeom prst="rect">
            <a:avLst/>
          </a:prstGeom>
          <a:noFill/>
          <a:ln/>
        </p:spPr>
        <p:txBody>
          <a:bodyPr wrap="square" lIns="0" tIns="0" rIns="0" bIns="0" rtlCol="0" anchor="t"/>
          <a:lstStyle/>
          <a:p>
            <a:pPr indent="0" marL="0">
              <a:buNone/>
            </a:pPr>
            <a:r>
              <a:rPr lang="en-US" sz="1600" b="1" dirty="0">
                <a:solidFill>
                  <a:srgbClr val="2F6B4F"/>
                </a:solidFill>
                <a:latin typeface="Cambria" pitchFamily="34" charset="0"/>
                <a:ea typeface="Cambria" pitchFamily="34" charset="-122"/>
                <a:cs typeface="Cambria" pitchFamily="34" charset="-120"/>
              </a:rPr>
              <a:t>Erodibilidade</a:t>
            </a:r>
            <a:endParaRPr lang="en-US" sz="1600" dirty="0"/>
          </a:p>
        </p:txBody>
      </p:sp>
      <p:sp>
        <p:nvSpPr>
          <p:cNvPr id="17" name="Text 14"/>
          <p:cNvSpPr txBox="1"/>
          <p:nvPr/>
        </p:nvSpPr>
        <p:spPr>
          <a:xfrm>
            <a:off x="6263640" y="1481328"/>
            <a:ext cx="2194560" cy="274320"/>
          </a:xfrm>
          <a:prstGeom prst="rect">
            <a:avLst/>
          </a:prstGeom>
          <a:noFill/>
          <a:ln/>
        </p:spPr>
        <p:txBody>
          <a:bodyPr wrap="square" lIns="0" tIns="0" rIns="0" bIns="0" rtlCol="0" anchor="t"/>
          <a:lstStyle/>
          <a:p>
            <a:pPr indent="0" marL="0">
              <a:buNone/>
            </a:pPr>
            <a:r>
              <a:rPr lang="en-US" sz="1200" b="1" dirty="0">
                <a:solidFill>
                  <a:srgbClr val="C65D3B"/>
                </a:solidFill>
                <a:latin typeface="Calibri" pitchFamily="34" charset="0"/>
                <a:ea typeface="Calibri" pitchFamily="34" charset="-122"/>
                <a:cs typeface="Calibri" pitchFamily="34" charset="-120"/>
              </a:rPr>
              <a:t>2 níveis</a:t>
            </a:r>
            <a:endParaRPr lang="en-US" sz="1200" dirty="0"/>
          </a:p>
        </p:txBody>
      </p:sp>
      <p:sp>
        <p:nvSpPr>
          <p:cNvPr id="18" name="Text 15"/>
          <p:cNvSpPr txBox="1"/>
          <p:nvPr/>
        </p:nvSpPr>
        <p:spPr>
          <a:xfrm>
            <a:off x="6263640" y="1810512"/>
            <a:ext cx="2194560" cy="1280160"/>
          </a:xfrm>
          <a:prstGeom prst="rect">
            <a:avLst/>
          </a:prstGeom>
          <a:noFill/>
          <a:ln/>
        </p:spPr>
        <p:txBody>
          <a:bodyPr wrap="square" lIns="0" tIns="0" rIns="0" bIns="0" rtlCol="0" anchor="t"/>
          <a:lstStyle/>
          <a:p>
            <a:pPr indent="0" marL="0">
              <a:buNone/>
            </a:pPr>
            <a:r>
              <a:rPr lang="en-US" sz="1150" dirty="0">
                <a:solidFill>
                  <a:srgbClr val="1B2A22"/>
                </a:solidFill>
                <a:latin typeface="Calibri" pitchFamily="34" charset="0"/>
                <a:ea typeface="Calibri" pitchFamily="34" charset="-122"/>
                <a:cs typeface="Calibri" pitchFamily="34" charset="-120"/>
              </a:rPr>
              <a:t>Suscetibilidade do solo à erosão, pela carta de 2024 (Embrapa Doc. 246): nível 2 = classes alta, muito alta e extremamente alta.</a:t>
            </a:r>
            <a:endParaRPr lang="en-US" sz="1150" dirty="0"/>
          </a:p>
        </p:txBody>
      </p:sp>
      <p:sp>
        <p:nvSpPr>
          <p:cNvPr id="19" name="Text 16"/>
          <p:cNvSpPr txBox="1"/>
          <p:nvPr/>
        </p:nvSpPr>
        <p:spPr>
          <a:xfrm>
            <a:off x="457200" y="3017520"/>
            <a:ext cx="8229600" cy="365760"/>
          </a:xfrm>
          <a:prstGeom prst="rect">
            <a:avLst/>
          </a:prstGeom>
          <a:noFill/>
          <a:ln/>
        </p:spPr>
        <p:txBody>
          <a:bodyPr wrap="square" lIns="0" tIns="0" rIns="0" bIns="0" rtlCol="0" anchor="t"/>
          <a:lstStyle/>
          <a:p>
            <a:pPr indent="0" marL="0">
              <a:buNone/>
            </a:pPr>
            <a:r>
              <a:rPr lang="en-US" sz="1500" b="1" dirty="0">
                <a:solidFill>
                  <a:srgbClr val="1B2A22"/>
                </a:solidFill>
                <a:latin typeface="Cambria" pitchFamily="34" charset="0"/>
                <a:ea typeface="Cambria" pitchFamily="34" charset="-122"/>
                <a:cs typeface="Cambria" pitchFamily="34" charset="-120"/>
              </a:rPr>
              <a:t>3 × 3 × 2 = 18 estratos × 4 polígonos (2 treino + 2 held-out) = 72</a:t>
            </a:r>
            <a:endParaRPr lang="en-US" sz="1500" dirty="0"/>
          </a:p>
        </p:txBody>
      </p:sp>
      <p:sp>
        <p:nvSpPr>
          <p:cNvPr id="20" name="Text 17"/>
          <p:cNvSpPr txBox="1"/>
          <p:nvPr/>
        </p:nvSpPr>
        <p:spPr>
          <a:xfrm>
            <a:off x="457200" y="3520440"/>
            <a:ext cx="8229600" cy="109728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rgbClr val="1B2A22"/>
                </a:solidFill>
                <a:latin typeface="Calibri" pitchFamily="34" charset="0"/>
                <a:ea typeface="Calibri" pitchFamily="34" charset="-122"/>
                <a:cs typeface="Calibri" pitchFamily="34" charset="-120"/>
              </a:rPr>
              <a:t>Por que estratificar: sem isso, o acaso concentraria a amostra nas combinações comuns e deixaria vazios os estratos raros (declive alto, muito solo nu, solo erodível), que são justamente os de maior interesse</a:t>
            </a:r>
            <a:endParaRPr lang="en-US" sz="1200" dirty="0"/>
          </a:p>
          <a:p>
            <a:pPr marL="342900" indent="-342900">
              <a:spcAft>
                <a:spcPts val="500"/>
              </a:spcAft>
              <a:buSzPct val="100000"/>
              <a:buChar char="•"/>
            </a:pPr>
            <a:r>
              <a:rPr lang="en-US" sz="1200" dirty="0">
                <a:solidFill>
                  <a:srgbClr val="1B2A22"/>
                </a:solidFill>
                <a:latin typeface="Calibri" pitchFamily="34" charset="0"/>
                <a:ea typeface="Calibri" pitchFamily="34" charset="-122"/>
                <a:cs typeface="Calibri" pitchFamily="34" charset="-120"/>
              </a:rPr>
              <a:t>Tercil: divide em três grupos de tamanho aproximado; o corte é calculado sobre os candidatos da própria área e empates caem no grupo mais baixo</a:t>
            </a:r>
            <a:endParaRPr lang="en-US" sz="1200" dirty="0"/>
          </a:p>
        </p:txBody>
      </p:sp>
      <p:sp>
        <p:nvSpPr>
          <p:cNvPr id="21" name="Text 18"/>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Refs.: D12, D09; Cochran (1977) Sampling Techniques; Coelho et al. (2024) Embrapa Solos, Documentos 246.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Dificuldade 1: poucos candidatos nos estratos de erodibilidade alta</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7</a:t>
            </a:r>
            <a:endParaRPr lang="en-US" sz="1000" dirty="0"/>
          </a:p>
        </p:txBody>
      </p:sp>
      <p:sp>
        <p:nvSpPr>
          <p:cNvPr id="5" name="Shape 2"/>
          <p:cNvSpPr/>
          <p:nvPr/>
        </p:nvSpPr>
        <p:spPr>
          <a:xfrm>
            <a:off x="457200" y="1143000"/>
            <a:ext cx="1920240" cy="1188720"/>
          </a:xfrm>
          <a:prstGeom prst="roundRect">
            <a:avLst>
              <a:gd name="adj" fmla="val 6154"/>
            </a:avLst>
          </a:prstGeom>
          <a:solidFill>
            <a:srgbClr val="EEF3EF"/>
          </a:solidFill>
          <a:ln w="12700">
            <a:solidFill>
              <a:srgbClr val="EEF3EF"/>
            </a:solidFill>
            <a:prstDash val="solid"/>
          </a:ln>
        </p:spPr>
      </p:sp>
      <p:sp>
        <p:nvSpPr>
          <p:cNvPr id="6" name="Text 3"/>
          <p:cNvSpPr txBox="1"/>
          <p:nvPr/>
        </p:nvSpPr>
        <p:spPr>
          <a:xfrm>
            <a:off x="457200" y="1252728"/>
            <a:ext cx="1920240" cy="594360"/>
          </a:xfrm>
          <a:prstGeom prst="rect">
            <a:avLst/>
          </a:prstGeom>
          <a:noFill/>
          <a:ln/>
        </p:spPr>
        <p:txBody>
          <a:bodyPr wrap="square" lIns="0" tIns="0" rIns="0" bIns="0" rtlCol="0" anchor="t"/>
          <a:lstStyle/>
          <a:p>
            <a:pPr algn="ctr" indent="0" marL="0">
              <a:buNone/>
            </a:pPr>
            <a:r>
              <a:rPr lang="en-US" sz="2200" b="1" dirty="0">
                <a:solidFill>
                  <a:srgbClr val="2F6B4F"/>
                </a:solidFill>
                <a:latin typeface="Cambria" pitchFamily="34" charset="0"/>
                <a:ea typeface="Cambria" pitchFamily="34" charset="-122"/>
                <a:cs typeface="Cambria" pitchFamily="34" charset="-120"/>
              </a:rPr>
              <a:t>5 de 90</a:t>
            </a:r>
            <a:endParaRPr lang="en-US" sz="2200" dirty="0"/>
          </a:p>
        </p:txBody>
      </p:sp>
      <p:sp>
        <p:nvSpPr>
          <p:cNvPr id="7" name="Text 4"/>
          <p:cNvSpPr txBox="1"/>
          <p:nvPr/>
        </p:nvSpPr>
        <p:spPr>
          <a:xfrm>
            <a:off x="548640" y="1856232"/>
            <a:ext cx="1737360" cy="457200"/>
          </a:xfrm>
          <a:prstGeom prst="rect">
            <a:avLst/>
          </a:prstGeom>
          <a:noFill/>
          <a:ln/>
        </p:spPr>
        <p:txBody>
          <a:bodyPr wrap="square" lIns="0" tIns="0" rIns="0" bIns="0" rtlCol="0" anchor="t"/>
          <a:lstStyle/>
          <a:p>
            <a:pPr algn="ctr" indent="0" marL="0">
              <a:buNone/>
            </a:pPr>
            <a:r>
              <a:rPr lang="en-US" sz="1100" dirty="0">
                <a:solidFill>
                  <a:srgbClr val="52605A"/>
                </a:solidFill>
                <a:latin typeface="Calibri" pitchFamily="34" charset="0"/>
                <a:ea typeface="Calibri" pitchFamily="34" charset="-122"/>
                <a:cs typeface="Calibri" pitchFamily="34" charset="-120"/>
              </a:rPr>
              <a:t>candidatos em erodibilidade alta, dentro de 3 a 20% (medição de 29/09)</a:t>
            </a:r>
            <a:endParaRPr lang="en-US" sz="1100" dirty="0"/>
          </a:p>
        </p:txBody>
      </p:sp>
      <p:sp>
        <p:nvSpPr>
          <p:cNvPr id="8" name="Shape 5"/>
          <p:cNvSpPr/>
          <p:nvPr/>
        </p:nvSpPr>
        <p:spPr>
          <a:xfrm>
            <a:off x="2514600" y="1143000"/>
            <a:ext cx="1920240" cy="1188720"/>
          </a:xfrm>
          <a:prstGeom prst="roundRect">
            <a:avLst>
              <a:gd name="adj" fmla="val 6154"/>
            </a:avLst>
          </a:prstGeom>
          <a:solidFill>
            <a:srgbClr val="EEF3EF"/>
          </a:solidFill>
          <a:ln w="12700">
            <a:solidFill>
              <a:srgbClr val="EEF3EF"/>
            </a:solidFill>
            <a:prstDash val="solid"/>
          </a:ln>
        </p:spPr>
      </p:sp>
      <p:sp>
        <p:nvSpPr>
          <p:cNvPr id="9" name="Text 6"/>
          <p:cNvSpPr txBox="1"/>
          <p:nvPr/>
        </p:nvSpPr>
        <p:spPr>
          <a:xfrm>
            <a:off x="2514600" y="1252728"/>
            <a:ext cx="1920240" cy="594360"/>
          </a:xfrm>
          <a:prstGeom prst="rect">
            <a:avLst/>
          </a:prstGeom>
          <a:noFill/>
          <a:ln/>
        </p:spPr>
        <p:txBody>
          <a:bodyPr wrap="square" lIns="0" tIns="0" rIns="0" bIns="0" rtlCol="0" anchor="t"/>
          <a:lstStyle/>
          <a:p>
            <a:pPr algn="ctr" indent="0" marL="0">
              <a:buNone/>
            </a:pPr>
            <a:r>
              <a:rPr lang="en-US" sz="2200" b="1" dirty="0">
                <a:solidFill>
                  <a:srgbClr val="2F6B4F"/>
                </a:solidFill>
                <a:latin typeface="Cambria" pitchFamily="34" charset="0"/>
                <a:ea typeface="Cambria" pitchFamily="34" charset="-122"/>
                <a:cs typeface="Cambria" pitchFamily="34" charset="-120"/>
              </a:rPr>
              <a:t>≈ 33</a:t>
            </a:r>
            <a:endParaRPr lang="en-US" sz="2200" dirty="0"/>
          </a:p>
        </p:txBody>
      </p:sp>
      <p:sp>
        <p:nvSpPr>
          <p:cNvPr id="10" name="Text 7"/>
          <p:cNvSpPr txBox="1"/>
          <p:nvPr/>
        </p:nvSpPr>
        <p:spPr>
          <a:xfrm>
            <a:off x="2606040" y="1856232"/>
            <a:ext cx="1737360" cy="457200"/>
          </a:xfrm>
          <a:prstGeom prst="rect">
            <a:avLst/>
          </a:prstGeom>
          <a:noFill/>
          <a:ln/>
        </p:spPr>
        <p:txBody>
          <a:bodyPr wrap="square" lIns="0" tIns="0" rIns="0" bIns="0" rtlCol="0" anchor="t"/>
          <a:lstStyle/>
          <a:p>
            <a:pPr algn="ctr" indent="0" marL="0">
              <a:buNone/>
            </a:pPr>
            <a:r>
              <a:rPr lang="en-US" sz="1100" dirty="0">
                <a:solidFill>
                  <a:srgbClr val="52605A"/>
                </a:solidFill>
                <a:latin typeface="Calibri" pitchFamily="34" charset="0"/>
                <a:ea typeface="Calibri" pitchFamily="34" charset="-122"/>
                <a:cs typeface="Calibri" pitchFamily="34" charset="-120"/>
              </a:rPr>
              <a:t>extrapolação para os 593 imóveis do divisor (estimativa)</a:t>
            </a:r>
            <a:endParaRPr lang="en-US" sz="1100" dirty="0"/>
          </a:p>
        </p:txBody>
      </p:sp>
      <p:sp>
        <p:nvSpPr>
          <p:cNvPr id="11" name="Shape 8"/>
          <p:cNvSpPr/>
          <p:nvPr/>
        </p:nvSpPr>
        <p:spPr>
          <a:xfrm>
            <a:off x="4572000" y="1143000"/>
            <a:ext cx="1920240" cy="1188720"/>
          </a:xfrm>
          <a:prstGeom prst="roundRect">
            <a:avLst>
              <a:gd name="adj" fmla="val 6154"/>
            </a:avLst>
          </a:prstGeom>
          <a:solidFill>
            <a:srgbClr val="EEF3EF"/>
          </a:solidFill>
          <a:ln w="12700">
            <a:solidFill>
              <a:srgbClr val="EEF3EF"/>
            </a:solidFill>
            <a:prstDash val="solid"/>
          </a:ln>
        </p:spPr>
      </p:sp>
      <p:sp>
        <p:nvSpPr>
          <p:cNvPr id="12" name="Text 9"/>
          <p:cNvSpPr txBox="1"/>
          <p:nvPr/>
        </p:nvSpPr>
        <p:spPr>
          <a:xfrm>
            <a:off x="4572000" y="1252728"/>
            <a:ext cx="1920240" cy="594360"/>
          </a:xfrm>
          <a:prstGeom prst="rect">
            <a:avLst/>
          </a:prstGeom>
          <a:noFill/>
          <a:ln/>
        </p:spPr>
        <p:txBody>
          <a:bodyPr wrap="square" lIns="0" tIns="0" rIns="0" bIns="0" rtlCol="0" anchor="t"/>
          <a:lstStyle/>
          <a:p>
            <a:pPr algn="ctr" indent="0" marL="0">
              <a:buNone/>
            </a:pPr>
            <a:r>
              <a:rPr lang="en-US" sz="2200" b="1" dirty="0">
                <a:solidFill>
                  <a:srgbClr val="C65D3B"/>
                </a:solidFill>
                <a:latin typeface="Cambria" pitchFamily="34" charset="0"/>
                <a:ea typeface="Cambria" pitchFamily="34" charset="-122"/>
                <a:cs typeface="Cambria" pitchFamily="34" charset="-120"/>
              </a:rPr>
              <a:t>36</a:t>
            </a:r>
            <a:endParaRPr lang="en-US" sz="2200" dirty="0"/>
          </a:p>
        </p:txBody>
      </p:sp>
      <p:sp>
        <p:nvSpPr>
          <p:cNvPr id="13" name="Text 10"/>
          <p:cNvSpPr txBox="1"/>
          <p:nvPr/>
        </p:nvSpPr>
        <p:spPr>
          <a:xfrm>
            <a:off x="4663440" y="1856232"/>
            <a:ext cx="1737360" cy="457200"/>
          </a:xfrm>
          <a:prstGeom prst="rect">
            <a:avLst/>
          </a:prstGeom>
          <a:noFill/>
          <a:ln/>
        </p:spPr>
        <p:txBody>
          <a:bodyPr wrap="square" lIns="0" tIns="0" rIns="0" bIns="0" rtlCol="0" anchor="t"/>
          <a:lstStyle/>
          <a:p>
            <a:pPr algn="ctr" indent="0" marL="0">
              <a:buNone/>
            </a:pPr>
            <a:r>
              <a:rPr lang="en-US" sz="1100" dirty="0">
                <a:solidFill>
                  <a:srgbClr val="52605A"/>
                </a:solidFill>
                <a:latin typeface="Calibri" pitchFamily="34" charset="0"/>
                <a:ea typeface="Calibri" pitchFamily="34" charset="-122"/>
                <a:cs typeface="Calibri" pitchFamily="34" charset="-120"/>
              </a:rPr>
              <a:t>titulares exigidos hoje nesse nível: 9 estratos × 4</a:t>
            </a:r>
            <a:endParaRPr lang="en-US" sz="1100" dirty="0"/>
          </a:p>
        </p:txBody>
      </p:sp>
      <p:sp>
        <p:nvSpPr>
          <p:cNvPr id="14" name="Shape 11"/>
          <p:cNvSpPr/>
          <p:nvPr/>
        </p:nvSpPr>
        <p:spPr>
          <a:xfrm>
            <a:off x="6629400" y="1143000"/>
            <a:ext cx="2011680" cy="1188720"/>
          </a:xfrm>
          <a:prstGeom prst="roundRect">
            <a:avLst>
              <a:gd name="adj" fmla="val 6154"/>
            </a:avLst>
          </a:prstGeom>
          <a:solidFill>
            <a:srgbClr val="EEF3EF"/>
          </a:solidFill>
          <a:ln w="12700">
            <a:solidFill>
              <a:srgbClr val="EEF3EF"/>
            </a:solidFill>
            <a:prstDash val="solid"/>
          </a:ln>
        </p:spPr>
      </p:sp>
      <p:sp>
        <p:nvSpPr>
          <p:cNvPr id="15" name="Text 12"/>
          <p:cNvSpPr txBox="1"/>
          <p:nvPr/>
        </p:nvSpPr>
        <p:spPr>
          <a:xfrm>
            <a:off x="6629400" y="1252728"/>
            <a:ext cx="2011680" cy="594360"/>
          </a:xfrm>
          <a:prstGeom prst="rect">
            <a:avLst/>
          </a:prstGeom>
          <a:noFill/>
          <a:ln/>
        </p:spPr>
        <p:txBody>
          <a:bodyPr wrap="square" lIns="0" tIns="0" rIns="0" bIns="0" rtlCol="0" anchor="t"/>
          <a:lstStyle/>
          <a:p>
            <a:pPr algn="ctr" indent="0" marL="0">
              <a:buNone/>
            </a:pPr>
            <a:r>
              <a:rPr lang="en-US" sz="2200" b="1" dirty="0">
                <a:solidFill>
                  <a:srgbClr val="2F6B4F"/>
                </a:solidFill>
                <a:latin typeface="Cambria" pitchFamily="34" charset="0"/>
                <a:ea typeface="Cambria" pitchFamily="34" charset="-122"/>
                <a:cs typeface="Cambria" pitchFamily="34" charset="-120"/>
              </a:rPr>
              <a:t>+ reservas</a:t>
            </a:r>
            <a:endParaRPr lang="en-US" sz="2200" dirty="0"/>
          </a:p>
        </p:txBody>
      </p:sp>
      <p:sp>
        <p:nvSpPr>
          <p:cNvPr id="16" name="Text 13"/>
          <p:cNvSpPr txBox="1"/>
          <p:nvPr/>
        </p:nvSpPr>
        <p:spPr>
          <a:xfrm>
            <a:off x="6720840" y="1856232"/>
            <a:ext cx="1828800" cy="457200"/>
          </a:xfrm>
          <a:prstGeom prst="rect">
            <a:avLst/>
          </a:prstGeom>
          <a:noFill/>
          <a:ln/>
        </p:spPr>
        <p:txBody>
          <a:bodyPr wrap="square" lIns="0" tIns="0" rIns="0" bIns="0" rtlCol="0" anchor="t"/>
          <a:lstStyle/>
          <a:p>
            <a:pPr algn="ctr" indent="0" marL="0">
              <a:buNone/>
            </a:pPr>
            <a:r>
              <a:rPr lang="en-US" sz="1100" dirty="0">
                <a:solidFill>
                  <a:srgbClr val="52605A"/>
                </a:solidFill>
                <a:latin typeface="Calibri" pitchFamily="34" charset="0"/>
                <a:ea typeface="Calibri" pitchFamily="34" charset="-122"/>
                <a:cs typeface="Calibri" pitchFamily="34" charset="-120"/>
              </a:rPr>
              <a:t>para repor recusas, no mesmo selo</a:t>
            </a:r>
            <a:endParaRPr lang="en-US" sz="1100" dirty="0"/>
          </a:p>
        </p:txBody>
      </p:sp>
      <p:sp>
        <p:nvSpPr>
          <p:cNvPr id="17" name="Text 14"/>
          <p:cNvSpPr txBox="1"/>
          <p:nvPr/>
        </p:nvSpPr>
        <p:spPr>
          <a:xfrm>
            <a:off x="457200" y="2606040"/>
            <a:ext cx="8229600" cy="2103120"/>
          </a:xfrm>
          <a:prstGeom prst="rect">
            <a:avLst/>
          </a:prstGeom>
          <a:noFill/>
          <a:ln/>
        </p:spPr>
        <p:txBody>
          <a:bodyPr wrap="square" lIns="0" tIns="0" rIns="0" bIns="0" rtlCol="0" anchor="t"/>
          <a:lstStyle/>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É um indício, calculado sobre um artefato pequeno. O pool real ainda não foi medido.</a:t>
            </a:r>
            <a:endParaRPr lang="en-US" sz="1300" dirty="0"/>
          </a:p>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A ferramenta de checagem do pool por estrato está pronta (somente leitura); falta rodá-la com os candidatos reais.</a:t>
            </a:r>
            <a:endParaRPr lang="en-US" sz="1300" dirty="0"/>
          </a:p>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Não se move o limiar físico de erodibilidade para acomodar a amostra: a decisão vem da fonte e da regra registrada.</a:t>
            </a:r>
            <a:endParaRPr lang="en-US" sz="1300" dirty="0"/>
          </a:p>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Respostas legítimas: ampliar a área de estudo, usar reservas ordenadas, ou declarar a limitação de potência naquele estrato.</a:t>
            </a:r>
            <a:endParaRPr lang="en-US" sz="1300" dirty="0"/>
          </a:p>
        </p:txBody>
      </p:sp>
      <p:sp>
        <p:nvSpPr>
          <p:cNvPr id="18" name="Text 15"/>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Fonte: verificação de 29/09/2026 (docs/verificacoes); decisões D09, D12 e D16; ferramenta scripts/verificar_pool_estratos.ts.</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Dificuldade 2: o polígono precisa caber em um único imóvel</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8</a:t>
            </a:r>
            <a:endParaRPr lang="en-US" sz="1000" dirty="0"/>
          </a:p>
        </p:txBody>
      </p:sp>
      <p:graphicFrame>
        <p:nvGraphicFramePr>
          <p:cNvPr id="5" name="Chart 0" descr=""/>
          <p:cNvGraphicFramePr/>
          <p:nvPr/>
        </p:nvGraphicFramePr>
        <p:xfrm>
          <a:off x="457200" y="1005840"/>
          <a:ext cx="4754880" cy="338328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5486400" y="1097280"/>
            <a:ext cx="3291840" cy="3291840"/>
          </a:xfrm>
          <a:prstGeom prst="rect">
            <a:avLst/>
          </a:prstGeom>
          <a:noFill/>
          <a:ln/>
        </p:spPr>
        <p:txBody>
          <a:bodyPr wrap="square" lIns="0" tIns="0" rIns="0" bIns="0" rtlCol="0" anchor="t"/>
          <a:lstStyle/>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73.643 imóveis rurais no envelope da bacia</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Mediana de 11,7 ha: minifúndio do oeste do Paraná</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Teste por caixa envolvente: valores são limites superiores</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72 autorizações em vez de 36</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Viés declarado: amostra tende a imóveis maiores, com outro manejo</a:t>
            </a:r>
            <a:endParaRPr lang="en-US" sz="1250" dirty="0"/>
          </a:p>
        </p:txBody>
      </p:sp>
      <p:sp>
        <p:nvSpPr>
          <p:cNvPr id="7" name="Text 3"/>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Fonte: decisão D16 (medição de 29/09/2026 sobre data/fundiario_brasil.db).</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Sorteio selado e o problema da recusa</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9</a:t>
            </a:r>
            <a:endParaRPr lang="en-US" sz="1000" dirty="0"/>
          </a:p>
        </p:txBody>
      </p:sp>
      <p:sp>
        <p:nvSpPr>
          <p:cNvPr id="5" name="Shape 2"/>
          <p:cNvSpPr/>
          <p:nvPr/>
        </p:nvSpPr>
        <p:spPr>
          <a:xfrm>
            <a:off x="457200" y="1051560"/>
            <a:ext cx="4023360" cy="3474720"/>
          </a:xfrm>
          <a:prstGeom prst="roundRect">
            <a:avLst>
              <a:gd name="adj" fmla="val 2105"/>
            </a:avLst>
          </a:prstGeom>
          <a:solidFill>
            <a:srgbClr val="EEF3EF"/>
          </a:solidFill>
          <a:ln w="12700">
            <a:solidFill>
              <a:srgbClr val="EEF3EF"/>
            </a:solidFill>
            <a:prstDash val="solid"/>
          </a:ln>
        </p:spPr>
      </p:sp>
      <p:sp>
        <p:nvSpPr>
          <p:cNvPr id="6" name="Text 3"/>
          <p:cNvSpPr txBox="1"/>
          <p:nvPr/>
        </p:nvSpPr>
        <p:spPr>
          <a:xfrm>
            <a:off x="640080" y="1170432"/>
            <a:ext cx="3657600" cy="365760"/>
          </a:xfrm>
          <a:prstGeom prst="rect">
            <a:avLst/>
          </a:prstGeom>
          <a:noFill/>
          <a:ln/>
        </p:spPr>
        <p:txBody>
          <a:bodyPr wrap="square" lIns="0" tIns="0" rIns="0" bIns="0" rtlCol="0" anchor="t"/>
          <a:lstStyle/>
          <a:p>
            <a:pPr indent="0" marL="0">
              <a:buNone/>
            </a:pPr>
            <a:r>
              <a:rPr lang="en-US" sz="1500" b="1" dirty="0">
                <a:solidFill>
                  <a:srgbClr val="2F6B4F"/>
                </a:solidFill>
                <a:latin typeface="Cambria" pitchFamily="34" charset="0"/>
                <a:ea typeface="Cambria" pitchFamily="34" charset="-122"/>
                <a:cs typeface="Cambria" pitchFamily="34" charset="-120"/>
              </a:rPr>
              <a:t>O que o selo registra</a:t>
            </a:r>
            <a:endParaRPr lang="en-US" sz="1500" dirty="0"/>
          </a:p>
        </p:txBody>
      </p:sp>
      <p:sp>
        <p:nvSpPr>
          <p:cNvPr id="7" name="Text 4"/>
          <p:cNvSpPr txBox="1"/>
          <p:nvPr/>
        </p:nvSpPr>
        <p:spPr>
          <a:xfrm>
            <a:off x="640080" y="1600200"/>
            <a:ext cx="3657600" cy="2834640"/>
          </a:xfrm>
          <a:prstGeom prst="rect">
            <a:avLst/>
          </a:prstGeom>
          <a:noFill/>
          <a:ln/>
        </p:spPr>
        <p:txBody>
          <a:bodyPr wrap="square" lIns="0" tIns="0" rIns="0" bIns="0" rtlCol="0" anchor="t"/>
          <a:lstStyle/>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Semente do sorteio e commit do código</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SHA-256 do conjunto de candidatos</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Hash de integridade do resultado</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Tabela reversa de códigos opacos, fora do Git</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Recusa de candidato sintético e de segunda execução</a:t>
            </a:r>
            <a:endParaRPr lang="en-US" sz="1250" dirty="0"/>
          </a:p>
        </p:txBody>
      </p:sp>
      <p:sp>
        <p:nvSpPr>
          <p:cNvPr id="8" name="Shape 5"/>
          <p:cNvSpPr/>
          <p:nvPr/>
        </p:nvSpPr>
        <p:spPr>
          <a:xfrm>
            <a:off x="4663440" y="1051560"/>
            <a:ext cx="4023360" cy="3474720"/>
          </a:xfrm>
          <a:prstGeom prst="roundRect">
            <a:avLst>
              <a:gd name="adj" fmla="val 2105"/>
            </a:avLst>
          </a:prstGeom>
          <a:solidFill>
            <a:srgbClr val="EEF3EF"/>
          </a:solidFill>
          <a:ln w="12700">
            <a:solidFill>
              <a:srgbClr val="EEF3EF"/>
            </a:solidFill>
            <a:prstDash val="solid"/>
          </a:ln>
        </p:spPr>
      </p:sp>
      <p:sp>
        <p:nvSpPr>
          <p:cNvPr id="9" name="Text 6"/>
          <p:cNvSpPr txBox="1"/>
          <p:nvPr/>
        </p:nvSpPr>
        <p:spPr>
          <a:xfrm>
            <a:off x="4846320" y="1170432"/>
            <a:ext cx="3657600" cy="365760"/>
          </a:xfrm>
          <a:prstGeom prst="rect">
            <a:avLst/>
          </a:prstGeom>
          <a:noFill/>
          <a:ln/>
        </p:spPr>
        <p:txBody>
          <a:bodyPr wrap="square" lIns="0" tIns="0" rIns="0" bIns="0" rtlCol="0" anchor="t"/>
          <a:lstStyle/>
          <a:p>
            <a:pPr indent="0" marL="0">
              <a:buNone/>
            </a:pPr>
            <a:r>
              <a:rPr lang="en-US" sz="1500" b="1" dirty="0">
                <a:solidFill>
                  <a:srgbClr val="C65D3B"/>
                </a:solidFill>
                <a:latin typeface="Cambria" pitchFamily="34" charset="0"/>
                <a:ea typeface="Cambria" pitchFamily="34" charset="-122"/>
                <a:cs typeface="Cambria" pitchFamily="34" charset="-120"/>
              </a:rPr>
              <a:t>Se recusar (proposta)</a:t>
            </a:r>
            <a:endParaRPr lang="en-US" sz="1500" dirty="0"/>
          </a:p>
        </p:txBody>
      </p:sp>
      <p:sp>
        <p:nvSpPr>
          <p:cNvPr id="10" name="Text 7"/>
          <p:cNvSpPr txBox="1"/>
          <p:nvPr/>
        </p:nvSpPr>
        <p:spPr>
          <a:xfrm>
            <a:off x="4846320" y="1600200"/>
            <a:ext cx="3657600" cy="2834640"/>
          </a:xfrm>
          <a:prstGeom prst="rect">
            <a:avLst/>
          </a:prstGeom>
          <a:noFill/>
          <a:ln/>
        </p:spPr>
        <p:txBody>
          <a:bodyPr wrap="square" lIns="0" tIns="0" rIns="0" bIns="0" rtlCol="0" anchor="t"/>
          <a:lstStyle/>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No mesmo selo: 4 titulares e reservas ordenadas por estrato</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Recusa aciona a próxima reserva do mesmo estrato</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A reserva herda o papel (treino ou teste)</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Registro append-only, com data e motivo</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Parâmetros em aberto: número de reservas, n mínimo e taxa de recusa</a:t>
            </a:r>
            <a:endParaRPr lang="en-US" sz="1250" dirty="0"/>
          </a:p>
        </p:txBody>
      </p:sp>
      <p:sp>
        <p:nvSpPr>
          <p:cNvPr id="11" name="Text 8"/>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Refs.: D23; King &amp; Zeng (2001); Olofsson et al. (2014); Cochran (1977). O protocolo de reservas é proposta, em implementação.</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Dificuldade 3: quantos voos e quanto tempo</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10</a:t>
            </a:r>
            <a:endParaRPr lang="en-US" sz="1000" dirty="0"/>
          </a:p>
        </p:txBody>
      </p:sp>
      <p:sp>
        <p:nvSpPr>
          <p:cNvPr id="5" name="Shape 2"/>
          <p:cNvSpPr/>
          <p:nvPr/>
        </p:nvSpPr>
        <p:spPr>
          <a:xfrm>
            <a:off x="457200" y="1005840"/>
            <a:ext cx="1920240" cy="1188720"/>
          </a:xfrm>
          <a:prstGeom prst="roundRect">
            <a:avLst>
              <a:gd name="adj" fmla="val 6154"/>
            </a:avLst>
          </a:prstGeom>
          <a:solidFill>
            <a:srgbClr val="EEF3EF"/>
          </a:solidFill>
          <a:ln w="12700">
            <a:solidFill>
              <a:srgbClr val="EEF3EF"/>
            </a:solidFill>
            <a:prstDash val="solid"/>
          </a:ln>
        </p:spPr>
      </p:sp>
      <p:sp>
        <p:nvSpPr>
          <p:cNvPr id="6" name="Text 3"/>
          <p:cNvSpPr txBox="1"/>
          <p:nvPr/>
        </p:nvSpPr>
        <p:spPr>
          <a:xfrm>
            <a:off x="457200" y="1115568"/>
            <a:ext cx="1920240" cy="594360"/>
          </a:xfrm>
          <a:prstGeom prst="rect">
            <a:avLst/>
          </a:prstGeom>
          <a:noFill/>
          <a:ln/>
        </p:spPr>
        <p:txBody>
          <a:bodyPr wrap="square" lIns="0" tIns="0" rIns="0" bIns="0" rtlCol="0" anchor="t"/>
          <a:lstStyle/>
          <a:p>
            <a:pPr algn="ctr" indent="0" marL="0">
              <a:buNone/>
            </a:pPr>
            <a:r>
              <a:rPr lang="en-US" sz="2200" b="1" dirty="0">
                <a:solidFill>
                  <a:srgbClr val="C65D3B"/>
                </a:solidFill>
                <a:latin typeface="Cambria" pitchFamily="34" charset="0"/>
                <a:ea typeface="Cambria" pitchFamily="34" charset="-122"/>
                <a:cs typeface="Cambria" pitchFamily="34" charset="-120"/>
              </a:rPr>
              <a:t>72</a:t>
            </a:r>
            <a:endParaRPr lang="en-US" sz="2200" dirty="0"/>
          </a:p>
        </p:txBody>
      </p:sp>
      <p:sp>
        <p:nvSpPr>
          <p:cNvPr id="7" name="Text 4"/>
          <p:cNvSpPr txBox="1"/>
          <p:nvPr/>
        </p:nvSpPr>
        <p:spPr>
          <a:xfrm>
            <a:off x="548640" y="1719072"/>
            <a:ext cx="1737360" cy="457200"/>
          </a:xfrm>
          <a:prstGeom prst="rect">
            <a:avLst/>
          </a:prstGeom>
          <a:noFill/>
          <a:ln/>
        </p:spPr>
        <p:txBody>
          <a:bodyPr wrap="square" lIns="0" tIns="0" rIns="0" bIns="0" rtlCol="0" anchor="t"/>
          <a:lstStyle/>
          <a:p>
            <a:pPr algn="ctr" indent="0" marL="0">
              <a:buNone/>
            </a:pPr>
            <a:r>
              <a:rPr lang="en-US" sz="1100" dirty="0">
                <a:solidFill>
                  <a:srgbClr val="52605A"/>
                </a:solidFill>
                <a:latin typeface="Calibri" pitchFamily="34" charset="0"/>
                <a:ea typeface="Calibri" pitchFamily="34" charset="-122"/>
                <a:cs typeface="Calibri" pitchFamily="34" charset="-120"/>
              </a:rPr>
              <a:t>missões de mapeamento, uma por polígono (eram 36)</a:t>
            </a:r>
            <a:endParaRPr lang="en-US" sz="1100" dirty="0"/>
          </a:p>
        </p:txBody>
      </p:sp>
      <p:sp>
        <p:nvSpPr>
          <p:cNvPr id="8" name="Shape 5"/>
          <p:cNvSpPr/>
          <p:nvPr/>
        </p:nvSpPr>
        <p:spPr>
          <a:xfrm>
            <a:off x="2514600" y="1005840"/>
            <a:ext cx="1920240" cy="1188720"/>
          </a:xfrm>
          <a:prstGeom prst="roundRect">
            <a:avLst>
              <a:gd name="adj" fmla="val 6154"/>
            </a:avLst>
          </a:prstGeom>
          <a:solidFill>
            <a:srgbClr val="EEF3EF"/>
          </a:solidFill>
          <a:ln w="12700">
            <a:solidFill>
              <a:srgbClr val="EEF3EF"/>
            </a:solidFill>
            <a:prstDash val="solid"/>
          </a:ln>
        </p:spPr>
      </p:sp>
      <p:sp>
        <p:nvSpPr>
          <p:cNvPr id="9" name="Text 6"/>
          <p:cNvSpPr txBox="1"/>
          <p:nvPr/>
        </p:nvSpPr>
        <p:spPr>
          <a:xfrm>
            <a:off x="2514600" y="1115568"/>
            <a:ext cx="1920240" cy="594360"/>
          </a:xfrm>
          <a:prstGeom prst="rect">
            <a:avLst/>
          </a:prstGeom>
          <a:noFill/>
          <a:ln/>
        </p:spPr>
        <p:txBody>
          <a:bodyPr wrap="square" lIns="0" tIns="0" rIns="0" bIns="0" rtlCol="0" anchor="t"/>
          <a:lstStyle/>
          <a:p>
            <a:pPr algn="ctr" indent="0" marL="0">
              <a:buNone/>
            </a:pPr>
            <a:r>
              <a:rPr lang="en-US" sz="2200" b="1" dirty="0">
                <a:solidFill>
                  <a:srgbClr val="2F6B4F"/>
                </a:solidFill>
                <a:latin typeface="Cambria" pitchFamily="34" charset="0"/>
                <a:ea typeface="Cambria" pitchFamily="34" charset="-122"/>
                <a:cs typeface="Cambria" pitchFamily="34" charset="-120"/>
              </a:rPr>
              <a:t>≈ 12</a:t>
            </a:r>
            <a:endParaRPr lang="en-US" sz="2200" dirty="0"/>
          </a:p>
        </p:txBody>
      </p:sp>
      <p:sp>
        <p:nvSpPr>
          <p:cNvPr id="10" name="Text 7"/>
          <p:cNvSpPr txBox="1"/>
          <p:nvPr/>
        </p:nvSpPr>
        <p:spPr>
          <a:xfrm>
            <a:off x="2606040" y="1719072"/>
            <a:ext cx="1737360" cy="457200"/>
          </a:xfrm>
          <a:prstGeom prst="rect">
            <a:avLst/>
          </a:prstGeom>
          <a:noFill/>
          <a:ln/>
        </p:spPr>
        <p:txBody>
          <a:bodyPr wrap="square" lIns="0" tIns="0" rIns="0" bIns="0" rtlCol="0" anchor="t"/>
          <a:lstStyle/>
          <a:p>
            <a:pPr algn="ctr" indent="0" marL="0">
              <a:buNone/>
            </a:pPr>
            <a:r>
              <a:rPr lang="en-US" sz="1100" dirty="0">
                <a:solidFill>
                  <a:srgbClr val="52605A"/>
                </a:solidFill>
                <a:latin typeface="Calibri" pitchFamily="34" charset="0"/>
                <a:ea typeface="Calibri" pitchFamily="34" charset="-122"/>
                <a:cs typeface="Calibri" pitchFamily="34" charset="-120"/>
              </a:rPr>
              <a:t>jornadas de campo, com até 6 polígonos cada (proposta)</a:t>
            </a:r>
            <a:endParaRPr lang="en-US" sz="1100" dirty="0"/>
          </a:p>
        </p:txBody>
      </p:sp>
      <p:sp>
        <p:nvSpPr>
          <p:cNvPr id="11" name="Shape 8"/>
          <p:cNvSpPr/>
          <p:nvPr/>
        </p:nvSpPr>
        <p:spPr>
          <a:xfrm>
            <a:off x="4572000" y="1005840"/>
            <a:ext cx="1920240" cy="1188720"/>
          </a:xfrm>
          <a:prstGeom prst="roundRect">
            <a:avLst>
              <a:gd name="adj" fmla="val 6154"/>
            </a:avLst>
          </a:prstGeom>
          <a:solidFill>
            <a:srgbClr val="EEF3EF"/>
          </a:solidFill>
          <a:ln w="12700">
            <a:solidFill>
              <a:srgbClr val="EEF3EF"/>
            </a:solidFill>
            <a:prstDash val="solid"/>
          </a:ln>
        </p:spPr>
      </p:sp>
      <p:sp>
        <p:nvSpPr>
          <p:cNvPr id="12" name="Text 9"/>
          <p:cNvSpPr txBox="1"/>
          <p:nvPr/>
        </p:nvSpPr>
        <p:spPr>
          <a:xfrm>
            <a:off x="4572000" y="1115568"/>
            <a:ext cx="1920240" cy="594360"/>
          </a:xfrm>
          <a:prstGeom prst="rect">
            <a:avLst/>
          </a:prstGeom>
          <a:noFill/>
          <a:ln/>
        </p:spPr>
        <p:txBody>
          <a:bodyPr wrap="square" lIns="0" tIns="0" rIns="0" bIns="0" rtlCol="0" anchor="t"/>
          <a:lstStyle/>
          <a:p>
            <a:pPr algn="ctr" indent="0" marL="0">
              <a:buNone/>
            </a:pPr>
            <a:r>
              <a:rPr lang="en-US" sz="2200" b="1" dirty="0">
                <a:solidFill>
                  <a:srgbClr val="2F6B4F"/>
                </a:solidFill>
                <a:latin typeface="Cambria" pitchFamily="34" charset="0"/>
                <a:ea typeface="Cambria" pitchFamily="34" charset="-122"/>
                <a:cs typeface="Cambria" pitchFamily="34" charset="-120"/>
              </a:rPr>
              <a:t>2 a 10 min</a:t>
            </a:r>
            <a:endParaRPr lang="en-US" sz="2200" dirty="0"/>
          </a:p>
        </p:txBody>
      </p:sp>
      <p:sp>
        <p:nvSpPr>
          <p:cNvPr id="13" name="Text 10"/>
          <p:cNvSpPr txBox="1"/>
          <p:nvPr/>
        </p:nvSpPr>
        <p:spPr>
          <a:xfrm>
            <a:off x="4663440" y="1719072"/>
            <a:ext cx="1737360" cy="457200"/>
          </a:xfrm>
          <a:prstGeom prst="rect">
            <a:avLst/>
          </a:prstGeom>
          <a:noFill/>
          <a:ln/>
        </p:spPr>
        <p:txBody>
          <a:bodyPr wrap="square" lIns="0" tIns="0" rIns="0" bIns="0" rtlCol="0" anchor="t"/>
          <a:lstStyle/>
          <a:p>
            <a:pPr algn="ctr" indent="0" marL="0">
              <a:buNone/>
            </a:pPr>
            <a:r>
              <a:rPr lang="en-US" sz="1100" dirty="0">
                <a:solidFill>
                  <a:srgbClr val="52605A"/>
                </a:solidFill>
                <a:latin typeface="Calibri" pitchFamily="34" charset="0"/>
                <a:ea typeface="Calibri" pitchFamily="34" charset="-122"/>
                <a:cs typeface="Calibri" pitchFamily="34" charset="-120"/>
              </a:rPr>
              <a:t>de voo por polígono (2,3 ha/min na Missão 009; 0,53 na 000)</a:t>
            </a:r>
            <a:endParaRPr lang="en-US" sz="1100" dirty="0"/>
          </a:p>
        </p:txBody>
      </p:sp>
      <p:sp>
        <p:nvSpPr>
          <p:cNvPr id="14" name="Shape 11"/>
          <p:cNvSpPr/>
          <p:nvPr/>
        </p:nvSpPr>
        <p:spPr>
          <a:xfrm>
            <a:off x="6629400" y="1005840"/>
            <a:ext cx="2057400" cy="1188720"/>
          </a:xfrm>
          <a:prstGeom prst="roundRect">
            <a:avLst>
              <a:gd name="adj" fmla="val 6154"/>
            </a:avLst>
          </a:prstGeom>
          <a:solidFill>
            <a:srgbClr val="EEF3EF"/>
          </a:solidFill>
          <a:ln w="12700">
            <a:solidFill>
              <a:srgbClr val="EEF3EF"/>
            </a:solidFill>
            <a:prstDash val="solid"/>
          </a:ln>
        </p:spPr>
      </p:sp>
      <p:sp>
        <p:nvSpPr>
          <p:cNvPr id="15" name="Text 12"/>
          <p:cNvSpPr txBox="1"/>
          <p:nvPr/>
        </p:nvSpPr>
        <p:spPr>
          <a:xfrm>
            <a:off x="6629400" y="1115568"/>
            <a:ext cx="2057400" cy="594360"/>
          </a:xfrm>
          <a:prstGeom prst="rect">
            <a:avLst/>
          </a:prstGeom>
          <a:noFill/>
          <a:ln/>
        </p:spPr>
        <p:txBody>
          <a:bodyPr wrap="square" lIns="0" tIns="0" rIns="0" bIns="0" rtlCol="0" anchor="t"/>
          <a:lstStyle/>
          <a:p>
            <a:pPr algn="ctr" indent="0" marL="0">
              <a:buNone/>
            </a:pPr>
            <a:r>
              <a:rPr lang="en-US" sz="2200" b="1" dirty="0">
                <a:solidFill>
                  <a:srgbClr val="C65D3B"/>
                </a:solidFill>
                <a:latin typeface="Cambria" pitchFamily="34" charset="0"/>
                <a:ea typeface="Cambria" pitchFamily="34" charset="-122"/>
                <a:cs typeface="Cambria" pitchFamily="34" charset="-120"/>
              </a:rPr>
              <a:t>72</a:t>
            </a:r>
            <a:endParaRPr lang="en-US" sz="2200" dirty="0"/>
          </a:p>
        </p:txBody>
      </p:sp>
      <p:sp>
        <p:nvSpPr>
          <p:cNvPr id="16" name="Text 13"/>
          <p:cNvSpPr txBox="1"/>
          <p:nvPr/>
        </p:nvSpPr>
        <p:spPr>
          <a:xfrm>
            <a:off x="6720840" y="1719072"/>
            <a:ext cx="1874520" cy="457200"/>
          </a:xfrm>
          <a:prstGeom prst="rect">
            <a:avLst/>
          </a:prstGeom>
          <a:noFill/>
          <a:ln/>
        </p:spPr>
        <p:txBody>
          <a:bodyPr wrap="square" lIns="0" tIns="0" rIns="0" bIns="0" rtlCol="0" anchor="t"/>
          <a:lstStyle/>
          <a:p>
            <a:pPr algn="ctr" indent="0" marL="0">
              <a:buNone/>
            </a:pPr>
            <a:r>
              <a:rPr lang="en-US" sz="1100" dirty="0">
                <a:solidFill>
                  <a:srgbClr val="52605A"/>
                </a:solidFill>
                <a:latin typeface="Calibri" pitchFamily="34" charset="0"/>
                <a:ea typeface="Calibri" pitchFamily="34" charset="-122"/>
                <a:cs typeface="Calibri" pitchFamily="34" charset="-120"/>
              </a:rPr>
              <a:t>autorizações de proprietário</a:t>
            </a:r>
            <a:endParaRPr lang="en-US" sz="1100" dirty="0"/>
          </a:p>
        </p:txBody>
      </p:sp>
      <p:sp>
        <p:nvSpPr>
          <p:cNvPr id="17" name="Shape 14"/>
          <p:cNvSpPr/>
          <p:nvPr/>
        </p:nvSpPr>
        <p:spPr>
          <a:xfrm>
            <a:off x="1158736" y="2313432"/>
            <a:ext cx="6826528" cy="1453896"/>
          </a:xfrm>
          <a:prstGeom prst="rect">
            <a:avLst/>
          </a:prstGeom>
          <a:solidFill>
            <a:srgbClr val="FFFFFF"/>
          </a:solidFill>
          <a:ln w="9525">
            <a:solidFill>
              <a:srgbClr val="B8C4BC"/>
            </a:solidFill>
            <a:prstDash val="solid"/>
          </a:ln>
        </p:spPr>
      </p:sp>
      <p:pic>
        <p:nvPicPr>
          <p:cNvPr id="18" name="Image 0" descr="img/camp_cards.png">    </p:cNvPr>
          <p:cNvPicPr>
            <a:picLocks noChangeAspect="1"/>
          </p:cNvPicPr>
          <p:nvPr/>
        </p:nvPicPr>
        <p:blipFill>
          <a:blip r:embed="rId1"/>
          <a:stretch>
            <a:fillRect/>
          </a:stretch>
        </p:blipFill>
        <p:spPr>
          <a:xfrm>
            <a:off x="1177024" y="2331720"/>
            <a:ext cx="6789952" cy="1417320"/>
          </a:xfrm>
          <a:prstGeom prst="rect">
            <a:avLst/>
          </a:prstGeom>
        </p:spPr>
      </p:pic>
      <p:sp>
        <p:nvSpPr>
          <p:cNvPr id="19" name="Text 15"/>
          <p:cNvSpPr txBox="1"/>
          <p:nvPr/>
        </p:nvSpPr>
        <p:spPr>
          <a:xfrm>
            <a:off x="457200" y="3794760"/>
            <a:ext cx="8229600" cy="914400"/>
          </a:xfrm>
          <a:prstGeom prst="rect">
            <a:avLst/>
          </a:prstGeom>
          <a:noFill/>
          <a:ln/>
        </p:spPr>
        <p:txBody>
          <a:bodyPr wrap="square" lIns="0" tIns="0" rIns="0" bIns="0" rtlCol="0" anchor="t"/>
          <a:lstStyle/>
          <a:p>
            <a:pPr marL="342900" indent="-342900">
              <a:spcAft>
                <a:spcPts val="300"/>
              </a:spcAft>
              <a:buSzPct val="100000"/>
              <a:buChar char="•"/>
            </a:pPr>
            <a:r>
              <a:rPr lang="en-US" sz="1100" dirty="0">
                <a:solidFill>
                  <a:srgbClr val="1B2A22"/>
                </a:solidFill>
                <a:latin typeface="Calibri" pitchFamily="34" charset="0"/>
                <a:ea typeface="Calibri" pitchFamily="34" charset="-122"/>
                <a:cs typeface="Calibri" pitchFamily="34" charset="-120"/>
              </a:rPr>
              <a:t>Tempo total de voo: de 2,6 h a 11 h, sem contar o deslocamento, que domina a campanha</a:t>
            </a:r>
            <a:endParaRPr lang="en-US" sz="1100" dirty="0"/>
          </a:p>
          <a:p>
            <a:pPr marL="342900" indent="-342900">
              <a:spcAft>
                <a:spcPts val="300"/>
              </a:spcAft>
              <a:buSzPct val="100000"/>
              <a:buChar char="•"/>
            </a:pPr>
            <a:r>
              <a:rPr lang="en-US" sz="1100" dirty="0">
                <a:solidFill>
                  <a:srgbClr val="1B2A22"/>
                </a:solidFill>
                <a:latin typeface="Calibri" pitchFamily="34" charset="0"/>
                <a:ea typeface="Calibri" pitchFamily="34" charset="-122"/>
                <a:cs typeface="Calibri" pitchFamily="34" charset="-120"/>
              </a:rPr>
              <a:t>Nº de baterias e de decolagens: ainda não definido; depende da aeronave e do agrupamento</a:t>
            </a:r>
            <a:endParaRPr lang="en-US" sz="1100" dirty="0"/>
          </a:p>
          <a:p>
            <a:pPr marL="342900" indent="-342900">
              <a:spcAft>
                <a:spcPts val="300"/>
              </a:spcAft>
              <a:buSzPct val="100000"/>
              <a:buChar char="•"/>
            </a:pPr>
            <a:r>
              <a:rPr lang="en-US" sz="1100" dirty="0">
                <a:solidFill>
                  <a:srgbClr val="1B2A22"/>
                </a:solidFill>
                <a:latin typeface="Calibri" pitchFamily="34" charset="0"/>
                <a:ea typeface="Calibri" pitchFamily="34" charset="-122"/>
                <a:cs typeface="Calibri" pitchFamily="34" charset="-120"/>
              </a:rPr>
              <a:t>Base: 2 missões medidas (uma terceira foi excluída por ortomosaico degenerado); é uma faixa, não uma estimativa precisa</a:t>
            </a:r>
            <a:endParaRPr lang="en-US" sz="1100" dirty="0"/>
          </a:p>
        </p:txBody>
      </p:sp>
      <p:sp>
        <p:nvSpPr>
          <p:cNvPr id="20" name="Text 16"/>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Fonte: D16; cobertura_voos.geojson (Missões 000 e 009); agrupamento: planejador de jornadas (teto padrão 6).</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Voo cego, delineação e rótulo por fração</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11</a:t>
            </a:r>
            <a:endParaRPr lang="en-US" sz="1000" dirty="0"/>
          </a:p>
        </p:txBody>
      </p:sp>
      <p:sp>
        <p:nvSpPr>
          <p:cNvPr id="5" name="Shape 2"/>
          <p:cNvSpPr/>
          <p:nvPr/>
        </p:nvSpPr>
        <p:spPr>
          <a:xfrm>
            <a:off x="472440" y="987552"/>
            <a:ext cx="8199120" cy="1225296"/>
          </a:xfrm>
          <a:prstGeom prst="rect">
            <a:avLst/>
          </a:prstGeom>
          <a:solidFill>
            <a:srgbClr val="FFFFFF"/>
          </a:solidFill>
          <a:ln w="9525">
            <a:solidFill>
              <a:srgbClr val="B8C4BC"/>
            </a:solidFill>
            <a:prstDash val="solid"/>
          </a:ln>
        </p:spPr>
      </p:sp>
      <p:pic>
        <p:nvPicPr>
          <p:cNvPr id="6" name="Image 0" descr="img/camp_topo.png">    </p:cNvPr>
          <p:cNvPicPr>
            <a:picLocks noChangeAspect="1"/>
          </p:cNvPicPr>
          <p:nvPr/>
        </p:nvPicPr>
        <p:blipFill>
          <a:blip r:embed="rId1"/>
          <a:stretch>
            <a:fillRect/>
          </a:stretch>
        </p:blipFill>
        <p:spPr>
          <a:xfrm>
            <a:off x="490728" y="1005840"/>
            <a:ext cx="8162544" cy="1188720"/>
          </a:xfrm>
          <a:prstGeom prst="rect">
            <a:avLst/>
          </a:prstGeom>
        </p:spPr>
      </p:pic>
      <p:sp>
        <p:nvSpPr>
          <p:cNvPr id="7" name="Text 3"/>
          <p:cNvSpPr txBox="1"/>
          <p:nvPr/>
        </p:nvSpPr>
        <p:spPr>
          <a:xfrm>
            <a:off x="457200" y="2423160"/>
            <a:ext cx="8229600" cy="2194560"/>
          </a:xfrm>
          <a:prstGeom prst="rect">
            <a:avLst/>
          </a:prstGeom>
          <a:noFill/>
          <a:ln/>
        </p:spPr>
        <p:txBody>
          <a:bodyPr wrap="square" lIns="0" tIns="0" rIns="0" bIns="0" rtlCol="0" anchor="t"/>
          <a:lstStyle/>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Alvo primário: fração da célula de 10 m delineada como erodida, de 0 a 1 (D26); binário ≥ 0,25 é derivado</a:t>
            </a:r>
            <a:endParaRPr lang="en-US" sz="1300" dirty="0"/>
          </a:p>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Intérprete cego: recebe só um código opaco, sem estrato nem papel (exportação cega por perfil)</a:t>
            </a:r>
            <a:endParaRPr lang="en-US" sz="1300" dirty="0"/>
          </a:p>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Polígonos sorteados pelos estratos biofísicos, nunca pelo rastreio espectral (evita circularidade)</a:t>
            </a:r>
            <a:endParaRPr lang="en-US" sz="1300" dirty="0"/>
          </a:p>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Planos de voo só com terreno real (Copernicus 30 m); os de demonstração são marcados como sintéticos e não voáveis</a:t>
            </a:r>
            <a:endParaRPr lang="en-US" sz="1300" dirty="0"/>
          </a:p>
        </p:txBody>
      </p:sp>
      <p:sp>
        <p:nvSpPr>
          <p:cNvPr id="8" name="Text 4"/>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Refs.: D26, D16, D02; Altman &amp; Royston (2006) sobre dicotomizar variável contínua.</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Âncora de campo com o SAREL Coletor</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12</a:t>
            </a:r>
            <a:endParaRPr lang="en-US" sz="1000" dirty="0"/>
          </a:p>
        </p:txBody>
      </p:sp>
      <p:sp>
        <p:nvSpPr>
          <p:cNvPr id="5" name="Shape 2"/>
          <p:cNvSpPr/>
          <p:nvPr/>
        </p:nvSpPr>
        <p:spPr>
          <a:xfrm>
            <a:off x="457200" y="1097280"/>
            <a:ext cx="2606040" cy="1828800"/>
          </a:xfrm>
          <a:prstGeom prst="roundRect">
            <a:avLst>
              <a:gd name="adj" fmla="val 4000"/>
            </a:avLst>
          </a:prstGeom>
          <a:solidFill>
            <a:srgbClr val="EEF3EF"/>
          </a:solidFill>
          <a:ln w="12700">
            <a:solidFill>
              <a:srgbClr val="EEF3EF"/>
            </a:solidFill>
            <a:prstDash val="solid"/>
          </a:ln>
        </p:spPr>
      </p:sp>
      <p:sp>
        <p:nvSpPr>
          <p:cNvPr id="6" name="Text 3"/>
          <p:cNvSpPr txBox="1"/>
          <p:nvPr/>
        </p:nvSpPr>
        <p:spPr>
          <a:xfrm>
            <a:off x="640080" y="1207008"/>
            <a:ext cx="2240280" cy="457200"/>
          </a:xfrm>
          <a:prstGeom prst="rect">
            <a:avLst/>
          </a:prstGeom>
          <a:noFill/>
          <a:ln/>
        </p:spPr>
        <p:txBody>
          <a:bodyPr wrap="square" lIns="0" tIns="0" rIns="0" bIns="0" rtlCol="0" anchor="t"/>
          <a:lstStyle/>
          <a:p>
            <a:pPr indent="0" marL="0">
              <a:buNone/>
            </a:pPr>
            <a:r>
              <a:rPr lang="en-US" sz="1700" b="1" dirty="0">
                <a:solidFill>
                  <a:srgbClr val="2F6B4F"/>
                </a:solidFill>
                <a:latin typeface="Cambria" pitchFamily="34" charset="0"/>
                <a:ea typeface="Cambria" pitchFamily="34" charset="-122"/>
                <a:cs typeface="Cambria" pitchFamily="34" charset="-120"/>
              </a:rPr>
              <a:t>60 a 80 pontos</a:t>
            </a:r>
            <a:endParaRPr lang="en-US" sz="1700" dirty="0"/>
          </a:p>
        </p:txBody>
      </p:sp>
      <p:sp>
        <p:nvSpPr>
          <p:cNvPr id="7" name="Text 4"/>
          <p:cNvSpPr txBox="1"/>
          <p:nvPr/>
        </p:nvSpPr>
        <p:spPr>
          <a:xfrm>
            <a:off x="640080" y="1737360"/>
            <a:ext cx="2240280" cy="1143000"/>
          </a:xfrm>
          <a:prstGeom prst="rect">
            <a:avLst/>
          </a:prstGeom>
          <a:noFill/>
          <a:ln/>
        </p:spPr>
        <p:txBody>
          <a:bodyPr wrap="square" lIns="0" tIns="0" rIns="0" bIns="0" rtlCol="0" anchor="t"/>
          <a:lstStyle/>
          <a:p>
            <a:pPr indent="0" marL="0">
              <a:buNone/>
            </a:pPr>
            <a:r>
              <a:rPr lang="en-US" sz="1300" dirty="0">
                <a:solidFill>
                  <a:srgbClr val="1B2A22"/>
                </a:solidFill>
                <a:latin typeface="Calibri" pitchFamily="34" charset="0"/>
                <a:ea typeface="Calibri" pitchFamily="34" charset="-122"/>
                <a:cs typeface="Calibri" pitchFamily="34" charset="-120"/>
              </a:rPr>
              <a:t>dispersos pela bacia, fora dos polígonos, com probabilidade de inclusão conhecida</a:t>
            </a:r>
            <a:endParaRPr lang="en-US" sz="1300" dirty="0"/>
          </a:p>
        </p:txBody>
      </p:sp>
      <p:sp>
        <p:nvSpPr>
          <p:cNvPr id="8" name="Shape 5"/>
          <p:cNvSpPr/>
          <p:nvPr/>
        </p:nvSpPr>
        <p:spPr>
          <a:xfrm>
            <a:off x="3246120" y="1097280"/>
            <a:ext cx="2606040" cy="1828800"/>
          </a:xfrm>
          <a:prstGeom prst="roundRect">
            <a:avLst>
              <a:gd name="adj" fmla="val 4000"/>
            </a:avLst>
          </a:prstGeom>
          <a:solidFill>
            <a:srgbClr val="EEF3EF"/>
          </a:solidFill>
          <a:ln w="12700">
            <a:solidFill>
              <a:srgbClr val="EEF3EF"/>
            </a:solidFill>
            <a:prstDash val="solid"/>
          </a:ln>
        </p:spPr>
      </p:sp>
      <p:sp>
        <p:nvSpPr>
          <p:cNvPr id="9" name="Text 6"/>
          <p:cNvSpPr txBox="1"/>
          <p:nvPr/>
        </p:nvSpPr>
        <p:spPr>
          <a:xfrm>
            <a:off x="3429000" y="1207008"/>
            <a:ext cx="2240280" cy="457200"/>
          </a:xfrm>
          <a:prstGeom prst="rect">
            <a:avLst/>
          </a:prstGeom>
          <a:noFill/>
          <a:ln/>
        </p:spPr>
        <p:txBody>
          <a:bodyPr wrap="square" lIns="0" tIns="0" rIns="0" bIns="0" rtlCol="0" anchor="t"/>
          <a:lstStyle/>
          <a:p>
            <a:pPr indent="0" marL="0">
              <a:buNone/>
            </a:pPr>
            <a:r>
              <a:rPr lang="en-US" sz="1700" b="1" dirty="0">
                <a:solidFill>
                  <a:srgbClr val="2F6B4F"/>
                </a:solidFill>
                <a:latin typeface="Cambria" pitchFamily="34" charset="0"/>
                <a:ea typeface="Cambria" pitchFamily="34" charset="-122"/>
                <a:cs typeface="Cambria" pitchFamily="34" charset="-120"/>
              </a:rPr>
              <a:t>2 ondas</a:t>
            </a:r>
            <a:endParaRPr lang="en-US" sz="1700" dirty="0"/>
          </a:p>
        </p:txBody>
      </p:sp>
      <p:sp>
        <p:nvSpPr>
          <p:cNvPr id="10" name="Text 7"/>
          <p:cNvSpPr txBox="1"/>
          <p:nvPr/>
        </p:nvSpPr>
        <p:spPr>
          <a:xfrm>
            <a:off x="3429000" y="1737360"/>
            <a:ext cx="2240280" cy="1143000"/>
          </a:xfrm>
          <a:prstGeom prst="rect">
            <a:avLst/>
          </a:prstGeom>
          <a:noFill/>
          <a:ln/>
        </p:spPr>
        <p:txBody>
          <a:bodyPr wrap="square" lIns="0" tIns="0" rIns="0" bIns="0" rtlCol="0" anchor="t"/>
          <a:lstStyle/>
          <a:p>
            <a:pPr indent="0" marL="0">
              <a:buNone/>
            </a:pPr>
            <a:r>
              <a:rPr lang="en-US" sz="1300" dirty="0">
                <a:solidFill>
                  <a:srgbClr val="1B2A22"/>
                </a:solidFill>
                <a:latin typeface="Calibri" pitchFamily="34" charset="0"/>
                <a:ea typeface="Calibri" pitchFamily="34" charset="-122"/>
                <a:cs typeface="Calibri" pitchFamily="34" charset="-120"/>
              </a:rPr>
              <a:t>os 30 primeiros pontos são lote piloto: validam o protocolo e medem a acurácia do aparelho</a:t>
            </a:r>
            <a:endParaRPr lang="en-US" sz="1300" dirty="0"/>
          </a:p>
        </p:txBody>
      </p:sp>
      <p:sp>
        <p:nvSpPr>
          <p:cNvPr id="11" name="Shape 8"/>
          <p:cNvSpPr/>
          <p:nvPr/>
        </p:nvSpPr>
        <p:spPr>
          <a:xfrm>
            <a:off x="6035040" y="1097280"/>
            <a:ext cx="2606040" cy="1828800"/>
          </a:xfrm>
          <a:prstGeom prst="roundRect">
            <a:avLst>
              <a:gd name="adj" fmla="val 4000"/>
            </a:avLst>
          </a:prstGeom>
          <a:solidFill>
            <a:srgbClr val="EEF3EF"/>
          </a:solidFill>
          <a:ln w="12700">
            <a:solidFill>
              <a:srgbClr val="EEF3EF"/>
            </a:solidFill>
            <a:prstDash val="solid"/>
          </a:ln>
        </p:spPr>
      </p:sp>
      <p:sp>
        <p:nvSpPr>
          <p:cNvPr id="12" name="Text 9"/>
          <p:cNvSpPr txBox="1"/>
          <p:nvPr/>
        </p:nvSpPr>
        <p:spPr>
          <a:xfrm>
            <a:off x="6217920" y="1207008"/>
            <a:ext cx="2240280" cy="457200"/>
          </a:xfrm>
          <a:prstGeom prst="rect">
            <a:avLst/>
          </a:prstGeom>
          <a:noFill/>
          <a:ln/>
        </p:spPr>
        <p:txBody>
          <a:bodyPr wrap="square" lIns="0" tIns="0" rIns="0" bIns="0" rtlCol="0" anchor="t"/>
          <a:lstStyle/>
          <a:p>
            <a:pPr indent="0" marL="0">
              <a:buNone/>
            </a:pPr>
            <a:r>
              <a:rPr lang="en-US" sz="1700" b="1" dirty="0">
                <a:solidFill>
                  <a:srgbClr val="2F6B4F"/>
                </a:solidFill>
                <a:latin typeface="Cambria" pitchFamily="34" charset="0"/>
                <a:ea typeface="Cambria" pitchFamily="34" charset="-122"/>
                <a:cs typeface="Cambria" pitchFamily="34" charset="-120"/>
              </a:rPr>
              <a:t>Função</a:t>
            </a:r>
            <a:endParaRPr lang="en-US" sz="1700" dirty="0"/>
          </a:p>
        </p:txBody>
      </p:sp>
      <p:sp>
        <p:nvSpPr>
          <p:cNvPr id="13" name="Text 10"/>
          <p:cNvSpPr txBox="1"/>
          <p:nvPr/>
        </p:nvSpPr>
        <p:spPr>
          <a:xfrm>
            <a:off x="6217920" y="1737360"/>
            <a:ext cx="2240280" cy="1143000"/>
          </a:xfrm>
          <a:prstGeom prst="rect">
            <a:avLst/>
          </a:prstGeom>
          <a:noFill/>
          <a:ln/>
        </p:spPr>
        <p:txBody>
          <a:bodyPr wrap="square" lIns="0" tIns="0" rIns="0" bIns="0" rtlCol="0" anchor="t"/>
          <a:lstStyle/>
          <a:p>
            <a:pPr indent="0" marL="0">
              <a:buNone/>
            </a:pPr>
            <a:r>
              <a:rPr lang="en-US" sz="1300" dirty="0">
                <a:solidFill>
                  <a:srgbClr val="1B2A22"/>
                </a:solidFill>
                <a:latin typeface="Calibri" pitchFamily="34" charset="0"/>
                <a:ea typeface="Calibri" pitchFamily="34" charset="-122"/>
                <a:cs typeface="Calibri" pitchFamily="34" charset="-120"/>
              </a:rPr>
              <a:t>estimar a prevalência real e calibrar a posição; não é para treinar o modelo</a:t>
            </a:r>
            <a:endParaRPr lang="en-US" sz="1300" dirty="0"/>
          </a:p>
        </p:txBody>
      </p:sp>
      <p:sp>
        <p:nvSpPr>
          <p:cNvPr id="14" name="Text 11"/>
          <p:cNvSpPr txBox="1"/>
          <p:nvPr/>
        </p:nvSpPr>
        <p:spPr>
          <a:xfrm>
            <a:off x="457200" y="3154680"/>
            <a:ext cx="8229600" cy="1463040"/>
          </a:xfrm>
          <a:prstGeom prst="rect">
            <a:avLst/>
          </a:prstGeom>
          <a:noFill/>
          <a:ln/>
        </p:spPr>
        <p:txBody>
          <a:bodyPr wrap="square" lIns="0" tIns="0" rIns="0" bIns="0" rtlCol="0" anchor="t"/>
          <a:lstStyle/>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Instrumento: SAREL Coletor (Android), em substituição ao KoboCollect</a:t>
            </a:r>
            <a:endParaRPr lang="en-US" sz="1300" dirty="0"/>
          </a:p>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Fotointerpretação (Fase A) aposentada: o rótulo centimétrico do voo é mais fiel à mancha contínua da erosão</a:t>
            </a:r>
            <a:endParaRPr lang="en-US" sz="1300" dirty="0"/>
          </a:p>
          <a:p>
            <a:pPr marL="342900" indent="-342900">
              <a:spcAft>
                <a:spcPts val="700"/>
              </a:spcAft>
              <a:buSzPct val="100000"/>
              <a:buChar char="•"/>
            </a:pPr>
            <a:r>
              <a:rPr lang="en-US" sz="1300" dirty="0">
                <a:solidFill>
                  <a:srgbClr val="1B2A22"/>
                </a:solidFill>
                <a:latin typeface="Calibri" pitchFamily="34" charset="0"/>
                <a:ea typeface="Calibri" pitchFamily="34" charset="-122"/>
                <a:cs typeface="Calibri" pitchFamily="34" charset="-120"/>
              </a:rPr>
              <a:t>Estimador ponderado pela probabilidade de inclusão (Horvitz-Thompson)</a:t>
            </a:r>
            <a:endParaRPr lang="en-US" sz="1300" dirty="0"/>
          </a:p>
        </p:txBody>
      </p:sp>
      <p:sp>
        <p:nvSpPr>
          <p:cNvPr id="15" name="Text 12"/>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Refs.: D16, D23; Olofsson et al. (2014), amostragem e estimativa de área em sensoriamento remoto.</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Avaliação única, com o critério fixado antes</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13</a:t>
            </a:r>
            <a:endParaRPr lang="en-US" sz="1000" dirty="0"/>
          </a:p>
        </p:txBody>
      </p:sp>
      <p:sp>
        <p:nvSpPr>
          <p:cNvPr id="5" name="Shape 2"/>
          <p:cNvSpPr/>
          <p:nvPr/>
        </p:nvSpPr>
        <p:spPr>
          <a:xfrm>
            <a:off x="438912" y="941832"/>
            <a:ext cx="3831336" cy="3310816"/>
          </a:xfrm>
          <a:prstGeom prst="rect">
            <a:avLst/>
          </a:prstGeom>
          <a:solidFill>
            <a:srgbClr val="FFFFFF"/>
          </a:solidFill>
          <a:ln w="9525">
            <a:solidFill>
              <a:srgbClr val="B8C4BC"/>
            </a:solidFill>
            <a:prstDash val="solid"/>
          </a:ln>
        </p:spPr>
      </p:sp>
      <p:pic>
        <p:nvPicPr>
          <p:cNvPr id="6" name="Image 0" descr="img/decisoes.png">    </p:cNvPr>
          <p:cNvPicPr>
            <a:picLocks noChangeAspect="1"/>
          </p:cNvPicPr>
          <p:nvPr/>
        </p:nvPicPr>
        <p:blipFill>
          <a:blip r:embed="rId1"/>
          <a:stretch>
            <a:fillRect/>
          </a:stretch>
        </p:blipFill>
        <p:spPr>
          <a:xfrm>
            <a:off x="457200" y="960120"/>
            <a:ext cx="3794760" cy="3274240"/>
          </a:xfrm>
          <a:prstGeom prst="rect">
            <a:avLst/>
          </a:prstGeom>
        </p:spPr>
      </p:pic>
      <p:sp>
        <p:nvSpPr>
          <p:cNvPr id="7" name="Text 3"/>
          <p:cNvSpPr txBox="1"/>
          <p:nvPr/>
        </p:nvSpPr>
        <p:spPr>
          <a:xfrm>
            <a:off x="4526280" y="1051560"/>
            <a:ext cx="4251960" cy="3566160"/>
          </a:xfrm>
          <a:prstGeom prst="rect">
            <a:avLst/>
          </a:prstGeom>
          <a:noFill/>
          <a:ln/>
        </p:spPr>
        <p:txBody>
          <a:bodyPr wrap="square" lIns="0" tIns="0" rIns="0" bIns="0" rtlCol="0" anchor="t"/>
          <a:lstStyle/>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Competidores: linha de base RUSLE, regressão penalizada e XGBoost (perda Tweedie)</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Métrica primária: Spearman no held-out; piso 0,40 e margem 0,10 sobre a RUSLE</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Bootstrap por polígono (as células de um polígono não são independentes)</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Desfechos: corroborada, inconclusiva ou refutada (e inconclusiva por margem)</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Estado hoje: não avaliado. O script grava uma trava e recusa a segunda avaliação</a:t>
            </a:r>
            <a:endParaRPr lang="en-US" sz="1250" dirty="0"/>
          </a:p>
        </p:txBody>
      </p:sp>
      <p:sp>
        <p:nvSpPr>
          <p:cNvPr id="8" name="Text 4"/>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Refs.: D25, D24, D26; Nosek et al. (2018); Cameron et al. (2008); van der Ploeg et al. (2014); Hanley &amp; McNeil (1982).</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Estado atual, limites e próximos passos</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14</a:t>
            </a:r>
            <a:endParaRPr lang="en-US" sz="1000" dirty="0"/>
          </a:p>
        </p:txBody>
      </p:sp>
      <p:sp>
        <p:nvSpPr>
          <p:cNvPr id="5" name="Shape 2"/>
          <p:cNvSpPr/>
          <p:nvPr/>
        </p:nvSpPr>
        <p:spPr>
          <a:xfrm>
            <a:off x="457200" y="1051560"/>
            <a:ext cx="4023360" cy="3474720"/>
          </a:xfrm>
          <a:prstGeom prst="roundRect">
            <a:avLst>
              <a:gd name="adj" fmla="val 2105"/>
            </a:avLst>
          </a:prstGeom>
          <a:solidFill>
            <a:srgbClr val="EEF3EF"/>
          </a:solidFill>
          <a:ln w="12700">
            <a:solidFill>
              <a:srgbClr val="EEF3EF"/>
            </a:solidFill>
            <a:prstDash val="solid"/>
          </a:ln>
        </p:spPr>
      </p:sp>
      <p:sp>
        <p:nvSpPr>
          <p:cNvPr id="6" name="Text 3"/>
          <p:cNvSpPr txBox="1"/>
          <p:nvPr/>
        </p:nvSpPr>
        <p:spPr>
          <a:xfrm>
            <a:off x="640080" y="1170432"/>
            <a:ext cx="3657600" cy="365760"/>
          </a:xfrm>
          <a:prstGeom prst="rect">
            <a:avLst/>
          </a:prstGeom>
          <a:noFill/>
          <a:ln/>
        </p:spPr>
        <p:txBody>
          <a:bodyPr wrap="square" lIns="0" tIns="0" rIns="0" bIns="0" rtlCol="0" anchor="t"/>
          <a:lstStyle/>
          <a:p>
            <a:pPr indent="0" marL="0">
              <a:buNone/>
            </a:pPr>
            <a:r>
              <a:rPr lang="en-US" sz="1900" b="1" dirty="0">
                <a:solidFill>
                  <a:srgbClr val="2F6B4F"/>
                </a:solidFill>
                <a:latin typeface="Cambria" pitchFamily="34" charset="0"/>
                <a:ea typeface="Cambria" pitchFamily="34" charset="-122"/>
                <a:cs typeface="Cambria" pitchFamily="34" charset="-120"/>
              </a:rPr>
              <a:t>Pronto</a:t>
            </a:r>
            <a:endParaRPr lang="en-US" sz="1900" dirty="0"/>
          </a:p>
        </p:txBody>
      </p:sp>
      <p:sp>
        <p:nvSpPr>
          <p:cNvPr id="7" name="Text 4"/>
          <p:cNvSpPr txBox="1"/>
          <p:nvPr/>
        </p:nvSpPr>
        <p:spPr>
          <a:xfrm>
            <a:off x="640080" y="1600200"/>
            <a:ext cx="3657600" cy="2834640"/>
          </a:xfrm>
          <a:prstGeom prst="rect">
            <a:avLst/>
          </a:prstGeom>
          <a:noFill/>
          <a:ln/>
        </p:spPr>
        <p:txBody>
          <a:bodyPr wrap="square" lIns="0" tIns="0" rIns="0" bIns="0" rtlCol="0" anchor="t"/>
          <a:lstStyle/>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Plataforma com os módulos do fluxo e recusa de dado sintético</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Desenho amostral e critério de avaliação pré-registrados</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Ferramenta de checagem do pool por estrato (somente leitura)</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Pacote de reprodutibilidade com verificador de integridade</a:t>
            </a:r>
            <a:endParaRPr lang="en-US" sz="1250" dirty="0"/>
          </a:p>
        </p:txBody>
      </p:sp>
      <p:sp>
        <p:nvSpPr>
          <p:cNvPr id="8" name="Shape 5"/>
          <p:cNvSpPr/>
          <p:nvPr/>
        </p:nvSpPr>
        <p:spPr>
          <a:xfrm>
            <a:off x="4663440" y="1051560"/>
            <a:ext cx="4023360" cy="3474720"/>
          </a:xfrm>
          <a:prstGeom prst="roundRect">
            <a:avLst>
              <a:gd name="adj" fmla="val 2105"/>
            </a:avLst>
          </a:prstGeom>
          <a:solidFill>
            <a:srgbClr val="EEF3EF"/>
          </a:solidFill>
          <a:ln w="12700">
            <a:solidFill>
              <a:srgbClr val="EEF3EF"/>
            </a:solidFill>
            <a:prstDash val="solid"/>
          </a:ln>
        </p:spPr>
      </p:sp>
      <p:sp>
        <p:nvSpPr>
          <p:cNvPr id="9" name="Text 6"/>
          <p:cNvSpPr txBox="1"/>
          <p:nvPr/>
        </p:nvSpPr>
        <p:spPr>
          <a:xfrm>
            <a:off x="4846320" y="1170432"/>
            <a:ext cx="3657600" cy="365760"/>
          </a:xfrm>
          <a:prstGeom prst="rect">
            <a:avLst/>
          </a:prstGeom>
          <a:noFill/>
          <a:ln/>
        </p:spPr>
        <p:txBody>
          <a:bodyPr wrap="square" lIns="0" tIns="0" rIns="0" bIns="0" rtlCol="0" anchor="t"/>
          <a:lstStyle/>
          <a:p>
            <a:pPr indent="0" marL="0">
              <a:buNone/>
            </a:pPr>
            <a:r>
              <a:rPr lang="en-US" sz="1900" b="1" dirty="0">
                <a:solidFill>
                  <a:srgbClr val="C65D3B"/>
                </a:solidFill>
                <a:latin typeface="Cambria" pitchFamily="34" charset="0"/>
                <a:ea typeface="Cambria" pitchFamily="34" charset="-122"/>
                <a:cs typeface="Cambria" pitchFamily="34" charset="-120"/>
              </a:rPr>
              <a:t>Pendente</a:t>
            </a:r>
            <a:endParaRPr lang="en-US" sz="1900" dirty="0"/>
          </a:p>
        </p:txBody>
      </p:sp>
      <p:sp>
        <p:nvSpPr>
          <p:cNvPr id="10" name="Text 7"/>
          <p:cNvSpPr txBox="1"/>
          <p:nvPr/>
        </p:nvSpPr>
        <p:spPr>
          <a:xfrm>
            <a:off x="4846320" y="1600200"/>
            <a:ext cx="3657600" cy="2834640"/>
          </a:xfrm>
          <a:prstGeom prst="rect">
            <a:avLst/>
          </a:prstGeom>
          <a:noFill/>
          <a:ln/>
        </p:spPr>
        <p:txBody>
          <a:bodyPr wrap="square" lIns="0" tIns="0" rIns="0" bIns="0" rtlCol="0" anchor="t"/>
          <a:lstStyle/>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Nenhum resultado empírico ainda</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Medir o pool real por estrato e decidir reservas e n mínimo</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Decisões antes do sorteio: solo nu, declividade, empates dos tercis</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Autorizações, voos e delineação</a:t>
            </a:r>
            <a:endParaRPr lang="en-US" sz="1250" dirty="0"/>
          </a:p>
          <a:p>
            <a:pPr marL="342900" indent="-342900">
              <a:spcAft>
                <a:spcPts val="700"/>
              </a:spcAft>
              <a:buSzPct val="100000"/>
              <a:buChar char="•"/>
            </a:pPr>
            <a:r>
              <a:rPr lang="en-US" sz="1250" dirty="0">
                <a:solidFill>
                  <a:srgbClr val="1B2A22"/>
                </a:solidFill>
                <a:latin typeface="Calibri" pitchFamily="34" charset="0"/>
                <a:ea typeface="Calibri" pitchFamily="34" charset="-122"/>
                <a:cs typeface="Calibri" pitchFamily="34" charset="-120"/>
              </a:rPr>
              <a:t>Acerto de atribuição (antes ≈ 78%): em verificação</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685800"/>
          </a:xfrm>
          <a:prstGeom prst="rect">
            <a:avLst/>
          </a:prstGeom>
          <a:noFill/>
          <a:ln/>
        </p:spPr>
        <p:txBody>
          <a:bodyPr wrap="square" lIns="0" tIns="0" rIns="0" bIns="0" rtlCol="0" anchor="t"/>
          <a:lstStyle/>
          <a:p>
            <a:pPr indent="0" marL="0">
              <a:buNone/>
            </a:pPr>
            <a:r>
              <a:rPr lang="en-US" sz="2200" b="1" dirty="0">
                <a:solidFill>
                  <a:srgbClr val="1B2A22"/>
                </a:solidFill>
                <a:latin typeface="Cambria" pitchFamily="34" charset="0"/>
                <a:ea typeface="Cambria" pitchFamily="34" charset="-122"/>
                <a:cs typeface="Cambria" pitchFamily="34" charset="-120"/>
              </a:rPr>
              <a:t>Referências citadas nas decisões do projeto</a:t>
            </a:r>
            <a:endParaRPr lang="en-US" sz="2200" dirty="0"/>
          </a:p>
        </p:txBody>
      </p:sp>
      <p:sp>
        <p:nvSpPr>
          <p:cNvPr id="3" name="Text 1"/>
          <p:cNvSpPr txBox="1"/>
          <p:nvPr/>
        </p:nvSpPr>
        <p:spPr>
          <a:xfrm>
            <a:off x="8412480" y="4800600"/>
            <a:ext cx="457200" cy="228600"/>
          </a:xfrm>
          <a:prstGeom prst="rect">
            <a:avLst/>
          </a:prstGeom>
          <a:noFill/>
          <a:ln/>
        </p:spPr>
        <p:txBody>
          <a:bodyPr wrap="square" lIns="0" tIns="0" rIns="0" bIns="0" rtlCol="0" anchor="t"/>
          <a:lstStyle/>
          <a:p>
            <a:pPr algn="r" indent="0" marL="0">
              <a:buNone/>
            </a:pPr>
            <a:r>
              <a:rPr lang="en-US" sz="1000" dirty="0">
                <a:solidFill>
                  <a:srgbClr val="52605A"/>
                </a:solidFill>
                <a:latin typeface="Calibri" pitchFamily="34" charset="0"/>
                <a:ea typeface="Calibri" pitchFamily="34" charset="-122"/>
                <a:cs typeface="Calibri" pitchFamily="34" charset="-120"/>
              </a:rPr>
              <a:t>15</a:t>
            </a:r>
            <a:endParaRPr lang="en-US" sz="1000" dirty="0"/>
          </a:p>
        </p:txBody>
      </p:sp>
      <p:sp>
        <p:nvSpPr>
          <p:cNvPr id="5" name="Text 2"/>
          <p:cNvSpPr txBox="1"/>
          <p:nvPr/>
        </p:nvSpPr>
        <p:spPr>
          <a:xfrm>
            <a:off x="457200" y="1005840"/>
            <a:ext cx="4023360" cy="3566160"/>
          </a:xfrm>
          <a:prstGeom prst="rect">
            <a:avLst/>
          </a:prstGeom>
          <a:noFill/>
          <a:ln/>
        </p:spPr>
        <p:txBody>
          <a:bodyPr wrap="square" lIns="0" tIns="0" rIns="0" bIns="0" rtlCol="0" anchor="t"/>
          <a:lstStyle/>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 Coelho, M. R. et al. (2024). Erodibilidade dos solos do Brasil. Embrapa Solos, Documentos 246.</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 Rufino, R. L. et al. (1993). Erosividade da chuva no Paraná (equação regional).</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 Waltrick, P. C. et al. (2010; 2015). Erosividade das chuvas no Paraná.</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 Desmet, P. J. J.; Govers, G. (1996). J. Soil Water Conserv. 51(5):427-433.</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 Renard, K. G. et al. (1997). Agriculture Handbook 703 (RUSLE).</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Durigon, V. L. et al. (2014). Int. J. Remote Sens. 35(2):441-453.</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Cochran, W. G. (1977). Sampling Techniques, 3a ed.</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Olofsson, P. et al. (2014). Remote Sens. Environ. 148:42-57.</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King, G.; Zeng, L. (2001). Political Analysis 9:137-163.</a:t>
            </a:r>
            <a:endParaRPr lang="en-US" sz="1050" dirty="0"/>
          </a:p>
        </p:txBody>
      </p:sp>
      <p:sp>
        <p:nvSpPr>
          <p:cNvPr id="6" name="Text 3"/>
          <p:cNvSpPr txBox="1"/>
          <p:nvPr/>
        </p:nvSpPr>
        <p:spPr>
          <a:xfrm>
            <a:off x="4663440" y="1005840"/>
            <a:ext cx="4023360" cy="3566160"/>
          </a:xfrm>
          <a:prstGeom prst="rect">
            <a:avLst/>
          </a:prstGeom>
          <a:noFill/>
          <a:ln/>
        </p:spPr>
        <p:txBody>
          <a:bodyPr wrap="square" lIns="0" tIns="0" rIns="0" bIns="0" rtlCol="0" anchor="t"/>
          <a:lstStyle/>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van der Ploeg, T.; Austin, P. C.; Steyerberg, E. W. (2014). BMC Med. Res. Methodol. 14:137.</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Altman, D. G.; Royston, P. (2006). BMJ 332:1080.</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Nosek, B. A. et al. (2018). PNAS 115(11):2600-2606.</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Cameron, A. C.; Gelbach, J. B.; Miller, D. L. (2008). Rev. Econ. Stat. 90(3):414-427.</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Hanley, J. A.; McNeil, B. J. (1982). Radiology 143(1):29-36.</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Roberts, D. R. et al. (2017). Ecography 40(8):913-929.</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Drusch, M. et al. (2012). Remote Sens. Environ. 120:25-36.</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Zanaga, D. et al. (2021; 2022). ESA WorldCover 10 m. Zenodo.</a:t>
            </a:r>
            <a:endParaRPr lang="en-US" sz="1050" dirty="0"/>
          </a:p>
          <a:p>
            <a:pPr indent="0" marL="0">
              <a:spcAft>
                <a:spcPts val="500"/>
              </a:spcAft>
              <a:buNone/>
            </a:pPr>
            <a:r>
              <a:rPr lang="en-US" sz="1050" dirty="0">
                <a:solidFill>
                  <a:srgbClr val="1B2A22"/>
                </a:solidFill>
                <a:latin typeface="Calibri" pitchFamily="34" charset="0"/>
                <a:ea typeface="Calibri" pitchFamily="34" charset="-122"/>
                <a:cs typeface="Calibri" pitchFamily="34" charset="-120"/>
              </a:rPr>
              <a:t>Funk, C. et al. (2015). CHIRPS. Scientific Data.</a:t>
            </a:r>
            <a:endParaRPr lang="en-US" sz="1050" dirty="0"/>
          </a:p>
        </p:txBody>
      </p:sp>
      <p:sp>
        <p:nvSpPr>
          <p:cNvPr id="7" name="Text 4"/>
          <p:cNvSpPr txBox="1"/>
          <p:nvPr/>
        </p:nvSpPr>
        <p:spPr>
          <a:xfrm>
            <a:off x="457200" y="4754880"/>
            <a:ext cx="7863840" cy="292608"/>
          </a:xfrm>
          <a:prstGeom prst="rect">
            <a:avLst/>
          </a:prstGeom>
          <a:noFill/>
          <a:ln/>
        </p:spPr>
        <p:txBody>
          <a:bodyPr wrap="square" lIns="0" tIns="0" rIns="0" bIns="0" rtlCol="0" anchor="ctr"/>
          <a:lstStyle/>
          <a:p>
            <a:pPr indent="0" marL="0">
              <a:buNone/>
            </a:pPr>
            <a:r>
              <a:rPr lang="en-US" sz="1000" i="1" dirty="0">
                <a:solidFill>
                  <a:srgbClr val="52605A"/>
                </a:solidFill>
                <a:latin typeface="Calibri" pitchFamily="34" charset="0"/>
                <a:ea typeface="Calibri" pitchFamily="34" charset="-122"/>
                <a:cs typeface="Calibri" pitchFamily="34" charset="-120"/>
              </a:rPr>
              <a:t>† leitura e conferência da fonte feitas no projeto. As demais constam do registro de decisões e aguardam conferência bibliográfica completa.</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SAREL: plataforma para amostrar, rotular e auditar erosão laminar</dc:title>
  <dc:subject>PptxGenJS Presentation</dc:subject>
  <dc:creator>PptxGenJS</dc:creator>
  <cp:lastModifiedBy>PptxGenJS</cp:lastModifiedBy>
  <cp:revision>1</cp:revision>
  <dcterms:created xsi:type="dcterms:W3CDTF">2026-10-19T08:01:19Z</dcterms:created>
  <dcterms:modified xsi:type="dcterms:W3CDTF">2026-10-19T08:01:19Z</dcterms:modified>
</cp:coreProperties>
</file>