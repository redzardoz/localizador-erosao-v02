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3" d="100"/>
          <a:sy n="103" d="100"/>
        </p:scale>
        <p:origin x="828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0" y="1097280"/>
            <a:ext cx="3657600" cy="4846320"/>
          </a:xfrm>
          <a:prstGeom prst="roundRect">
            <a:avLst/>
          </a:prstGeom>
          <a:solidFill>
            <a:srgbClr val="1E293B"/>
          </a:solidFill>
          <a:ln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0" y="1280160"/>
            <a:ext cx="3108960" cy="39190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rPr sz="1400" dirty="0"/>
              <a:t>PILARES METODOLÓGICOS DO SAREL</a:t>
            </a:r>
          </a:p>
          <a:p>
            <a:pPr>
              <a:spcBef>
                <a:spcPts val="800"/>
              </a:spcBef>
              <a:defRPr sz="1000" b="1">
                <a:solidFill>
                  <a:srgbClr val="FFFFFF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Desenho</a:t>
            </a:r>
            <a:r>
              <a:rPr sz="1600" dirty="0"/>
              <a:t> </a:t>
            </a:r>
            <a:r>
              <a:rPr sz="1600" dirty="0" err="1"/>
              <a:t>Amostral</a:t>
            </a:r>
            <a:r>
              <a:rPr sz="1600" dirty="0"/>
              <a:t> 18 </a:t>
            </a:r>
            <a:r>
              <a:rPr sz="1600" dirty="0" err="1"/>
              <a:t>Estratos</a:t>
            </a:r>
            <a:endParaRPr sz="1600" dirty="0"/>
          </a:p>
          <a:p>
            <a:pPr>
              <a:defRPr sz="850">
                <a:solidFill>
                  <a:srgbClr val="CBD5E1"/>
                </a:solidFill>
              </a:defRPr>
            </a:pPr>
            <a:r>
              <a:rPr sz="1600" dirty="0" err="1"/>
              <a:t>Estratificação</a:t>
            </a:r>
            <a:r>
              <a:rPr sz="1600" dirty="0"/>
              <a:t> Ŝ x Ê x K̂ com Thinning </a:t>
            </a:r>
            <a:r>
              <a:rPr sz="1600" dirty="0" err="1"/>
              <a:t>Geodésico</a:t>
            </a:r>
            <a:r>
              <a:rPr sz="1600" dirty="0"/>
              <a:t> ≥ 1,0 km.</a:t>
            </a:r>
          </a:p>
          <a:p>
            <a:pPr>
              <a:spcBef>
                <a:spcPts val="800"/>
              </a:spcBef>
              <a:defRPr sz="1000" b="1">
                <a:solidFill>
                  <a:srgbClr val="FFFFFF"/>
                </a:solidFill>
              </a:defRPr>
            </a:pPr>
            <a:r>
              <a:rPr sz="1600" dirty="0"/>
              <a:t>• Rigor </a:t>
            </a:r>
            <a:r>
              <a:rPr sz="1600" dirty="0" err="1"/>
              <a:t>Metodológico</a:t>
            </a:r>
            <a:r>
              <a:rPr sz="1600" dirty="0"/>
              <a:t> Anti-Mock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rPr sz="1600" dirty="0"/>
              <a:t>Dado </a:t>
            </a:r>
            <a:r>
              <a:rPr sz="1600" dirty="0" err="1"/>
              <a:t>verdadeiro</a:t>
            </a:r>
            <a:r>
              <a:rPr sz="1600" dirty="0"/>
              <a:t> </a:t>
            </a:r>
            <a:r>
              <a:rPr sz="1600" dirty="0" err="1"/>
              <a:t>ou</a:t>
            </a:r>
            <a:r>
              <a:rPr sz="1600" dirty="0"/>
              <a:t> </a:t>
            </a:r>
            <a:r>
              <a:rPr sz="1600" dirty="0" err="1"/>
              <a:t>ausência</a:t>
            </a:r>
            <a:r>
              <a:rPr sz="1600" dirty="0"/>
              <a:t> </a:t>
            </a:r>
            <a:r>
              <a:rPr sz="1600" dirty="0" err="1"/>
              <a:t>declarada</a:t>
            </a:r>
            <a:r>
              <a:rPr sz="1600" dirty="0"/>
              <a:t>. Zero dado </a:t>
            </a:r>
            <a:r>
              <a:rPr sz="1600" dirty="0" err="1"/>
              <a:t>fabricado</a:t>
            </a:r>
            <a:r>
              <a:rPr sz="1600" dirty="0"/>
              <a:t>.</a:t>
            </a:r>
          </a:p>
          <a:p>
            <a:pPr>
              <a:spcBef>
                <a:spcPts val="800"/>
              </a:spcBef>
              <a:defRPr sz="1000" b="1">
                <a:solidFill>
                  <a:srgbClr val="FFFFFF"/>
                </a:solidFill>
              </a:defRPr>
            </a:pPr>
            <a:r>
              <a:rPr sz="1600" dirty="0"/>
              <a:t>• Fusão Cadastral &amp; LGPD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rPr sz="1600" dirty="0"/>
              <a:t>559.899 </a:t>
            </a:r>
            <a:r>
              <a:rPr sz="1600" dirty="0" err="1"/>
              <a:t>imóveis</a:t>
            </a:r>
            <a:r>
              <a:rPr sz="1600" dirty="0"/>
              <a:t> SICAR-PR + SIGEF + SNCR com </a:t>
            </a:r>
            <a:r>
              <a:rPr sz="1600" dirty="0" err="1"/>
              <a:t>anonimização</a:t>
            </a:r>
            <a:r>
              <a:rPr sz="1600" dirty="0"/>
              <a:t>.</a:t>
            </a:r>
          </a:p>
          <a:p>
            <a:pPr>
              <a:spcBef>
                <a:spcPts val="800"/>
              </a:spcBef>
              <a:defRPr sz="1000" b="1">
                <a:solidFill>
                  <a:srgbClr val="FFFFFF"/>
                </a:solidFill>
              </a:defRPr>
            </a:pPr>
            <a:r>
              <a:rPr sz="1600" dirty="0"/>
              <a:t>• </a:t>
            </a:r>
            <a:r>
              <a:rPr sz="1600" dirty="0" err="1"/>
              <a:t>Validação</a:t>
            </a:r>
            <a:r>
              <a:rPr sz="1600" dirty="0"/>
              <a:t> </a:t>
            </a:r>
            <a:r>
              <a:rPr sz="1600" dirty="0" err="1"/>
              <a:t>Espacial</a:t>
            </a:r>
            <a:r>
              <a:rPr sz="1600" dirty="0"/>
              <a:t> Externa LOCO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rPr sz="1600" dirty="0" err="1"/>
              <a:t>Modelagem</a:t>
            </a:r>
            <a:r>
              <a:rPr sz="1600" dirty="0"/>
              <a:t> </a:t>
            </a:r>
            <a:r>
              <a:rPr sz="1600" dirty="0" err="1"/>
              <a:t>XGBoost</a:t>
            </a:r>
            <a:r>
              <a:rPr sz="1600" dirty="0"/>
              <a:t> externa </a:t>
            </a:r>
            <a:r>
              <a:rPr sz="1600" dirty="0" err="1"/>
              <a:t>particionada</a:t>
            </a:r>
            <a:r>
              <a:rPr sz="1600" dirty="0"/>
              <a:t> </a:t>
            </a:r>
            <a:r>
              <a:rPr sz="1600" dirty="0" err="1"/>
              <a:t>por</a:t>
            </a:r>
            <a:r>
              <a:rPr sz="1600" dirty="0"/>
              <a:t> </a:t>
            </a:r>
            <a:r>
              <a:rPr sz="1600" dirty="0" err="1"/>
              <a:t>bacias</a:t>
            </a:r>
            <a:r>
              <a:rPr sz="1600" dirty="0"/>
              <a:t> </a:t>
            </a:r>
            <a:r>
              <a:rPr sz="1600" dirty="0" err="1"/>
              <a:t>hidrográficas</a:t>
            </a:r>
            <a:r>
              <a:rPr sz="1600" dirty="0"/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6583680" cy="31136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PROGRAMA DE PÓS-GRADUAÇÃO EM TECNOLOGIAS COMPUTACIONAIS PARA O AGRONEGÓCIO</a:t>
            </a:r>
          </a:p>
          <a:p>
            <a:pPr>
              <a:spcBef>
                <a:spcPts val="1200"/>
              </a:spcBef>
              <a:defRPr sz="2600" b="1">
                <a:solidFill>
                  <a:srgbClr val="FFFFFF"/>
                </a:solidFill>
              </a:defRPr>
            </a:pPr>
            <a:r>
              <a:t>SAREL: Sistema de </a:t>
            </a:r>
            <a:r>
              <a:rPr err="1"/>
              <a:t>Amostragem</a:t>
            </a:r>
            <a:r>
              <a:t> e </a:t>
            </a:r>
            <a:r>
              <a:rPr err="1"/>
              <a:t>Rotulagem</a:t>
            </a:r>
            <a:r>
              <a:t> para </a:t>
            </a:r>
            <a:r>
              <a:rPr err="1"/>
              <a:t>Erosão</a:t>
            </a:r>
            <a:r>
              <a:t> Laminar</a:t>
            </a:r>
          </a:p>
          <a:p>
            <a:pPr>
              <a:spcBef>
                <a:spcPts val="1200"/>
              </a:spcBef>
              <a:defRPr sz="1250">
                <a:solidFill>
                  <a:srgbClr val="CBD5E1"/>
                </a:solidFill>
              </a:defRPr>
            </a:pPr>
            <a:r>
              <a:rPr sz="1600" err="1"/>
              <a:t>Instrumento</a:t>
            </a:r>
            <a:r>
              <a:rPr sz="1600"/>
              <a:t> </a:t>
            </a:r>
            <a:r>
              <a:rPr sz="1600" err="1"/>
              <a:t>Computacional</a:t>
            </a:r>
            <a:r>
              <a:rPr sz="1600"/>
              <a:t> de </a:t>
            </a:r>
            <a:r>
              <a:rPr sz="1600" err="1"/>
              <a:t>Amostragem</a:t>
            </a:r>
            <a:r>
              <a:rPr sz="1600"/>
              <a:t> </a:t>
            </a:r>
            <a:r>
              <a:rPr sz="1600" err="1"/>
              <a:t>Multivariada</a:t>
            </a:r>
            <a:r>
              <a:rPr sz="1600"/>
              <a:t>, </a:t>
            </a:r>
            <a:r>
              <a:rPr sz="1600" err="1"/>
              <a:t>Sensoriamento</a:t>
            </a:r>
            <a:r>
              <a:rPr sz="1600"/>
              <a:t> </a:t>
            </a:r>
            <a:r>
              <a:rPr sz="1600" err="1"/>
              <a:t>Remoto</a:t>
            </a:r>
            <a:r>
              <a:rPr sz="1600"/>
              <a:t> e </a:t>
            </a:r>
            <a:r>
              <a:rPr sz="1600" err="1"/>
              <a:t>Gestão</a:t>
            </a:r>
            <a:r>
              <a:rPr sz="1600"/>
              <a:t> de </a:t>
            </a:r>
            <a:r>
              <a:rPr sz="1600" err="1"/>
              <a:t>Rotulagem</a:t>
            </a:r>
            <a:r>
              <a:rPr sz="1600"/>
              <a:t> </a:t>
            </a:r>
            <a:r>
              <a:rPr sz="1600" err="1"/>
              <a:t>Cega</a:t>
            </a:r>
            <a:r>
              <a:rPr sz="1600"/>
              <a:t> para </a:t>
            </a:r>
            <a:r>
              <a:rPr sz="1600" err="1"/>
              <a:t>Predição</a:t>
            </a:r>
            <a:r>
              <a:rPr sz="1600"/>
              <a:t> </a:t>
            </a:r>
            <a:r>
              <a:rPr sz="1600" err="1"/>
              <a:t>por</a:t>
            </a:r>
            <a:r>
              <a:rPr sz="1600"/>
              <a:t> Aprendizado de </a:t>
            </a:r>
            <a:r>
              <a:rPr sz="1600" err="1"/>
              <a:t>Máquina</a:t>
            </a:r>
            <a:r>
              <a:rPr sz="1600"/>
              <a:t> no Paraná</a:t>
            </a:r>
          </a:p>
          <a:p>
            <a:pPr>
              <a:spcBef>
                <a:spcPts val="2200"/>
              </a:spcBef>
              <a:defRPr sz="1050" b="1">
                <a:solidFill>
                  <a:srgbClr val="10B981"/>
                </a:solidFill>
              </a:defRPr>
            </a:pPr>
            <a:r>
              <a:rPr sz="1600" err="1"/>
              <a:t>Mestrando</a:t>
            </a:r>
            <a:r>
              <a:rPr sz="1600"/>
              <a:t>: Luis Alfredo | Pesquisa de </a:t>
            </a:r>
            <a:r>
              <a:rPr sz="1600" err="1"/>
              <a:t>Mestrado</a:t>
            </a:r>
            <a:r>
              <a:rPr sz="1600"/>
              <a:t> PPGTCA 2026</a:t>
            </a:r>
            <a:br>
              <a:rPr sz="1600"/>
            </a:br>
            <a:r>
              <a:rPr sz="1600" err="1"/>
              <a:t>Linha</a:t>
            </a:r>
            <a:r>
              <a:rPr sz="1600"/>
              <a:t> de Pesquisa: </a:t>
            </a:r>
            <a:r>
              <a:rPr sz="1600" err="1"/>
              <a:t>Tecnologias</a:t>
            </a:r>
            <a:r>
              <a:rPr sz="1600"/>
              <a:t> </a:t>
            </a:r>
            <a:r>
              <a:rPr sz="1600" err="1"/>
              <a:t>Geoespaciais</a:t>
            </a:r>
            <a:r>
              <a:rPr sz="1600"/>
              <a:t> e </a:t>
            </a:r>
            <a:r>
              <a:rPr sz="1600" err="1"/>
              <a:t>Modelagem</a:t>
            </a:r>
            <a:r>
              <a:rPr sz="1600"/>
              <a:t> </a:t>
            </a:r>
            <a:r>
              <a:rPr sz="1600" err="1"/>
              <a:t>Computacional</a:t>
            </a:r>
            <a:r>
              <a:rPr sz="1600"/>
              <a:t> no </a:t>
            </a:r>
            <a:r>
              <a:rPr sz="1600" err="1"/>
              <a:t>Agronegócio</a:t>
            </a:r>
            <a:endParaRPr sz="160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6622A2B-0AFB-F5A5-73BA-3471A637ED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4869349"/>
            <a:ext cx="3103361" cy="945505"/>
          </a:xfrm>
          <a:prstGeom prst="rect">
            <a:avLst/>
          </a:prstGeom>
          <a:effectLst>
            <a:glow rad="63500">
              <a:schemeClr val="bg1"/>
            </a:glow>
          </a:effectLst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6FD8D70E-217F-3A7D-DC63-35A19F7C1A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2515" y="5001952"/>
            <a:ext cx="2047539" cy="680301"/>
          </a:xfrm>
          <a:prstGeom prst="rect">
            <a:avLst/>
          </a:prstGeom>
          <a:effectLst>
            <a:glow rad="63500">
              <a:schemeClr val="bg1"/>
            </a:glo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MESTRADO PPGTCA 2026 • TECNOLOGIAS COMPUTACIONAIS PARA O AGRONEGÓCIO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Contexto da Pesquisa: A Erosão Laminar e a Escala do Paraná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SAREL v2.0 • Sistema de Amostragem e Rotulagem para Erosão Laminar • PPGTCA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3383280" cy="4709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30175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D97706"/>
                </a:solidFill>
              </a:defRPr>
            </a:pPr>
            <a:r>
              <a:rPr sz="1600" dirty="0"/>
              <a:t>A </a:t>
            </a:r>
            <a:r>
              <a:rPr sz="1600" dirty="0" err="1"/>
              <a:t>Erosão</a:t>
            </a:r>
            <a:r>
              <a:rPr sz="1600" dirty="0"/>
              <a:t> </a:t>
            </a:r>
            <a:r>
              <a:rPr sz="1600" dirty="0" err="1"/>
              <a:t>Silenciosa</a:t>
            </a:r>
            <a:endParaRPr sz="1600" dirty="0"/>
          </a:p>
          <a:p>
            <a:pPr>
              <a:spcAft>
                <a:spcPts val="400"/>
              </a:spcAft>
            </a:pPr>
            <a:r>
              <a:rPr sz="1600" b="1" dirty="0" err="1">
                <a:solidFill>
                  <a:srgbClr val="0F172A"/>
                </a:solidFill>
              </a:rPr>
              <a:t>Processo</a:t>
            </a:r>
            <a:r>
              <a:rPr sz="1600" b="1" dirty="0">
                <a:solidFill>
                  <a:srgbClr val="0F172A"/>
                </a:solidFill>
              </a:rPr>
              <a:t> </a:t>
            </a:r>
            <a:r>
              <a:rPr sz="1600" b="1" dirty="0" err="1">
                <a:solidFill>
                  <a:srgbClr val="0F172A"/>
                </a:solidFill>
              </a:rPr>
              <a:t>Difuso</a:t>
            </a:r>
            <a:r>
              <a:rPr sz="1600" b="1" dirty="0">
                <a:solidFill>
                  <a:srgbClr val="0F172A"/>
                </a:solidFill>
              </a:rPr>
              <a:t>: </a:t>
            </a:r>
            <a:r>
              <a:rPr sz="1600" dirty="0">
                <a:solidFill>
                  <a:srgbClr val="475569"/>
                </a:solidFill>
              </a:rPr>
              <a:t>A </a:t>
            </a:r>
            <a:r>
              <a:rPr sz="1600" dirty="0" err="1">
                <a:solidFill>
                  <a:srgbClr val="475569"/>
                </a:solidFill>
              </a:rPr>
              <a:t>erosão</a:t>
            </a:r>
            <a:r>
              <a:rPr sz="1600" dirty="0">
                <a:solidFill>
                  <a:srgbClr val="475569"/>
                </a:solidFill>
              </a:rPr>
              <a:t> laminar remove </a:t>
            </a:r>
            <a:r>
              <a:rPr sz="1600" dirty="0" err="1">
                <a:solidFill>
                  <a:srgbClr val="475569"/>
                </a:solidFill>
              </a:rPr>
              <a:t>gradualmente</a:t>
            </a:r>
            <a:r>
              <a:rPr sz="1600" dirty="0">
                <a:solidFill>
                  <a:srgbClr val="475569"/>
                </a:solidFill>
              </a:rPr>
              <a:t> as </a:t>
            </a:r>
            <a:r>
              <a:rPr sz="1600" dirty="0" err="1">
                <a:solidFill>
                  <a:srgbClr val="475569"/>
                </a:solidFill>
              </a:rPr>
              <a:t>camadas</a:t>
            </a:r>
            <a:r>
              <a:rPr sz="1600" dirty="0">
                <a:solidFill>
                  <a:srgbClr val="475569"/>
                </a:solidFill>
              </a:rPr>
              <a:t> </a:t>
            </a:r>
            <a:r>
              <a:rPr sz="1600" dirty="0" err="1">
                <a:solidFill>
                  <a:srgbClr val="475569"/>
                </a:solidFill>
              </a:rPr>
              <a:t>superficiais</a:t>
            </a:r>
            <a:r>
              <a:rPr sz="1600" dirty="0">
                <a:solidFill>
                  <a:srgbClr val="475569"/>
                </a:solidFill>
              </a:rPr>
              <a:t> </a:t>
            </a:r>
            <a:r>
              <a:rPr sz="1600" dirty="0" err="1">
                <a:solidFill>
                  <a:srgbClr val="475569"/>
                </a:solidFill>
              </a:rPr>
              <a:t>férteis</a:t>
            </a:r>
            <a:r>
              <a:rPr sz="1600" dirty="0">
                <a:solidFill>
                  <a:srgbClr val="475569"/>
                </a:solidFill>
              </a:rPr>
              <a:t> do solo </a:t>
            </a:r>
            <a:r>
              <a:rPr sz="1600" dirty="0" err="1">
                <a:solidFill>
                  <a:srgbClr val="475569"/>
                </a:solidFill>
              </a:rPr>
              <a:t>agrícola</a:t>
            </a:r>
            <a:r>
              <a:rPr sz="1600" dirty="0">
                <a:solidFill>
                  <a:srgbClr val="475569"/>
                </a:solidFill>
              </a:rPr>
              <a:t> </a:t>
            </a:r>
            <a:r>
              <a:rPr sz="1600" dirty="0" err="1">
                <a:solidFill>
                  <a:srgbClr val="475569"/>
                </a:solidFill>
              </a:rPr>
              <a:t>sem</a:t>
            </a:r>
            <a:r>
              <a:rPr sz="1600" dirty="0">
                <a:solidFill>
                  <a:srgbClr val="475569"/>
                </a:solidFill>
              </a:rPr>
              <a:t> </a:t>
            </a:r>
            <a:r>
              <a:rPr sz="1600" dirty="0" err="1">
                <a:solidFill>
                  <a:srgbClr val="475569"/>
                </a:solidFill>
              </a:rPr>
              <a:t>abrir</a:t>
            </a:r>
            <a:r>
              <a:rPr sz="1600" dirty="0">
                <a:solidFill>
                  <a:srgbClr val="475569"/>
                </a:solidFill>
              </a:rPr>
              <a:t> </a:t>
            </a:r>
            <a:r>
              <a:rPr sz="1600" dirty="0" err="1">
                <a:solidFill>
                  <a:srgbClr val="475569"/>
                </a:solidFill>
              </a:rPr>
              <a:t>sulcos</a:t>
            </a:r>
            <a:r>
              <a:rPr sz="1600" dirty="0">
                <a:solidFill>
                  <a:srgbClr val="475569"/>
                </a:solidFill>
              </a:rPr>
              <a:t> </a:t>
            </a:r>
            <a:r>
              <a:rPr sz="1600" dirty="0" err="1">
                <a:solidFill>
                  <a:srgbClr val="475569"/>
                </a:solidFill>
              </a:rPr>
              <a:t>ou</a:t>
            </a:r>
            <a:r>
              <a:rPr sz="1600" dirty="0">
                <a:solidFill>
                  <a:srgbClr val="475569"/>
                </a:solidFill>
              </a:rPr>
              <a:t> </a:t>
            </a:r>
            <a:r>
              <a:rPr sz="1600" dirty="0" err="1">
                <a:solidFill>
                  <a:srgbClr val="475569"/>
                </a:solidFill>
              </a:rPr>
              <a:t>voçorocas</a:t>
            </a:r>
            <a:r>
              <a:rPr sz="1600" dirty="0">
                <a:solidFill>
                  <a:srgbClr val="475569"/>
                </a:solidFill>
              </a:rPr>
              <a:t> </a:t>
            </a:r>
            <a:r>
              <a:rPr sz="1600" dirty="0" err="1">
                <a:solidFill>
                  <a:srgbClr val="475569"/>
                </a:solidFill>
              </a:rPr>
              <a:t>imediatas</a:t>
            </a:r>
            <a:r>
              <a:rPr sz="1600" dirty="0">
                <a:solidFill>
                  <a:srgbClr val="475569"/>
                </a:solidFill>
              </a:rPr>
              <a:t>.</a:t>
            </a:r>
          </a:p>
          <a:p>
            <a:pPr>
              <a:spcAft>
                <a:spcPts val="400"/>
              </a:spcAft>
            </a:pPr>
            <a:r>
              <a:rPr sz="1600" b="1" dirty="0">
                <a:solidFill>
                  <a:srgbClr val="0F172A"/>
                </a:solidFill>
              </a:rPr>
              <a:t>Impacto </a:t>
            </a:r>
            <a:r>
              <a:rPr sz="1600" b="1" dirty="0" err="1">
                <a:solidFill>
                  <a:srgbClr val="0F172A"/>
                </a:solidFill>
              </a:rPr>
              <a:t>Agronômico</a:t>
            </a:r>
            <a:r>
              <a:rPr sz="1600" b="1" dirty="0">
                <a:solidFill>
                  <a:srgbClr val="0F172A"/>
                </a:solidFill>
              </a:rPr>
              <a:t>: </a:t>
            </a:r>
            <a:r>
              <a:rPr sz="1600" dirty="0" err="1">
                <a:solidFill>
                  <a:srgbClr val="475569"/>
                </a:solidFill>
              </a:rPr>
              <a:t>Perda</a:t>
            </a:r>
            <a:r>
              <a:rPr sz="1600" dirty="0">
                <a:solidFill>
                  <a:srgbClr val="475569"/>
                </a:solidFill>
              </a:rPr>
              <a:t> </a:t>
            </a:r>
            <a:r>
              <a:rPr sz="1600" dirty="0" err="1">
                <a:solidFill>
                  <a:srgbClr val="475569"/>
                </a:solidFill>
              </a:rPr>
              <a:t>contínua</a:t>
            </a:r>
            <a:r>
              <a:rPr sz="1600" dirty="0">
                <a:solidFill>
                  <a:srgbClr val="475569"/>
                </a:solidFill>
              </a:rPr>
              <a:t> de </a:t>
            </a:r>
            <a:r>
              <a:rPr sz="1600" dirty="0" err="1">
                <a:solidFill>
                  <a:srgbClr val="475569"/>
                </a:solidFill>
              </a:rPr>
              <a:t>matéria</a:t>
            </a:r>
            <a:r>
              <a:rPr sz="1600" dirty="0">
                <a:solidFill>
                  <a:srgbClr val="475569"/>
                </a:solidFill>
              </a:rPr>
              <a:t> </a:t>
            </a:r>
            <a:r>
              <a:rPr sz="1600" dirty="0" err="1">
                <a:solidFill>
                  <a:srgbClr val="475569"/>
                </a:solidFill>
              </a:rPr>
              <a:t>orgânica</a:t>
            </a:r>
            <a:r>
              <a:rPr sz="1600" dirty="0">
                <a:solidFill>
                  <a:srgbClr val="475569"/>
                </a:solidFill>
              </a:rPr>
              <a:t>, </a:t>
            </a:r>
            <a:r>
              <a:rPr sz="1600" dirty="0" err="1">
                <a:solidFill>
                  <a:srgbClr val="475569"/>
                </a:solidFill>
              </a:rPr>
              <a:t>nutrientes</a:t>
            </a:r>
            <a:r>
              <a:rPr sz="1600" dirty="0">
                <a:solidFill>
                  <a:srgbClr val="475569"/>
                </a:solidFill>
              </a:rPr>
              <a:t> </a:t>
            </a:r>
            <a:r>
              <a:rPr sz="1600" dirty="0" err="1">
                <a:solidFill>
                  <a:srgbClr val="475569"/>
                </a:solidFill>
              </a:rPr>
              <a:t>minerais</a:t>
            </a:r>
            <a:r>
              <a:rPr sz="1600" dirty="0">
                <a:solidFill>
                  <a:srgbClr val="475569"/>
                </a:solidFill>
              </a:rPr>
              <a:t> e </a:t>
            </a:r>
            <a:r>
              <a:rPr sz="1600" dirty="0" err="1">
                <a:solidFill>
                  <a:srgbClr val="475569"/>
                </a:solidFill>
              </a:rPr>
              <a:t>redução</a:t>
            </a:r>
            <a:r>
              <a:rPr sz="1600" dirty="0">
                <a:solidFill>
                  <a:srgbClr val="475569"/>
                </a:solidFill>
              </a:rPr>
              <a:t> da </a:t>
            </a:r>
            <a:r>
              <a:rPr sz="1600" dirty="0" err="1">
                <a:solidFill>
                  <a:srgbClr val="475569"/>
                </a:solidFill>
              </a:rPr>
              <a:t>capacidade</a:t>
            </a:r>
            <a:r>
              <a:rPr sz="1600" dirty="0">
                <a:solidFill>
                  <a:srgbClr val="475569"/>
                </a:solidFill>
              </a:rPr>
              <a:t> de </a:t>
            </a:r>
            <a:r>
              <a:rPr sz="1600" dirty="0" err="1">
                <a:solidFill>
                  <a:srgbClr val="475569"/>
                </a:solidFill>
              </a:rPr>
              <a:t>infiltração</a:t>
            </a:r>
            <a:r>
              <a:rPr sz="1600" dirty="0">
                <a:solidFill>
                  <a:srgbClr val="475569"/>
                </a:solidFill>
              </a:rPr>
              <a:t> </a:t>
            </a:r>
            <a:r>
              <a:rPr sz="1600" dirty="0" err="1">
                <a:solidFill>
                  <a:srgbClr val="475569"/>
                </a:solidFill>
              </a:rPr>
              <a:t>hídrica</a:t>
            </a:r>
            <a:r>
              <a:rPr sz="1600" dirty="0">
                <a:solidFill>
                  <a:srgbClr val="475569"/>
                </a:solidFill>
              </a:rPr>
              <a:t> do solo.</a:t>
            </a:r>
          </a:p>
          <a:p>
            <a:pPr>
              <a:spcAft>
                <a:spcPts val="400"/>
              </a:spcAft>
            </a:pPr>
            <a:r>
              <a:rPr sz="1600" b="1" dirty="0" err="1">
                <a:solidFill>
                  <a:srgbClr val="0F172A"/>
                </a:solidFill>
              </a:rPr>
              <a:t>Dimensão</a:t>
            </a:r>
            <a:r>
              <a:rPr sz="1600" b="1" dirty="0">
                <a:solidFill>
                  <a:srgbClr val="0F172A"/>
                </a:solidFill>
              </a:rPr>
              <a:t> Territorial: </a:t>
            </a:r>
            <a:r>
              <a:rPr sz="1600" dirty="0">
                <a:solidFill>
                  <a:srgbClr val="475569"/>
                </a:solidFill>
              </a:rPr>
              <a:t>O Estado do Paraná </a:t>
            </a:r>
            <a:r>
              <a:rPr sz="1600" dirty="0" err="1">
                <a:solidFill>
                  <a:srgbClr val="475569"/>
                </a:solidFill>
              </a:rPr>
              <a:t>possui</a:t>
            </a:r>
            <a:r>
              <a:rPr sz="1600" dirty="0">
                <a:solidFill>
                  <a:srgbClr val="475569"/>
                </a:solidFill>
              </a:rPr>
              <a:t> 199.315 km² de </a:t>
            </a:r>
            <a:r>
              <a:rPr sz="1600" dirty="0" err="1">
                <a:solidFill>
                  <a:srgbClr val="475569"/>
                </a:solidFill>
              </a:rPr>
              <a:t>área</a:t>
            </a:r>
            <a:r>
              <a:rPr sz="1600" dirty="0">
                <a:solidFill>
                  <a:srgbClr val="475569"/>
                </a:solidFill>
              </a:rPr>
              <a:t>, </a:t>
            </a:r>
            <a:r>
              <a:rPr sz="1600" dirty="0" err="1">
                <a:solidFill>
                  <a:srgbClr val="475569"/>
                </a:solidFill>
              </a:rPr>
              <a:t>exigindo</a:t>
            </a:r>
            <a:r>
              <a:rPr sz="1600" dirty="0">
                <a:solidFill>
                  <a:srgbClr val="475569"/>
                </a:solidFill>
              </a:rPr>
              <a:t> ferramentas </a:t>
            </a:r>
            <a:r>
              <a:rPr sz="1600" dirty="0" err="1">
                <a:solidFill>
                  <a:srgbClr val="475569"/>
                </a:solidFill>
              </a:rPr>
              <a:t>capazes</a:t>
            </a:r>
            <a:r>
              <a:rPr sz="1600" dirty="0">
                <a:solidFill>
                  <a:srgbClr val="475569"/>
                </a:solidFill>
              </a:rPr>
              <a:t> de </a:t>
            </a:r>
            <a:r>
              <a:rPr sz="1600" dirty="0" err="1">
                <a:solidFill>
                  <a:srgbClr val="475569"/>
                </a:solidFill>
              </a:rPr>
              <a:t>monitorar</a:t>
            </a:r>
            <a:r>
              <a:rPr sz="1600" dirty="0">
                <a:solidFill>
                  <a:srgbClr val="475569"/>
                </a:solidFill>
              </a:rPr>
              <a:t> </a:t>
            </a:r>
            <a:r>
              <a:rPr sz="1600" dirty="0" err="1">
                <a:solidFill>
                  <a:srgbClr val="475569"/>
                </a:solidFill>
              </a:rPr>
              <a:t>bacias</a:t>
            </a:r>
            <a:r>
              <a:rPr sz="1600" dirty="0">
                <a:solidFill>
                  <a:srgbClr val="475569"/>
                </a:solidFill>
              </a:rPr>
              <a:t> </a:t>
            </a:r>
            <a:r>
              <a:rPr sz="1600" dirty="0" err="1">
                <a:solidFill>
                  <a:srgbClr val="475569"/>
                </a:solidFill>
              </a:rPr>
              <a:t>hidrográficas</a:t>
            </a:r>
            <a:r>
              <a:rPr sz="1600" dirty="0">
                <a:solidFill>
                  <a:srgbClr val="475569"/>
                </a:solidFill>
              </a:rPr>
              <a:t> </a:t>
            </a:r>
            <a:r>
              <a:rPr sz="1600" dirty="0" err="1">
                <a:solidFill>
                  <a:srgbClr val="475569"/>
                </a:solidFill>
              </a:rPr>
              <a:t>inteiras</a:t>
            </a:r>
            <a:r>
              <a:rPr sz="1600" dirty="0">
                <a:solidFill>
                  <a:srgbClr val="475569"/>
                </a:solidFill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383280" cy="4709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0" y="1600200"/>
            <a:ext cx="3017520" cy="4444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0EA5E9"/>
                </a:solidFill>
              </a:defRPr>
            </a:pPr>
            <a:r>
              <a:rPr sz="1600" dirty="0"/>
              <a:t>O </a:t>
            </a:r>
            <a:r>
              <a:rPr sz="1600" dirty="0" err="1"/>
              <a:t>Gargalo</a:t>
            </a:r>
            <a:r>
              <a:rPr sz="1600" dirty="0"/>
              <a:t> </a:t>
            </a:r>
            <a:r>
              <a:rPr sz="1600" dirty="0" err="1"/>
              <a:t>Tradicional</a:t>
            </a:r>
            <a:endParaRPr sz="1600" dirty="0"/>
          </a:p>
          <a:p>
            <a:pPr>
              <a:spcAft>
                <a:spcPts val="400"/>
              </a:spcAft>
            </a:pPr>
            <a:r>
              <a:rPr sz="1600" b="1" dirty="0" err="1">
                <a:solidFill>
                  <a:srgbClr val="0F172A"/>
                </a:solidFill>
              </a:rPr>
              <a:t>Vistorias</a:t>
            </a:r>
            <a:r>
              <a:rPr sz="1600" b="1" dirty="0">
                <a:solidFill>
                  <a:srgbClr val="0F172A"/>
                </a:solidFill>
              </a:rPr>
              <a:t> </a:t>
            </a:r>
            <a:r>
              <a:rPr sz="1600" b="1" dirty="0" err="1">
                <a:solidFill>
                  <a:srgbClr val="0F172A"/>
                </a:solidFill>
              </a:rPr>
              <a:t>Dispersas</a:t>
            </a:r>
            <a:r>
              <a:rPr sz="1600" b="1" dirty="0">
                <a:solidFill>
                  <a:srgbClr val="0F172A"/>
                </a:solidFill>
              </a:rPr>
              <a:t>: </a:t>
            </a:r>
            <a:r>
              <a:rPr sz="1600" dirty="0" err="1">
                <a:solidFill>
                  <a:srgbClr val="475569"/>
                </a:solidFill>
              </a:rPr>
              <a:t>Inspeções</a:t>
            </a:r>
            <a:r>
              <a:rPr sz="1600" dirty="0">
                <a:solidFill>
                  <a:srgbClr val="475569"/>
                </a:solidFill>
              </a:rPr>
              <a:t> </a:t>
            </a:r>
            <a:r>
              <a:rPr sz="1600" dirty="0" err="1">
                <a:solidFill>
                  <a:srgbClr val="475569"/>
                </a:solidFill>
              </a:rPr>
              <a:t>convencionais</a:t>
            </a:r>
            <a:r>
              <a:rPr sz="1600" dirty="0">
                <a:solidFill>
                  <a:srgbClr val="475569"/>
                </a:solidFill>
              </a:rPr>
              <a:t> de campo </a:t>
            </a:r>
            <a:r>
              <a:rPr sz="1600" dirty="0" err="1">
                <a:solidFill>
                  <a:srgbClr val="475569"/>
                </a:solidFill>
              </a:rPr>
              <a:t>cobrem</a:t>
            </a:r>
            <a:r>
              <a:rPr sz="1600" dirty="0">
                <a:solidFill>
                  <a:srgbClr val="475569"/>
                </a:solidFill>
              </a:rPr>
              <a:t> </a:t>
            </a:r>
            <a:r>
              <a:rPr sz="1600" dirty="0" err="1">
                <a:solidFill>
                  <a:srgbClr val="475569"/>
                </a:solidFill>
              </a:rPr>
              <a:t>áreas</a:t>
            </a:r>
            <a:r>
              <a:rPr sz="1600" dirty="0">
                <a:solidFill>
                  <a:srgbClr val="475569"/>
                </a:solidFill>
              </a:rPr>
              <a:t> </a:t>
            </a:r>
            <a:r>
              <a:rPr sz="1600" dirty="0" err="1">
                <a:solidFill>
                  <a:srgbClr val="475569"/>
                </a:solidFill>
              </a:rPr>
              <a:t>restritas</a:t>
            </a:r>
            <a:r>
              <a:rPr sz="1600" dirty="0">
                <a:solidFill>
                  <a:srgbClr val="475569"/>
                </a:solidFill>
              </a:rPr>
              <a:t>, </a:t>
            </a:r>
            <a:r>
              <a:rPr sz="1600" dirty="0" err="1">
                <a:solidFill>
                  <a:srgbClr val="475569"/>
                </a:solidFill>
              </a:rPr>
              <a:t>são</a:t>
            </a:r>
            <a:r>
              <a:rPr sz="1600" dirty="0">
                <a:solidFill>
                  <a:srgbClr val="475569"/>
                </a:solidFill>
              </a:rPr>
              <a:t> </a:t>
            </a:r>
            <a:r>
              <a:rPr sz="1600" dirty="0" err="1">
                <a:solidFill>
                  <a:srgbClr val="475569"/>
                </a:solidFill>
              </a:rPr>
              <a:t>lentas</a:t>
            </a:r>
            <a:r>
              <a:rPr sz="1600" dirty="0">
                <a:solidFill>
                  <a:srgbClr val="475569"/>
                </a:solidFill>
              </a:rPr>
              <a:t> e </a:t>
            </a:r>
            <a:r>
              <a:rPr sz="1600" dirty="0" err="1">
                <a:solidFill>
                  <a:srgbClr val="475569"/>
                </a:solidFill>
              </a:rPr>
              <a:t>sujeitas</a:t>
            </a:r>
            <a:r>
              <a:rPr sz="1600" dirty="0">
                <a:solidFill>
                  <a:srgbClr val="475569"/>
                </a:solidFill>
              </a:rPr>
              <a:t> a </a:t>
            </a:r>
            <a:r>
              <a:rPr sz="1600" dirty="0" err="1">
                <a:solidFill>
                  <a:srgbClr val="475569"/>
                </a:solidFill>
              </a:rPr>
              <a:t>viés</a:t>
            </a:r>
            <a:r>
              <a:rPr sz="1600" dirty="0">
                <a:solidFill>
                  <a:srgbClr val="475569"/>
                </a:solidFill>
              </a:rPr>
              <a:t> de </a:t>
            </a:r>
            <a:r>
              <a:rPr sz="1600" dirty="0" err="1">
                <a:solidFill>
                  <a:srgbClr val="475569"/>
                </a:solidFill>
              </a:rPr>
              <a:t>proximidade</a:t>
            </a:r>
            <a:r>
              <a:rPr sz="1600" dirty="0">
                <a:solidFill>
                  <a:srgbClr val="475569"/>
                </a:solidFill>
              </a:rPr>
              <a:t> </a:t>
            </a:r>
            <a:r>
              <a:rPr sz="1600" dirty="0" err="1">
                <a:solidFill>
                  <a:srgbClr val="475569"/>
                </a:solidFill>
              </a:rPr>
              <a:t>rodoviária</a:t>
            </a:r>
            <a:r>
              <a:rPr sz="1600" dirty="0">
                <a:solidFill>
                  <a:srgbClr val="475569"/>
                </a:solidFill>
              </a:rPr>
              <a:t>.</a:t>
            </a:r>
          </a:p>
          <a:p>
            <a:pPr>
              <a:spcAft>
                <a:spcPts val="400"/>
              </a:spcAft>
            </a:pPr>
            <a:r>
              <a:rPr sz="1600" b="1" dirty="0">
                <a:solidFill>
                  <a:srgbClr val="0F172A"/>
                </a:solidFill>
              </a:rPr>
              <a:t>Falta de </a:t>
            </a:r>
            <a:r>
              <a:rPr sz="1600" b="1" dirty="0" err="1">
                <a:solidFill>
                  <a:srgbClr val="0F172A"/>
                </a:solidFill>
              </a:rPr>
              <a:t>Rastreabilidade</a:t>
            </a:r>
            <a:r>
              <a:rPr sz="1600" b="1" dirty="0">
                <a:solidFill>
                  <a:srgbClr val="0F172A"/>
                </a:solidFill>
              </a:rPr>
              <a:t>: </a:t>
            </a:r>
            <a:r>
              <a:rPr sz="1600" dirty="0" err="1">
                <a:solidFill>
                  <a:srgbClr val="475569"/>
                </a:solidFill>
              </a:rPr>
              <a:t>Planilhas</a:t>
            </a:r>
            <a:r>
              <a:rPr sz="1600" dirty="0">
                <a:solidFill>
                  <a:srgbClr val="475569"/>
                </a:solidFill>
              </a:rPr>
              <a:t> </a:t>
            </a:r>
            <a:r>
              <a:rPr sz="1600" dirty="0" err="1">
                <a:solidFill>
                  <a:srgbClr val="475569"/>
                </a:solidFill>
              </a:rPr>
              <a:t>sem</a:t>
            </a:r>
            <a:r>
              <a:rPr sz="1600" dirty="0">
                <a:solidFill>
                  <a:srgbClr val="475569"/>
                </a:solidFill>
              </a:rPr>
              <a:t> </a:t>
            </a:r>
            <a:r>
              <a:rPr sz="1600" dirty="0" err="1">
                <a:solidFill>
                  <a:srgbClr val="475569"/>
                </a:solidFill>
              </a:rPr>
              <a:t>rastreamento</a:t>
            </a:r>
            <a:r>
              <a:rPr sz="1600" dirty="0">
                <a:solidFill>
                  <a:srgbClr val="475569"/>
                </a:solidFill>
              </a:rPr>
              <a:t> de </a:t>
            </a:r>
            <a:r>
              <a:rPr sz="1600" dirty="0" err="1">
                <a:solidFill>
                  <a:srgbClr val="475569"/>
                </a:solidFill>
              </a:rPr>
              <a:t>proveniência</a:t>
            </a:r>
            <a:r>
              <a:rPr sz="1600" dirty="0">
                <a:solidFill>
                  <a:srgbClr val="475569"/>
                </a:solidFill>
              </a:rPr>
              <a:t>, </a:t>
            </a:r>
            <a:r>
              <a:rPr sz="1600" dirty="0" err="1">
                <a:solidFill>
                  <a:srgbClr val="475569"/>
                </a:solidFill>
              </a:rPr>
              <a:t>produto</a:t>
            </a:r>
            <a:r>
              <a:rPr sz="1600" dirty="0">
                <a:solidFill>
                  <a:srgbClr val="475569"/>
                </a:solidFill>
              </a:rPr>
              <a:t> orbital </a:t>
            </a:r>
            <a:r>
              <a:rPr sz="1600" dirty="0" err="1">
                <a:solidFill>
                  <a:srgbClr val="475569"/>
                </a:solidFill>
              </a:rPr>
              <a:t>ou</a:t>
            </a:r>
            <a:r>
              <a:rPr sz="1600" dirty="0">
                <a:solidFill>
                  <a:srgbClr val="475569"/>
                </a:solidFill>
              </a:rPr>
              <a:t> data </a:t>
            </a:r>
            <a:r>
              <a:rPr sz="1600" dirty="0" err="1">
                <a:solidFill>
                  <a:srgbClr val="475569"/>
                </a:solidFill>
              </a:rPr>
              <a:t>exata</a:t>
            </a:r>
            <a:r>
              <a:rPr sz="1600" dirty="0">
                <a:solidFill>
                  <a:srgbClr val="475569"/>
                </a:solidFill>
              </a:rPr>
              <a:t> da </a:t>
            </a:r>
            <a:r>
              <a:rPr sz="1600" dirty="0" err="1">
                <a:solidFill>
                  <a:srgbClr val="475569"/>
                </a:solidFill>
              </a:rPr>
              <a:t>imagem</a:t>
            </a:r>
            <a:r>
              <a:rPr sz="1600" dirty="0">
                <a:solidFill>
                  <a:srgbClr val="475569"/>
                </a:solidFill>
              </a:rPr>
              <a:t> </a:t>
            </a:r>
            <a:r>
              <a:rPr sz="1600" dirty="0" err="1">
                <a:solidFill>
                  <a:srgbClr val="475569"/>
                </a:solidFill>
              </a:rPr>
              <a:t>que</a:t>
            </a:r>
            <a:r>
              <a:rPr sz="1600" dirty="0">
                <a:solidFill>
                  <a:srgbClr val="475569"/>
                </a:solidFill>
              </a:rPr>
              <a:t> </a:t>
            </a:r>
            <a:r>
              <a:rPr sz="1600" dirty="0" err="1">
                <a:solidFill>
                  <a:srgbClr val="475569"/>
                </a:solidFill>
              </a:rPr>
              <a:t>embasou</a:t>
            </a:r>
            <a:r>
              <a:rPr sz="1600" dirty="0">
                <a:solidFill>
                  <a:srgbClr val="475569"/>
                </a:solidFill>
              </a:rPr>
              <a:t> a </a:t>
            </a:r>
            <a:r>
              <a:rPr sz="1600" dirty="0" err="1">
                <a:solidFill>
                  <a:srgbClr val="475569"/>
                </a:solidFill>
              </a:rPr>
              <a:t>rotulagem</a:t>
            </a:r>
            <a:r>
              <a:rPr sz="1600" dirty="0">
                <a:solidFill>
                  <a:srgbClr val="475569"/>
                </a:solidFill>
              </a:rPr>
              <a:t>.</a:t>
            </a:r>
          </a:p>
          <a:p>
            <a:pPr>
              <a:spcAft>
                <a:spcPts val="400"/>
              </a:spcAft>
            </a:pPr>
            <a:r>
              <a:rPr sz="1600" b="1" dirty="0" err="1">
                <a:solidFill>
                  <a:srgbClr val="0F172A"/>
                </a:solidFill>
              </a:rPr>
              <a:t>Inviabilidade</a:t>
            </a:r>
            <a:r>
              <a:rPr sz="1600" b="1" dirty="0">
                <a:solidFill>
                  <a:srgbClr val="0F172A"/>
                </a:solidFill>
              </a:rPr>
              <a:t> de Escala: </a:t>
            </a:r>
            <a:r>
              <a:rPr sz="1600" dirty="0" err="1">
                <a:solidFill>
                  <a:srgbClr val="475569"/>
                </a:solidFill>
              </a:rPr>
              <a:t>Percorrer</a:t>
            </a:r>
            <a:r>
              <a:rPr sz="1600" dirty="0">
                <a:solidFill>
                  <a:srgbClr val="475569"/>
                </a:solidFill>
              </a:rPr>
              <a:t> </a:t>
            </a:r>
            <a:r>
              <a:rPr sz="1600" dirty="0" err="1">
                <a:solidFill>
                  <a:srgbClr val="475569"/>
                </a:solidFill>
              </a:rPr>
              <a:t>centenas</a:t>
            </a:r>
            <a:r>
              <a:rPr sz="1600" dirty="0">
                <a:solidFill>
                  <a:srgbClr val="475569"/>
                </a:solidFill>
              </a:rPr>
              <a:t> de </a:t>
            </a:r>
            <a:r>
              <a:rPr sz="1600" dirty="0" err="1">
                <a:solidFill>
                  <a:srgbClr val="475569"/>
                </a:solidFill>
              </a:rPr>
              <a:t>municípios</a:t>
            </a:r>
            <a:r>
              <a:rPr sz="1600" dirty="0">
                <a:solidFill>
                  <a:srgbClr val="475569"/>
                </a:solidFill>
              </a:rPr>
              <a:t> </a:t>
            </a:r>
            <a:r>
              <a:rPr sz="1600" dirty="0" err="1">
                <a:solidFill>
                  <a:srgbClr val="475569"/>
                </a:solidFill>
              </a:rPr>
              <a:t>paranaenses</a:t>
            </a:r>
            <a:r>
              <a:rPr sz="1600" dirty="0">
                <a:solidFill>
                  <a:srgbClr val="475569"/>
                </a:solidFill>
              </a:rPr>
              <a:t> </a:t>
            </a:r>
            <a:r>
              <a:rPr sz="1600" dirty="0" err="1">
                <a:solidFill>
                  <a:srgbClr val="475569"/>
                </a:solidFill>
              </a:rPr>
              <a:t>demanda</a:t>
            </a:r>
            <a:r>
              <a:rPr sz="1600" dirty="0">
                <a:solidFill>
                  <a:srgbClr val="475569"/>
                </a:solidFill>
              </a:rPr>
              <a:t> tempo e </a:t>
            </a:r>
            <a:r>
              <a:rPr sz="1600" dirty="0" err="1">
                <a:solidFill>
                  <a:srgbClr val="475569"/>
                </a:solidFill>
              </a:rPr>
              <a:t>recursos</a:t>
            </a:r>
            <a:r>
              <a:rPr sz="1600" dirty="0">
                <a:solidFill>
                  <a:srgbClr val="475569"/>
                </a:solidFill>
              </a:rPr>
              <a:t> </a:t>
            </a:r>
            <a:r>
              <a:rPr sz="1600" dirty="0" err="1">
                <a:solidFill>
                  <a:srgbClr val="475569"/>
                </a:solidFill>
              </a:rPr>
              <a:t>financeiros</a:t>
            </a:r>
            <a:r>
              <a:rPr sz="1600" dirty="0">
                <a:solidFill>
                  <a:srgbClr val="475569"/>
                </a:solidFill>
              </a:rPr>
              <a:t> </a:t>
            </a:r>
            <a:r>
              <a:rPr sz="1600" dirty="0" err="1">
                <a:solidFill>
                  <a:srgbClr val="475569"/>
                </a:solidFill>
              </a:rPr>
              <a:t>incompatíveis</a:t>
            </a:r>
            <a:r>
              <a:rPr sz="1600" dirty="0">
                <a:solidFill>
                  <a:srgbClr val="475569"/>
                </a:solidFill>
              </a:rPr>
              <a:t> com a </a:t>
            </a:r>
            <a:r>
              <a:rPr sz="1600" dirty="0" err="1">
                <a:solidFill>
                  <a:srgbClr val="475569"/>
                </a:solidFill>
              </a:rPr>
              <a:t>pós-graduação</a:t>
            </a:r>
            <a:r>
              <a:rPr sz="1600" dirty="0">
                <a:solidFill>
                  <a:srgbClr val="475569"/>
                </a:solidFill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17320"/>
            <a:ext cx="3383280" cy="4709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0" y="1600200"/>
            <a:ext cx="30175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0B981"/>
                </a:solidFill>
              </a:defRPr>
            </a:pPr>
            <a:r>
              <a:rPr sz="1600" dirty="0"/>
              <a:t>A </a:t>
            </a:r>
            <a:r>
              <a:rPr sz="1600" dirty="0" err="1"/>
              <a:t>Proposta</a:t>
            </a:r>
            <a:r>
              <a:rPr sz="1600" dirty="0"/>
              <a:t> SAREL</a:t>
            </a:r>
          </a:p>
          <a:p>
            <a:pPr>
              <a:spcAft>
                <a:spcPts val="400"/>
              </a:spcAft>
            </a:pPr>
            <a:r>
              <a:rPr sz="1600" b="1" dirty="0" err="1">
                <a:solidFill>
                  <a:srgbClr val="0F172A"/>
                </a:solidFill>
              </a:rPr>
              <a:t>Estratificação</a:t>
            </a:r>
            <a:r>
              <a:rPr sz="1600" b="1" dirty="0">
                <a:solidFill>
                  <a:srgbClr val="0F172A"/>
                </a:solidFill>
              </a:rPr>
              <a:t> Robusta: </a:t>
            </a:r>
            <a:r>
              <a:rPr sz="1600" dirty="0" err="1">
                <a:solidFill>
                  <a:srgbClr val="475569"/>
                </a:solidFill>
              </a:rPr>
              <a:t>Algoritmo</a:t>
            </a:r>
            <a:r>
              <a:rPr sz="1600" dirty="0">
                <a:solidFill>
                  <a:srgbClr val="475569"/>
                </a:solidFill>
              </a:rPr>
              <a:t> </a:t>
            </a:r>
            <a:r>
              <a:rPr sz="1600" dirty="0" err="1">
                <a:solidFill>
                  <a:srgbClr val="475569"/>
                </a:solidFill>
              </a:rPr>
              <a:t>computacional</a:t>
            </a:r>
            <a:r>
              <a:rPr sz="1600" dirty="0">
                <a:solidFill>
                  <a:srgbClr val="475569"/>
                </a:solidFill>
              </a:rPr>
              <a:t> </a:t>
            </a:r>
            <a:r>
              <a:rPr sz="1600" dirty="0" err="1">
                <a:solidFill>
                  <a:srgbClr val="475569"/>
                </a:solidFill>
              </a:rPr>
              <a:t>que</a:t>
            </a:r>
            <a:r>
              <a:rPr sz="1600" dirty="0">
                <a:solidFill>
                  <a:srgbClr val="475569"/>
                </a:solidFill>
              </a:rPr>
              <a:t> </a:t>
            </a:r>
            <a:r>
              <a:rPr sz="1600" dirty="0" err="1">
                <a:solidFill>
                  <a:srgbClr val="475569"/>
                </a:solidFill>
              </a:rPr>
              <a:t>varre</a:t>
            </a:r>
            <a:r>
              <a:rPr sz="1600" dirty="0">
                <a:solidFill>
                  <a:srgbClr val="475569"/>
                </a:solidFill>
              </a:rPr>
              <a:t> o </a:t>
            </a:r>
            <a:r>
              <a:rPr sz="1600" dirty="0" err="1">
                <a:solidFill>
                  <a:srgbClr val="475569"/>
                </a:solidFill>
              </a:rPr>
              <a:t>território</a:t>
            </a:r>
            <a:r>
              <a:rPr sz="1600" dirty="0">
                <a:solidFill>
                  <a:srgbClr val="475569"/>
                </a:solidFill>
              </a:rPr>
              <a:t> </a:t>
            </a:r>
            <a:r>
              <a:rPr sz="1600" dirty="0" err="1">
                <a:solidFill>
                  <a:srgbClr val="475569"/>
                </a:solidFill>
              </a:rPr>
              <a:t>estadual</a:t>
            </a:r>
            <a:r>
              <a:rPr sz="1600" dirty="0">
                <a:solidFill>
                  <a:srgbClr val="475569"/>
                </a:solidFill>
              </a:rPr>
              <a:t> </a:t>
            </a:r>
            <a:r>
              <a:rPr sz="1600" dirty="0" err="1">
                <a:solidFill>
                  <a:srgbClr val="475569"/>
                </a:solidFill>
              </a:rPr>
              <a:t>elegendo</a:t>
            </a:r>
            <a:r>
              <a:rPr sz="1600" dirty="0">
                <a:solidFill>
                  <a:srgbClr val="475569"/>
                </a:solidFill>
              </a:rPr>
              <a:t> </a:t>
            </a:r>
            <a:r>
              <a:rPr sz="1600" dirty="0" err="1">
                <a:solidFill>
                  <a:srgbClr val="475569"/>
                </a:solidFill>
              </a:rPr>
              <a:t>amostras</a:t>
            </a:r>
            <a:r>
              <a:rPr sz="1600" dirty="0">
                <a:solidFill>
                  <a:srgbClr val="475569"/>
                </a:solidFill>
              </a:rPr>
              <a:t> </a:t>
            </a:r>
            <a:r>
              <a:rPr sz="1600" dirty="0" err="1">
                <a:solidFill>
                  <a:srgbClr val="475569"/>
                </a:solidFill>
              </a:rPr>
              <a:t>balanceadas</a:t>
            </a:r>
            <a:r>
              <a:rPr sz="1600" dirty="0">
                <a:solidFill>
                  <a:srgbClr val="475569"/>
                </a:solidFill>
              </a:rPr>
              <a:t> </a:t>
            </a:r>
            <a:r>
              <a:rPr sz="1600" dirty="0" err="1">
                <a:solidFill>
                  <a:srgbClr val="475569"/>
                </a:solidFill>
              </a:rPr>
              <a:t>em</a:t>
            </a:r>
            <a:r>
              <a:rPr sz="1600" dirty="0">
                <a:solidFill>
                  <a:srgbClr val="475569"/>
                </a:solidFill>
              </a:rPr>
              <a:t> </a:t>
            </a:r>
            <a:r>
              <a:rPr sz="1600" dirty="0" err="1">
                <a:solidFill>
                  <a:srgbClr val="475569"/>
                </a:solidFill>
              </a:rPr>
              <a:t>relevo</a:t>
            </a:r>
            <a:r>
              <a:rPr sz="1600" dirty="0">
                <a:solidFill>
                  <a:srgbClr val="475569"/>
                </a:solidFill>
              </a:rPr>
              <a:t>, solo e histórico.</a:t>
            </a:r>
          </a:p>
          <a:p>
            <a:pPr>
              <a:spcAft>
                <a:spcPts val="400"/>
              </a:spcAft>
            </a:pPr>
            <a:r>
              <a:rPr sz="1600" b="1" dirty="0">
                <a:solidFill>
                  <a:srgbClr val="0F172A"/>
                </a:solidFill>
              </a:rPr>
              <a:t>Fusão </a:t>
            </a:r>
            <a:r>
              <a:rPr sz="1600" b="1" dirty="0" err="1">
                <a:solidFill>
                  <a:srgbClr val="0F172A"/>
                </a:solidFill>
              </a:rPr>
              <a:t>Multivariada</a:t>
            </a:r>
            <a:r>
              <a:rPr sz="1600" b="1" dirty="0">
                <a:solidFill>
                  <a:srgbClr val="0F172A"/>
                </a:solidFill>
              </a:rPr>
              <a:t>: </a:t>
            </a:r>
            <a:r>
              <a:rPr sz="1600" dirty="0" err="1">
                <a:solidFill>
                  <a:srgbClr val="475569"/>
                </a:solidFill>
              </a:rPr>
              <a:t>Integração</a:t>
            </a:r>
            <a:r>
              <a:rPr sz="1600" dirty="0">
                <a:solidFill>
                  <a:srgbClr val="475569"/>
                </a:solidFill>
              </a:rPr>
              <a:t> do Google Earth Engine (Sentinel-2), Copernicus DEM, cartas </a:t>
            </a:r>
            <a:r>
              <a:rPr sz="1600" dirty="0" err="1">
                <a:solidFill>
                  <a:srgbClr val="475569"/>
                </a:solidFill>
              </a:rPr>
              <a:t>oficiais</a:t>
            </a:r>
            <a:r>
              <a:rPr sz="1600" dirty="0">
                <a:solidFill>
                  <a:srgbClr val="475569"/>
                </a:solidFill>
              </a:rPr>
              <a:t> da Embrapa e </a:t>
            </a:r>
            <a:r>
              <a:rPr sz="1600" dirty="0" err="1">
                <a:solidFill>
                  <a:srgbClr val="475569"/>
                </a:solidFill>
              </a:rPr>
              <a:t>malha</a:t>
            </a:r>
            <a:r>
              <a:rPr sz="1600" dirty="0">
                <a:solidFill>
                  <a:srgbClr val="475569"/>
                </a:solidFill>
              </a:rPr>
              <a:t> do CAR.</a:t>
            </a:r>
          </a:p>
          <a:p>
            <a:pPr>
              <a:spcAft>
                <a:spcPts val="400"/>
              </a:spcAft>
            </a:pPr>
            <a:r>
              <a:rPr sz="1600" b="1" dirty="0" err="1">
                <a:solidFill>
                  <a:srgbClr val="0F172A"/>
                </a:solidFill>
              </a:rPr>
              <a:t>Transparência</a:t>
            </a:r>
            <a:r>
              <a:rPr sz="1600" b="1" dirty="0">
                <a:solidFill>
                  <a:srgbClr val="0F172A"/>
                </a:solidFill>
              </a:rPr>
              <a:t> </a:t>
            </a:r>
            <a:r>
              <a:rPr sz="1600" b="1" dirty="0" err="1">
                <a:solidFill>
                  <a:srgbClr val="0F172A"/>
                </a:solidFill>
              </a:rPr>
              <a:t>Metodológica</a:t>
            </a:r>
            <a:r>
              <a:rPr sz="1600" b="1" dirty="0">
                <a:solidFill>
                  <a:srgbClr val="0F172A"/>
                </a:solidFill>
              </a:rPr>
              <a:t>: </a:t>
            </a:r>
            <a:r>
              <a:rPr sz="1600" dirty="0" err="1">
                <a:solidFill>
                  <a:srgbClr val="475569"/>
                </a:solidFill>
              </a:rPr>
              <a:t>Separação</a:t>
            </a:r>
            <a:r>
              <a:rPr sz="1600" dirty="0">
                <a:solidFill>
                  <a:srgbClr val="475569"/>
                </a:solidFill>
              </a:rPr>
              <a:t> </a:t>
            </a:r>
            <a:r>
              <a:rPr sz="1600" dirty="0" err="1">
                <a:solidFill>
                  <a:srgbClr val="475569"/>
                </a:solidFill>
              </a:rPr>
              <a:t>rigorosa</a:t>
            </a:r>
            <a:r>
              <a:rPr sz="1600" dirty="0">
                <a:solidFill>
                  <a:srgbClr val="475569"/>
                </a:solidFill>
              </a:rPr>
              <a:t> entre </a:t>
            </a:r>
            <a:r>
              <a:rPr sz="1600" dirty="0" err="1">
                <a:solidFill>
                  <a:srgbClr val="475569"/>
                </a:solidFill>
              </a:rPr>
              <a:t>amostragem</a:t>
            </a:r>
            <a:r>
              <a:rPr sz="1600" dirty="0">
                <a:solidFill>
                  <a:srgbClr val="475569"/>
                </a:solidFill>
              </a:rPr>
              <a:t> e </a:t>
            </a:r>
            <a:r>
              <a:rPr sz="1600" dirty="0" err="1">
                <a:solidFill>
                  <a:srgbClr val="475569"/>
                </a:solidFill>
              </a:rPr>
              <a:t>predição</a:t>
            </a:r>
            <a:r>
              <a:rPr sz="1600" dirty="0">
                <a:solidFill>
                  <a:srgbClr val="475569"/>
                </a:solidFill>
              </a:rPr>
              <a:t>, </a:t>
            </a:r>
            <a:r>
              <a:rPr sz="1600" dirty="0" err="1">
                <a:solidFill>
                  <a:srgbClr val="475569"/>
                </a:solidFill>
              </a:rPr>
              <a:t>garantindo</a:t>
            </a:r>
            <a:r>
              <a:rPr sz="1600" dirty="0">
                <a:solidFill>
                  <a:srgbClr val="475569"/>
                </a:solidFill>
              </a:rPr>
              <a:t> </a:t>
            </a:r>
            <a:r>
              <a:rPr sz="1600" dirty="0" err="1">
                <a:solidFill>
                  <a:srgbClr val="475569"/>
                </a:solidFill>
              </a:rPr>
              <a:t>reprodutibilidade</a:t>
            </a:r>
            <a:r>
              <a:rPr sz="1600" dirty="0">
                <a:solidFill>
                  <a:srgbClr val="475569"/>
                </a:solidFill>
              </a:rPr>
              <a:t> </a:t>
            </a:r>
            <a:r>
              <a:rPr sz="1600" dirty="0" err="1">
                <a:solidFill>
                  <a:srgbClr val="475569"/>
                </a:solidFill>
              </a:rPr>
              <a:t>acadêmica</a:t>
            </a:r>
            <a:r>
              <a:rPr sz="1600" dirty="0">
                <a:solidFill>
                  <a:srgbClr val="475569"/>
                </a:solidFill>
              </a:rPr>
              <a:t> </a:t>
            </a:r>
            <a:r>
              <a:rPr sz="1600" dirty="0" err="1">
                <a:solidFill>
                  <a:srgbClr val="475569"/>
                </a:solidFill>
              </a:rPr>
              <a:t>perante</a:t>
            </a:r>
            <a:r>
              <a:rPr sz="1600" dirty="0">
                <a:solidFill>
                  <a:srgbClr val="475569"/>
                </a:solidFill>
              </a:rPr>
              <a:t> a banca.</a:t>
            </a: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0D069DC2-7962-87C5-5164-3F0122F28A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262992"/>
            <a:ext cx="1279123" cy="424992"/>
          </a:xfrm>
          <a:prstGeom prst="rect">
            <a:avLst/>
          </a:prstGeom>
          <a:effectLst>
            <a:glow rad="63500">
              <a:schemeClr val="bg1"/>
            </a:glo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GESTÃO DE CUSTOS &amp; LOGÍSTICA DE PESQUISA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Viabilidade Metodológica: O Dilema de Custos de Amostragem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SAREL v2.0 • Sistema de Amostragem e Rotulagem para Erosão Laminar • PPGTCA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329184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663447"/>
            <a:ext cx="32918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475569"/>
                </a:solidFill>
              </a:defRPr>
            </a:pPr>
            <a:r>
              <a:rPr sz="1400" dirty="0"/>
              <a:t>100% CAMPO (ORÇAMENTO ELEVADO)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25880"/>
            <a:ext cx="329184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89120" y="1663447"/>
            <a:ext cx="32918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475569"/>
                </a:solidFill>
              </a:defRPr>
            </a:pPr>
            <a:r>
              <a:rPr sz="1400" dirty="0"/>
              <a:t>100% SINTÉTICO (VÍCIO CIENTÍFICO)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25880"/>
            <a:ext cx="33832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20" y="1583025"/>
            <a:ext cx="33832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475569"/>
                </a:solidFill>
              </a:defRPr>
            </a:pPr>
            <a:r>
              <a:rPr sz="1400" dirty="0"/>
              <a:t>ESTRATÉGIA HÍBRIDA SAREL</a:t>
            </a:r>
          </a:p>
          <a:p>
            <a:pPr algn="ctr">
              <a:defRPr sz="1600" b="1">
                <a:solidFill>
                  <a:srgbClr val="10B981"/>
                </a:solidFill>
              </a:defRPr>
            </a:pPr>
            <a:r>
              <a:rPr sz="1400" dirty="0" err="1"/>
              <a:t>Estimativa</a:t>
            </a:r>
            <a:r>
              <a:rPr sz="1400" dirty="0"/>
              <a:t> ~80% </a:t>
            </a:r>
            <a:r>
              <a:rPr sz="1400" dirty="0" err="1"/>
              <a:t>redução</a:t>
            </a:r>
            <a:r>
              <a:rPr sz="1400" dirty="0"/>
              <a:t> </a:t>
            </a:r>
            <a:r>
              <a:rPr sz="1400" dirty="0" err="1"/>
              <a:t>operacional</a:t>
            </a:r>
            <a:endParaRPr sz="1400" dirty="0"/>
          </a:p>
        </p:txBody>
      </p:sp>
      <p:sp>
        <p:nvSpPr>
          <p:cNvPr id="13" name="Rounded Rectangle 12"/>
          <p:cNvSpPr/>
          <p:nvPr/>
        </p:nvSpPr>
        <p:spPr>
          <a:xfrm>
            <a:off x="731520" y="2560320"/>
            <a:ext cx="3383280" cy="3566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2743200"/>
            <a:ext cx="3017520" cy="3059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E11D48"/>
                </a:solidFill>
              </a:defRPr>
            </a:pPr>
            <a:r>
              <a:rPr sz="1400" dirty="0" err="1"/>
              <a:t>Cenário</a:t>
            </a:r>
            <a:r>
              <a:rPr sz="1400" dirty="0"/>
              <a:t> A: 100% Campo</a:t>
            </a:r>
          </a:p>
          <a:p>
            <a:pPr>
              <a:spcAft>
                <a:spcPts val="400"/>
              </a:spcAft>
            </a:pPr>
            <a:r>
              <a:rPr sz="1400" b="1" dirty="0" err="1">
                <a:solidFill>
                  <a:srgbClr val="0F172A"/>
                </a:solidFill>
              </a:rPr>
              <a:t>Demanda</a:t>
            </a:r>
            <a:r>
              <a:rPr sz="1400" b="1" dirty="0">
                <a:solidFill>
                  <a:srgbClr val="0F172A"/>
                </a:solidFill>
              </a:rPr>
              <a:t> </a:t>
            </a:r>
            <a:r>
              <a:rPr sz="1400" b="1" dirty="0" err="1">
                <a:solidFill>
                  <a:srgbClr val="0F172A"/>
                </a:solidFill>
              </a:rPr>
              <a:t>Logística</a:t>
            </a:r>
            <a:r>
              <a:rPr sz="1400" b="1" dirty="0">
                <a:solidFill>
                  <a:srgbClr val="0F172A"/>
                </a:solidFill>
              </a:rPr>
              <a:t>: </a:t>
            </a:r>
            <a:r>
              <a:rPr sz="1400" dirty="0">
                <a:solidFill>
                  <a:srgbClr val="475569"/>
                </a:solidFill>
              </a:rPr>
              <a:t>Visita </a:t>
            </a:r>
            <a:r>
              <a:rPr sz="1400" dirty="0" err="1">
                <a:solidFill>
                  <a:srgbClr val="475569"/>
                </a:solidFill>
              </a:rPr>
              <a:t>presencial</a:t>
            </a:r>
            <a:r>
              <a:rPr sz="1400" dirty="0">
                <a:solidFill>
                  <a:srgbClr val="475569"/>
                </a:solidFill>
              </a:rPr>
              <a:t> a </a:t>
            </a:r>
            <a:r>
              <a:rPr sz="1400" dirty="0" err="1">
                <a:solidFill>
                  <a:srgbClr val="475569"/>
                </a:solidFill>
              </a:rPr>
              <a:t>centenas</a:t>
            </a:r>
            <a:r>
              <a:rPr sz="1400" dirty="0">
                <a:solidFill>
                  <a:srgbClr val="475569"/>
                </a:solidFill>
              </a:rPr>
              <a:t> de </a:t>
            </a:r>
            <a:r>
              <a:rPr sz="1400" dirty="0" err="1">
                <a:solidFill>
                  <a:srgbClr val="475569"/>
                </a:solidFill>
              </a:rPr>
              <a:t>pontos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dispersos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por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todo</a:t>
            </a:r>
            <a:r>
              <a:rPr sz="1400" dirty="0">
                <a:solidFill>
                  <a:srgbClr val="475569"/>
                </a:solidFill>
              </a:rPr>
              <a:t> o Estado do Paraná.</a:t>
            </a:r>
          </a:p>
          <a:p>
            <a:pPr>
              <a:spcAft>
                <a:spcPts val="400"/>
              </a:spcAft>
            </a:pPr>
            <a:r>
              <a:rPr sz="1400" b="1" dirty="0">
                <a:solidFill>
                  <a:srgbClr val="0F172A"/>
                </a:solidFill>
              </a:rPr>
              <a:t>Custos </a:t>
            </a:r>
            <a:r>
              <a:rPr sz="1400" b="1" dirty="0" err="1">
                <a:solidFill>
                  <a:srgbClr val="0F172A"/>
                </a:solidFill>
              </a:rPr>
              <a:t>Operacionais</a:t>
            </a:r>
            <a:r>
              <a:rPr sz="1400" b="1" dirty="0">
                <a:solidFill>
                  <a:srgbClr val="0F172A"/>
                </a:solidFill>
              </a:rPr>
              <a:t>: </a:t>
            </a:r>
            <a:r>
              <a:rPr sz="1400" dirty="0" err="1">
                <a:solidFill>
                  <a:srgbClr val="475569"/>
                </a:solidFill>
              </a:rPr>
              <a:t>Combustível</a:t>
            </a:r>
            <a:r>
              <a:rPr sz="1400" dirty="0">
                <a:solidFill>
                  <a:srgbClr val="475569"/>
                </a:solidFill>
              </a:rPr>
              <a:t>, </a:t>
            </a:r>
            <a:r>
              <a:rPr sz="1400" dirty="0" err="1">
                <a:solidFill>
                  <a:srgbClr val="475569"/>
                </a:solidFill>
              </a:rPr>
              <a:t>veículos</a:t>
            </a:r>
            <a:r>
              <a:rPr sz="1400" dirty="0">
                <a:solidFill>
                  <a:srgbClr val="475569"/>
                </a:solidFill>
              </a:rPr>
              <a:t> com </a:t>
            </a:r>
            <a:r>
              <a:rPr sz="1400" dirty="0" err="1">
                <a:solidFill>
                  <a:srgbClr val="475569"/>
                </a:solidFill>
              </a:rPr>
              <a:t>tração</a:t>
            </a:r>
            <a:r>
              <a:rPr sz="1400" dirty="0">
                <a:solidFill>
                  <a:srgbClr val="475569"/>
                </a:solidFill>
              </a:rPr>
              <a:t> integral, </a:t>
            </a:r>
            <a:r>
              <a:rPr sz="1400" dirty="0" err="1">
                <a:solidFill>
                  <a:srgbClr val="475569"/>
                </a:solidFill>
              </a:rPr>
              <a:t>diárias</a:t>
            </a:r>
            <a:r>
              <a:rPr sz="1400" dirty="0">
                <a:solidFill>
                  <a:srgbClr val="475569"/>
                </a:solidFill>
              </a:rPr>
              <a:t> de equipe, </a:t>
            </a:r>
            <a:r>
              <a:rPr sz="1400" dirty="0" err="1">
                <a:solidFill>
                  <a:srgbClr val="475569"/>
                </a:solidFill>
              </a:rPr>
              <a:t>receptores</a:t>
            </a:r>
            <a:r>
              <a:rPr sz="1400" dirty="0">
                <a:solidFill>
                  <a:srgbClr val="475569"/>
                </a:solidFill>
              </a:rPr>
              <a:t> GNSS de </a:t>
            </a:r>
            <a:r>
              <a:rPr sz="1400" dirty="0" err="1">
                <a:solidFill>
                  <a:srgbClr val="475569"/>
                </a:solidFill>
              </a:rPr>
              <a:t>precisão</a:t>
            </a:r>
            <a:r>
              <a:rPr sz="1400" dirty="0">
                <a:solidFill>
                  <a:srgbClr val="475569"/>
                </a:solidFill>
              </a:rPr>
              <a:t> e meses de </a:t>
            </a:r>
            <a:r>
              <a:rPr sz="1400" dirty="0" err="1">
                <a:solidFill>
                  <a:srgbClr val="475569"/>
                </a:solidFill>
              </a:rPr>
              <a:t>viagem</a:t>
            </a:r>
            <a:r>
              <a:rPr sz="1400" dirty="0">
                <a:solidFill>
                  <a:srgbClr val="475569"/>
                </a:solidFill>
              </a:rPr>
              <a:t>.</a:t>
            </a:r>
          </a:p>
          <a:p>
            <a:pPr>
              <a:spcAft>
                <a:spcPts val="400"/>
              </a:spcAft>
            </a:pPr>
            <a:r>
              <a:rPr sz="1400" b="1" dirty="0">
                <a:solidFill>
                  <a:srgbClr val="0F172A"/>
                </a:solidFill>
              </a:rPr>
              <a:t>Risco </a:t>
            </a:r>
            <a:r>
              <a:rPr sz="1400" b="1" dirty="0" err="1">
                <a:solidFill>
                  <a:srgbClr val="0F172A"/>
                </a:solidFill>
              </a:rPr>
              <a:t>Metodológico</a:t>
            </a:r>
            <a:r>
              <a:rPr sz="1400" b="1" dirty="0">
                <a:solidFill>
                  <a:srgbClr val="0F172A"/>
                </a:solidFill>
              </a:rPr>
              <a:t>: </a:t>
            </a:r>
            <a:r>
              <a:rPr sz="1400" dirty="0" err="1">
                <a:solidFill>
                  <a:srgbClr val="475569"/>
                </a:solidFill>
              </a:rPr>
              <a:t>Amostra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insuficiente</a:t>
            </a:r>
            <a:r>
              <a:rPr sz="1400" dirty="0">
                <a:solidFill>
                  <a:srgbClr val="475569"/>
                </a:solidFill>
              </a:rPr>
              <a:t> (N &lt; 40 </a:t>
            </a:r>
            <a:r>
              <a:rPr sz="1400" dirty="0" err="1">
                <a:solidFill>
                  <a:srgbClr val="475569"/>
                </a:solidFill>
              </a:rPr>
              <a:t>pontos</a:t>
            </a:r>
            <a:r>
              <a:rPr sz="1400" dirty="0">
                <a:solidFill>
                  <a:srgbClr val="475569"/>
                </a:solidFill>
              </a:rPr>
              <a:t>) </a:t>
            </a:r>
            <a:r>
              <a:rPr sz="1400" dirty="0" err="1">
                <a:solidFill>
                  <a:srgbClr val="475569"/>
                </a:solidFill>
              </a:rPr>
              <a:t>devido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ao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orçamento</a:t>
            </a:r>
            <a:r>
              <a:rPr sz="1400" dirty="0">
                <a:solidFill>
                  <a:srgbClr val="475569"/>
                </a:solidFill>
              </a:rPr>
              <a:t>, </a:t>
            </a:r>
            <a:r>
              <a:rPr sz="1400" dirty="0" err="1">
                <a:solidFill>
                  <a:srgbClr val="475569"/>
                </a:solidFill>
              </a:rPr>
              <a:t>gerando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alta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variância</a:t>
            </a:r>
            <a:r>
              <a:rPr sz="1400" dirty="0">
                <a:solidFill>
                  <a:srgbClr val="475569"/>
                </a:solidFill>
              </a:rPr>
              <a:t> e </a:t>
            </a:r>
            <a:r>
              <a:rPr sz="1400" dirty="0" err="1">
                <a:solidFill>
                  <a:srgbClr val="475569"/>
                </a:solidFill>
              </a:rPr>
              <a:t>sobreajuste</a:t>
            </a:r>
            <a:r>
              <a:rPr sz="1400" dirty="0">
                <a:solidFill>
                  <a:srgbClr val="475569"/>
                </a:solidFill>
              </a:rPr>
              <a:t> (overfitting) </a:t>
            </a:r>
            <a:r>
              <a:rPr sz="1400" dirty="0" err="1">
                <a:solidFill>
                  <a:srgbClr val="475569"/>
                </a:solidFill>
              </a:rPr>
              <a:t>em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árvores</a:t>
            </a:r>
            <a:r>
              <a:rPr sz="1400" dirty="0">
                <a:solidFill>
                  <a:srgbClr val="475569"/>
                </a:solidFill>
              </a:rPr>
              <a:t> de </a:t>
            </a:r>
            <a:r>
              <a:rPr sz="1400" dirty="0" err="1">
                <a:solidFill>
                  <a:srgbClr val="475569"/>
                </a:solidFill>
              </a:rPr>
              <a:t>decisão</a:t>
            </a:r>
            <a:r>
              <a:rPr sz="1400" dirty="0">
                <a:solidFill>
                  <a:srgbClr val="475569"/>
                </a:solidFill>
              </a:rPr>
              <a:t>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2560320"/>
            <a:ext cx="3383280" cy="3566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0" y="2743200"/>
            <a:ext cx="3017520" cy="327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D97706"/>
                </a:solidFill>
              </a:defRPr>
            </a:pPr>
            <a:r>
              <a:rPr sz="1400" dirty="0" err="1"/>
              <a:t>Cenário</a:t>
            </a:r>
            <a:r>
              <a:rPr sz="1400" dirty="0"/>
              <a:t> B: 100% </a:t>
            </a:r>
            <a:r>
              <a:rPr sz="1400" dirty="0" err="1"/>
              <a:t>Sintético</a:t>
            </a:r>
            <a:endParaRPr sz="1400" dirty="0"/>
          </a:p>
          <a:p>
            <a:pPr>
              <a:spcAft>
                <a:spcPts val="400"/>
              </a:spcAft>
            </a:pPr>
            <a:r>
              <a:rPr sz="1400" b="1" dirty="0" err="1">
                <a:solidFill>
                  <a:srgbClr val="0F172A"/>
                </a:solidFill>
              </a:rPr>
              <a:t>Atalho</a:t>
            </a:r>
            <a:r>
              <a:rPr sz="1400" b="1" dirty="0">
                <a:solidFill>
                  <a:srgbClr val="0F172A"/>
                </a:solidFill>
              </a:rPr>
              <a:t> </a:t>
            </a:r>
            <a:r>
              <a:rPr sz="1400" b="1" dirty="0" err="1">
                <a:solidFill>
                  <a:srgbClr val="0F172A"/>
                </a:solidFill>
              </a:rPr>
              <a:t>Metodológico</a:t>
            </a:r>
            <a:r>
              <a:rPr sz="1400" b="1" dirty="0">
                <a:solidFill>
                  <a:srgbClr val="0F172A"/>
                </a:solidFill>
              </a:rPr>
              <a:t>: </a:t>
            </a:r>
            <a:r>
              <a:rPr sz="1400" dirty="0">
                <a:solidFill>
                  <a:srgbClr val="475569"/>
                </a:solidFill>
              </a:rPr>
              <a:t>Gerar dados de </a:t>
            </a:r>
            <a:r>
              <a:rPr sz="1400" dirty="0" err="1">
                <a:solidFill>
                  <a:srgbClr val="475569"/>
                </a:solidFill>
              </a:rPr>
              <a:t>erosão</a:t>
            </a:r>
            <a:r>
              <a:rPr sz="1400" dirty="0">
                <a:solidFill>
                  <a:srgbClr val="475569"/>
                </a:solidFill>
              </a:rPr>
              <a:t> a </a:t>
            </a:r>
            <a:r>
              <a:rPr sz="1400" dirty="0" err="1">
                <a:solidFill>
                  <a:srgbClr val="475569"/>
                </a:solidFill>
              </a:rPr>
              <a:t>partir</a:t>
            </a:r>
            <a:r>
              <a:rPr sz="1400" dirty="0">
                <a:solidFill>
                  <a:srgbClr val="475569"/>
                </a:solidFill>
              </a:rPr>
              <a:t> de </a:t>
            </a:r>
            <a:r>
              <a:rPr sz="1400" dirty="0" err="1">
                <a:solidFill>
                  <a:srgbClr val="475569"/>
                </a:solidFill>
              </a:rPr>
              <a:t>fórmulas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matemáticas</a:t>
            </a:r>
            <a:r>
              <a:rPr sz="1400" dirty="0">
                <a:solidFill>
                  <a:srgbClr val="475569"/>
                </a:solidFill>
              </a:rPr>
              <a:t> (RUSLE) </a:t>
            </a:r>
            <a:r>
              <a:rPr sz="1400" dirty="0" err="1">
                <a:solidFill>
                  <a:srgbClr val="475569"/>
                </a:solidFill>
              </a:rPr>
              <a:t>ou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simulações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estatísticas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sem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ancoragem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empírica</a:t>
            </a:r>
            <a:r>
              <a:rPr sz="1400" dirty="0">
                <a:solidFill>
                  <a:srgbClr val="475569"/>
                </a:solidFill>
              </a:rPr>
              <a:t>.</a:t>
            </a:r>
          </a:p>
          <a:p>
            <a:pPr>
              <a:spcAft>
                <a:spcPts val="400"/>
              </a:spcAft>
            </a:pPr>
            <a:r>
              <a:rPr sz="1400" b="1" dirty="0" err="1">
                <a:solidFill>
                  <a:srgbClr val="0F172A"/>
                </a:solidFill>
              </a:rPr>
              <a:t>Vício</a:t>
            </a:r>
            <a:r>
              <a:rPr sz="1400" b="1" dirty="0">
                <a:solidFill>
                  <a:srgbClr val="0F172A"/>
                </a:solidFill>
              </a:rPr>
              <a:t> de </a:t>
            </a:r>
            <a:r>
              <a:rPr sz="1400" b="1" dirty="0" err="1">
                <a:solidFill>
                  <a:srgbClr val="0F172A"/>
                </a:solidFill>
              </a:rPr>
              <a:t>Circularidade</a:t>
            </a:r>
            <a:r>
              <a:rPr sz="1400" b="1" dirty="0">
                <a:solidFill>
                  <a:srgbClr val="0F172A"/>
                </a:solidFill>
              </a:rPr>
              <a:t>: </a:t>
            </a:r>
            <a:r>
              <a:rPr sz="1400" dirty="0">
                <a:solidFill>
                  <a:srgbClr val="475569"/>
                </a:solidFill>
              </a:rPr>
              <a:t>O </a:t>
            </a:r>
            <a:r>
              <a:rPr sz="1400" dirty="0" err="1">
                <a:solidFill>
                  <a:srgbClr val="475569"/>
                </a:solidFill>
              </a:rPr>
              <a:t>modelo</a:t>
            </a:r>
            <a:r>
              <a:rPr sz="1400" dirty="0">
                <a:solidFill>
                  <a:srgbClr val="475569"/>
                </a:solidFill>
              </a:rPr>
              <a:t> de </a:t>
            </a:r>
            <a:r>
              <a:rPr sz="1400" dirty="0" err="1">
                <a:solidFill>
                  <a:srgbClr val="475569"/>
                </a:solidFill>
              </a:rPr>
              <a:t>aprendizado</a:t>
            </a:r>
            <a:r>
              <a:rPr sz="1400" dirty="0">
                <a:solidFill>
                  <a:srgbClr val="475569"/>
                </a:solidFill>
              </a:rPr>
              <a:t> de </a:t>
            </a:r>
            <a:r>
              <a:rPr sz="1400" dirty="0" err="1">
                <a:solidFill>
                  <a:srgbClr val="475569"/>
                </a:solidFill>
              </a:rPr>
              <a:t>máquina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apenas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reproduz</a:t>
            </a:r>
            <a:r>
              <a:rPr sz="1400" dirty="0">
                <a:solidFill>
                  <a:srgbClr val="475569"/>
                </a:solidFill>
              </a:rPr>
              <a:t> as </a:t>
            </a:r>
            <a:r>
              <a:rPr sz="1400" dirty="0" err="1">
                <a:solidFill>
                  <a:srgbClr val="475569"/>
                </a:solidFill>
              </a:rPr>
              <a:t>equações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fornecidas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pelo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pesquisador</a:t>
            </a:r>
            <a:r>
              <a:rPr sz="1400" dirty="0">
                <a:solidFill>
                  <a:srgbClr val="475569"/>
                </a:solidFill>
              </a:rPr>
              <a:t> (</a:t>
            </a:r>
            <a:r>
              <a:rPr sz="1400" dirty="0" err="1">
                <a:solidFill>
                  <a:srgbClr val="475569"/>
                </a:solidFill>
              </a:rPr>
              <a:t>vazamento</a:t>
            </a:r>
            <a:r>
              <a:rPr sz="1400" dirty="0">
                <a:solidFill>
                  <a:srgbClr val="475569"/>
                </a:solidFill>
              </a:rPr>
              <a:t> de </a:t>
            </a:r>
            <a:r>
              <a:rPr sz="1400" dirty="0" err="1">
                <a:solidFill>
                  <a:srgbClr val="475569"/>
                </a:solidFill>
              </a:rPr>
              <a:t>alvo</a:t>
            </a:r>
            <a:r>
              <a:rPr sz="1400" dirty="0">
                <a:solidFill>
                  <a:srgbClr val="475569"/>
                </a:solidFill>
              </a:rPr>
              <a:t> / </a:t>
            </a:r>
            <a:r>
              <a:rPr sz="1400" dirty="0" err="1">
                <a:solidFill>
                  <a:srgbClr val="475569"/>
                </a:solidFill>
              </a:rPr>
              <a:t>circularidade</a:t>
            </a:r>
            <a:r>
              <a:rPr sz="1400" dirty="0">
                <a:solidFill>
                  <a:srgbClr val="475569"/>
                </a:solidFill>
              </a:rPr>
              <a:t>).</a:t>
            </a:r>
          </a:p>
          <a:p>
            <a:pPr>
              <a:spcAft>
                <a:spcPts val="400"/>
              </a:spcAft>
            </a:pPr>
            <a:r>
              <a:rPr sz="1400" b="1" dirty="0">
                <a:solidFill>
                  <a:srgbClr val="0F172A"/>
                </a:solidFill>
              </a:rPr>
              <a:t>Risco </a:t>
            </a:r>
            <a:r>
              <a:rPr sz="1400" b="1" dirty="0" err="1">
                <a:solidFill>
                  <a:srgbClr val="0F172A"/>
                </a:solidFill>
              </a:rPr>
              <a:t>Acadêmico</a:t>
            </a:r>
            <a:r>
              <a:rPr sz="1400" b="1" dirty="0">
                <a:solidFill>
                  <a:srgbClr val="0F172A"/>
                </a:solidFill>
              </a:rPr>
              <a:t>: </a:t>
            </a:r>
            <a:r>
              <a:rPr sz="1400" dirty="0" err="1">
                <a:solidFill>
                  <a:srgbClr val="475569"/>
                </a:solidFill>
              </a:rPr>
              <a:t>Desqualificação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perante</a:t>
            </a:r>
            <a:r>
              <a:rPr sz="1400" dirty="0">
                <a:solidFill>
                  <a:srgbClr val="475569"/>
                </a:solidFill>
              </a:rPr>
              <a:t> a banca </a:t>
            </a:r>
            <a:r>
              <a:rPr sz="1400" dirty="0" err="1">
                <a:solidFill>
                  <a:srgbClr val="475569"/>
                </a:solidFill>
              </a:rPr>
              <a:t>examinadora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por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ausência</a:t>
            </a:r>
            <a:r>
              <a:rPr sz="1400" dirty="0">
                <a:solidFill>
                  <a:srgbClr val="475569"/>
                </a:solidFill>
              </a:rPr>
              <a:t> de dados </a:t>
            </a:r>
            <a:r>
              <a:rPr sz="1400" dirty="0" err="1">
                <a:solidFill>
                  <a:srgbClr val="475569"/>
                </a:solidFill>
              </a:rPr>
              <a:t>empíricos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observacionais</a:t>
            </a:r>
            <a:r>
              <a:rPr sz="1400" dirty="0">
                <a:solidFill>
                  <a:srgbClr val="475569"/>
                </a:solidFill>
              </a:rPr>
              <a:t>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560320"/>
            <a:ext cx="3383280" cy="3566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0" y="2743200"/>
            <a:ext cx="3017520" cy="3059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0B981"/>
                </a:solidFill>
              </a:defRPr>
            </a:pPr>
            <a:r>
              <a:rPr sz="1400" dirty="0" err="1"/>
              <a:t>Cenário</a:t>
            </a:r>
            <a:r>
              <a:rPr sz="1400" dirty="0"/>
              <a:t> C: </a:t>
            </a:r>
            <a:r>
              <a:rPr sz="1400" dirty="0" err="1"/>
              <a:t>Híbrido</a:t>
            </a:r>
            <a:r>
              <a:rPr sz="1400" dirty="0"/>
              <a:t> SAREL</a:t>
            </a:r>
          </a:p>
          <a:p>
            <a:pPr>
              <a:spcAft>
                <a:spcPts val="400"/>
              </a:spcAft>
            </a:pPr>
            <a:r>
              <a:rPr sz="1400" b="1" dirty="0" err="1">
                <a:solidFill>
                  <a:srgbClr val="0F172A"/>
                </a:solidFill>
              </a:rPr>
              <a:t>Triagem</a:t>
            </a:r>
            <a:r>
              <a:rPr sz="1400" b="1" dirty="0">
                <a:solidFill>
                  <a:srgbClr val="0F172A"/>
                </a:solidFill>
              </a:rPr>
              <a:t> </a:t>
            </a:r>
            <a:r>
              <a:rPr sz="1400" b="1" dirty="0" err="1">
                <a:solidFill>
                  <a:srgbClr val="0F172A"/>
                </a:solidFill>
              </a:rPr>
              <a:t>Otimizada</a:t>
            </a:r>
            <a:r>
              <a:rPr sz="1400" b="1" dirty="0">
                <a:solidFill>
                  <a:srgbClr val="0F172A"/>
                </a:solidFill>
              </a:rPr>
              <a:t>: </a:t>
            </a:r>
            <a:r>
              <a:rPr sz="1400" dirty="0" err="1">
                <a:solidFill>
                  <a:srgbClr val="475569"/>
                </a:solidFill>
              </a:rPr>
              <a:t>Extração</a:t>
            </a:r>
            <a:r>
              <a:rPr sz="1400" dirty="0">
                <a:solidFill>
                  <a:srgbClr val="475569"/>
                </a:solidFill>
              </a:rPr>
              <a:t> no Earth Engine + </a:t>
            </a:r>
            <a:r>
              <a:rPr sz="1400" dirty="0" err="1">
                <a:solidFill>
                  <a:srgbClr val="475569"/>
                </a:solidFill>
              </a:rPr>
              <a:t>Fotointerpretação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em</a:t>
            </a:r>
            <a:r>
              <a:rPr sz="1400" dirty="0">
                <a:solidFill>
                  <a:srgbClr val="475569"/>
                </a:solidFill>
              </a:rPr>
              <a:t> Alta </a:t>
            </a:r>
            <a:r>
              <a:rPr sz="1400" dirty="0" err="1">
                <a:solidFill>
                  <a:srgbClr val="475569"/>
                </a:solidFill>
              </a:rPr>
              <a:t>Resolução</a:t>
            </a:r>
            <a:r>
              <a:rPr sz="1400" dirty="0">
                <a:solidFill>
                  <a:srgbClr val="475569"/>
                </a:solidFill>
              </a:rPr>
              <a:t> (</a:t>
            </a:r>
            <a:r>
              <a:rPr sz="1400" dirty="0" err="1">
                <a:solidFill>
                  <a:srgbClr val="475569"/>
                </a:solidFill>
              </a:rPr>
              <a:t>PlanetScope</a:t>
            </a:r>
            <a:r>
              <a:rPr sz="1400" dirty="0">
                <a:solidFill>
                  <a:srgbClr val="475569"/>
                </a:solidFill>
              </a:rPr>
              <a:t>/VHR) para a </a:t>
            </a:r>
            <a:r>
              <a:rPr sz="1400" dirty="0" err="1">
                <a:solidFill>
                  <a:srgbClr val="475569"/>
                </a:solidFill>
              </a:rPr>
              <a:t>maior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parte</a:t>
            </a:r>
            <a:r>
              <a:rPr sz="1400" dirty="0">
                <a:solidFill>
                  <a:srgbClr val="475569"/>
                </a:solidFill>
              </a:rPr>
              <a:t> do conjunto.</a:t>
            </a:r>
          </a:p>
          <a:p>
            <a:pPr>
              <a:spcAft>
                <a:spcPts val="400"/>
              </a:spcAft>
            </a:pPr>
            <a:r>
              <a:rPr sz="1400" b="1" dirty="0" err="1">
                <a:solidFill>
                  <a:srgbClr val="0F172A"/>
                </a:solidFill>
              </a:rPr>
              <a:t>Calibração</a:t>
            </a:r>
            <a:r>
              <a:rPr sz="1400" b="1" dirty="0">
                <a:solidFill>
                  <a:srgbClr val="0F172A"/>
                </a:solidFill>
              </a:rPr>
              <a:t> </a:t>
            </a:r>
            <a:r>
              <a:rPr sz="1400" b="1" dirty="0" err="1">
                <a:solidFill>
                  <a:srgbClr val="0F172A"/>
                </a:solidFill>
              </a:rPr>
              <a:t>Presencial</a:t>
            </a:r>
            <a:r>
              <a:rPr sz="1400" b="1" dirty="0">
                <a:solidFill>
                  <a:srgbClr val="0F172A"/>
                </a:solidFill>
              </a:rPr>
              <a:t>: </a:t>
            </a:r>
            <a:r>
              <a:rPr sz="1400" dirty="0" err="1">
                <a:solidFill>
                  <a:srgbClr val="475569"/>
                </a:solidFill>
              </a:rPr>
              <a:t>Subamostra</a:t>
            </a:r>
            <a:r>
              <a:rPr sz="1400" dirty="0">
                <a:solidFill>
                  <a:srgbClr val="475569"/>
                </a:solidFill>
              </a:rPr>
              <a:t> de </a:t>
            </a:r>
            <a:r>
              <a:rPr sz="1400" dirty="0" err="1">
                <a:solidFill>
                  <a:srgbClr val="475569"/>
                </a:solidFill>
              </a:rPr>
              <a:t>controle</a:t>
            </a:r>
            <a:r>
              <a:rPr sz="1400" dirty="0">
                <a:solidFill>
                  <a:srgbClr val="475569"/>
                </a:solidFill>
              </a:rPr>
              <a:t> (20%) </a:t>
            </a:r>
            <a:r>
              <a:rPr sz="1400" dirty="0" err="1">
                <a:solidFill>
                  <a:srgbClr val="475569"/>
                </a:solidFill>
              </a:rPr>
              <a:t>em</a:t>
            </a:r>
            <a:r>
              <a:rPr sz="1400" dirty="0">
                <a:solidFill>
                  <a:srgbClr val="475569"/>
                </a:solidFill>
              </a:rPr>
              <a:t> campo com </a:t>
            </a:r>
            <a:r>
              <a:rPr sz="1400" dirty="0" err="1">
                <a:solidFill>
                  <a:srgbClr val="475569"/>
                </a:solidFill>
              </a:rPr>
              <a:t>formulário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KoboToolbox</a:t>
            </a:r>
            <a:r>
              <a:rPr sz="1400" dirty="0">
                <a:solidFill>
                  <a:srgbClr val="475569"/>
                </a:solidFill>
              </a:rPr>
              <a:t>, GNSS </a:t>
            </a:r>
            <a:r>
              <a:rPr sz="1400" dirty="0" err="1">
                <a:solidFill>
                  <a:srgbClr val="475569"/>
                </a:solidFill>
              </a:rPr>
              <a:t>submétrico</a:t>
            </a:r>
            <a:r>
              <a:rPr sz="1400" dirty="0">
                <a:solidFill>
                  <a:srgbClr val="475569"/>
                </a:solidFill>
              </a:rPr>
              <a:t> e </a:t>
            </a:r>
            <a:r>
              <a:rPr sz="1400" dirty="0" err="1">
                <a:solidFill>
                  <a:srgbClr val="475569"/>
                </a:solidFill>
              </a:rPr>
              <a:t>ortomosaicos</a:t>
            </a:r>
            <a:r>
              <a:rPr sz="1400" dirty="0">
                <a:solidFill>
                  <a:srgbClr val="475569"/>
                </a:solidFill>
              </a:rPr>
              <a:t> de drone.</a:t>
            </a:r>
          </a:p>
          <a:p>
            <a:pPr>
              <a:spcAft>
                <a:spcPts val="400"/>
              </a:spcAft>
            </a:pPr>
            <a:r>
              <a:rPr sz="1400" b="1" dirty="0">
                <a:solidFill>
                  <a:srgbClr val="0F172A"/>
                </a:solidFill>
              </a:rPr>
              <a:t>Rigor </a:t>
            </a:r>
            <a:r>
              <a:rPr sz="1400" b="1" dirty="0" err="1">
                <a:solidFill>
                  <a:srgbClr val="0F172A"/>
                </a:solidFill>
              </a:rPr>
              <a:t>Estatístico</a:t>
            </a:r>
            <a:r>
              <a:rPr sz="1400" b="1" dirty="0">
                <a:solidFill>
                  <a:srgbClr val="0F172A"/>
                </a:solidFill>
              </a:rPr>
              <a:t>: </a:t>
            </a:r>
            <a:r>
              <a:rPr sz="1400" dirty="0" err="1">
                <a:solidFill>
                  <a:srgbClr val="475569"/>
                </a:solidFill>
              </a:rPr>
              <a:t>Matriz</a:t>
            </a:r>
            <a:r>
              <a:rPr sz="1400" dirty="0">
                <a:solidFill>
                  <a:srgbClr val="475569"/>
                </a:solidFill>
              </a:rPr>
              <a:t> de </a:t>
            </a:r>
            <a:r>
              <a:rPr sz="1400" dirty="0" err="1">
                <a:solidFill>
                  <a:srgbClr val="475569"/>
                </a:solidFill>
              </a:rPr>
              <a:t>Confusão</a:t>
            </a:r>
            <a:r>
              <a:rPr sz="1400" dirty="0">
                <a:solidFill>
                  <a:srgbClr val="475569"/>
                </a:solidFill>
              </a:rPr>
              <a:t> e </a:t>
            </a:r>
            <a:r>
              <a:rPr sz="1400" dirty="0" err="1">
                <a:solidFill>
                  <a:srgbClr val="475569"/>
                </a:solidFill>
              </a:rPr>
              <a:t>Índice</a:t>
            </a:r>
            <a:r>
              <a:rPr sz="1400" dirty="0">
                <a:solidFill>
                  <a:srgbClr val="475569"/>
                </a:solidFill>
              </a:rPr>
              <a:t> Kappa de Cohen (κ ≥ 0,61) com IC 95% </a:t>
            </a:r>
            <a:r>
              <a:rPr sz="1400" dirty="0" err="1">
                <a:solidFill>
                  <a:srgbClr val="475569"/>
                </a:solidFill>
              </a:rPr>
              <a:t>medindo</a:t>
            </a:r>
            <a:r>
              <a:rPr sz="1400" dirty="0">
                <a:solidFill>
                  <a:srgbClr val="475569"/>
                </a:solidFill>
              </a:rPr>
              <a:t> a </a:t>
            </a:r>
            <a:r>
              <a:rPr sz="1400" dirty="0" err="1">
                <a:solidFill>
                  <a:srgbClr val="475569"/>
                </a:solidFill>
              </a:rPr>
              <a:t>concordância</a:t>
            </a:r>
            <a:r>
              <a:rPr sz="1400" dirty="0">
                <a:solidFill>
                  <a:srgbClr val="475569"/>
                </a:solidFill>
              </a:rPr>
              <a:t> inter-</a:t>
            </a:r>
            <a:r>
              <a:rPr sz="1400" dirty="0" err="1">
                <a:solidFill>
                  <a:srgbClr val="475569"/>
                </a:solidFill>
              </a:rPr>
              <a:t>observadores</a:t>
            </a:r>
            <a:r>
              <a:rPr sz="1400" dirty="0">
                <a:solidFill>
                  <a:srgbClr val="475569"/>
                </a:solidFill>
              </a:rPr>
              <a:t>.</a:t>
            </a:r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1C09DCC3-FD78-BFE8-FCA6-986E832C04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262992"/>
            <a:ext cx="1279123" cy="424992"/>
          </a:xfrm>
          <a:prstGeom prst="rect">
            <a:avLst/>
          </a:prstGeom>
          <a:effectLst>
            <a:glow rad="63500">
              <a:schemeClr val="bg1"/>
            </a:glo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ARQUITETURA FUNCIONAL &amp; ESCOPO DA DISSERTAÇÃO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Escopo do Sistema: As Três Funções Centrais do SAREL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SAREL v2.0 • Sistema de Amostragem e Rotulagem para Erosão Laminar • PPGTCA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3383280" cy="3931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3017520" cy="2895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50" b="1">
                <a:solidFill>
                  <a:srgbClr val="0EA5E9"/>
                </a:solidFill>
              </a:defRPr>
            </a:pPr>
            <a:r>
              <a:rPr sz="1400" dirty="0"/>
              <a:t>1. </a:t>
            </a:r>
            <a:r>
              <a:rPr sz="1400" dirty="0" err="1"/>
              <a:t>Propõe</a:t>
            </a:r>
            <a:r>
              <a:rPr sz="1400" dirty="0"/>
              <a:t> Onde </a:t>
            </a:r>
            <a:r>
              <a:rPr sz="1400" dirty="0" err="1"/>
              <a:t>Observar</a:t>
            </a:r>
            <a:endParaRPr sz="1400" dirty="0"/>
          </a:p>
          <a:p>
            <a:pPr>
              <a:spcAft>
                <a:spcPts val="400"/>
              </a:spcAft>
            </a:pPr>
            <a:r>
              <a:rPr sz="1400" b="1" dirty="0" err="1">
                <a:solidFill>
                  <a:srgbClr val="0F172A"/>
                </a:solidFill>
              </a:rPr>
              <a:t>Desenho</a:t>
            </a:r>
            <a:r>
              <a:rPr sz="1400" b="1" dirty="0">
                <a:solidFill>
                  <a:srgbClr val="0F172A"/>
                </a:solidFill>
              </a:rPr>
              <a:t> </a:t>
            </a:r>
            <a:r>
              <a:rPr sz="1400" b="1" dirty="0" err="1">
                <a:solidFill>
                  <a:srgbClr val="0F172A"/>
                </a:solidFill>
              </a:rPr>
              <a:t>Amostral</a:t>
            </a:r>
            <a:r>
              <a:rPr sz="1400" b="1" dirty="0">
                <a:solidFill>
                  <a:srgbClr val="0F172A"/>
                </a:solidFill>
              </a:rPr>
              <a:t> </a:t>
            </a:r>
            <a:r>
              <a:rPr sz="1400" b="1" dirty="0" err="1">
                <a:solidFill>
                  <a:srgbClr val="0F172A"/>
                </a:solidFill>
              </a:rPr>
              <a:t>Estratificado</a:t>
            </a:r>
            <a:r>
              <a:rPr sz="1400" b="1" dirty="0">
                <a:solidFill>
                  <a:srgbClr val="0F172A"/>
                </a:solidFill>
              </a:rPr>
              <a:t> &amp; </a:t>
            </a:r>
            <a:r>
              <a:rPr sz="1400" b="1" dirty="0" err="1">
                <a:solidFill>
                  <a:srgbClr val="0F172A"/>
                </a:solidFill>
              </a:rPr>
              <a:t>Disperso</a:t>
            </a:r>
            <a:r>
              <a:rPr sz="1400" b="1" dirty="0">
                <a:solidFill>
                  <a:srgbClr val="0F172A"/>
                </a:solidFill>
              </a:rPr>
              <a:t> </a:t>
            </a:r>
          </a:p>
          <a:p>
            <a:pPr>
              <a:spcAft>
                <a:spcPts val="400"/>
              </a:spcAft>
            </a:pPr>
            <a:r>
              <a:rPr sz="1400" b="1" dirty="0">
                <a:solidFill>
                  <a:srgbClr val="0F172A"/>
                </a:solidFill>
              </a:rPr>
              <a:t>• </a:t>
            </a:r>
            <a:r>
              <a:rPr sz="1400" b="1" dirty="0" err="1">
                <a:solidFill>
                  <a:srgbClr val="0F172A"/>
                </a:solidFill>
              </a:rPr>
              <a:t>Executa</a:t>
            </a:r>
            <a:r>
              <a:rPr sz="1400" b="1" dirty="0">
                <a:solidFill>
                  <a:srgbClr val="0F172A"/>
                </a:solidFill>
              </a:rPr>
              <a:t> </a:t>
            </a:r>
            <a:r>
              <a:rPr sz="1400" b="1" dirty="0" err="1">
                <a:solidFill>
                  <a:srgbClr val="0F172A"/>
                </a:solidFill>
              </a:rPr>
              <a:t>estratificação</a:t>
            </a:r>
            <a:r>
              <a:rPr sz="1400" b="1" dirty="0">
                <a:solidFill>
                  <a:srgbClr val="0F172A"/>
                </a:solidFill>
              </a:rPr>
              <a:t> </a:t>
            </a:r>
            <a:r>
              <a:rPr sz="1400" b="1" dirty="0" err="1">
                <a:solidFill>
                  <a:srgbClr val="0F172A"/>
                </a:solidFill>
              </a:rPr>
              <a:t>multivariada</a:t>
            </a:r>
            <a:r>
              <a:rPr sz="1400" b="1" dirty="0">
                <a:solidFill>
                  <a:srgbClr val="0F172A"/>
                </a:solidFill>
              </a:rPr>
              <a:t> </a:t>
            </a:r>
            <a:r>
              <a:rPr sz="1400" b="1" dirty="0" err="1">
                <a:solidFill>
                  <a:srgbClr val="0F172A"/>
                </a:solidFill>
              </a:rPr>
              <a:t>em</a:t>
            </a:r>
            <a:r>
              <a:rPr sz="1400" b="1" dirty="0">
                <a:solidFill>
                  <a:srgbClr val="0F172A"/>
                </a:solidFill>
              </a:rPr>
              <a:t> 18 </a:t>
            </a:r>
            <a:r>
              <a:rPr sz="1400" b="1" dirty="0" err="1">
                <a:solidFill>
                  <a:srgbClr val="0F172A"/>
                </a:solidFill>
              </a:rPr>
              <a:t>estratos</a:t>
            </a:r>
            <a:r>
              <a:rPr sz="1400" b="1" dirty="0">
                <a:solidFill>
                  <a:srgbClr val="0F172A"/>
                </a:solidFill>
              </a:rPr>
              <a:t> </a:t>
            </a:r>
            <a:r>
              <a:rPr sz="1400" b="1" dirty="0" err="1">
                <a:solidFill>
                  <a:srgbClr val="0F172A"/>
                </a:solidFill>
              </a:rPr>
              <a:t>biofísicos</a:t>
            </a:r>
            <a:r>
              <a:rPr sz="1400" b="1" dirty="0">
                <a:solidFill>
                  <a:srgbClr val="0F172A"/>
                </a:solidFill>
              </a:rPr>
              <a:t> </a:t>
            </a:r>
            <a:r>
              <a:rPr sz="1400" b="1" dirty="0" err="1">
                <a:solidFill>
                  <a:srgbClr val="0F172A"/>
                </a:solidFill>
              </a:rPr>
              <a:t>cruzando</a:t>
            </a:r>
            <a:r>
              <a:rPr sz="1400" b="1" dirty="0">
                <a:solidFill>
                  <a:srgbClr val="0F172A"/>
                </a:solidFill>
              </a:rPr>
              <a:t> </a:t>
            </a:r>
            <a:r>
              <a:rPr sz="1400" b="1" dirty="0" err="1">
                <a:solidFill>
                  <a:srgbClr val="0F172A"/>
                </a:solidFill>
              </a:rPr>
              <a:t>relevo</a:t>
            </a:r>
            <a:r>
              <a:rPr sz="1400" b="1" dirty="0">
                <a:solidFill>
                  <a:srgbClr val="0F172A"/>
                </a:solidFill>
              </a:rPr>
              <a:t>, solo e </a:t>
            </a:r>
            <a:r>
              <a:rPr sz="1400" b="1" dirty="0" err="1">
                <a:solidFill>
                  <a:srgbClr val="0F172A"/>
                </a:solidFill>
              </a:rPr>
              <a:t>exposição</a:t>
            </a:r>
            <a:r>
              <a:rPr sz="1400" b="1" dirty="0">
                <a:solidFill>
                  <a:srgbClr val="0F172A"/>
                </a:solidFill>
              </a:rPr>
              <a:t>. </a:t>
            </a:r>
          </a:p>
          <a:p>
            <a:pPr>
              <a:spcAft>
                <a:spcPts val="400"/>
              </a:spcAft>
            </a:pPr>
            <a:r>
              <a:rPr sz="1400" b="1" dirty="0">
                <a:solidFill>
                  <a:srgbClr val="0F172A"/>
                </a:solidFill>
              </a:rPr>
              <a:t>• </a:t>
            </a:r>
            <a:r>
              <a:rPr sz="1400" b="1" dirty="0" err="1">
                <a:solidFill>
                  <a:srgbClr val="0F172A"/>
                </a:solidFill>
              </a:rPr>
              <a:t>Garante</a:t>
            </a:r>
            <a:r>
              <a:rPr sz="1400" b="1" dirty="0">
                <a:solidFill>
                  <a:srgbClr val="0F172A"/>
                </a:solidFill>
              </a:rPr>
              <a:t> </a:t>
            </a:r>
            <a:r>
              <a:rPr sz="1400" b="1" dirty="0" err="1">
                <a:solidFill>
                  <a:srgbClr val="0F172A"/>
                </a:solidFill>
              </a:rPr>
              <a:t>formalmente</a:t>
            </a:r>
            <a:r>
              <a:rPr sz="1400" b="1" dirty="0">
                <a:solidFill>
                  <a:srgbClr val="0F172A"/>
                </a:solidFill>
              </a:rPr>
              <a:t> a </a:t>
            </a:r>
            <a:r>
              <a:rPr sz="1400" b="1" dirty="0" err="1">
                <a:solidFill>
                  <a:srgbClr val="0F172A"/>
                </a:solidFill>
              </a:rPr>
              <a:t>inclusão</a:t>
            </a:r>
            <a:r>
              <a:rPr sz="1400" b="1" dirty="0">
                <a:solidFill>
                  <a:srgbClr val="0F172A"/>
                </a:solidFill>
              </a:rPr>
              <a:t> de </a:t>
            </a:r>
            <a:r>
              <a:rPr sz="1400" b="1" dirty="0" err="1">
                <a:solidFill>
                  <a:srgbClr val="0F172A"/>
                </a:solidFill>
              </a:rPr>
              <a:t>candidatos</a:t>
            </a:r>
            <a:r>
              <a:rPr sz="1400" b="1" dirty="0">
                <a:solidFill>
                  <a:srgbClr val="0F172A"/>
                </a:solidFill>
              </a:rPr>
              <a:t> à </a:t>
            </a:r>
            <a:r>
              <a:rPr sz="1400" b="1" dirty="0" err="1">
                <a:solidFill>
                  <a:srgbClr val="0F172A"/>
                </a:solidFill>
              </a:rPr>
              <a:t>classe</a:t>
            </a:r>
            <a:r>
              <a:rPr sz="1400" b="1" dirty="0">
                <a:solidFill>
                  <a:srgbClr val="0F172A"/>
                </a:solidFill>
              </a:rPr>
              <a:t> de </a:t>
            </a:r>
            <a:r>
              <a:rPr sz="1400" b="1" dirty="0" err="1">
                <a:solidFill>
                  <a:srgbClr val="0F172A"/>
                </a:solidFill>
              </a:rPr>
              <a:t>controle</a:t>
            </a:r>
            <a:r>
              <a:rPr sz="1400" b="1" dirty="0">
                <a:solidFill>
                  <a:srgbClr val="0F172A"/>
                </a:solidFill>
              </a:rPr>
              <a:t> (</a:t>
            </a:r>
            <a:r>
              <a:rPr sz="1400" b="1" dirty="0" err="1">
                <a:solidFill>
                  <a:srgbClr val="0F172A"/>
                </a:solidFill>
              </a:rPr>
              <a:t>Plantio</a:t>
            </a:r>
            <a:r>
              <a:rPr sz="1400" b="1" dirty="0">
                <a:solidFill>
                  <a:srgbClr val="0F172A"/>
                </a:solidFill>
              </a:rPr>
              <a:t> </a:t>
            </a:r>
            <a:r>
              <a:rPr sz="1400" b="1" dirty="0" err="1">
                <a:solidFill>
                  <a:srgbClr val="0F172A"/>
                </a:solidFill>
              </a:rPr>
              <a:t>Direto</a:t>
            </a:r>
            <a:r>
              <a:rPr sz="1400" b="1" dirty="0">
                <a:solidFill>
                  <a:srgbClr val="0F172A"/>
                </a:solidFill>
              </a:rPr>
              <a:t> e </a:t>
            </a:r>
            <a:r>
              <a:rPr sz="1400" b="1" dirty="0" err="1">
                <a:solidFill>
                  <a:srgbClr val="0F172A"/>
                </a:solidFill>
              </a:rPr>
              <a:t>pastagem</a:t>
            </a:r>
            <a:r>
              <a:rPr sz="1400" b="1" dirty="0">
                <a:solidFill>
                  <a:srgbClr val="0F172A"/>
                </a:solidFill>
              </a:rPr>
              <a:t> </a:t>
            </a:r>
            <a:r>
              <a:rPr sz="1400" b="1" dirty="0" err="1">
                <a:solidFill>
                  <a:srgbClr val="0F172A"/>
                </a:solidFill>
              </a:rPr>
              <a:t>estável</a:t>
            </a:r>
            <a:r>
              <a:rPr sz="1400" b="1" dirty="0">
                <a:solidFill>
                  <a:srgbClr val="0F172A"/>
                </a:solidFill>
              </a:rPr>
              <a:t>). </a:t>
            </a:r>
          </a:p>
          <a:p>
            <a:pPr>
              <a:spcAft>
                <a:spcPts val="400"/>
              </a:spcAft>
            </a:pPr>
            <a:r>
              <a:rPr sz="1400" b="1" dirty="0">
                <a:solidFill>
                  <a:srgbClr val="0F172A"/>
                </a:solidFill>
              </a:rPr>
              <a:t>• </a:t>
            </a:r>
            <a:r>
              <a:rPr sz="1400" b="1" dirty="0" err="1">
                <a:solidFill>
                  <a:srgbClr val="0F172A"/>
                </a:solidFill>
              </a:rPr>
              <a:t>Aplica</a:t>
            </a:r>
            <a:r>
              <a:rPr sz="1400" b="1" dirty="0">
                <a:solidFill>
                  <a:srgbClr val="0F172A"/>
                </a:solidFill>
              </a:rPr>
              <a:t> Thinning </a:t>
            </a:r>
            <a:r>
              <a:rPr sz="1400" b="1" dirty="0" err="1">
                <a:solidFill>
                  <a:srgbClr val="0F172A"/>
                </a:solidFill>
              </a:rPr>
              <a:t>Geodésico</a:t>
            </a:r>
            <a:r>
              <a:rPr sz="1400" b="1" dirty="0">
                <a:solidFill>
                  <a:srgbClr val="0F172A"/>
                </a:solidFill>
              </a:rPr>
              <a:t> (</a:t>
            </a:r>
            <a:r>
              <a:rPr sz="1400" b="1" dirty="0" err="1">
                <a:solidFill>
                  <a:srgbClr val="0F172A"/>
                </a:solidFill>
              </a:rPr>
              <a:t>raio</a:t>
            </a:r>
            <a:r>
              <a:rPr sz="1400" b="1" dirty="0">
                <a:solidFill>
                  <a:srgbClr val="0F172A"/>
                </a:solidFill>
              </a:rPr>
              <a:t> ≥ 1,0 km) para </a:t>
            </a:r>
            <a:r>
              <a:rPr sz="1400" b="1" dirty="0" err="1">
                <a:solidFill>
                  <a:srgbClr val="0F172A"/>
                </a:solidFill>
              </a:rPr>
              <a:t>mitigar</a:t>
            </a:r>
            <a:r>
              <a:rPr sz="1400" b="1" dirty="0">
                <a:solidFill>
                  <a:srgbClr val="0F172A"/>
                </a:solidFill>
              </a:rPr>
              <a:t> </a:t>
            </a:r>
            <a:r>
              <a:rPr sz="1400" b="1" dirty="0" err="1">
                <a:solidFill>
                  <a:srgbClr val="0F172A"/>
                </a:solidFill>
              </a:rPr>
              <a:t>agrupamentos</a:t>
            </a:r>
            <a:r>
              <a:rPr sz="1400" b="1" dirty="0">
                <a:solidFill>
                  <a:srgbClr val="0F172A"/>
                </a:solidFill>
              </a:rPr>
              <a:t> e </a:t>
            </a:r>
            <a:r>
              <a:rPr sz="1400" b="1" dirty="0" err="1">
                <a:solidFill>
                  <a:srgbClr val="0F172A"/>
                </a:solidFill>
              </a:rPr>
              <a:t>pseudorrepetição</a:t>
            </a:r>
            <a:r>
              <a:rPr sz="1400" b="1" dirty="0">
                <a:solidFill>
                  <a:srgbClr val="0F172A"/>
                </a:solidFill>
              </a:rPr>
              <a:t> </a:t>
            </a:r>
            <a:r>
              <a:rPr sz="1400" b="1" dirty="0" err="1">
                <a:solidFill>
                  <a:srgbClr val="0F172A"/>
                </a:solidFill>
              </a:rPr>
              <a:t>espacial</a:t>
            </a:r>
            <a:r>
              <a:rPr sz="1400" b="1" dirty="0">
                <a:solidFill>
                  <a:srgbClr val="0F172A"/>
                </a:solidFill>
              </a:rPr>
              <a:t>. 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383280" cy="3931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0" y="1600200"/>
            <a:ext cx="3017520" cy="3326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50" b="1">
                <a:solidFill>
                  <a:srgbClr val="10B981"/>
                </a:solidFill>
              </a:defRPr>
            </a:pPr>
            <a:r>
              <a:rPr sz="1400" dirty="0"/>
              <a:t>2. </a:t>
            </a:r>
            <a:r>
              <a:rPr sz="1400" dirty="0" err="1"/>
              <a:t>Extrai</a:t>
            </a:r>
            <a:r>
              <a:rPr sz="1400" dirty="0"/>
              <a:t> </a:t>
            </a:r>
            <a:r>
              <a:rPr sz="1400" dirty="0" err="1"/>
              <a:t>Preditores</a:t>
            </a:r>
            <a:r>
              <a:rPr sz="1400" dirty="0"/>
              <a:t> </a:t>
            </a:r>
            <a:r>
              <a:rPr sz="1400" dirty="0" err="1"/>
              <a:t>Biofísicos</a:t>
            </a:r>
            <a:endParaRPr sz="1400" dirty="0"/>
          </a:p>
          <a:p>
            <a:pPr>
              <a:spcAft>
                <a:spcPts val="400"/>
              </a:spcAft>
            </a:pPr>
            <a:r>
              <a:rPr sz="1400" b="1" dirty="0" err="1">
                <a:solidFill>
                  <a:srgbClr val="0F172A"/>
                </a:solidFill>
              </a:rPr>
              <a:t>Proveniência</a:t>
            </a:r>
            <a:r>
              <a:rPr sz="1400" b="1" dirty="0">
                <a:solidFill>
                  <a:srgbClr val="0F172A"/>
                </a:solidFill>
              </a:rPr>
              <a:t> </a:t>
            </a:r>
            <a:r>
              <a:rPr sz="1400" b="1" dirty="0" err="1">
                <a:solidFill>
                  <a:srgbClr val="0F172A"/>
                </a:solidFill>
              </a:rPr>
              <a:t>por</a:t>
            </a:r>
            <a:r>
              <a:rPr sz="1400" b="1" dirty="0">
                <a:solidFill>
                  <a:srgbClr val="0F172A"/>
                </a:solidFill>
              </a:rPr>
              <a:t> </a:t>
            </a:r>
            <a:r>
              <a:rPr sz="1400" b="1" dirty="0" err="1">
                <a:solidFill>
                  <a:srgbClr val="0F172A"/>
                </a:solidFill>
              </a:rPr>
              <a:t>Variável</a:t>
            </a:r>
            <a:r>
              <a:rPr sz="1400" b="1" dirty="0">
                <a:solidFill>
                  <a:srgbClr val="0F172A"/>
                </a:solidFill>
              </a:rPr>
              <a:t> e Sem </a:t>
            </a:r>
            <a:r>
              <a:rPr sz="1400" b="1" dirty="0" err="1">
                <a:solidFill>
                  <a:srgbClr val="0F172A"/>
                </a:solidFill>
              </a:rPr>
              <a:t>Atalhos</a:t>
            </a:r>
            <a:r>
              <a:rPr sz="1400" b="1" dirty="0">
                <a:solidFill>
                  <a:srgbClr val="0F172A"/>
                </a:solidFill>
              </a:rPr>
              <a:t> </a:t>
            </a:r>
          </a:p>
          <a:p>
            <a:pPr>
              <a:spcAft>
                <a:spcPts val="400"/>
              </a:spcAft>
            </a:pPr>
            <a:r>
              <a:rPr sz="1400" b="1" dirty="0">
                <a:solidFill>
                  <a:srgbClr val="0F172A"/>
                </a:solidFill>
              </a:rPr>
              <a:t>• Coleta </a:t>
            </a:r>
            <a:r>
              <a:rPr sz="1400" b="1" dirty="0" err="1">
                <a:solidFill>
                  <a:srgbClr val="0F172A"/>
                </a:solidFill>
              </a:rPr>
              <a:t>séries</a:t>
            </a:r>
            <a:r>
              <a:rPr sz="1400" b="1" dirty="0">
                <a:solidFill>
                  <a:srgbClr val="0F172A"/>
                </a:solidFill>
              </a:rPr>
              <a:t> </a:t>
            </a:r>
            <a:r>
              <a:rPr sz="1400" b="1" dirty="0" err="1">
                <a:solidFill>
                  <a:srgbClr val="0F172A"/>
                </a:solidFill>
              </a:rPr>
              <a:t>temporais</a:t>
            </a:r>
            <a:r>
              <a:rPr sz="1400" b="1" dirty="0">
                <a:solidFill>
                  <a:srgbClr val="0F172A"/>
                </a:solidFill>
              </a:rPr>
              <a:t> </a:t>
            </a:r>
            <a:r>
              <a:rPr sz="1400" b="1" dirty="0" err="1">
                <a:solidFill>
                  <a:srgbClr val="0F172A"/>
                </a:solidFill>
              </a:rPr>
              <a:t>harmonizadas</a:t>
            </a:r>
            <a:r>
              <a:rPr sz="1400" b="1" dirty="0">
                <a:solidFill>
                  <a:srgbClr val="0F172A"/>
                </a:solidFill>
              </a:rPr>
              <a:t> Sentinel-2 L2A e </a:t>
            </a:r>
            <a:r>
              <a:rPr sz="1400" b="1" dirty="0" err="1">
                <a:solidFill>
                  <a:srgbClr val="0F172A"/>
                </a:solidFill>
              </a:rPr>
              <a:t>extrai</a:t>
            </a:r>
            <a:r>
              <a:rPr sz="1400" b="1" dirty="0">
                <a:solidFill>
                  <a:srgbClr val="0F172A"/>
                </a:solidFill>
              </a:rPr>
              <a:t> </a:t>
            </a:r>
            <a:r>
              <a:rPr sz="1400" b="1" dirty="0" err="1">
                <a:solidFill>
                  <a:srgbClr val="0F172A"/>
                </a:solidFill>
              </a:rPr>
              <a:t>métricas</a:t>
            </a:r>
            <a:r>
              <a:rPr sz="1400" b="1" dirty="0">
                <a:solidFill>
                  <a:srgbClr val="0F172A"/>
                </a:solidFill>
              </a:rPr>
              <a:t> de </a:t>
            </a:r>
            <a:r>
              <a:rPr sz="1400" b="1" dirty="0" err="1">
                <a:solidFill>
                  <a:srgbClr val="0F172A"/>
                </a:solidFill>
              </a:rPr>
              <a:t>exposição</a:t>
            </a:r>
            <a:r>
              <a:rPr sz="1400" b="1" dirty="0">
                <a:solidFill>
                  <a:srgbClr val="0F172A"/>
                </a:solidFill>
              </a:rPr>
              <a:t> de solo </a:t>
            </a:r>
            <a:r>
              <a:rPr sz="1400" b="1" dirty="0" err="1">
                <a:solidFill>
                  <a:srgbClr val="0F172A"/>
                </a:solidFill>
              </a:rPr>
              <a:t>descoberto</a:t>
            </a:r>
            <a:r>
              <a:rPr sz="1400" b="1" dirty="0">
                <a:solidFill>
                  <a:srgbClr val="0F172A"/>
                </a:solidFill>
              </a:rPr>
              <a:t> (Ê). </a:t>
            </a:r>
          </a:p>
          <a:p>
            <a:pPr>
              <a:spcAft>
                <a:spcPts val="400"/>
              </a:spcAft>
            </a:pPr>
            <a:r>
              <a:rPr sz="1400" b="1" dirty="0">
                <a:solidFill>
                  <a:srgbClr val="0F172A"/>
                </a:solidFill>
              </a:rPr>
              <a:t>• </a:t>
            </a:r>
            <a:r>
              <a:rPr sz="1400" b="1" dirty="0" err="1">
                <a:solidFill>
                  <a:srgbClr val="0F172A"/>
                </a:solidFill>
              </a:rPr>
              <a:t>Calcula</a:t>
            </a:r>
            <a:r>
              <a:rPr sz="1400" b="1" dirty="0">
                <a:solidFill>
                  <a:srgbClr val="0F172A"/>
                </a:solidFill>
              </a:rPr>
              <a:t> </a:t>
            </a:r>
            <a:r>
              <a:rPr sz="1400" b="1" dirty="0" err="1">
                <a:solidFill>
                  <a:srgbClr val="0F172A"/>
                </a:solidFill>
              </a:rPr>
              <a:t>declividade</a:t>
            </a:r>
            <a:r>
              <a:rPr sz="1400" b="1" dirty="0">
                <a:solidFill>
                  <a:srgbClr val="0F172A"/>
                </a:solidFill>
              </a:rPr>
              <a:t> </a:t>
            </a:r>
            <a:r>
              <a:rPr sz="1400" b="1" dirty="0" err="1">
                <a:solidFill>
                  <a:srgbClr val="0F172A"/>
                </a:solidFill>
              </a:rPr>
              <a:t>em</a:t>
            </a:r>
            <a:r>
              <a:rPr sz="1400" b="1" dirty="0">
                <a:solidFill>
                  <a:srgbClr val="0F172A"/>
                </a:solidFill>
              </a:rPr>
              <a:t> </a:t>
            </a:r>
            <a:r>
              <a:rPr sz="1400" b="1" dirty="0" err="1">
                <a:solidFill>
                  <a:srgbClr val="0F172A"/>
                </a:solidFill>
              </a:rPr>
              <a:t>projeção</a:t>
            </a:r>
            <a:r>
              <a:rPr sz="1400" b="1" dirty="0">
                <a:solidFill>
                  <a:srgbClr val="0F172A"/>
                </a:solidFill>
              </a:rPr>
              <a:t> </a:t>
            </a:r>
            <a:r>
              <a:rPr sz="1400" b="1" dirty="0" err="1">
                <a:solidFill>
                  <a:srgbClr val="0F172A"/>
                </a:solidFill>
              </a:rPr>
              <a:t>métrica</a:t>
            </a:r>
            <a:r>
              <a:rPr sz="1400" b="1" dirty="0">
                <a:solidFill>
                  <a:srgbClr val="0F172A"/>
                </a:solidFill>
              </a:rPr>
              <a:t> UTM 22S (SIRGAS 2000) a </a:t>
            </a:r>
            <a:r>
              <a:rPr sz="1400" b="1" dirty="0" err="1">
                <a:solidFill>
                  <a:srgbClr val="0F172A"/>
                </a:solidFill>
              </a:rPr>
              <a:t>partir</a:t>
            </a:r>
            <a:r>
              <a:rPr sz="1400" b="1" dirty="0">
                <a:solidFill>
                  <a:srgbClr val="0F172A"/>
                </a:solidFill>
              </a:rPr>
              <a:t> do DEM Copernicus GLO-30. </a:t>
            </a:r>
          </a:p>
          <a:p>
            <a:pPr>
              <a:spcAft>
                <a:spcPts val="400"/>
              </a:spcAft>
            </a:pPr>
            <a:r>
              <a:rPr sz="1400" b="1" dirty="0">
                <a:solidFill>
                  <a:srgbClr val="0F172A"/>
                </a:solidFill>
              </a:rPr>
              <a:t>• Consulta </a:t>
            </a:r>
            <a:r>
              <a:rPr sz="1400" b="1" dirty="0" err="1">
                <a:solidFill>
                  <a:srgbClr val="0F172A"/>
                </a:solidFill>
              </a:rPr>
              <a:t>pedologia</a:t>
            </a:r>
            <a:r>
              <a:rPr sz="1400" b="1" dirty="0">
                <a:solidFill>
                  <a:srgbClr val="0F172A"/>
                </a:solidFill>
              </a:rPr>
              <a:t> real via WFS/WMS OGC no </a:t>
            </a:r>
            <a:r>
              <a:rPr sz="1400" b="1" dirty="0" err="1">
                <a:solidFill>
                  <a:srgbClr val="0F172A"/>
                </a:solidFill>
              </a:rPr>
              <a:t>GeoServer</a:t>
            </a:r>
            <a:r>
              <a:rPr sz="1400" b="1" dirty="0">
                <a:solidFill>
                  <a:srgbClr val="0F172A"/>
                </a:solidFill>
              </a:rPr>
              <a:t> da Embrapa Solos, </a:t>
            </a:r>
            <a:r>
              <a:rPr sz="1400" b="1" dirty="0" err="1">
                <a:solidFill>
                  <a:srgbClr val="0F172A"/>
                </a:solidFill>
              </a:rPr>
              <a:t>sem</a:t>
            </a:r>
            <a:r>
              <a:rPr sz="1400" b="1" dirty="0">
                <a:solidFill>
                  <a:srgbClr val="0F172A"/>
                </a:solidFill>
              </a:rPr>
              <a:t> classes </a:t>
            </a:r>
            <a:r>
              <a:rPr sz="1400" b="1" dirty="0" err="1">
                <a:solidFill>
                  <a:srgbClr val="0F172A"/>
                </a:solidFill>
              </a:rPr>
              <a:t>arbitrárias</a:t>
            </a:r>
            <a:r>
              <a:rPr sz="1400" b="1" dirty="0">
                <a:solidFill>
                  <a:srgbClr val="0F172A"/>
                </a:solidFill>
              </a:rPr>
              <a:t>.</a:t>
            </a:r>
            <a:r>
              <a:rPr sz="980" b="1" dirty="0">
                <a:solidFill>
                  <a:srgbClr val="0F172A"/>
                </a:solidFill>
              </a:rPr>
              <a:t> 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17320"/>
            <a:ext cx="3383280" cy="3931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0" y="1600200"/>
            <a:ext cx="3017520" cy="3111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50" b="1">
                <a:solidFill>
                  <a:srgbClr val="6366F1"/>
                </a:solidFill>
              </a:defRPr>
            </a:pPr>
            <a:r>
              <a:rPr sz="1400" dirty="0"/>
              <a:t>3. </a:t>
            </a:r>
            <a:r>
              <a:rPr sz="1400" dirty="0" err="1"/>
              <a:t>Gerencia</a:t>
            </a:r>
            <a:r>
              <a:rPr sz="1400" dirty="0"/>
              <a:t> a </a:t>
            </a:r>
            <a:r>
              <a:rPr sz="1400" dirty="0" err="1"/>
              <a:t>Rotulagem</a:t>
            </a:r>
            <a:r>
              <a:rPr sz="1400" dirty="0"/>
              <a:t> </a:t>
            </a:r>
            <a:r>
              <a:rPr sz="1400" dirty="0" err="1"/>
              <a:t>Cega</a:t>
            </a:r>
            <a:endParaRPr sz="1400" dirty="0"/>
          </a:p>
          <a:p>
            <a:pPr>
              <a:spcAft>
                <a:spcPts val="400"/>
              </a:spcAft>
            </a:pPr>
            <a:r>
              <a:rPr sz="1400" b="1" dirty="0" err="1">
                <a:solidFill>
                  <a:srgbClr val="0F172A"/>
                </a:solidFill>
              </a:rPr>
              <a:t>Campanhas</a:t>
            </a:r>
            <a:r>
              <a:rPr sz="1400" b="1" dirty="0">
                <a:solidFill>
                  <a:srgbClr val="0F172A"/>
                </a:solidFill>
              </a:rPr>
              <a:t> de </a:t>
            </a:r>
            <a:r>
              <a:rPr sz="1400" b="1" dirty="0" err="1">
                <a:solidFill>
                  <a:srgbClr val="0F172A"/>
                </a:solidFill>
              </a:rPr>
              <a:t>Curadoria</a:t>
            </a:r>
            <a:r>
              <a:rPr sz="1400" b="1" dirty="0">
                <a:solidFill>
                  <a:srgbClr val="0F172A"/>
                </a:solidFill>
              </a:rPr>
              <a:t> e </a:t>
            </a:r>
            <a:r>
              <a:rPr sz="1400" b="1" dirty="0" err="1">
                <a:solidFill>
                  <a:srgbClr val="0F172A"/>
                </a:solidFill>
              </a:rPr>
              <a:t>Matriz</a:t>
            </a:r>
            <a:r>
              <a:rPr sz="1400" b="1" dirty="0">
                <a:solidFill>
                  <a:srgbClr val="0F172A"/>
                </a:solidFill>
              </a:rPr>
              <a:t> de </a:t>
            </a:r>
            <a:r>
              <a:rPr sz="1400" b="1" dirty="0" err="1">
                <a:solidFill>
                  <a:srgbClr val="0F172A"/>
                </a:solidFill>
              </a:rPr>
              <a:t>Treino</a:t>
            </a:r>
            <a:r>
              <a:rPr sz="1400" b="1" dirty="0">
                <a:solidFill>
                  <a:srgbClr val="0F172A"/>
                </a:solidFill>
              </a:rPr>
              <a:t> </a:t>
            </a:r>
          </a:p>
          <a:p>
            <a:pPr>
              <a:spcAft>
                <a:spcPts val="400"/>
              </a:spcAft>
            </a:pPr>
            <a:r>
              <a:rPr sz="1400" b="1" dirty="0">
                <a:solidFill>
                  <a:srgbClr val="0F172A"/>
                </a:solidFill>
              </a:rPr>
              <a:t>• </a:t>
            </a:r>
            <a:r>
              <a:rPr sz="1400" b="1" dirty="0" err="1">
                <a:solidFill>
                  <a:srgbClr val="0F172A"/>
                </a:solidFill>
              </a:rPr>
              <a:t>Exporta</a:t>
            </a:r>
            <a:r>
              <a:rPr sz="1400" b="1" dirty="0">
                <a:solidFill>
                  <a:srgbClr val="0F172A"/>
                </a:solidFill>
              </a:rPr>
              <a:t> </a:t>
            </a:r>
            <a:r>
              <a:rPr sz="1400" b="1" dirty="0" err="1">
                <a:solidFill>
                  <a:srgbClr val="0F172A"/>
                </a:solidFill>
              </a:rPr>
              <a:t>cadernos</a:t>
            </a:r>
            <a:r>
              <a:rPr sz="1400" b="1" dirty="0">
                <a:solidFill>
                  <a:srgbClr val="0F172A"/>
                </a:solidFill>
              </a:rPr>
              <a:t> </a:t>
            </a:r>
            <a:r>
              <a:rPr sz="1400" b="1" dirty="0" err="1">
                <a:solidFill>
                  <a:srgbClr val="0F172A"/>
                </a:solidFill>
              </a:rPr>
              <a:t>cegos</a:t>
            </a:r>
            <a:r>
              <a:rPr sz="1400" b="1" dirty="0">
                <a:solidFill>
                  <a:srgbClr val="0F172A"/>
                </a:solidFill>
              </a:rPr>
              <a:t> de </a:t>
            </a:r>
            <a:r>
              <a:rPr sz="1400" b="1" dirty="0" err="1">
                <a:solidFill>
                  <a:srgbClr val="0F172A"/>
                </a:solidFill>
              </a:rPr>
              <a:t>fotointerpretação</a:t>
            </a:r>
            <a:r>
              <a:rPr sz="1400" b="1" dirty="0">
                <a:solidFill>
                  <a:srgbClr val="0F172A"/>
                </a:solidFill>
              </a:rPr>
              <a:t>, campo (</a:t>
            </a:r>
            <a:r>
              <a:rPr sz="1400" b="1" dirty="0" err="1">
                <a:solidFill>
                  <a:srgbClr val="0F172A"/>
                </a:solidFill>
              </a:rPr>
              <a:t>KoboToolbox</a:t>
            </a:r>
            <a:r>
              <a:rPr sz="1400" b="1" dirty="0">
                <a:solidFill>
                  <a:srgbClr val="0F172A"/>
                </a:solidFill>
              </a:rPr>
              <a:t>) e </a:t>
            </a:r>
            <a:r>
              <a:rPr sz="1400" b="1" dirty="0" err="1">
                <a:solidFill>
                  <a:srgbClr val="0F172A"/>
                </a:solidFill>
              </a:rPr>
              <a:t>voo</a:t>
            </a:r>
            <a:r>
              <a:rPr sz="1400" b="1" dirty="0">
                <a:solidFill>
                  <a:srgbClr val="0F172A"/>
                </a:solidFill>
              </a:rPr>
              <a:t> de drone, </a:t>
            </a:r>
            <a:r>
              <a:rPr sz="1400" b="1" dirty="0" err="1">
                <a:solidFill>
                  <a:srgbClr val="0F172A"/>
                </a:solidFill>
              </a:rPr>
              <a:t>isolando</a:t>
            </a:r>
            <a:r>
              <a:rPr sz="1400" b="1" dirty="0">
                <a:solidFill>
                  <a:srgbClr val="0F172A"/>
                </a:solidFill>
              </a:rPr>
              <a:t> o </a:t>
            </a:r>
            <a:r>
              <a:rPr sz="1400" b="1" dirty="0" err="1">
                <a:solidFill>
                  <a:srgbClr val="0F172A"/>
                </a:solidFill>
              </a:rPr>
              <a:t>intérprete</a:t>
            </a:r>
            <a:r>
              <a:rPr sz="1400" b="1" dirty="0">
                <a:solidFill>
                  <a:srgbClr val="0F172A"/>
                </a:solidFill>
              </a:rPr>
              <a:t>. </a:t>
            </a:r>
          </a:p>
          <a:p>
            <a:pPr>
              <a:spcAft>
                <a:spcPts val="400"/>
              </a:spcAft>
            </a:pPr>
            <a:r>
              <a:rPr sz="1400" b="1" dirty="0">
                <a:solidFill>
                  <a:srgbClr val="0F172A"/>
                </a:solidFill>
              </a:rPr>
              <a:t>• Avalia a </a:t>
            </a:r>
            <a:r>
              <a:rPr sz="1400" b="1" dirty="0" err="1">
                <a:solidFill>
                  <a:srgbClr val="0F172A"/>
                </a:solidFill>
              </a:rPr>
              <a:t>concordância</a:t>
            </a:r>
            <a:r>
              <a:rPr sz="1400" b="1" dirty="0">
                <a:solidFill>
                  <a:srgbClr val="0F172A"/>
                </a:solidFill>
              </a:rPr>
              <a:t> inter-</a:t>
            </a:r>
            <a:r>
              <a:rPr sz="1400" b="1" dirty="0" err="1">
                <a:solidFill>
                  <a:srgbClr val="0F172A"/>
                </a:solidFill>
              </a:rPr>
              <a:t>observador</a:t>
            </a:r>
            <a:r>
              <a:rPr sz="1400" b="1" dirty="0">
                <a:solidFill>
                  <a:srgbClr val="0F172A"/>
                </a:solidFill>
              </a:rPr>
              <a:t> via Kappa de Cohen com </a:t>
            </a:r>
            <a:r>
              <a:rPr sz="1400" b="1" dirty="0" err="1">
                <a:solidFill>
                  <a:srgbClr val="0F172A"/>
                </a:solidFill>
              </a:rPr>
              <a:t>cálculo</a:t>
            </a:r>
            <a:r>
              <a:rPr sz="1400" b="1" dirty="0">
                <a:solidFill>
                  <a:srgbClr val="0F172A"/>
                </a:solidFill>
              </a:rPr>
              <a:t> de IC 95% e </a:t>
            </a:r>
            <a:r>
              <a:rPr sz="1400" b="1" dirty="0" err="1">
                <a:solidFill>
                  <a:srgbClr val="0F172A"/>
                </a:solidFill>
              </a:rPr>
              <a:t>alerta</a:t>
            </a:r>
            <a:r>
              <a:rPr sz="1400" b="1" dirty="0">
                <a:solidFill>
                  <a:srgbClr val="0F172A"/>
                </a:solidFill>
              </a:rPr>
              <a:t> </a:t>
            </a:r>
            <a:r>
              <a:rPr sz="1400" b="1" dirty="0" err="1">
                <a:solidFill>
                  <a:srgbClr val="0F172A"/>
                </a:solidFill>
              </a:rPr>
              <a:t>bloqueante</a:t>
            </a:r>
            <a:r>
              <a:rPr sz="1400" b="1" dirty="0">
                <a:solidFill>
                  <a:srgbClr val="0F172A"/>
                </a:solidFill>
              </a:rPr>
              <a:t>. </a:t>
            </a:r>
          </a:p>
          <a:p>
            <a:pPr>
              <a:spcAft>
                <a:spcPts val="400"/>
              </a:spcAft>
            </a:pPr>
            <a:r>
              <a:rPr sz="1400" b="1" dirty="0">
                <a:solidFill>
                  <a:srgbClr val="0F172A"/>
                </a:solidFill>
              </a:rPr>
              <a:t>• Monta a </a:t>
            </a:r>
            <a:r>
              <a:rPr sz="1400" b="1" dirty="0" err="1">
                <a:solidFill>
                  <a:srgbClr val="0F172A"/>
                </a:solidFill>
              </a:rPr>
              <a:t>matriz</a:t>
            </a:r>
            <a:r>
              <a:rPr sz="1400" b="1" dirty="0">
                <a:solidFill>
                  <a:srgbClr val="0F172A"/>
                </a:solidFill>
              </a:rPr>
              <a:t> de </a:t>
            </a:r>
            <a:r>
              <a:rPr sz="1400" b="1" dirty="0" err="1">
                <a:solidFill>
                  <a:srgbClr val="0F172A"/>
                </a:solidFill>
              </a:rPr>
              <a:t>treino</a:t>
            </a:r>
            <a:r>
              <a:rPr sz="1400" b="1" dirty="0">
                <a:solidFill>
                  <a:srgbClr val="0F172A"/>
                </a:solidFill>
              </a:rPr>
              <a:t> do </a:t>
            </a:r>
            <a:r>
              <a:rPr sz="1400" b="1" dirty="0" err="1">
                <a:solidFill>
                  <a:srgbClr val="0F172A"/>
                </a:solidFill>
              </a:rPr>
              <a:t>modelo</a:t>
            </a:r>
            <a:r>
              <a:rPr sz="1400" b="1" dirty="0">
                <a:solidFill>
                  <a:srgbClr val="0F172A"/>
                </a:solidFill>
              </a:rPr>
              <a:t> </a:t>
            </a:r>
            <a:r>
              <a:rPr sz="1400" b="1" dirty="0" err="1">
                <a:solidFill>
                  <a:srgbClr val="0F172A"/>
                </a:solidFill>
              </a:rPr>
              <a:t>preditivo</a:t>
            </a:r>
            <a:r>
              <a:rPr sz="1400" b="1" dirty="0">
                <a:solidFill>
                  <a:srgbClr val="0F172A"/>
                </a:solidFill>
              </a:rPr>
              <a:t> livre de </a:t>
            </a:r>
            <a:r>
              <a:rPr sz="1400" b="1" dirty="0" err="1">
                <a:solidFill>
                  <a:srgbClr val="0F172A"/>
                </a:solidFill>
              </a:rPr>
              <a:t>coordenadas</a:t>
            </a:r>
            <a:r>
              <a:rPr sz="1400" b="1" dirty="0">
                <a:solidFill>
                  <a:srgbClr val="0F172A"/>
                </a:solidFill>
              </a:rPr>
              <a:t> e de </a:t>
            </a:r>
            <a:r>
              <a:rPr sz="1400" b="1" dirty="0" err="1">
                <a:solidFill>
                  <a:srgbClr val="0F172A"/>
                </a:solidFill>
              </a:rPr>
              <a:t>variáveis</a:t>
            </a:r>
            <a:r>
              <a:rPr sz="1400" b="1" dirty="0">
                <a:solidFill>
                  <a:srgbClr val="0F172A"/>
                </a:solidFill>
              </a:rPr>
              <a:t> de </a:t>
            </a:r>
            <a:r>
              <a:rPr sz="1400" b="1" dirty="0" err="1">
                <a:solidFill>
                  <a:srgbClr val="0F172A"/>
                </a:solidFill>
              </a:rPr>
              <a:t>resultado</a:t>
            </a:r>
            <a:r>
              <a:rPr sz="1400" b="1" dirty="0">
                <a:solidFill>
                  <a:srgbClr val="0F172A"/>
                </a:solidFill>
              </a:rPr>
              <a:t> </a:t>
            </a:r>
            <a:r>
              <a:rPr sz="1400" b="1" dirty="0" err="1">
                <a:solidFill>
                  <a:srgbClr val="0F172A"/>
                </a:solidFill>
              </a:rPr>
              <a:t>calculadas</a:t>
            </a:r>
            <a:r>
              <a:rPr sz="1400" b="1" dirty="0">
                <a:solidFill>
                  <a:srgbClr val="0F172A"/>
                </a:solidFill>
              </a:rPr>
              <a:t>. 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486400"/>
            <a:ext cx="10698480" cy="822960"/>
          </a:xfrm>
          <a:prstGeom prst="roundRect">
            <a:avLst/>
          </a:prstGeom>
          <a:solidFill>
            <a:srgbClr val="ECFDF5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5532120"/>
            <a:ext cx="10332720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5F46"/>
                </a:solidFill>
              </a:defRPr>
            </a:pPr>
            <a:r>
              <a:rPr dirty="0"/>
              <a:t>PRINCÍPIO DE DEMARCAÇÃO DO SAREL: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rPr sz="1200" dirty="0"/>
              <a:t>O SAREL NÃO </a:t>
            </a:r>
            <a:r>
              <a:rPr sz="1200" dirty="0" err="1"/>
              <a:t>classifica</a:t>
            </a:r>
            <a:r>
              <a:rPr sz="1200" dirty="0"/>
              <a:t> </a:t>
            </a:r>
            <a:r>
              <a:rPr sz="1200" dirty="0" err="1"/>
              <a:t>erosão</a:t>
            </a:r>
            <a:r>
              <a:rPr sz="1200" dirty="0"/>
              <a:t> de forma </a:t>
            </a:r>
            <a:r>
              <a:rPr sz="1200" dirty="0" err="1"/>
              <a:t>autônoma</a:t>
            </a:r>
            <a:r>
              <a:rPr sz="1200" dirty="0"/>
              <a:t> e NÃO </a:t>
            </a:r>
            <a:r>
              <a:rPr sz="1200" dirty="0" err="1"/>
              <a:t>treina</a:t>
            </a:r>
            <a:r>
              <a:rPr sz="1200" dirty="0"/>
              <a:t> </a:t>
            </a:r>
            <a:r>
              <a:rPr sz="1200" dirty="0" err="1"/>
              <a:t>modelos</a:t>
            </a:r>
            <a:r>
              <a:rPr sz="1200" dirty="0"/>
              <a:t> </a:t>
            </a:r>
            <a:r>
              <a:rPr sz="1200" dirty="0" err="1"/>
              <a:t>preditivos</a:t>
            </a:r>
            <a:r>
              <a:rPr sz="1200" dirty="0"/>
              <a:t> </a:t>
            </a:r>
            <a:r>
              <a:rPr sz="1200" dirty="0" err="1"/>
              <a:t>em</a:t>
            </a:r>
            <a:r>
              <a:rPr sz="1200" dirty="0"/>
              <a:t> </a:t>
            </a:r>
            <a:r>
              <a:rPr sz="1200" dirty="0" err="1"/>
              <a:t>seu</a:t>
            </a:r>
            <a:r>
              <a:rPr sz="1200" dirty="0"/>
              <a:t> interior. Ele </a:t>
            </a:r>
            <a:r>
              <a:rPr sz="1200" dirty="0" err="1"/>
              <a:t>prepara</a:t>
            </a:r>
            <a:r>
              <a:rPr sz="1200" dirty="0"/>
              <a:t> a base </a:t>
            </a:r>
            <a:r>
              <a:rPr sz="1200" dirty="0" err="1"/>
              <a:t>amostral</a:t>
            </a:r>
            <a:r>
              <a:rPr sz="1200" dirty="0"/>
              <a:t> </a:t>
            </a:r>
            <a:r>
              <a:rPr sz="1200" dirty="0" err="1"/>
              <a:t>auditável</a:t>
            </a:r>
            <a:r>
              <a:rPr sz="1200" dirty="0"/>
              <a:t> e </a:t>
            </a:r>
            <a:r>
              <a:rPr sz="1200" dirty="0" err="1"/>
              <a:t>gerencia</a:t>
            </a:r>
            <a:r>
              <a:rPr sz="1200" dirty="0"/>
              <a:t> a </a:t>
            </a:r>
            <a:r>
              <a:rPr sz="1200" dirty="0" err="1"/>
              <a:t>rotulagem</a:t>
            </a:r>
            <a:r>
              <a:rPr sz="1200" dirty="0"/>
              <a:t> </a:t>
            </a:r>
            <a:r>
              <a:rPr sz="1200" dirty="0" err="1"/>
              <a:t>cega</a:t>
            </a:r>
            <a:r>
              <a:rPr sz="1200" dirty="0"/>
              <a:t>. O </a:t>
            </a:r>
            <a:r>
              <a:rPr sz="1200" dirty="0" err="1"/>
              <a:t>rótulo</a:t>
            </a:r>
            <a:r>
              <a:rPr sz="1200" dirty="0"/>
              <a:t> é </a:t>
            </a:r>
            <a:r>
              <a:rPr sz="1200" dirty="0" err="1"/>
              <a:t>atribuído</a:t>
            </a:r>
            <a:r>
              <a:rPr sz="1200" dirty="0"/>
              <a:t> </a:t>
            </a:r>
            <a:r>
              <a:rPr sz="1200" dirty="0" err="1"/>
              <a:t>exclusivamente</a:t>
            </a:r>
            <a:r>
              <a:rPr sz="1200" dirty="0"/>
              <a:t> </a:t>
            </a:r>
            <a:r>
              <a:rPr sz="1200" dirty="0" err="1"/>
              <a:t>por</a:t>
            </a:r>
            <a:r>
              <a:rPr sz="1200" dirty="0"/>
              <a:t> </a:t>
            </a:r>
            <a:r>
              <a:rPr sz="1200" dirty="0" err="1"/>
              <a:t>especialistas</a:t>
            </a:r>
            <a:r>
              <a:rPr sz="1200" dirty="0"/>
              <a:t> </a:t>
            </a:r>
            <a:r>
              <a:rPr sz="1200" dirty="0" err="1"/>
              <a:t>humanos</a:t>
            </a:r>
            <a:r>
              <a:rPr sz="1200" dirty="0"/>
              <a:t>. O </a:t>
            </a:r>
            <a:r>
              <a:rPr sz="1200" dirty="0" err="1"/>
              <a:t>treinamento</a:t>
            </a:r>
            <a:r>
              <a:rPr sz="1200" dirty="0"/>
              <a:t> do </a:t>
            </a:r>
            <a:r>
              <a:rPr sz="1200" dirty="0" err="1"/>
              <a:t>XGBoost</a:t>
            </a:r>
            <a:r>
              <a:rPr sz="1200" dirty="0"/>
              <a:t> </a:t>
            </a:r>
            <a:r>
              <a:rPr sz="1200" dirty="0" err="1"/>
              <a:t>ocorre</a:t>
            </a:r>
            <a:r>
              <a:rPr sz="1200" dirty="0"/>
              <a:t> </a:t>
            </a:r>
            <a:r>
              <a:rPr sz="1200" dirty="0" err="1"/>
              <a:t>externamente</a:t>
            </a:r>
            <a:r>
              <a:rPr sz="1200" dirty="0"/>
              <a:t>.</a:t>
            </a:r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0EC1650E-FFAC-7C59-CCDF-6586AAEC99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262992"/>
            <a:ext cx="1279123" cy="424992"/>
          </a:xfrm>
          <a:prstGeom prst="rect">
            <a:avLst/>
          </a:prstGeom>
          <a:effectLst>
            <a:glow rad="63500">
              <a:schemeClr val="bg1"/>
            </a:glo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GOVERNANÇA METODOLÓGICA &amp; INTEGRIDADE DE 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A Lei Fundamental do SAREL: Governança Contra Atalhos Metodológicos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SAREL v2.0 • Sistema de Amostragem e Rotulagem para Erosão Laminar • PPGTCA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521208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4846320" cy="1982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E11D48"/>
                </a:solidFill>
              </a:defRPr>
            </a:pPr>
            <a:r>
              <a:rPr sz="1400" dirty="0" err="1"/>
              <a:t>Regra</a:t>
            </a:r>
            <a:r>
              <a:rPr sz="1400" dirty="0"/>
              <a:t> 1 &amp; 5: Dado Real </a:t>
            </a:r>
            <a:r>
              <a:rPr sz="1400" dirty="0" err="1"/>
              <a:t>ou</a:t>
            </a:r>
            <a:r>
              <a:rPr sz="1400" dirty="0"/>
              <a:t> </a:t>
            </a:r>
            <a:r>
              <a:rPr sz="1400" dirty="0" err="1"/>
              <a:t>Ausência</a:t>
            </a:r>
            <a:r>
              <a:rPr sz="1400" dirty="0"/>
              <a:t> </a:t>
            </a:r>
            <a:r>
              <a:rPr sz="1400" dirty="0" err="1"/>
              <a:t>Declarada</a:t>
            </a:r>
            <a:endParaRPr sz="1400" dirty="0"/>
          </a:p>
          <a:p>
            <a:pPr>
              <a:spcAft>
                <a:spcPts val="400"/>
              </a:spcAft>
            </a:pPr>
            <a:r>
              <a:rPr sz="1400" b="1" dirty="0" err="1">
                <a:solidFill>
                  <a:srgbClr val="0F172A"/>
                </a:solidFill>
              </a:rPr>
              <a:t>Vedação</a:t>
            </a:r>
            <a:r>
              <a:rPr sz="1400" b="1" dirty="0">
                <a:solidFill>
                  <a:srgbClr val="0F172A"/>
                </a:solidFill>
              </a:rPr>
              <a:t> a </a:t>
            </a:r>
            <a:r>
              <a:rPr sz="1400" b="1" dirty="0" err="1">
                <a:solidFill>
                  <a:srgbClr val="0F172A"/>
                </a:solidFill>
              </a:rPr>
              <a:t>Constantes</a:t>
            </a:r>
            <a:r>
              <a:rPr sz="1400" b="1" dirty="0">
                <a:solidFill>
                  <a:srgbClr val="0F172A"/>
                </a:solidFill>
              </a:rPr>
              <a:t>: </a:t>
            </a:r>
            <a:r>
              <a:rPr sz="1400" dirty="0" err="1">
                <a:solidFill>
                  <a:srgbClr val="475569"/>
                </a:solidFill>
              </a:rPr>
              <a:t>Proibido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preencher</a:t>
            </a:r>
            <a:r>
              <a:rPr sz="1400" dirty="0">
                <a:solidFill>
                  <a:srgbClr val="475569"/>
                </a:solidFill>
              </a:rPr>
              <a:t> lacunas com </a:t>
            </a:r>
            <a:r>
              <a:rPr sz="1400" dirty="0" err="1">
                <a:solidFill>
                  <a:srgbClr val="475569"/>
                </a:solidFill>
              </a:rPr>
              <a:t>médias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ou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constantes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arbitrárias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em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cascata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sem</a:t>
            </a:r>
            <a:r>
              <a:rPr sz="1400" dirty="0">
                <a:solidFill>
                  <a:srgbClr val="475569"/>
                </a:solidFill>
              </a:rPr>
              <a:t> base </a:t>
            </a:r>
            <a:r>
              <a:rPr sz="1400" dirty="0" err="1">
                <a:solidFill>
                  <a:srgbClr val="475569"/>
                </a:solidFill>
              </a:rPr>
              <a:t>empírica</a:t>
            </a:r>
            <a:r>
              <a:rPr sz="1400" dirty="0">
                <a:solidFill>
                  <a:srgbClr val="475569"/>
                </a:solidFill>
              </a:rPr>
              <a:t>.</a:t>
            </a:r>
          </a:p>
          <a:p>
            <a:pPr>
              <a:spcAft>
                <a:spcPts val="400"/>
              </a:spcAft>
            </a:pPr>
            <a:r>
              <a:rPr sz="1400" b="1" dirty="0" err="1">
                <a:solidFill>
                  <a:srgbClr val="0F172A"/>
                </a:solidFill>
              </a:rPr>
              <a:t>Tratamento</a:t>
            </a:r>
            <a:r>
              <a:rPr sz="1400" b="1" dirty="0">
                <a:solidFill>
                  <a:srgbClr val="0F172A"/>
                </a:solidFill>
              </a:rPr>
              <a:t> de </a:t>
            </a:r>
            <a:r>
              <a:rPr sz="1400" b="1" dirty="0" err="1">
                <a:solidFill>
                  <a:srgbClr val="0F172A"/>
                </a:solidFill>
              </a:rPr>
              <a:t>Nulos</a:t>
            </a:r>
            <a:r>
              <a:rPr sz="1400" b="1" dirty="0">
                <a:solidFill>
                  <a:srgbClr val="0F172A"/>
                </a:solidFill>
              </a:rPr>
              <a:t>: </a:t>
            </a:r>
            <a:r>
              <a:rPr sz="1400" dirty="0" err="1">
                <a:solidFill>
                  <a:srgbClr val="475569"/>
                </a:solidFill>
              </a:rPr>
              <a:t>Algoritmos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modernos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tratam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valores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faltantes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nativamente</a:t>
            </a:r>
            <a:r>
              <a:rPr sz="1400" dirty="0">
                <a:solidFill>
                  <a:srgbClr val="475569"/>
                </a:solidFill>
              </a:rPr>
              <a:t>. </a:t>
            </a:r>
            <a:r>
              <a:rPr sz="1400" dirty="0" err="1">
                <a:solidFill>
                  <a:srgbClr val="475569"/>
                </a:solidFill>
              </a:rPr>
              <a:t>Ausente</a:t>
            </a:r>
            <a:r>
              <a:rPr sz="1400" dirty="0">
                <a:solidFill>
                  <a:srgbClr val="475569"/>
                </a:solidFill>
              </a:rPr>
              <a:t> é </a:t>
            </a:r>
            <a:r>
              <a:rPr sz="1400" dirty="0" err="1">
                <a:solidFill>
                  <a:srgbClr val="475569"/>
                </a:solidFill>
              </a:rPr>
              <a:t>cientificamente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preferível</a:t>
            </a:r>
            <a:r>
              <a:rPr sz="1400" dirty="0">
                <a:solidFill>
                  <a:srgbClr val="475569"/>
                </a:solidFill>
              </a:rPr>
              <a:t> a dado </a:t>
            </a:r>
            <a:r>
              <a:rPr sz="1400" dirty="0" err="1">
                <a:solidFill>
                  <a:srgbClr val="475569"/>
                </a:solidFill>
              </a:rPr>
              <a:t>fabricado</a:t>
            </a:r>
            <a:r>
              <a:rPr sz="1400" dirty="0">
                <a:solidFill>
                  <a:srgbClr val="475569"/>
                </a:solidFill>
              </a:rPr>
              <a:t>.</a:t>
            </a:r>
          </a:p>
          <a:p>
            <a:pPr>
              <a:spcAft>
                <a:spcPts val="400"/>
              </a:spcAft>
            </a:pPr>
            <a:r>
              <a:rPr sz="1400" b="1" dirty="0">
                <a:solidFill>
                  <a:srgbClr val="0F172A"/>
                </a:solidFill>
              </a:rPr>
              <a:t>Zero é Valor </a:t>
            </a:r>
            <a:r>
              <a:rPr sz="1400" b="1" dirty="0" err="1">
                <a:solidFill>
                  <a:srgbClr val="0F172A"/>
                </a:solidFill>
              </a:rPr>
              <a:t>Físico</a:t>
            </a:r>
            <a:r>
              <a:rPr sz="1400" b="1" dirty="0">
                <a:solidFill>
                  <a:srgbClr val="0F172A"/>
                </a:solidFill>
              </a:rPr>
              <a:t>: </a:t>
            </a:r>
            <a:r>
              <a:rPr sz="1400" dirty="0" err="1">
                <a:solidFill>
                  <a:srgbClr val="475569"/>
                </a:solidFill>
              </a:rPr>
              <a:t>Declividade</a:t>
            </a:r>
            <a:r>
              <a:rPr sz="1400" dirty="0">
                <a:solidFill>
                  <a:srgbClr val="475569"/>
                </a:solidFill>
              </a:rPr>
              <a:t> 0% </a:t>
            </a:r>
            <a:r>
              <a:rPr sz="1400" dirty="0" err="1">
                <a:solidFill>
                  <a:srgbClr val="475569"/>
                </a:solidFill>
              </a:rPr>
              <a:t>ou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frequência</a:t>
            </a:r>
            <a:r>
              <a:rPr sz="1400" dirty="0">
                <a:solidFill>
                  <a:srgbClr val="475569"/>
                </a:solidFill>
              </a:rPr>
              <a:t> Ê = 0 </a:t>
            </a:r>
            <a:r>
              <a:rPr sz="1400" dirty="0" err="1">
                <a:solidFill>
                  <a:srgbClr val="475569"/>
                </a:solidFill>
              </a:rPr>
              <a:t>são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grandezas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físicas</a:t>
            </a:r>
            <a:r>
              <a:rPr sz="1400" dirty="0">
                <a:solidFill>
                  <a:srgbClr val="475569"/>
                </a:solidFill>
              </a:rPr>
              <a:t> reais, </a:t>
            </a:r>
            <a:r>
              <a:rPr sz="1400" dirty="0" err="1">
                <a:solidFill>
                  <a:srgbClr val="475569"/>
                </a:solidFill>
              </a:rPr>
              <a:t>nunca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tratadas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como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ausência</a:t>
            </a:r>
            <a:r>
              <a:rPr sz="1400" dirty="0">
                <a:solidFill>
                  <a:srgbClr val="475569"/>
                </a:solidFill>
              </a:rPr>
              <a:t> de dados.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21208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600200"/>
            <a:ext cx="4846320" cy="1982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0B981"/>
                </a:solidFill>
              </a:defRPr>
            </a:pPr>
            <a:r>
              <a:rPr sz="1400" dirty="0" err="1"/>
              <a:t>Regra</a:t>
            </a:r>
            <a:r>
              <a:rPr sz="1400" dirty="0"/>
              <a:t> 3: </a:t>
            </a:r>
            <a:r>
              <a:rPr sz="1400" dirty="0" err="1"/>
              <a:t>Proveniência</a:t>
            </a:r>
            <a:r>
              <a:rPr sz="1400" dirty="0"/>
              <a:t> </a:t>
            </a:r>
            <a:r>
              <a:rPr sz="1400" dirty="0" err="1"/>
              <a:t>Vinculada</a:t>
            </a:r>
            <a:r>
              <a:rPr sz="1400" dirty="0"/>
              <a:t> a Cada Valor</a:t>
            </a:r>
          </a:p>
          <a:p>
            <a:pPr>
              <a:spcAft>
                <a:spcPts val="400"/>
              </a:spcAft>
            </a:pPr>
            <a:r>
              <a:rPr sz="1400" b="1" dirty="0" err="1">
                <a:solidFill>
                  <a:srgbClr val="0F172A"/>
                </a:solidFill>
              </a:rPr>
              <a:t>Tríade</a:t>
            </a:r>
            <a:r>
              <a:rPr sz="1400" b="1" dirty="0">
                <a:solidFill>
                  <a:srgbClr val="0F172A"/>
                </a:solidFill>
              </a:rPr>
              <a:t> de </a:t>
            </a:r>
            <a:r>
              <a:rPr sz="1400" b="1" dirty="0" err="1">
                <a:solidFill>
                  <a:srgbClr val="0F172A"/>
                </a:solidFill>
              </a:rPr>
              <a:t>Metadados</a:t>
            </a:r>
            <a:r>
              <a:rPr sz="1400" b="1" dirty="0">
                <a:solidFill>
                  <a:srgbClr val="0F172A"/>
                </a:solidFill>
              </a:rPr>
              <a:t>: </a:t>
            </a:r>
            <a:r>
              <a:rPr sz="1400" dirty="0">
                <a:solidFill>
                  <a:srgbClr val="475569"/>
                </a:solidFill>
              </a:rPr>
              <a:t>Cada </a:t>
            </a:r>
            <a:r>
              <a:rPr sz="1400" dirty="0" err="1">
                <a:solidFill>
                  <a:srgbClr val="475569"/>
                </a:solidFill>
              </a:rPr>
              <a:t>atributo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carrega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seu</a:t>
            </a:r>
            <a:r>
              <a:rPr sz="1400" dirty="0">
                <a:solidFill>
                  <a:srgbClr val="475569"/>
                </a:solidFill>
              </a:rPr>
              <a:t> status de </a:t>
            </a:r>
            <a:r>
              <a:rPr sz="1400" dirty="0" err="1">
                <a:solidFill>
                  <a:srgbClr val="475569"/>
                </a:solidFill>
              </a:rPr>
              <a:t>proveniência</a:t>
            </a:r>
            <a:r>
              <a:rPr sz="1400" dirty="0">
                <a:solidFill>
                  <a:srgbClr val="475569"/>
                </a:solidFill>
              </a:rPr>
              <a:t>, </a:t>
            </a:r>
            <a:r>
              <a:rPr sz="1400" dirty="0" err="1">
                <a:solidFill>
                  <a:srgbClr val="475569"/>
                </a:solidFill>
              </a:rPr>
              <a:t>fonte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oficial</a:t>
            </a:r>
            <a:r>
              <a:rPr sz="1400" dirty="0">
                <a:solidFill>
                  <a:srgbClr val="475569"/>
                </a:solidFill>
              </a:rPr>
              <a:t> de </a:t>
            </a:r>
            <a:r>
              <a:rPr sz="1400" dirty="0" err="1">
                <a:solidFill>
                  <a:srgbClr val="475569"/>
                </a:solidFill>
              </a:rPr>
              <a:t>aquisição</a:t>
            </a:r>
            <a:r>
              <a:rPr sz="1400" dirty="0">
                <a:solidFill>
                  <a:srgbClr val="475569"/>
                </a:solidFill>
              </a:rPr>
              <a:t> e data.</a:t>
            </a:r>
          </a:p>
          <a:p>
            <a:pPr>
              <a:spcAft>
                <a:spcPts val="400"/>
              </a:spcAft>
            </a:pPr>
            <a:r>
              <a:rPr sz="1400" b="1" dirty="0">
                <a:solidFill>
                  <a:srgbClr val="0F172A"/>
                </a:solidFill>
              </a:rPr>
              <a:t>Quatro </a:t>
            </a:r>
            <a:r>
              <a:rPr sz="1400" b="1" dirty="0" err="1">
                <a:solidFill>
                  <a:srgbClr val="0F172A"/>
                </a:solidFill>
              </a:rPr>
              <a:t>Selos</a:t>
            </a:r>
            <a:r>
              <a:rPr sz="1400" b="1" dirty="0">
                <a:solidFill>
                  <a:srgbClr val="0F172A"/>
                </a:solidFill>
              </a:rPr>
              <a:t> </a:t>
            </a:r>
            <a:r>
              <a:rPr sz="1400" b="1" dirty="0" err="1">
                <a:solidFill>
                  <a:srgbClr val="0F172A"/>
                </a:solidFill>
              </a:rPr>
              <a:t>Formais</a:t>
            </a:r>
            <a:r>
              <a:rPr sz="1400" b="1" dirty="0">
                <a:solidFill>
                  <a:srgbClr val="0F172A"/>
                </a:solidFill>
              </a:rPr>
              <a:t>: </a:t>
            </a:r>
            <a:r>
              <a:rPr sz="1400" dirty="0">
                <a:solidFill>
                  <a:srgbClr val="475569"/>
                </a:solidFill>
              </a:rPr>
              <a:t>● </a:t>
            </a:r>
            <a:r>
              <a:rPr sz="1400" dirty="0" err="1">
                <a:solidFill>
                  <a:srgbClr val="475569"/>
                </a:solidFill>
              </a:rPr>
              <a:t>medido</a:t>
            </a:r>
            <a:r>
              <a:rPr sz="1400" dirty="0">
                <a:solidFill>
                  <a:srgbClr val="475569"/>
                </a:solidFill>
              </a:rPr>
              <a:t> (sensor </a:t>
            </a:r>
            <a:r>
              <a:rPr sz="1400" dirty="0" err="1">
                <a:solidFill>
                  <a:srgbClr val="475569"/>
                </a:solidFill>
              </a:rPr>
              <a:t>primário</a:t>
            </a:r>
            <a:r>
              <a:rPr sz="1400" dirty="0">
                <a:solidFill>
                  <a:srgbClr val="475569"/>
                </a:solidFill>
              </a:rPr>
              <a:t>) • ◊ </a:t>
            </a:r>
            <a:r>
              <a:rPr sz="1400" dirty="0" err="1">
                <a:solidFill>
                  <a:srgbClr val="475569"/>
                </a:solidFill>
              </a:rPr>
              <a:t>modelado</a:t>
            </a:r>
            <a:r>
              <a:rPr sz="1400" dirty="0">
                <a:solidFill>
                  <a:srgbClr val="475569"/>
                </a:solidFill>
              </a:rPr>
              <a:t> (</a:t>
            </a:r>
            <a:r>
              <a:rPr sz="1400" dirty="0" err="1">
                <a:solidFill>
                  <a:srgbClr val="475569"/>
                </a:solidFill>
              </a:rPr>
              <a:t>equação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validada</a:t>
            </a:r>
            <a:r>
              <a:rPr sz="1400" dirty="0">
                <a:solidFill>
                  <a:srgbClr val="475569"/>
                </a:solidFill>
              </a:rPr>
              <a:t>) • □ </a:t>
            </a:r>
            <a:r>
              <a:rPr sz="1400" dirty="0" err="1">
                <a:solidFill>
                  <a:srgbClr val="475569"/>
                </a:solidFill>
              </a:rPr>
              <a:t>tabelado</a:t>
            </a:r>
            <a:r>
              <a:rPr sz="1400" dirty="0">
                <a:solidFill>
                  <a:srgbClr val="475569"/>
                </a:solidFill>
              </a:rPr>
              <a:t> (</a:t>
            </a:r>
            <a:r>
              <a:rPr sz="1400" dirty="0" err="1">
                <a:solidFill>
                  <a:srgbClr val="475569"/>
                </a:solidFill>
              </a:rPr>
              <a:t>literatura</a:t>
            </a:r>
            <a:r>
              <a:rPr sz="1400" dirty="0">
                <a:solidFill>
                  <a:srgbClr val="475569"/>
                </a:solidFill>
              </a:rPr>
              <a:t>) • ○ </a:t>
            </a:r>
            <a:r>
              <a:rPr sz="1400" dirty="0" err="1">
                <a:solidFill>
                  <a:srgbClr val="475569"/>
                </a:solidFill>
              </a:rPr>
              <a:t>indisponível</a:t>
            </a:r>
            <a:r>
              <a:rPr sz="1400" dirty="0">
                <a:solidFill>
                  <a:srgbClr val="475569"/>
                </a:solidFill>
              </a:rPr>
              <a:t>.</a:t>
            </a:r>
          </a:p>
          <a:p>
            <a:pPr>
              <a:spcAft>
                <a:spcPts val="400"/>
              </a:spcAft>
            </a:pPr>
            <a:r>
              <a:rPr sz="1400" b="1" dirty="0" err="1">
                <a:solidFill>
                  <a:srgbClr val="0F172A"/>
                </a:solidFill>
              </a:rPr>
              <a:t>Rastreabilidade</a:t>
            </a:r>
            <a:r>
              <a:rPr sz="1400" b="1" dirty="0">
                <a:solidFill>
                  <a:srgbClr val="0F172A"/>
                </a:solidFill>
              </a:rPr>
              <a:t> </a:t>
            </a:r>
            <a:r>
              <a:rPr sz="1400" b="1" dirty="0" err="1">
                <a:solidFill>
                  <a:srgbClr val="0F172A"/>
                </a:solidFill>
              </a:rPr>
              <a:t>Pericial</a:t>
            </a:r>
            <a:r>
              <a:rPr sz="1400" b="1" dirty="0">
                <a:solidFill>
                  <a:srgbClr val="0F172A"/>
                </a:solidFill>
              </a:rPr>
              <a:t>: </a:t>
            </a:r>
            <a:r>
              <a:rPr sz="1400" dirty="0" err="1">
                <a:solidFill>
                  <a:srgbClr val="475569"/>
                </a:solidFill>
              </a:rPr>
              <a:t>Permite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reconstruir</a:t>
            </a:r>
            <a:r>
              <a:rPr sz="1400" dirty="0">
                <a:solidFill>
                  <a:srgbClr val="475569"/>
                </a:solidFill>
              </a:rPr>
              <a:t> a </a:t>
            </a:r>
            <a:r>
              <a:rPr sz="1400" dirty="0" err="1">
                <a:solidFill>
                  <a:srgbClr val="475569"/>
                </a:solidFill>
              </a:rPr>
              <a:t>cadeia</a:t>
            </a:r>
            <a:r>
              <a:rPr sz="1400" dirty="0">
                <a:solidFill>
                  <a:srgbClr val="475569"/>
                </a:solidFill>
              </a:rPr>
              <a:t> de </a:t>
            </a:r>
            <a:r>
              <a:rPr sz="1400" dirty="0" err="1">
                <a:solidFill>
                  <a:srgbClr val="475569"/>
                </a:solidFill>
              </a:rPr>
              <a:t>custódia</a:t>
            </a:r>
            <a:r>
              <a:rPr sz="1400" dirty="0">
                <a:solidFill>
                  <a:srgbClr val="475569"/>
                </a:solidFill>
              </a:rPr>
              <a:t> e </a:t>
            </a:r>
            <a:r>
              <a:rPr sz="1400" dirty="0" err="1">
                <a:solidFill>
                  <a:srgbClr val="475569"/>
                </a:solidFill>
              </a:rPr>
              <a:t>evidências</a:t>
            </a:r>
            <a:r>
              <a:rPr sz="1400" dirty="0">
                <a:solidFill>
                  <a:srgbClr val="475569"/>
                </a:solidFill>
              </a:rPr>
              <a:t> de </a:t>
            </a:r>
            <a:r>
              <a:rPr sz="1400" dirty="0" err="1">
                <a:solidFill>
                  <a:srgbClr val="475569"/>
                </a:solidFill>
              </a:rPr>
              <a:t>cada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linha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exportada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perante</a:t>
            </a:r>
            <a:r>
              <a:rPr sz="1400" dirty="0">
                <a:solidFill>
                  <a:srgbClr val="475569"/>
                </a:solidFill>
              </a:rPr>
              <a:t> a banca.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521208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930851"/>
            <a:ext cx="4846320" cy="2059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0EA5E9"/>
                </a:solidFill>
              </a:defRPr>
            </a:pPr>
            <a:r>
              <a:rPr sz="1300" dirty="0" err="1"/>
              <a:t>Regra</a:t>
            </a:r>
            <a:r>
              <a:rPr sz="1300" dirty="0"/>
              <a:t> 4: </a:t>
            </a:r>
            <a:r>
              <a:rPr sz="1300" dirty="0" err="1"/>
              <a:t>Isolamento</a:t>
            </a:r>
            <a:r>
              <a:rPr sz="1300" dirty="0"/>
              <a:t> </a:t>
            </a:r>
            <a:r>
              <a:rPr sz="1300" dirty="0" err="1"/>
              <a:t>Estrito</a:t>
            </a:r>
            <a:r>
              <a:rPr sz="1300" dirty="0"/>
              <a:t> Contra </a:t>
            </a:r>
            <a:r>
              <a:rPr sz="1300" dirty="0" err="1"/>
              <a:t>Circularidade</a:t>
            </a:r>
            <a:endParaRPr sz="1300" dirty="0"/>
          </a:p>
          <a:p>
            <a:pPr>
              <a:spcAft>
                <a:spcPts val="400"/>
              </a:spcAft>
            </a:pPr>
            <a:r>
              <a:rPr sz="1300" b="1" dirty="0" err="1">
                <a:solidFill>
                  <a:srgbClr val="0F172A"/>
                </a:solidFill>
              </a:rPr>
              <a:t>Isolamento</a:t>
            </a:r>
            <a:r>
              <a:rPr sz="1300" b="1" dirty="0">
                <a:solidFill>
                  <a:srgbClr val="0F172A"/>
                </a:solidFill>
              </a:rPr>
              <a:t> de </a:t>
            </a:r>
            <a:r>
              <a:rPr sz="1300" b="1" dirty="0" err="1">
                <a:solidFill>
                  <a:srgbClr val="0F172A"/>
                </a:solidFill>
              </a:rPr>
              <a:t>Critérios</a:t>
            </a:r>
            <a:r>
              <a:rPr sz="1300" b="1" dirty="0">
                <a:solidFill>
                  <a:srgbClr val="0F172A"/>
                </a:solidFill>
              </a:rPr>
              <a:t>: </a:t>
            </a:r>
            <a:r>
              <a:rPr sz="1300" dirty="0">
                <a:solidFill>
                  <a:srgbClr val="475569"/>
                </a:solidFill>
              </a:rPr>
              <a:t>Scores </a:t>
            </a:r>
            <a:r>
              <a:rPr sz="1300" dirty="0" err="1">
                <a:solidFill>
                  <a:srgbClr val="475569"/>
                </a:solidFill>
              </a:rPr>
              <a:t>intermediários</a:t>
            </a:r>
            <a:r>
              <a:rPr sz="1300" dirty="0">
                <a:solidFill>
                  <a:srgbClr val="475569"/>
                </a:solidFill>
              </a:rPr>
              <a:t>, </a:t>
            </a:r>
            <a:r>
              <a:rPr sz="1300" dirty="0" err="1">
                <a:solidFill>
                  <a:srgbClr val="475569"/>
                </a:solidFill>
              </a:rPr>
              <a:t>severidade</a:t>
            </a:r>
            <a:r>
              <a:rPr sz="1300" dirty="0">
                <a:solidFill>
                  <a:srgbClr val="475569"/>
                </a:solidFill>
              </a:rPr>
              <a:t> </a:t>
            </a:r>
            <a:r>
              <a:rPr sz="1300" dirty="0" err="1">
                <a:solidFill>
                  <a:srgbClr val="475569"/>
                </a:solidFill>
              </a:rPr>
              <a:t>estimada</a:t>
            </a:r>
            <a:r>
              <a:rPr sz="1300" dirty="0">
                <a:solidFill>
                  <a:srgbClr val="475569"/>
                </a:solidFill>
              </a:rPr>
              <a:t> </a:t>
            </a:r>
            <a:r>
              <a:rPr sz="1300" dirty="0" err="1">
                <a:solidFill>
                  <a:srgbClr val="475569"/>
                </a:solidFill>
              </a:rPr>
              <a:t>ou</a:t>
            </a:r>
            <a:r>
              <a:rPr sz="1300" dirty="0">
                <a:solidFill>
                  <a:srgbClr val="475569"/>
                </a:solidFill>
              </a:rPr>
              <a:t> </a:t>
            </a:r>
            <a:r>
              <a:rPr sz="1300" dirty="0" err="1">
                <a:solidFill>
                  <a:srgbClr val="475569"/>
                </a:solidFill>
              </a:rPr>
              <a:t>perda</a:t>
            </a:r>
            <a:r>
              <a:rPr sz="1300" dirty="0">
                <a:solidFill>
                  <a:srgbClr val="475569"/>
                </a:solidFill>
              </a:rPr>
              <a:t> de solo RUSLE </a:t>
            </a:r>
            <a:r>
              <a:rPr sz="1300" dirty="0" err="1">
                <a:solidFill>
                  <a:srgbClr val="475569"/>
                </a:solidFill>
              </a:rPr>
              <a:t>não</a:t>
            </a:r>
            <a:r>
              <a:rPr sz="1300" dirty="0">
                <a:solidFill>
                  <a:srgbClr val="475569"/>
                </a:solidFill>
              </a:rPr>
              <a:t> </a:t>
            </a:r>
            <a:r>
              <a:rPr sz="1300" dirty="0" err="1">
                <a:solidFill>
                  <a:srgbClr val="475569"/>
                </a:solidFill>
              </a:rPr>
              <a:t>integram</a:t>
            </a:r>
            <a:r>
              <a:rPr sz="1300" dirty="0">
                <a:solidFill>
                  <a:srgbClr val="475569"/>
                </a:solidFill>
              </a:rPr>
              <a:t> a </a:t>
            </a:r>
            <a:r>
              <a:rPr sz="1300" dirty="0" err="1">
                <a:solidFill>
                  <a:srgbClr val="475569"/>
                </a:solidFill>
              </a:rPr>
              <a:t>matriz</a:t>
            </a:r>
            <a:r>
              <a:rPr sz="1300" dirty="0">
                <a:solidFill>
                  <a:srgbClr val="475569"/>
                </a:solidFill>
              </a:rPr>
              <a:t> de </a:t>
            </a:r>
            <a:r>
              <a:rPr sz="1300" dirty="0" err="1">
                <a:solidFill>
                  <a:srgbClr val="475569"/>
                </a:solidFill>
              </a:rPr>
              <a:t>treino</a:t>
            </a:r>
            <a:r>
              <a:rPr sz="1300" dirty="0">
                <a:solidFill>
                  <a:srgbClr val="475569"/>
                </a:solidFill>
              </a:rPr>
              <a:t>.</a:t>
            </a:r>
          </a:p>
          <a:p>
            <a:pPr>
              <a:spcAft>
                <a:spcPts val="400"/>
              </a:spcAft>
            </a:pPr>
            <a:r>
              <a:rPr sz="1300" b="1" dirty="0" err="1">
                <a:solidFill>
                  <a:srgbClr val="0F172A"/>
                </a:solidFill>
              </a:rPr>
              <a:t>Prevenção</a:t>
            </a:r>
            <a:r>
              <a:rPr sz="1300" b="1" dirty="0">
                <a:solidFill>
                  <a:srgbClr val="0F172A"/>
                </a:solidFill>
              </a:rPr>
              <a:t> de </a:t>
            </a:r>
            <a:r>
              <a:rPr sz="1300" b="1" dirty="0" err="1">
                <a:solidFill>
                  <a:srgbClr val="0F172A"/>
                </a:solidFill>
              </a:rPr>
              <a:t>Vazamento</a:t>
            </a:r>
            <a:r>
              <a:rPr sz="1300" b="1" dirty="0">
                <a:solidFill>
                  <a:srgbClr val="0F172A"/>
                </a:solidFill>
              </a:rPr>
              <a:t>: </a:t>
            </a:r>
            <a:r>
              <a:rPr sz="1300" dirty="0">
                <a:solidFill>
                  <a:srgbClr val="475569"/>
                </a:solidFill>
              </a:rPr>
              <a:t>Impede </a:t>
            </a:r>
            <a:r>
              <a:rPr sz="1300" dirty="0" err="1">
                <a:solidFill>
                  <a:srgbClr val="475569"/>
                </a:solidFill>
              </a:rPr>
              <a:t>que</a:t>
            </a:r>
            <a:r>
              <a:rPr sz="1300" dirty="0">
                <a:solidFill>
                  <a:srgbClr val="475569"/>
                </a:solidFill>
              </a:rPr>
              <a:t> o </a:t>
            </a:r>
            <a:r>
              <a:rPr sz="1300" dirty="0" err="1">
                <a:solidFill>
                  <a:srgbClr val="475569"/>
                </a:solidFill>
              </a:rPr>
              <a:t>classificador</a:t>
            </a:r>
            <a:r>
              <a:rPr sz="1300" dirty="0">
                <a:solidFill>
                  <a:srgbClr val="475569"/>
                </a:solidFill>
              </a:rPr>
              <a:t> </a:t>
            </a:r>
            <a:r>
              <a:rPr sz="1300" dirty="0" err="1">
                <a:solidFill>
                  <a:srgbClr val="475569"/>
                </a:solidFill>
              </a:rPr>
              <a:t>aprenda</a:t>
            </a:r>
            <a:r>
              <a:rPr sz="1300" dirty="0">
                <a:solidFill>
                  <a:srgbClr val="475569"/>
                </a:solidFill>
              </a:rPr>
              <a:t> </a:t>
            </a:r>
            <a:r>
              <a:rPr sz="1300" dirty="0" err="1">
                <a:solidFill>
                  <a:srgbClr val="475569"/>
                </a:solidFill>
              </a:rPr>
              <a:t>limiares</a:t>
            </a:r>
            <a:r>
              <a:rPr sz="1300" dirty="0">
                <a:solidFill>
                  <a:srgbClr val="475569"/>
                </a:solidFill>
              </a:rPr>
              <a:t> </a:t>
            </a:r>
            <a:r>
              <a:rPr sz="1300" dirty="0" err="1">
                <a:solidFill>
                  <a:srgbClr val="475569"/>
                </a:solidFill>
              </a:rPr>
              <a:t>matemáticos</a:t>
            </a:r>
            <a:r>
              <a:rPr sz="1300" dirty="0">
                <a:solidFill>
                  <a:srgbClr val="475569"/>
                </a:solidFill>
              </a:rPr>
              <a:t> </a:t>
            </a:r>
            <a:r>
              <a:rPr sz="1300" dirty="0" err="1">
                <a:solidFill>
                  <a:srgbClr val="475569"/>
                </a:solidFill>
              </a:rPr>
              <a:t>artificiais</a:t>
            </a:r>
            <a:r>
              <a:rPr sz="1300" dirty="0">
                <a:solidFill>
                  <a:srgbClr val="475569"/>
                </a:solidFill>
              </a:rPr>
              <a:t> </a:t>
            </a:r>
            <a:r>
              <a:rPr sz="1300" dirty="0" err="1">
                <a:solidFill>
                  <a:srgbClr val="475569"/>
                </a:solidFill>
              </a:rPr>
              <a:t>em</a:t>
            </a:r>
            <a:r>
              <a:rPr sz="1300" dirty="0">
                <a:solidFill>
                  <a:srgbClr val="475569"/>
                </a:solidFill>
              </a:rPr>
              <a:t> </a:t>
            </a:r>
            <a:r>
              <a:rPr sz="1300" dirty="0" err="1">
                <a:solidFill>
                  <a:srgbClr val="475569"/>
                </a:solidFill>
              </a:rPr>
              <a:t>vez</a:t>
            </a:r>
            <a:r>
              <a:rPr sz="1300" dirty="0">
                <a:solidFill>
                  <a:srgbClr val="475569"/>
                </a:solidFill>
              </a:rPr>
              <a:t> de </a:t>
            </a:r>
            <a:r>
              <a:rPr sz="1300" dirty="0" err="1">
                <a:solidFill>
                  <a:srgbClr val="475569"/>
                </a:solidFill>
              </a:rPr>
              <a:t>padrões</a:t>
            </a:r>
            <a:r>
              <a:rPr sz="1300" dirty="0">
                <a:solidFill>
                  <a:srgbClr val="475569"/>
                </a:solidFill>
              </a:rPr>
              <a:t> </a:t>
            </a:r>
            <a:r>
              <a:rPr sz="1300" dirty="0" err="1">
                <a:solidFill>
                  <a:srgbClr val="475569"/>
                </a:solidFill>
              </a:rPr>
              <a:t>espectro-temporais</a:t>
            </a:r>
            <a:r>
              <a:rPr sz="1300" dirty="0">
                <a:solidFill>
                  <a:srgbClr val="475569"/>
                </a:solidFill>
              </a:rPr>
              <a:t>.</a:t>
            </a:r>
          </a:p>
          <a:p>
            <a:pPr>
              <a:spcAft>
                <a:spcPts val="400"/>
              </a:spcAft>
            </a:pPr>
            <a:r>
              <a:rPr sz="1300" b="1" dirty="0" err="1">
                <a:solidFill>
                  <a:srgbClr val="0F172A"/>
                </a:solidFill>
              </a:rPr>
              <a:t>Rótulo</a:t>
            </a:r>
            <a:r>
              <a:rPr sz="1300" b="1" dirty="0">
                <a:solidFill>
                  <a:srgbClr val="0F172A"/>
                </a:solidFill>
              </a:rPr>
              <a:t> </a:t>
            </a:r>
            <a:r>
              <a:rPr sz="1300" b="1" dirty="0" err="1">
                <a:solidFill>
                  <a:srgbClr val="0F172A"/>
                </a:solidFill>
              </a:rPr>
              <a:t>Exclusivo</a:t>
            </a:r>
            <a:r>
              <a:rPr sz="1300" b="1" dirty="0">
                <a:solidFill>
                  <a:srgbClr val="0F172A"/>
                </a:solidFill>
              </a:rPr>
              <a:t> Humano: </a:t>
            </a:r>
            <a:r>
              <a:rPr sz="1300" dirty="0">
                <a:solidFill>
                  <a:srgbClr val="475569"/>
                </a:solidFill>
              </a:rPr>
              <a:t>A </a:t>
            </a:r>
            <a:r>
              <a:rPr sz="1300" dirty="0" err="1">
                <a:solidFill>
                  <a:srgbClr val="475569"/>
                </a:solidFill>
              </a:rPr>
              <a:t>classe</a:t>
            </a:r>
            <a:r>
              <a:rPr sz="1300" dirty="0">
                <a:solidFill>
                  <a:srgbClr val="475569"/>
                </a:solidFill>
              </a:rPr>
              <a:t> </a:t>
            </a:r>
            <a:r>
              <a:rPr sz="1300" dirty="0" err="1">
                <a:solidFill>
                  <a:srgbClr val="475569"/>
                </a:solidFill>
              </a:rPr>
              <a:t>alvo</a:t>
            </a:r>
            <a:r>
              <a:rPr sz="1300" dirty="0">
                <a:solidFill>
                  <a:srgbClr val="475569"/>
                </a:solidFill>
              </a:rPr>
              <a:t> </a:t>
            </a:r>
            <a:r>
              <a:rPr sz="1300" dirty="0" err="1">
                <a:solidFill>
                  <a:srgbClr val="475569"/>
                </a:solidFill>
              </a:rPr>
              <a:t>deriva</a:t>
            </a:r>
            <a:r>
              <a:rPr sz="1300" dirty="0">
                <a:solidFill>
                  <a:srgbClr val="475569"/>
                </a:solidFill>
              </a:rPr>
              <a:t> </a:t>
            </a:r>
            <a:r>
              <a:rPr sz="1300" dirty="0" err="1">
                <a:solidFill>
                  <a:srgbClr val="475569"/>
                </a:solidFill>
              </a:rPr>
              <a:t>unicamente</a:t>
            </a:r>
            <a:r>
              <a:rPr sz="1300" dirty="0">
                <a:solidFill>
                  <a:srgbClr val="475569"/>
                </a:solidFill>
              </a:rPr>
              <a:t> de </a:t>
            </a:r>
            <a:r>
              <a:rPr sz="1300" dirty="0" err="1">
                <a:solidFill>
                  <a:srgbClr val="475569"/>
                </a:solidFill>
              </a:rPr>
              <a:t>inspeção</a:t>
            </a:r>
            <a:r>
              <a:rPr sz="1300" dirty="0">
                <a:solidFill>
                  <a:srgbClr val="475569"/>
                </a:solidFill>
              </a:rPr>
              <a:t> </a:t>
            </a:r>
            <a:r>
              <a:rPr sz="1300" dirty="0" err="1">
                <a:solidFill>
                  <a:srgbClr val="475569"/>
                </a:solidFill>
              </a:rPr>
              <a:t>presencial</a:t>
            </a:r>
            <a:r>
              <a:rPr sz="1300" dirty="0">
                <a:solidFill>
                  <a:srgbClr val="475569"/>
                </a:solidFill>
              </a:rPr>
              <a:t> de campo, </a:t>
            </a:r>
            <a:r>
              <a:rPr sz="1300" dirty="0" err="1">
                <a:solidFill>
                  <a:srgbClr val="475569"/>
                </a:solidFill>
              </a:rPr>
              <a:t>ortomosaicos</a:t>
            </a:r>
            <a:r>
              <a:rPr sz="1300" dirty="0">
                <a:solidFill>
                  <a:srgbClr val="475569"/>
                </a:solidFill>
              </a:rPr>
              <a:t> de drone </a:t>
            </a:r>
            <a:r>
              <a:rPr sz="1300" dirty="0" err="1">
                <a:solidFill>
                  <a:srgbClr val="475569"/>
                </a:solidFill>
              </a:rPr>
              <a:t>ou</a:t>
            </a:r>
            <a:r>
              <a:rPr sz="1300" dirty="0">
                <a:solidFill>
                  <a:srgbClr val="475569"/>
                </a:solidFill>
              </a:rPr>
              <a:t> </a:t>
            </a:r>
            <a:r>
              <a:rPr sz="1300" dirty="0" err="1">
                <a:solidFill>
                  <a:srgbClr val="475569"/>
                </a:solidFill>
              </a:rPr>
              <a:t>fotointerpretação</a:t>
            </a:r>
            <a:r>
              <a:rPr sz="1300" dirty="0">
                <a:solidFill>
                  <a:srgbClr val="475569"/>
                </a:solidFill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840480"/>
            <a:ext cx="521208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3882722"/>
            <a:ext cx="4846320" cy="21980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D97706"/>
                </a:solidFill>
              </a:defRPr>
            </a:pPr>
            <a:r>
              <a:rPr sz="1400" dirty="0" err="1"/>
              <a:t>Regra</a:t>
            </a:r>
            <a:r>
              <a:rPr sz="1400" dirty="0"/>
              <a:t> 9: Registro Formal de </a:t>
            </a:r>
            <a:r>
              <a:rPr sz="1400" dirty="0" err="1"/>
              <a:t>Decisões</a:t>
            </a:r>
            <a:r>
              <a:rPr sz="1400" dirty="0"/>
              <a:t> (DECISOES.md)</a:t>
            </a:r>
          </a:p>
          <a:p>
            <a:pPr>
              <a:spcAft>
                <a:spcPts val="400"/>
              </a:spcAft>
            </a:pPr>
            <a:r>
              <a:rPr sz="1400" b="1" dirty="0" err="1">
                <a:solidFill>
                  <a:srgbClr val="0F172A"/>
                </a:solidFill>
              </a:rPr>
              <a:t>Atribuição</a:t>
            </a:r>
            <a:r>
              <a:rPr sz="1400" b="1" dirty="0">
                <a:solidFill>
                  <a:srgbClr val="0F172A"/>
                </a:solidFill>
              </a:rPr>
              <a:t> de </a:t>
            </a:r>
            <a:r>
              <a:rPr sz="1400" b="1" dirty="0" err="1">
                <a:solidFill>
                  <a:srgbClr val="0F172A"/>
                </a:solidFill>
              </a:rPr>
              <a:t>Parâmetros</a:t>
            </a:r>
            <a:r>
              <a:rPr sz="1400" b="1" dirty="0">
                <a:solidFill>
                  <a:srgbClr val="0F172A"/>
                </a:solidFill>
              </a:rPr>
              <a:t>: </a:t>
            </a:r>
            <a:r>
              <a:rPr sz="1400" dirty="0" err="1">
                <a:solidFill>
                  <a:srgbClr val="475569"/>
                </a:solidFill>
              </a:rPr>
              <a:t>Nenhum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limiar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ou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equação</a:t>
            </a:r>
            <a:r>
              <a:rPr sz="1400" dirty="0">
                <a:solidFill>
                  <a:srgbClr val="475569"/>
                </a:solidFill>
              </a:rPr>
              <a:t> é </a:t>
            </a:r>
            <a:r>
              <a:rPr sz="1400" dirty="0" err="1">
                <a:solidFill>
                  <a:srgbClr val="475569"/>
                </a:solidFill>
              </a:rPr>
              <a:t>inserido</a:t>
            </a:r>
            <a:r>
              <a:rPr sz="1400" dirty="0">
                <a:solidFill>
                  <a:srgbClr val="475569"/>
                </a:solidFill>
              </a:rPr>
              <a:t> no </a:t>
            </a:r>
            <a:r>
              <a:rPr sz="1400" dirty="0" err="1">
                <a:solidFill>
                  <a:srgbClr val="475569"/>
                </a:solidFill>
              </a:rPr>
              <a:t>código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sem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autor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responsável</a:t>
            </a:r>
            <a:r>
              <a:rPr sz="1400" dirty="0">
                <a:solidFill>
                  <a:srgbClr val="475569"/>
                </a:solidFill>
              </a:rPr>
              <a:t>, data e </a:t>
            </a:r>
            <a:r>
              <a:rPr sz="1400" dirty="0" err="1">
                <a:solidFill>
                  <a:srgbClr val="475569"/>
                </a:solidFill>
              </a:rPr>
              <a:t>referência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bibliográfica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canônica</a:t>
            </a:r>
            <a:r>
              <a:rPr sz="1400" dirty="0">
                <a:solidFill>
                  <a:srgbClr val="475569"/>
                </a:solidFill>
              </a:rPr>
              <a:t>.</a:t>
            </a:r>
          </a:p>
          <a:p>
            <a:pPr>
              <a:spcAft>
                <a:spcPts val="400"/>
              </a:spcAft>
            </a:pPr>
            <a:r>
              <a:rPr sz="1400" b="1" dirty="0" err="1">
                <a:solidFill>
                  <a:srgbClr val="0F172A"/>
                </a:solidFill>
              </a:rPr>
              <a:t>Decisão</a:t>
            </a:r>
            <a:r>
              <a:rPr sz="1400" b="1" dirty="0">
                <a:solidFill>
                  <a:srgbClr val="0F172A"/>
                </a:solidFill>
              </a:rPr>
              <a:t> Pendente: </a:t>
            </a:r>
            <a:r>
              <a:rPr sz="1400" dirty="0" err="1">
                <a:solidFill>
                  <a:srgbClr val="475569"/>
                </a:solidFill>
              </a:rPr>
              <a:t>Enquanto</a:t>
            </a:r>
            <a:r>
              <a:rPr sz="1400" dirty="0">
                <a:solidFill>
                  <a:srgbClr val="475569"/>
                </a:solidFill>
              </a:rPr>
              <a:t> o </a:t>
            </a:r>
            <a:r>
              <a:rPr sz="1400" dirty="0" err="1">
                <a:solidFill>
                  <a:srgbClr val="475569"/>
                </a:solidFill>
              </a:rPr>
              <a:t>pesquisador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não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deliberar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formalmente</a:t>
            </a:r>
            <a:r>
              <a:rPr sz="1400" dirty="0">
                <a:solidFill>
                  <a:srgbClr val="475569"/>
                </a:solidFill>
              </a:rPr>
              <a:t> (ex.: D13, D14, D15), o </a:t>
            </a:r>
            <a:r>
              <a:rPr sz="1400" dirty="0" err="1">
                <a:solidFill>
                  <a:srgbClr val="475569"/>
                </a:solidFill>
              </a:rPr>
              <a:t>cálculo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gera</a:t>
            </a:r>
            <a:r>
              <a:rPr sz="1400" dirty="0">
                <a:solidFill>
                  <a:srgbClr val="475569"/>
                </a:solidFill>
              </a:rPr>
              <a:t> '</a:t>
            </a:r>
            <a:r>
              <a:rPr sz="1400" dirty="0" err="1">
                <a:solidFill>
                  <a:srgbClr val="475569"/>
                </a:solidFill>
              </a:rPr>
              <a:t>indisponivel</a:t>
            </a:r>
            <a:r>
              <a:rPr sz="1400" dirty="0">
                <a:solidFill>
                  <a:srgbClr val="475569"/>
                </a:solidFill>
              </a:rPr>
              <a:t>' com </a:t>
            </a:r>
            <a:r>
              <a:rPr sz="1400" dirty="0" err="1">
                <a:solidFill>
                  <a:srgbClr val="475569"/>
                </a:solidFill>
              </a:rPr>
              <a:t>justificativa</a:t>
            </a:r>
            <a:r>
              <a:rPr sz="1400" dirty="0">
                <a:solidFill>
                  <a:srgbClr val="475569"/>
                </a:solidFill>
              </a:rPr>
              <a:t>.</a:t>
            </a:r>
          </a:p>
          <a:p>
            <a:pPr>
              <a:spcAft>
                <a:spcPts val="400"/>
              </a:spcAft>
            </a:pPr>
            <a:r>
              <a:rPr sz="1400" b="1" dirty="0" err="1">
                <a:solidFill>
                  <a:srgbClr val="0F172A"/>
                </a:solidFill>
              </a:rPr>
              <a:t>Autonomia</a:t>
            </a:r>
            <a:r>
              <a:rPr sz="1400" b="1" dirty="0">
                <a:solidFill>
                  <a:srgbClr val="0F172A"/>
                </a:solidFill>
              </a:rPr>
              <a:t> do </a:t>
            </a:r>
            <a:r>
              <a:rPr sz="1400" b="1" dirty="0" err="1">
                <a:solidFill>
                  <a:srgbClr val="0F172A"/>
                </a:solidFill>
              </a:rPr>
              <a:t>Pesquisador</a:t>
            </a:r>
            <a:r>
              <a:rPr sz="1400" b="1" dirty="0">
                <a:solidFill>
                  <a:srgbClr val="0F172A"/>
                </a:solidFill>
              </a:rPr>
              <a:t>: </a:t>
            </a:r>
            <a:r>
              <a:rPr sz="1400" dirty="0">
                <a:solidFill>
                  <a:srgbClr val="475569"/>
                </a:solidFill>
              </a:rPr>
              <a:t>O </a:t>
            </a:r>
            <a:r>
              <a:rPr sz="1400" dirty="0" err="1">
                <a:solidFill>
                  <a:srgbClr val="475569"/>
                </a:solidFill>
              </a:rPr>
              <a:t>sistema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não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toma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decisões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teóricas</a:t>
            </a:r>
            <a:r>
              <a:rPr sz="1400" dirty="0">
                <a:solidFill>
                  <a:srgbClr val="475569"/>
                </a:solidFill>
              </a:rPr>
              <a:t> de </a:t>
            </a:r>
            <a:r>
              <a:rPr sz="1400" dirty="0" err="1">
                <a:solidFill>
                  <a:srgbClr val="475569"/>
                </a:solidFill>
              </a:rPr>
              <a:t>dissertação</a:t>
            </a:r>
            <a:r>
              <a:rPr sz="1400" dirty="0">
                <a:solidFill>
                  <a:srgbClr val="475569"/>
                </a:solidFill>
              </a:rPr>
              <a:t> no </a:t>
            </a:r>
            <a:r>
              <a:rPr sz="1400" dirty="0" err="1">
                <a:solidFill>
                  <a:srgbClr val="475569"/>
                </a:solidFill>
              </a:rPr>
              <a:t>lugar</a:t>
            </a:r>
            <a:r>
              <a:rPr sz="1400" dirty="0">
                <a:solidFill>
                  <a:srgbClr val="475569"/>
                </a:solidFill>
              </a:rPr>
              <a:t> do </a:t>
            </a:r>
            <a:r>
              <a:rPr sz="1400" dirty="0" err="1">
                <a:solidFill>
                  <a:srgbClr val="475569"/>
                </a:solidFill>
              </a:rPr>
              <a:t>mestrando</a:t>
            </a:r>
            <a:r>
              <a:rPr sz="1400" dirty="0">
                <a:solidFill>
                  <a:srgbClr val="475569"/>
                </a:solidFill>
              </a:rPr>
              <a:t>.</a:t>
            </a:r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2EB110DA-63F3-B6EF-04B8-DB81A80B9E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262992"/>
            <a:ext cx="1279123" cy="424992"/>
          </a:xfrm>
          <a:prstGeom prst="rect">
            <a:avLst/>
          </a:prstGeom>
          <a:effectLst>
            <a:glow rad="63500">
              <a:schemeClr val="bg1"/>
            </a:glo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DESENHO EXPERIMENTAL GEOESPACIAL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Desenho Amostral: 18 Estratos Multivariados &amp; Rarefação Espacial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SAREL v2.0 • Sistema de Amostragem e Rotulagem para Erosão Laminar • PPGTCA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3383280" cy="4709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3017520" cy="3511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50" b="1">
                <a:solidFill>
                  <a:srgbClr val="0EA5E9"/>
                </a:solidFill>
              </a:defRPr>
            </a:pPr>
            <a:r>
              <a:rPr sz="1600" dirty="0"/>
              <a:t>1. </a:t>
            </a:r>
            <a:r>
              <a:rPr sz="1600" dirty="0" err="1"/>
              <a:t>Estratificação</a:t>
            </a:r>
            <a:r>
              <a:rPr sz="1600" dirty="0"/>
              <a:t> </a:t>
            </a:r>
            <a:r>
              <a:rPr sz="1600" dirty="0" err="1"/>
              <a:t>Multivariada</a:t>
            </a:r>
            <a:endParaRPr sz="1600" dirty="0"/>
          </a:p>
          <a:p>
            <a:pPr>
              <a:spcAft>
                <a:spcPts val="400"/>
              </a:spcAft>
            </a:pPr>
            <a:r>
              <a:rPr sz="1600" b="1" dirty="0">
                <a:solidFill>
                  <a:srgbClr val="0F172A"/>
                </a:solidFill>
              </a:rPr>
              <a:t>18 </a:t>
            </a:r>
            <a:r>
              <a:rPr sz="1600" b="1" dirty="0" err="1">
                <a:solidFill>
                  <a:srgbClr val="0F172A"/>
                </a:solidFill>
              </a:rPr>
              <a:t>Estratos</a:t>
            </a:r>
            <a:r>
              <a:rPr sz="1600" b="1" dirty="0">
                <a:solidFill>
                  <a:srgbClr val="0F172A"/>
                </a:solidFill>
              </a:rPr>
              <a:t> (Ŝ x Ê x K̂) </a:t>
            </a:r>
          </a:p>
          <a:p>
            <a:pPr>
              <a:spcAft>
                <a:spcPts val="400"/>
              </a:spcAft>
            </a:pPr>
            <a:r>
              <a:rPr sz="1600" b="1" dirty="0" err="1">
                <a:solidFill>
                  <a:srgbClr val="0F172A"/>
                </a:solidFill>
              </a:rPr>
              <a:t>Dimensão</a:t>
            </a:r>
            <a:r>
              <a:rPr sz="1600" b="1" dirty="0">
                <a:solidFill>
                  <a:srgbClr val="0F172A"/>
                </a:solidFill>
              </a:rPr>
              <a:t> Ŝ (</a:t>
            </a:r>
            <a:r>
              <a:rPr sz="1600" b="1" dirty="0" err="1">
                <a:solidFill>
                  <a:srgbClr val="0F172A"/>
                </a:solidFill>
              </a:rPr>
              <a:t>Relevo</a:t>
            </a:r>
            <a:r>
              <a:rPr sz="1600" b="1" dirty="0">
                <a:solidFill>
                  <a:srgbClr val="0F172A"/>
                </a:solidFill>
              </a:rPr>
              <a:t>): </a:t>
            </a:r>
            <a:r>
              <a:rPr sz="1600" dirty="0" err="1">
                <a:solidFill>
                  <a:srgbClr val="475569"/>
                </a:solidFill>
              </a:rPr>
              <a:t>Tercis</a:t>
            </a:r>
            <a:r>
              <a:rPr sz="1600" dirty="0">
                <a:solidFill>
                  <a:srgbClr val="475569"/>
                </a:solidFill>
              </a:rPr>
              <a:t> de </a:t>
            </a:r>
            <a:r>
              <a:rPr sz="1600" dirty="0" err="1">
                <a:solidFill>
                  <a:srgbClr val="475569"/>
                </a:solidFill>
              </a:rPr>
              <a:t>declividade</a:t>
            </a:r>
            <a:r>
              <a:rPr sz="1600" dirty="0">
                <a:solidFill>
                  <a:srgbClr val="475569"/>
                </a:solidFill>
              </a:rPr>
              <a:t> (Suave, </a:t>
            </a:r>
            <a:r>
              <a:rPr sz="1600" dirty="0" err="1">
                <a:solidFill>
                  <a:srgbClr val="475569"/>
                </a:solidFill>
              </a:rPr>
              <a:t>Moderada</a:t>
            </a:r>
            <a:r>
              <a:rPr sz="1600" dirty="0">
                <a:solidFill>
                  <a:srgbClr val="475569"/>
                </a:solidFill>
              </a:rPr>
              <a:t>, Forte) </a:t>
            </a:r>
            <a:r>
              <a:rPr sz="1600" dirty="0" err="1">
                <a:solidFill>
                  <a:srgbClr val="475569"/>
                </a:solidFill>
              </a:rPr>
              <a:t>derivados</a:t>
            </a:r>
            <a:r>
              <a:rPr sz="1600" dirty="0">
                <a:solidFill>
                  <a:srgbClr val="475569"/>
                </a:solidFill>
              </a:rPr>
              <a:t> do DEM Copernicus GLO-30.</a:t>
            </a:r>
          </a:p>
          <a:p>
            <a:pPr>
              <a:spcAft>
                <a:spcPts val="400"/>
              </a:spcAft>
            </a:pPr>
            <a:r>
              <a:rPr sz="1600" b="1" dirty="0" err="1">
                <a:solidFill>
                  <a:srgbClr val="0F172A"/>
                </a:solidFill>
              </a:rPr>
              <a:t>Dimensão</a:t>
            </a:r>
            <a:r>
              <a:rPr sz="1600" b="1" dirty="0">
                <a:solidFill>
                  <a:srgbClr val="0F172A"/>
                </a:solidFill>
              </a:rPr>
              <a:t> Ê (Solo Nu): </a:t>
            </a:r>
            <a:r>
              <a:rPr sz="1600" dirty="0" err="1">
                <a:solidFill>
                  <a:srgbClr val="475569"/>
                </a:solidFill>
              </a:rPr>
              <a:t>Tercis</a:t>
            </a:r>
            <a:r>
              <a:rPr sz="1600" dirty="0">
                <a:solidFill>
                  <a:srgbClr val="475569"/>
                </a:solidFill>
              </a:rPr>
              <a:t> de </a:t>
            </a:r>
            <a:r>
              <a:rPr sz="1600" dirty="0" err="1">
                <a:solidFill>
                  <a:srgbClr val="475569"/>
                </a:solidFill>
              </a:rPr>
              <a:t>frequência</a:t>
            </a:r>
            <a:r>
              <a:rPr sz="1600" dirty="0">
                <a:solidFill>
                  <a:srgbClr val="475569"/>
                </a:solidFill>
              </a:rPr>
              <a:t> multitemporal de solo </a:t>
            </a:r>
            <a:r>
              <a:rPr sz="1600" dirty="0" err="1">
                <a:solidFill>
                  <a:srgbClr val="475569"/>
                </a:solidFill>
              </a:rPr>
              <a:t>descoberto</a:t>
            </a:r>
            <a:r>
              <a:rPr sz="1600" dirty="0">
                <a:solidFill>
                  <a:srgbClr val="475569"/>
                </a:solidFill>
              </a:rPr>
              <a:t> da </a:t>
            </a:r>
            <a:r>
              <a:rPr sz="1600" dirty="0" err="1">
                <a:solidFill>
                  <a:srgbClr val="475569"/>
                </a:solidFill>
              </a:rPr>
              <a:t>série</a:t>
            </a:r>
            <a:r>
              <a:rPr sz="1600" dirty="0">
                <a:solidFill>
                  <a:srgbClr val="475569"/>
                </a:solidFill>
              </a:rPr>
              <a:t> Sentinel-2.</a:t>
            </a:r>
          </a:p>
          <a:p>
            <a:pPr>
              <a:spcAft>
                <a:spcPts val="400"/>
              </a:spcAft>
            </a:pPr>
            <a:r>
              <a:rPr sz="1600" b="1" dirty="0" err="1">
                <a:solidFill>
                  <a:srgbClr val="0F172A"/>
                </a:solidFill>
              </a:rPr>
              <a:t>Dimensão</a:t>
            </a:r>
            <a:r>
              <a:rPr sz="1600" b="1" dirty="0">
                <a:solidFill>
                  <a:srgbClr val="0F172A"/>
                </a:solidFill>
              </a:rPr>
              <a:t> K̂ (</a:t>
            </a:r>
            <a:r>
              <a:rPr sz="1600" b="1" dirty="0" err="1">
                <a:solidFill>
                  <a:srgbClr val="0F172A"/>
                </a:solidFill>
              </a:rPr>
              <a:t>Pedologia</a:t>
            </a:r>
            <a:r>
              <a:rPr sz="1600" b="1" dirty="0">
                <a:solidFill>
                  <a:srgbClr val="0F172A"/>
                </a:solidFill>
              </a:rPr>
              <a:t>): </a:t>
            </a:r>
            <a:r>
              <a:rPr sz="1600" dirty="0">
                <a:solidFill>
                  <a:srgbClr val="475569"/>
                </a:solidFill>
              </a:rPr>
              <a:t>2 </a:t>
            </a:r>
            <a:r>
              <a:rPr sz="1600" dirty="0" err="1">
                <a:solidFill>
                  <a:srgbClr val="475569"/>
                </a:solidFill>
              </a:rPr>
              <a:t>níveis</a:t>
            </a:r>
            <a:r>
              <a:rPr sz="1600" dirty="0">
                <a:solidFill>
                  <a:srgbClr val="475569"/>
                </a:solidFill>
              </a:rPr>
              <a:t> de </a:t>
            </a:r>
            <a:r>
              <a:rPr sz="1600" dirty="0" err="1">
                <a:solidFill>
                  <a:srgbClr val="475569"/>
                </a:solidFill>
              </a:rPr>
              <a:t>erodibilidade</a:t>
            </a:r>
            <a:r>
              <a:rPr sz="1600" dirty="0">
                <a:solidFill>
                  <a:srgbClr val="475569"/>
                </a:solidFill>
              </a:rPr>
              <a:t> </a:t>
            </a:r>
            <a:r>
              <a:rPr sz="1600" dirty="0" err="1">
                <a:solidFill>
                  <a:srgbClr val="475569"/>
                </a:solidFill>
              </a:rPr>
              <a:t>derivados</a:t>
            </a:r>
            <a:r>
              <a:rPr sz="1600" dirty="0">
                <a:solidFill>
                  <a:srgbClr val="475569"/>
                </a:solidFill>
              </a:rPr>
              <a:t> do </a:t>
            </a:r>
            <a:r>
              <a:rPr sz="1600" dirty="0" err="1">
                <a:solidFill>
                  <a:srgbClr val="475569"/>
                </a:solidFill>
              </a:rPr>
              <a:t>levantamento</a:t>
            </a:r>
            <a:r>
              <a:rPr sz="1600" dirty="0">
                <a:solidFill>
                  <a:srgbClr val="475569"/>
                </a:solidFill>
              </a:rPr>
              <a:t> </a:t>
            </a:r>
            <a:r>
              <a:rPr sz="1600" dirty="0" err="1">
                <a:solidFill>
                  <a:srgbClr val="475569"/>
                </a:solidFill>
              </a:rPr>
              <a:t>pedológico</a:t>
            </a:r>
            <a:r>
              <a:rPr sz="1600" dirty="0">
                <a:solidFill>
                  <a:srgbClr val="475569"/>
                </a:solidFill>
              </a:rPr>
              <a:t> </a:t>
            </a:r>
            <a:r>
              <a:rPr sz="1600" dirty="0" err="1">
                <a:solidFill>
                  <a:srgbClr val="475569"/>
                </a:solidFill>
              </a:rPr>
              <a:t>oficial</a:t>
            </a:r>
            <a:r>
              <a:rPr sz="1600" dirty="0">
                <a:solidFill>
                  <a:srgbClr val="475569"/>
                </a:solidFill>
              </a:rPr>
              <a:t> da Embrapa Solos.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383280" cy="4709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0" y="1600200"/>
            <a:ext cx="3017520" cy="4003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50" b="1">
                <a:solidFill>
                  <a:srgbClr val="10B981"/>
                </a:solidFill>
              </a:defRPr>
            </a:pPr>
            <a:r>
              <a:rPr sz="1600" dirty="0"/>
              <a:t>2. </a:t>
            </a:r>
            <a:r>
              <a:rPr sz="1600" dirty="0" err="1"/>
              <a:t>Rarefação</a:t>
            </a:r>
            <a:r>
              <a:rPr sz="1600" dirty="0"/>
              <a:t> </a:t>
            </a:r>
            <a:r>
              <a:rPr sz="1600" dirty="0" err="1"/>
              <a:t>Espacial</a:t>
            </a:r>
            <a:r>
              <a:rPr sz="1600" dirty="0"/>
              <a:t> (Thinning)</a:t>
            </a:r>
          </a:p>
          <a:p>
            <a:pPr>
              <a:spcAft>
                <a:spcPts val="400"/>
              </a:spcAft>
            </a:pPr>
            <a:r>
              <a:rPr sz="1600" b="1" dirty="0">
                <a:solidFill>
                  <a:srgbClr val="0F172A"/>
                </a:solidFill>
              </a:rPr>
              <a:t>Raio </a:t>
            </a:r>
            <a:r>
              <a:rPr sz="1600" b="1" dirty="0" err="1">
                <a:solidFill>
                  <a:srgbClr val="0F172A"/>
                </a:solidFill>
              </a:rPr>
              <a:t>Mínimo</a:t>
            </a:r>
            <a:r>
              <a:rPr sz="1600" b="1" dirty="0">
                <a:solidFill>
                  <a:srgbClr val="0F172A"/>
                </a:solidFill>
              </a:rPr>
              <a:t> d ≥ 1,0 km (P02) </a:t>
            </a:r>
          </a:p>
          <a:p>
            <a:pPr>
              <a:spcAft>
                <a:spcPts val="400"/>
              </a:spcAft>
            </a:pPr>
            <a:r>
              <a:rPr sz="1600" b="1" dirty="0" err="1">
                <a:solidFill>
                  <a:srgbClr val="0F172A"/>
                </a:solidFill>
              </a:rPr>
              <a:t>Primeira</a:t>
            </a:r>
            <a:r>
              <a:rPr sz="1600" b="1" dirty="0">
                <a:solidFill>
                  <a:srgbClr val="0F172A"/>
                </a:solidFill>
              </a:rPr>
              <a:t> Lei de Tobler: </a:t>
            </a:r>
            <a:r>
              <a:rPr sz="1600" dirty="0">
                <a:solidFill>
                  <a:srgbClr val="475569"/>
                </a:solidFill>
              </a:rPr>
              <a:t>Pixels </a:t>
            </a:r>
            <a:r>
              <a:rPr sz="1600" dirty="0" err="1">
                <a:solidFill>
                  <a:srgbClr val="475569"/>
                </a:solidFill>
              </a:rPr>
              <a:t>contíguos</a:t>
            </a:r>
            <a:r>
              <a:rPr sz="1600" dirty="0">
                <a:solidFill>
                  <a:srgbClr val="475569"/>
                </a:solidFill>
              </a:rPr>
              <a:t> </a:t>
            </a:r>
            <a:r>
              <a:rPr sz="1600" dirty="0" err="1">
                <a:solidFill>
                  <a:srgbClr val="475569"/>
                </a:solidFill>
              </a:rPr>
              <a:t>possuem</a:t>
            </a:r>
            <a:r>
              <a:rPr sz="1600" dirty="0">
                <a:solidFill>
                  <a:srgbClr val="475569"/>
                </a:solidFill>
              </a:rPr>
              <a:t> solos e </a:t>
            </a:r>
            <a:r>
              <a:rPr sz="1600" dirty="0" err="1">
                <a:solidFill>
                  <a:srgbClr val="475569"/>
                </a:solidFill>
              </a:rPr>
              <a:t>relevo</a:t>
            </a:r>
            <a:r>
              <a:rPr sz="1600" dirty="0">
                <a:solidFill>
                  <a:srgbClr val="475569"/>
                </a:solidFill>
              </a:rPr>
              <a:t> </a:t>
            </a:r>
            <a:r>
              <a:rPr sz="1600" dirty="0" err="1">
                <a:solidFill>
                  <a:srgbClr val="475569"/>
                </a:solidFill>
              </a:rPr>
              <a:t>similares</a:t>
            </a:r>
            <a:r>
              <a:rPr sz="1600" dirty="0">
                <a:solidFill>
                  <a:srgbClr val="475569"/>
                </a:solidFill>
              </a:rPr>
              <a:t>, </a:t>
            </a:r>
            <a:r>
              <a:rPr sz="1600" dirty="0" err="1">
                <a:solidFill>
                  <a:srgbClr val="475569"/>
                </a:solidFill>
              </a:rPr>
              <a:t>causando</a:t>
            </a:r>
            <a:r>
              <a:rPr sz="1600" dirty="0">
                <a:solidFill>
                  <a:srgbClr val="475569"/>
                </a:solidFill>
              </a:rPr>
              <a:t> </a:t>
            </a:r>
            <a:r>
              <a:rPr sz="1600" dirty="0" err="1">
                <a:solidFill>
                  <a:srgbClr val="475569"/>
                </a:solidFill>
              </a:rPr>
              <a:t>inflação</a:t>
            </a:r>
            <a:r>
              <a:rPr sz="1600" dirty="0">
                <a:solidFill>
                  <a:srgbClr val="475569"/>
                </a:solidFill>
              </a:rPr>
              <a:t> artificial </a:t>
            </a:r>
            <a:r>
              <a:rPr sz="1600" dirty="0" err="1">
                <a:solidFill>
                  <a:srgbClr val="475569"/>
                </a:solidFill>
              </a:rPr>
              <a:t>por</a:t>
            </a:r>
            <a:r>
              <a:rPr sz="1600" dirty="0">
                <a:solidFill>
                  <a:srgbClr val="475569"/>
                </a:solidFill>
              </a:rPr>
              <a:t> </a:t>
            </a:r>
            <a:r>
              <a:rPr sz="1600" dirty="0" err="1">
                <a:solidFill>
                  <a:srgbClr val="475569"/>
                </a:solidFill>
              </a:rPr>
              <a:t>dependência</a:t>
            </a:r>
            <a:r>
              <a:rPr sz="1600" dirty="0">
                <a:solidFill>
                  <a:srgbClr val="475569"/>
                </a:solidFill>
              </a:rPr>
              <a:t> </a:t>
            </a:r>
            <a:r>
              <a:rPr sz="1600" dirty="0" err="1">
                <a:solidFill>
                  <a:srgbClr val="475569"/>
                </a:solidFill>
              </a:rPr>
              <a:t>espacial</a:t>
            </a:r>
            <a:r>
              <a:rPr sz="1600" dirty="0">
                <a:solidFill>
                  <a:srgbClr val="475569"/>
                </a:solidFill>
              </a:rPr>
              <a:t>.</a:t>
            </a:r>
          </a:p>
          <a:p>
            <a:pPr>
              <a:spcAft>
                <a:spcPts val="400"/>
              </a:spcAft>
            </a:pPr>
            <a:r>
              <a:rPr sz="1600" b="1" dirty="0" err="1">
                <a:solidFill>
                  <a:srgbClr val="0F172A"/>
                </a:solidFill>
              </a:rPr>
              <a:t>Algoritmo</a:t>
            </a:r>
            <a:r>
              <a:rPr sz="1600" b="1" dirty="0">
                <a:solidFill>
                  <a:srgbClr val="0F172A"/>
                </a:solidFill>
              </a:rPr>
              <a:t> </a:t>
            </a:r>
            <a:r>
              <a:rPr sz="1600" b="1" dirty="0" err="1">
                <a:solidFill>
                  <a:srgbClr val="0F172A"/>
                </a:solidFill>
              </a:rPr>
              <a:t>Determinístico</a:t>
            </a:r>
            <a:r>
              <a:rPr sz="1600" b="1" dirty="0">
                <a:solidFill>
                  <a:srgbClr val="0F172A"/>
                </a:solidFill>
              </a:rPr>
              <a:t>: </a:t>
            </a:r>
            <a:r>
              <a:rPr sz="1600" dirty="0" err="1">
                <a:solidFill>
                  <a:srgbClr val="475569"/>
                </a:solidFill>
              </a:rPr>
              <a:t>Rarefação</a:t>
            </a:r>
            <a:r>
              <a:rPr sz="1600" dirty="0">
                <a:solidFill>
                  <a:srgbClr val="475569"/>
                </a:solidFill>
              </a:rPr>
              <a:t> </a:t>
            </a:r>
            <a:r>
              <a:rPr sz="1600" dirty="0" err="1">
                <a:solidFill>
                  <a:srgbClr val="475569"/>
                </a:solidFill>
              </a:rPr>
              <a:t>espacial</a:t>
            </a:r>
            <a:r>
              <a:rPr sz="1600" dirty="0">
                <a:solidFill>
                  <a:srgbClr val="475569"/>
                </a:solidFill>
              </a:rPr>
              <a:t> </a:t>
            </a:r>
            <a:r>
              <a:rPr sz="1600" dirty="0" err="1">
                <a:solidFill>
                  <a:srgbClr val="475569"/>
                </a:solidFill>
              </a:rPr>
              <a:t>gulosa</a:t>
            </a:r>
            <a:r>
              <a:rPr sz="1600" dirty="0">
                <a:solidFill>
                  <a:srgbClr val="475569"/>
                </a:solidFill>
              </a:rPr>
              <a:t> com </a:t>
            </a:r>
            <a:r>
              <a:rPr sz="1600" dirty="0" err="1">
                <a:solidFill>
                  <a:srgbClr val="475569"/>
                </a:solidFill>
              </a:rPr>
              <a:t>ordenação</a:t>
            </a:r>
            <a:r>
              <a:rPr sz="1600" dirty="0">
                <a:solidFill>
                  <a:srgbClr val="475569"/>
                </a:solidFill>
              </a:rPr>
              <a:t> </a:t>
            </a:r>
            <a:r>
              <a:rPr sz="1600" dirty="0" err="1">
                <a:solidFill>
                  <a:srgbClr val="475569"/>
                </a:solidFill>
              </a:rPr>
              <a:t>determinística</a:t>
            </a:r>
            <a:r>
              <a:rPr sz="1600" dirty="0">
                <a:solidFill>
                  <a:srgbClr val="475569"/>
                </a:solidFill>
              </a:rPr>
              <a:t> (Fisher-Yates) e </a:t>
            </a:r>
            <a:r>
              <a:rPr sz="1600" dirty="0" err="1">
                <a:solidFill>
                  <a:srgbClr val="475569"/>
                </a:solidFill>
              </a:rPr>
              <a:t>semente</a:t>
            </a:r>
            <a:r>
              <a:rPr sz="1600" dirty="0">
                <a:solidFill>
                  <a:srgbClr val="475569"/>
                </a:solidFill>
              </a:rPr>
              <a:t> </a:t>
            </a:r>
            <a:r>
              <a:rPr sz="1600" dirty="0" err="1">
                <a:solidFill>
                  <a:srgbClr val="475569"/>
                </a:solidFill>
              </a:rPr>
              <a:t>registrada</a:t>
            </a:r>
            <a:r>
              <a:rPr sz="1600" dirty="0">
                <a:solidFill>
                  <a:srgbClr val="475569"/>
                </a:solidFill>
              </a:rPr>
              <a:t> (P07).</a:t>
            </a:r>
          </a:p>
          <a:p>
            <a:pPr>
              <a:spcAft>
                <a:spcPts val="400"/>
              </a:spcAft>
            </a:pPr>
            <a:r>
              <a:rPr sz="1600" b="1" dirty="0" err="1">
                <a:solidFill>
                  <a:srgbClr val="0F172A"/>
                </a:solidFill>
              </a:rPr>
              <a:t>Dispersão</a:t>
            </a:r>
            <a:r>
              <a:rPr sz="1600" b="1" dirty="0">
                <a:solidFill>
                  <a:srgbClr val="0F172A"/>
                </a:solidFill>
              </a:rPr>
              <a:t> </a:t>
            </a:r>
            <a:r>
              <a:rPr sz="1600" b="1" dirty="0" err="1">
                <a:solidFill>
                  <a:srgbClr val="0F172A"/>
                </a:solidFill>
              </a:rPr>
              <a:t>Homogênea</a:t>
            </a:r>
            <a:r>
              <a:rPr sz="1600" b="1" dirty="0">
                <a:solidFill>
                  <a:srgbClr val="0F172A"/>
                </a:solidFill>
              </a:rPr>
              <a:t>: </a:t>
            </a:r>
            <a:r>
              <a:rPr sz="1600" dirty="0" err="1">
                <a:solidFill>
                  <a:srgbClr val="475569"/>
                </a:solidFill>
              </a:rPr>
              <a:t>Força</a:t>
            </a:r>
            <a:r>
              <a:rPr sz="1600" dirty="0">
                <a:solidFill>
                  <a:srgbClr val="475569"/>
                </a:solidFill>
              </a:rPr>
              <a:t> a </a:t>
            </a:r>
            <a:r>
              <a:rPr sz="1600" dirty="0" err="1">
                <a:solidFill>
                  <a:srgbClr val="475569"/>
                </a:solidFill>
              </a:rPr>
              <a:t>representatividade</a:t>
            </a:r>
            <a:r>
              <a:rPr sz="1600" dirty="0">
                <a:solidFill>
                  <a:srgbClr val="475569"/>
                </a:solidFill>
              </a:rPr>
              <a:t> regional </a:t>
            </a:r>
            <a:r>
              <a:rPr sz="1600" dirty="0" err="1">
                <a:solidFill>
                  <a:srgbClr val="475569"/>
                </a:solidFill>
              </a:rPr>
              <a:t>em</a:t>
            </a:r>
            <a:r>
              <a:rPr sz="1600" dirty="0">
                <a:solidFill>
                  <a:srgbClr val="475569"/>
                </a:solidFill>
              </a:rPr>
              <a:t> </a:t>
            </a:r>
            <a:r>
              <a:rPr sz="1600" dirty="0" err="1">
                <a:solidFill>
                  <a:srgbClr val="475569"/>
                </a:solidFill>
              </a:rPr>
              <a:t>toda</a:t>
            </a:r>
            <a:r>
              <a:rPr sz="1600" dirty="0">
                <a:solidFill>
                  <a:srgbClr val="475569"/>
                </a:solidFill>
              </a:rPr>
              <a:t> a </a:t>
            </a:r>
            <a:r>
              <a:rPr sz="1600" dirty="0" err="1">
                <a:solidFill>
                  <a:srgbClr val="475569"/>
                </a:solidFill>
              </a:rPr>
              <a:t>extensão</a:t>
            </a:r>
            <a:r>
              <a:rPr sz="1600" dirty="0">
                <a:solidFill>
                  <a:srgbClr val="475569"/>
                </a:solidFill>
              </a:rPr>
              <a:t> da </a:t>
            </a:r>
            <a:r>
              <a:rPr sz="1600" dirty="0" err="1">
                <a:solidFill>
                  <a:srgbClr val="475569"/>
                </a:solidFill>
              </a:rPr>
              <a:t>bacia</a:t>
            </a:r>
            <a:r>
              <a:rPr sz="1600" dirty="0">
                <a:solidFill>
                  <a:srgbClr val="475569"/>
                </a:solidFill>
              </a:rPr>
              <a:t> </a:t>
            </a:r>
            <a:r>
              <a:rPr sz="1600" dirty="0" err="1">
                <a:solidFill>
                  <a:srgbClr val="475569"/>
                </a:solidFill>
              </a:rPr>
              <a:t>hidrográfica</a:t>
            </a:r>
            <a:r>
              <a:rPr sz="1600" dirty="0">
                <a:solidFill>
                  <a:srgbClr val="475569"/>
                </a:solidFill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17320"/>
            <a:ext cx="3383280" cy="4709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0" y="1600200"/>
            <a:ext cx="3017520" cy="375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50" b="1">
                <a:solidFill>
                  <a:srgbClr val="D97706"/>
                </a:solidFill>
              </a:defRPr>
            </a:pPr>
            <a:r>
              <a:rPr sz="1600" dirty="0"/>
              <a:t>3. </a:t>
            </a:r>
            <a:r>
              <a:rPr sz="1600" dirty="0" err="1"/>
              <a:t>Garantia</a:t>
            </a:r>
            <a:r>
              <a:rPr sz="1600" dirty="0"/>
              <a:t> de </a:t>
            </a:r>
            <a:r>
              <a:rPr sz="1600" dirty="0" err="1"/>
              <a:t>Controles</a:t>
            </a:r>
            <a:endParaRPr sz="1600" dirty="0"/>
          </a:p>
          <a:p>
            <a:pPr>
              <a:spcAft>
                <a:spcPts val="400"/>
              </a:spcAft>
            </a:pPr>
            <a:r>
              <a:rPr sz="1600" b="1" dirty="0" err="1">
                <a:solidFill>
                  <a:srgbClr val="0F172A"/>
                </a:solidFill>
              </a:rPr>
              <a:t>Balanceamento</a:t>
            </a:r>
            <a:r>
              <a:rPr sz="1600" b="1" dirty="0">
                <a:solidFill>
                  <a:srgbClr val="0F172A"/>
                </a:solidFill>
              </a:rPr>
              <a:t> de Classes (0 e 1) </a:t>
            </a:r>
          </a:p>
          <a:p>
            <a:pPr>
              <a:spcAft>
                <a:spcPts val="400"/>
              </a:spcAft>
            </a:pPr>
            <a:r>
              <a:rPr sz="1600" b="1" dirty="0">
                <a:solidFill>
                  <a:srgbClr val="0F172A"/>
                </a:solidFill>
              </a:rPr>
              <a:t>Classe 1 (</a:t>
            </a:r>
            <a:r>
              <a:rPr sz="1600" b="1" dirty="0" err="1">
                <a:solidFill>
                  <a:srgbClr val="0F172A"/>
                </a:solidFill>
              </a:rPr>
              <a:t>Erosão</a:t>
            </a:r>
            <a:r>
              <a:rPr sz="1600" b="1" dirty="0">
                <a:solidFill>
                  <a:srgbClr val="0F172A"/>
                </a:solidFill>
              </a:rPr>
              <a:t> </a:t>
            </a:r>
            <a:r>
              <a:rPr sz="1600" b="1" dirty="0" err="1">
                <a:solidFill>
                  <a:srgbClr val="0F172A"/>
                </a:solidFill>
              </a:rPr>
              <a:t>Potencial</a:t>
            </a:r>
            <a:r>
              <a:rPr sz="1600" b="1" dirty="0">
                <a:solidFill>
                  <a:srgbClr val="0F172A"/>
                </a:solidFill>
              </a:rPr>
              <a:t>): </a:t>
            </a:r>
            <a:r>
              <a:rPr sz="1600" dirty="0" err="1">
                <a:solidFill>
                  <a:srgbClr val="475569"/>
                </a:solidFill>
              </a:rPr>
              <a:t>Candidatos</a:t>
            </a:r>
            <a:r>
              <a:rPr sz="1600" dirty="0">
                <a:solidFill>
                  <a:srgbClr val="475569"/>
                </a:solidFill>
              </a:rPr>
              <a:t> </a:t>
            </a:r>
            <a:r>
              <a:rPr sz="1600" dirty="0" err="1">
                <a:solidFill>
                  <a:srgbClr val="475569"/>
                </a:solidFill>
              </a:rPr>
              <a:t>estratificados</a:t>
            </a:r>
            <a:r>
              <a:rPr sz="1600" dirty="0">
                <a:solidFill>
                  <a:srgbClr val="475569"/>
                </a:solidFill>
              </a:rPr>
              <a:t> com histórico de </a:t>
            </a:r>
            <a:r>
              <a:rPr sz="1600" dirty="0" err="1">
                <a:solidFill>
                  <a:srgbClr val="475569"/>
                </a:solidFill>
              </a:rPr>
              <a:t>exposição</a:t>
            </a:r>
            <a:r>
              <a:rPr sz="1600" dirty="0">
                <a:solidFill>
                  <a:srgbClr val="475569"/>
                </a:solidFill>
              </a:rPr>
              <a:t> </a:t>
            </a:r>
            <a:r>
              <a:rPr sz="1600" dirty="0" err="1">
                <a:solidFill>
                  <a:srgbClr val="475569"/>
                </a:solidFill>
              </a:rPr>
              <a:t>frequente</a:t>
            </a:r>
            <a:r>
              <a:rPr sz="1600" dirty="0">
                <a:solidFill>
                  <a:srgbClr val="475569"/>
                </a:solidFill>
              </a:rPr>
              <a:t> e </a:t>
            </a:r>
            <a:r>
              <a:rPr sz="1600" dirty="0" err="1">
                <a:solidFill>
                  <a:srgbClr val="475569"/>
                </a:solidFill>
              </a:rPr>
              <a:t>gradiente</a:t>
            </a:r>
            <a:r>
              <a:rPr sz="1600" dirty="0">
                <a:solidFill>
                  <a:srgbClr val="475569"/>
                </a:solidFill>
              </a:rPr>
              <a:t> de rampa.</a:t>
            </a:r>
          </a:p>
          <a:p>
            <a:pPr>
              <a:spcAft>
                <a:spcPts val="400"/>
              </a:spcAft>
            </a:pPr>
            <a:r>
              <a:rPr sz="1600" b="1" dirty="0">
                <a:solidFill>
                  <a:srgbClr val="0F172A"/>
                </a:solidFill>
              </a:rPr>
              <a:t>Classe 0 (Controle </a:t>
            </a:r>
            <a:r>
              <a:rPr sz="1600" b="1" dirty="0" err="1">
                <a:solidFill>
                  <a:srgbClr val="0F172A"/>
                </a:solidFill>
              </a:rPr>
              <a:t>Negativo</a:t>
            </a:r>
            <a:r>
              <a:rPr sz="1600" b="1" dirty="0">
                <a:solidFill>
                  <a:srgbClr val="0F172A"/>
                </a:solidFill>
              </a:rPr>
              <a:t>): </a:t>
            </a:r>
            <a:r>
              <a:rPr sz="1600" dirty="0" err="1">
                <a:solidFill>
                  <a:srgbClr val="475569"/>
                </a:solidFill>
              </a:rPr>
              <a:t>Amostragem</a:t>
            </a:r>
            <a:r>
              <a:rPr sz="1600" dirty="0">
                <a:solidFill>
                  <a:srgbClr val="475569"/>
                </a:solidFill>
              </a:rPr>
              <a:t> </a:t>
            </a:r>
            <a:r>
              <a:rPr sz="1600" dirty="0" err="1">
                <a:solidFill>
                  <a:srgbClr val="475569"/>
                </a:solidFill>
              </a:rPr>
              <a:t>em</a:t>
            </a:r>
            <a:r>
              <a:rPr sz="1600" dirty="0">
                <a:solidFill>
                  <a:srgbClr val="475569"/>
                </a:solidFill>
              </a:rPr>
              <a:t> </a:t>
            </a:r>
            <a:r>
              <a:rPr sz="1600" dirty="0" err="1">
                <a:solidFill>
                  <a:srgbClr val="475569"/>
                </a:solidFill>
              </a:rPr>
              <a:t>áreas</a:t>
            </a:r>
            <a:r>
              <a:rPr sz="1600" dirty="0">
                <a:solidFill>
                  <a:srgbClr val="475569"/>
                </a:solidFill>
              </a:rPr>
              <a:t> sob Sistema </a:t>
            </a:r>
            <a:r>
              <a:rPr sz="1600" dirty="0" err="1">
                <a:solidFill>
                  <a:srgbClr val="475569"/>
                </a:solidFill>
              </a:rPr>
              <a:t>Plantio</a:t>
            </a:r>
            <a:r>
              <a:rPr sz="1600" dirty="0">
                <a:solidFill>
                  <a:srgbClr val="475569"/>
                </a:solidFill>
              </a:rPr>
              <a:t> </a:t>
            </a:r>
            <a:r>
              <a:rPr sz="1600" dirty="0" err="1">
                <a:solidFill>
                  <a:srgbClr val="475569"/>
                </a:solidFill>
              </a:rPr>
              <a:t>Direto</a:t>
            </a:r>
            <a:r>
              <a:rPr sz="1600" dirty="0">
                <a:solidFill>
                  <a:srgbClr val="475569"/>
                </a:solidFill>
              </a:rPr>
              <a:t> (SPD) </a:t>
            </a:r>
            <a:r>
              <a:rPr sz="1600" dirty="0" err="1">
                <a:solidFill>
                  <a:srgbClr val="475569"/>
                </a:solidFill>
              </a:rPr>
              <a:t>consolidado</a:t>
            </a:r>
            <a:r>
              <a:rPr sz="1600" dirty="0">
                <a:solidFill>
                  <a:srgbClr val="475569"/>
                </a:solidFill>
              </a:rPr>
              <a:t> e </a:t>
            </a:r>
            <a:r>
              <a:rPr sz="1600" dirty="0" err="1">
                <a:solidFill>
                  <a:srgbClr val="475569"/>
                </a:solidFill>
              </a:rPr>
              <a:t>pastagens</a:t>
            </a:r>
            <a:r>
              <a:rPr sz="1600" dirty="0">
                <a:solidFill>
                  <a:srgbClr val="475569"/>
                </a:solidFill>
              </a:rPr>
              <a:t> </a:t>
            </a:r>
            <a:r>
              <a:rPr sz="1600" dirty="0" err="1">
                <a:solidFill>
                  <a:srgbClr val="475569"/>
                </a:solidFill>
              </a:rPr>
              <a:t>estáveis</a:t>
            </a:r>
            <a:r>
              <a:rPr sz="1600" dirty="0">
                <a:solidFill>
                  <a:srgbClr val="475569"/>
                </a:solidFill>
              </a:rPr>
              <a:t>.</a:t>
            </a:r>
          </a:p>
          <a:p>
            <a:pPr>
              <a:spcAft>
                <a:spcPts val="400"/>
              </a:spcAft>
            </a:pPr>
            <a:r>
              <a:rPr sz="1600" b="1" dirty="0" err="1">
                <a:solidFill>
                  <a:srgbClr val="0F172A"/>
                </a:solidFill>
              </a:rPr>
              <a:t>Prevenção</a:t>
            </a:r>
            <a:r>
              <a:rPr sz="1600" b="1" dirty="0">
                <a:solidFill>
                  <a:srgbClr val="0F172A"/>
                </a:solidFill>
              </a:rPr>
              <a:t> de </a:t>
            </a:r>
            <a:r>
              <a:rPr sz="1600" b="1" dirty="0" err="1">
                <a:solidFill>
                  <a:srgbClr val="0F172A"/>
                </a:solidFill>
              </a:rPr>
              <a:t>Vícios</a:t>
            </a:r>
            <a:r>
              <a:rPr sz="1600" b="1" dirty="0">
                <a:solidFill>
                  <a:srgbClr val="0F172A"/>
                </a:solidFill>
              </a:rPr>
              <a:t>: </a:t>
            </a:r>
            <a:r>
              <a:rPr sz="1600" dirty="0" err="1">
                <a:solidFill>
                  <a:srgbClr val="475569"/>
                </a:solidFill>
              </a:rPr>
              <a:t>Garante</a:t>
            </a:r>
            <a:r>
              <a:rPr sz="1600" dirty="0">
                <a:solidFill>
                  <a:srgbClr val="475569"/>
                </a:solidFill>
              </a:rPr>
              <a:t> </a:t>
            </a:r>
            <a:r>
              <a:rPr sz="1600" dirty="0" err="1">
                <a:solidFill>
                  <a:srgbClr val="475569"/>
                </a:solidFill>
              </a:rPr>
              <a:t>que</a:t>
            </a:r>
            <a:r>
              <a:rPr sz="1600" dirty="0">
                <a:solidFill>
                  <a:srgbClr val="475569"/>
                </a:solidFill>
              </a:rPr>
              <a:t> o </a:t>
            </a:r>
            <a:r>
              <a:rPr sz="1600" dirty="0" err="1">
                <a:solidFill>
                  <a:srgbClr val="475569"/>
                </a:solidFill>
              </a:rPr>
              <a:t>classificador</a:t>
            </a:r>
            <a:r>
              <a:rPr sz="1600" dirty="0">
                <a:solidFill>
                  <a:srgbClr val="475569"/>
                </a:solidFill>
              </a:rPr>
              <a:t> </a:t>
            </a:r>
            <a:r>
              <a:rPr sz="1600" dirty="0" err="1">
                <a:solidFill>
                  <a:srgbClr val="475569"/>
                </a:solidFill>
              </a:rPr>
              <a:t>aprenda</a:t>
            </a:r>
            <a:r>
              <a:rPr sz="1600" dirty="0">
                <a:solidFill>
                  <a:srgbClr val="475569"/>
                </a:solidFill>
              </a:rPr>
              <a:t> o </a:t>
            </a:r>
            <a:r>
              <a:rPr sz="1600" dirty="0" err="1">
                <a:solidFill>
                  <a:srgbClr val="475569"/>
                </a:solidFill>
              </a:rPr>
              <a:t>contraste</a:t>
            </a:r>
            <a:r>
              <a:rPr sz="1600" dirty="0">
                <a:solidFill>
                  <a:srgbClr val="475569"/>
                </a:solidFill>
              </a:rPr>
              <a:t> </a:t>
            </a:r>
            <a:r>
              <a:rPr sz="1600" dirty="0" err="1">
                <a:solidFill>
                  <a:srgbClr val="475569"/>
                </a:solidFill>
              </a:rPr>
              <a:t>biofísico</a:t>
            </a:r>
            <a:r>
              <a:rPr sz="1600" dirty="0">
                <a:solidFill>
                  <a:srgbClr val="475569"/>
                </a:solidFill>
              </a:rPr>
              <a:t> real entre </a:t>
            </a:r>
            <a:r>
              <a:rPr sz="1600" dirty="0" err="1">
                <a:solidFill>
                  <a:srgbClr val="475569"/>
                </a:solidFill>
              </a:rPr>
              <a:t>equilíbrio</a:t>
            </a:r>
            <a:r>
              <a:rPr sz="1600" dirty="0">
                <a:solidFill>
                  <a:srgbClr val="475569"/>
                </a:solidFill>
              </a:rPr>
              <a:t> e </a:t>
            </a:r>
            <a:r>
              <a:rPr sz="1600" dirty="0" err="1">
                <a:solidFill>
                  <a:srgbClr val="475569"/>
                </a:solidFill>
              </a:rPr>
              <a:t>degradação</a:t>
            </a:r>
            <a:r>
              <a:rPr sz="1600" dirty="0">
                <a:solidFill>
                  <a:srgbClr val="475569"/>
                </a:solidFill>
              </a:rPr>
              <a:t>.</a:t>
            </a: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56159CF5-E879-C0D5-8AFA-6FB9CB14C5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262992"/>
            <a:ext cx="1279123" cy="424992"/>
          </a:xfrm>
          <a:prstGeom prst="rect">
            <a:avLst/>
          </a:prstGeom>
          <a:effectLst>
            <a:glow rad="63500">
              <a:schemeClr val="bg1"/>
            </a:glo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EXTRAÇÃO DE PREDITORES FÍSICO-INFORMADOS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Sensoriamento Remoto: Sentinel-2, DEM Copernicus &amp; Decomposição Harmônica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SAREL v2.0 • Sistema de Amostragem e Rotulagem para Erosão Laminar • PPGTCA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521208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4846320" cy="1767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0EA5E9"/>
                </a:solidFill>
              </a:defRPr>
            </a:pPr>
            <a:r>
              <a:rPr sz="1400" dirty="0"/>
              <a:t>Sentinel-2 MSI L2A (BOA)</a:t>
            </a:r>
          </a:p>
          <a:p>
            <a:pPr>
              <a:spcAft>
                <a:spcPts val="400"/>
              </a:spcAft>
            </a:pPr>
            <a:r>
              <a:rPr sz="1400" b="1" dirty="0">
                <a:solidFill>
                  <a:srgbClr val="0F172A"/>
                </a:solidFill>
              </a:rPr>
              <a:t>Bandas </a:t>
            </a:r>
            <a:r>
              <a:rPr sz="1400" b="1" dirty="0" err="1">
                <a:solidFill>
                  <a:srgbClr val="0F172A"/>
                </a:solidFill>
              </a:rPr>
              <a:t>Físicas</a:t>
            </a:r>
            <a:r>
              <a:rPr sz="1400" b="1" dirty="0">
                <a:solidFill>
                  <a:srgbClr val="0F172A"/>
                </a:solidFill>
              </a:rPr>
              <a:t>: </a:t>
            </a:r>
            <a:r>
              <a:rPr sz="1400" dirty="0">
                <a:solidFill>
                  <a:srgbClr val="475569"/>
                </a:solidFill>
              </a:rPr>
              <a:t>B2 (Azul), B4 (Vermelho), B8 (NIR) e B11/B12 (SWIR) com </a:t>
            </a:r>
            <a:r>
              <a:rPr sz="1400" dirty="0" err="1">
                <a:solidFill>
                  <a:srgbClr val="475569"/>
                </a:solidFill>
              </a:rPr>
              <a:t>reflectância</a:t>
            </a:r>
            <a:r>
              <a:rPr sz="1400" dirty="0">
                <a:solidFill>
                  <a:srgbClr val="475569"/>
                </a:solidFill>
              </a:rPr>
              <a:t> de </a:t>
            </a:r>
            <a:r>
              <a:rPr sz="1400" dirty="0" err="1">
                <a:solidFill>
                  <a:srgbClr val="475569"/>
                </a:solidFill>
              </a:rPr>
              <a:t>fundo</a:t>
            </a:r>
            <a:r>
              <a:rPr sz="1400" dirty="0">
                <a:solidFill>
                  <a:srgbClr val="475569"/>
                </a:solidFill>
              </a:rPr>
              <a:t> de </a:t>
            </a:r>
            <a:r>
              <a:rPr sz="1400" dirty="0" err="1">
                <a:solidFill>
                  <a:srgbClr val="475569"/>
                </a:solidFill>
              </a:rPr>
              <a:t>atmosfera</a:t>
            </a:r>
            <a:r>
              <a:rPr sz="1400" dirty="0">
                <a:solidFill>
                  <a:srgbClr val="475569"/>
                </a:solidFill>
              </a:rPr>
              <a:t>.</a:t>
            </a:r>
          </a:p>
          <a:p>
            <a:pPr>
              <a:spcAft>
                <a:spcPts val="400"/>
              </a:spcAft>
            </a:pPr>
            <a:r>
              <a:rPr sz="1400" b="1" dirty="0" err="1">
                <a:solidFill>
                  <a:srgbClr val="0F172A"/>
                </a:solidFill>
              </a:rPr>
              <a:t>Índices</a:t>
            </a:r>
            <a:r>
              <a:rPr sz="1400" b="1" dirty="0">
                <a:solidFill>
                  <a:srgbClr val="0F172A"/>
                </a:solidFill>
              </a:rPr>
              <a:t> </a:t>
            </a:r>
            <a:r>
              <a:rPr sz="1400" b="1" dirty="0" err="1">
                <a:solidFill>
                  <a:srgbClr val="0F172A"/>
                </a:solidFill>
              </a:rPr>
              <a:t>Espectrais</a:t>
            </a:r>
            <a:r>
              <a:rPr sz="1400" b="1" dirty="0">
                <a:solidFill>
                  <a:srgbClr val="0F172A"/>
                </a:solidFill>
              </a:rPr>
              <a:t>: </a:t>
            </a:r>
            <a:r>
              <a:rPr sz="1400" dirty="0">
                <a:solidFill>
                  <a:srgbClr val="475569"/>
                </a:solidFill>
              </a:rPr>
              <a:t>NDVI (</a:t>
            </a:r>
            <a:r>
              <a:rPr sz="1400" dirty="0" err="1">
                <a:solidFill>
                  <a:srgbClr val="475569"/>
                </a:solidFill>
              </a:rPr>
              <a:t>cobertura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fotossintética</a:t>
            </a:r>
            <a:r>
              <a:rPr sz="1400" dirty="0">
                <a:solidFill>
                  <a:srgbClr val="475569"/>
                </a:solidFill>
              </a:rPr>
              <a:t>) e BSI (Bare Soil Index) </a:t>
            </a:r>
            <a:r>
              <a:rPr sz="1400" dirty="0" err="1">
                <a:solidFill>
                  <a:srgbClr val="475569"/>
                </a:solidFill>
              </a:rPr>
              <a:t>computados</a:t>
            </a:r>
            <a:r>
              <a:rPr sz="1400" dirty="0">
                <a:solidFill>
                  <a:srgbClr val="475569"/>
                </a:solidFill>
              </a:rPr>
              <a:t> pixel a pixel </a:t>
            </a:r>
            <a:r>
              <a:rPr sz="1400" dirty="0" err="1">
                <a:solidFill>
                  <a:srgbClr val="475569"/>
                </a:solidFill>
              </a:rPr>
              <a:t>na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série</a:t>
            </a:r>
            <a:r>
              <a:rPr sz="1400" dirty="0">
                <a:solidFill>
                  <a:srgbClr val="475569"/>
                </a:solidFill>
              </a:rPr>
              <a:t>.</a:t>
            </a:r>
          </a:p>
          <a:p>
            <a:pPr>
              <a:spcAft>
                <a:spcPts val="400"/>
              </a:spcAft>
            </a:pPr>
            <a:r>
              <a:rPr sz="1400" b="1" dirty="0" err="1">
                <a:solidFill>
                  <a:srgbClr val="0F172A"/>
                </a:solidFill>
              </a:rPr>
              <a:t>Discriminação</a:t>
            </a:r>
            <a:r>
              <a:rPr sz="1400" b="1" dirty="0">
                <a:solidFill>
                  <a:srgbClr val="0F172A"/>
                </a:solidFill>
              </a:rPr>
              <a:t> de </a:t>
            </a:r>
            <a:r>
              <a:rPr sz="1400" b="1" dirty="0" err="1">
                <a:solidFill>
                  <a:srgbClr val="0F172A"/>
                </a:solidFill>
              </a:rPr>
              <a:t>Palhada</a:t>
            </a:r>
            <a:r>
              <a:rPr sz="1400" b="1" dirty="0">
                <a:solidFill>
                  <a:srgbClr val="0F172A"/>
                </a:solidFill>
              </a:rPr>
              <a:t>: </a:t>
            </a:r>
            <a:r>
              <a:rPr sz="1400" dirty="0">
                <a:solidFill>
                  <a:srgbClr val="475569"/>
                </a:solidFill>
              </a:rPr>
              <a:t>O BSI </a:t>
            </a:r>
            <a:r>
              <a:rPr sz="1400" dirty="0" err="1">
                <a:solidFill>
                  <a:srgbClr val="475569"/>
                </a:solidFill>
              </a:rPr>
              <a:t>permite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discriminar</a:t>
            </a:r>
            <a:r>
              <a:rPr sz="1400" dirty="0">
                <a:solidFill>
                  <a:srgbClr val="475569"/>
                </a:solidFill>
              </a:rPr>
              <a:t> solo </a:t>
            </a:r>
            <a:r>
              <a:rPr sz="1400" dirty="0" err="1">
                <a:solidFill>
                  <a:srgbClr val="475569"/>
                </a:solidFill>
              </a:rPr>
              <a:t>exposto</a:t>
            </a:r>
            <a:r>
              <a:rPr sz="1400" dirty="0">
                <a:solidFill>
                  <a:srgbClr val="475569"/>
                </a:solidFill>
              </a:rPr>
              <a:t> de </a:t>
            </a:r>
            <a:r>
              <a:rPr sz="1400" dirty="0" err="1">
                <a:solidFill>
                  <a:srgbClr val="475569"/>
                </a:solidFill>
              </a:rPr>
              <a:t>palhada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seca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em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áreas</a:t>
            </a:r>
            <a:r>
              <a:rPr sz="1400" dirty="0">
                <a:solidFill>
                  <a:srgbClr val="475569"/>
                </a:solidFill>
              </a:rPr>
              <a:t> de </a:t>
            </a:r>
            <a:r>
              <a:rPr sz="1400" dirty="0" err="1">
                <a:solidFill>
                  <a:srgbClr val="475569"/>
                </a:solidFill>
              </a:rPr>
              <a:t>plantio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direto</a:t>
            </a:r>
            <a:r>
              <a:rPr sz="1400" dirty="0">
                <a:solidFill>
                  <a:srgbClr val="475569"/>
                </a:solidFill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21208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600200"/>
            <a:ext cx="4846320" cy="1767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0B981"/>
                </a:solidFill>
              </a:defRPr>
            </a:pPr>
            <a:r>
              <a:rPr sz="1400" dirty="0"/>
              <a:t>Copernicus DEM GLO-30</a:t>
            </a:r>
          </a:p>
          <a:p>
            <a:pPr>
              <a:spcAft>
                <a:spcPts val="400"/>
              </a:spcAft>
            </a:pPr>
            <a:r>
              <a:rPr sz="1400" b="1" dirty="0" err="1">
                <a:solidFill>
                  <a:srgbClr val="0F172A"/>
                </a:solidFill>
              </a:rPr>
              <a:t>Projeção</a:t>
            </a:r>
            <a:r>
              <a:rPr sz="1400" b="1" dirty="0">
                <a:solidFill>
                  <a:srgbClr val="0F172A"/>
                </a:solidFill>
              </a:rPr>
              <a:t> </a:t>
            </a:r>
            <a:r>
              <a:rPr sz="1400" b="1" dirty="0" err="1">
                <a:solidFill>
                  <a:srgbClr val="0F172A"/>
                </a:solidFill>
              </a:rPr>
              <a:t>Métrica</a:t>
            </a:r>
            <a:r>
              <a:rPr sz="1400" b="1" dirty="0">
                <a:solidFill>
                  <a:srgbClr val="0F172A"/>
                </a:solidFill>
              </a:rPr>
              <a:t> </a:t>
            </a:r>
            <a:r>
              <a:rPr sz="1400" b="1" dirty="0" err="1">
                <a:solidFill>
                  <a:srgbClr val="0F172A"/>
                </a:solidFill>
              </a:rPr>
              <a:t>Oficial</a:t>
            </a:r>
            <a:r>
              <a:rPr sz="1400" b="1" dirty="0">
                <a:solidFill>
                  <a:srgbClr val="0F172A"/>
                </a:solidFill>
              </a:rPr>
              <a:t>: </a:t>
            </a:r>
            <a:r>
              <a:rPr sz="1400" dirty="0" err="1">
                <a:solidFill>
                  <a:srgbClr val="475569"/>
                </a:solidFill>
              </a:rPr>
              <a:t>Cálculo</a:t>
            </a:r>
            <a:r>
              <a:rPr sz="1400" dirty="0">
                <a:solidFill>
                  <a:srgbClr val="475569"/>
                </a:solidFill>
              </a:rPr>
              <a:t> de </a:t>
            </a:r>
            <a:r>
              <a:rPr sz="1400" dirty="0" err="1">
                <a:solidFill>
                  <a:srgbClr val="475569"/>
                </a:solidFill>
              </a:rPr>
              <a:t>declividade</a:t>
            </a:r>
            <a:r>
              <a:rPr sz="1400" dirty="0">
                <a:solidFill>
                  <a:srgbClr val="475569"/>
                </a:solidFill>
              </a:rPr>
              <a:t> e </a:t>
            </a:r>
            <a:r>
              <a:rPr sz="1400" dirty="0" err="1">
                <a:solidFill>
                  <a:srgbClr val="475569"/>
                </a:solidFill>
              </a:rPr>
              <a:t>elevação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em</a:t>
            </a:r>
            <a:r>
              <a:rPr sz="1400" dirty="0">
                <a:solidFill>
                  <a:srgbClr val="475569"/>
                </a:solidFill>
              </a:rPr>
              <a:t> SIRGAS 2000 / UTM 22S (EPSG:31982).</a:t>
            </a:r>
          </a:p>
          <a:p>
            <a:pPr>
              <a:spcAft>
                <a:spcPts val="400"/>
              </a:spcAft>
            </a:pPr>
            <a:r>
              <a:rPr sz="1400" b="1" dirty="0" err="1">
                <a:solidFill>
                  <a:srgbClr val="0F172A"/>
                </a:solidFill>
              </a:rPr>
              <a:t>Correção</a:t>
            </a:r>
            <a:r>
              <a:rPr sz="1400" b="1" dirty="0">
                <a:solidFill>
                  <a:srgbClr val="0F172A"/>
                </a:solidFill>
              </a:rPr>
              <a:t> do Erro 3857: </a:t>
            </a:r>
            <a:r>
              <a:rPr sz="1400" dirty="0" err="1">
                <a:solidFill>
                  <a:srgbClr val="475569"/>
                </a:solidFill>
              </a:rPr>
              <a:t>Elimina</a:t>
            </a:r>
            <a:r>
              <a:rPr sz="1400" dirty="0">
                <a:solidFill>
                  <a:srgbClr val="475569"/>
                </a:solidFill>
              </a:rPr>
              <a:t> a </a:t>
            </a:r>
            <a:r>
              <a:rPr sz="1400" dirty="0" err="1">
                <a:solidFill>
                  <a:srgbClr val="475569"/>
                </a:solidFill>
              </a:rPr>
              <a:t>subestimação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sistemática</a:t>
            </a:r>
            <a:r>
              <a:rPr sz="1400" dirty="0">
                <a:solidFill>
                  <a:srgbClr val="475569"/>
                </a:solidFill>
              </a:rPr>
              <a:t> de 10% </a:t>
            </a:r>
            <a:r>
              <a:rPr sz="1400" dirty="0" err="1">
                <a:solidFill>
                  <a:srgbClr val="475569"/>
                </a:solidFill>
              </a:rPr>
              <a:t>na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declividade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causada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pelo</a:t>
            </a:r>
            <a:r>
              <a:rPr sz="1400" dirty="0">
                <a:solidFill>
                  <a:srgbClr val="475569"/>
                </a:solidFill>
              </a:rPr>
              <a:t> Web Mercator no Paraná.</a:t>
            </a:r>
          </a:p>
          <a:p>
            <a:pPr>
              <a:spcAft>
                <a:spcPts val="400"/>
              </a:spcAft>
            </a:pPr>
            <a:r>
              <a:rPr sz="1400" b="1" dirty="0" err="1">
                <a:solidFill>
                  <a:srgbClr val="0F172A"/>
                </a:solidFill>
              </a:rPr>
              <a:t>Atributos</a:t>
            </a:r>
            <a:r>
              <a:rPr sz="1400" b="1" dirty="0">
                <a:solidFill>
                  <a:srgbClr val="0F172A"/>
                </a:solidFill>
              </a:rPr>
              <a:t> de </a:t>
            </a:r>
            <a:r>
              <a:rPr sz="1400" b="1" dirty="0" err="1">
                <a:solidFill>
                  <a:srgbClr val="0F172A"/>
                </a:solidFill>
              </a:rPr>
              <a:t>Terreno</a:t>
            </a:r>
            <a:r>
              <a:rPr sz="1400" b="1" dirty="0">
                <a:solidFill>
                  <a:srgbClr val="0F172A"/>
                </a:solidFill>
              </a:rPr>
              <a:t>: </a:t>
            </a:r>
            <a:r>
              <a:rPr sz="1400" dirty="0" err="1">
                <a:solidFill>
                  <a:srgbClr val="475569"/>
                </a:solidFill>
              </a:rPr>
              <a:t>Elevação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ortométrica</a:t>
            </a:r>
            <a:r>
              <a:rPr sz="1400" dirty="0">
                <a:solidFill>
                  <a:srgbClr val="475569"/>
                </a:solidFill>
              </a:rPr>
              <a:t>, </a:t>
            </a:r>
            <a:r>
              <a:rPr sz="1400" dirty="0" err="1">
                <a:solidFill>
                  <a:srgbClr val="475569"/>
                </a:solidFill>
              </a:rPr>
              <a:t>declividade</a:t>
            </a:r>
            <a:r>
              <a:rPr sz="1400" dirty="0">
                <a:solidFill>
                  <a:srgbClr val="475569"/>
                </a:solidFill>
              </a:rPr>
              <a:t> (</a:t>
            </a:r>
            <a:r>
              <a:rPr sz="1400" dirty="0" err="1">
                <a:solidFill>
                  <a:srgbClr val="475569"/>
                </a:solidFill>
              </a:rPr>
              <a:t>graus</a:t>
            </a:r>
            <a:r>
              <a:rPr sz="1400" dirty="0">
                <a:solidFill>
                  <a:srgbClr val="475569"/>
                </a:solidFill>
              </a:rPr>
              <a:t>/%), </a:t>
            </a:r>
            <a:r>
              <a:rPr sz="1400" dirty="0" err="1">
                <a:solidFill>
                  <a:srgbClr val="475569"/>
                </a:solidFill>
              </a:rPr>
              <a:t>curvatura</a:t>
            </a:r>
            <a:r>
              <a:rPr sz="1400" dirty="0">
                <a:solidFill>
                  <a:srgbClr val="475569"/>
                </a:solidFill>
              </a:rPr>
              <a:t> de </a:t>
            </a:r>
            <a:r>
              <a:rPr sz="1400" dirty="0" err="1">
                <a:solidFill>
                  <a:srgbClr val="475569"/>
                </a:solidFill>
              </a:rPr>
              <a:t>vertente</a:t>
            </a:r>
            <a:r>
              <a:rPr sz="1400" dirty="0">
                <a:solidFill>
                  <a:srgbClr val="475569"/>
                </a:solidFill>
              </a:rPr>
              <a:t> e </a:t>
            </a:r>
            <a:r>
              <a:rPr sz="1400" dirty="0" err="1">
                <a:solidFill>
                  <a:srgbClr val="475569"/>
                </a:solidFill>
              </a:rPr>
              <a:t>acúmulo</a:t>
            </a:r>
            <a:r>
              <a:rPr sz="1400" dirty="0">
                <a:solidFill>
                  <a:srgbClr val="475569"/>
                </a:solidFill>
              </a:rPr>
              <a:t> de </a:t>
            </a:r>
            <a:r>
              <a:rPr sz="1400" dirty="0" err="1">
                <a:solidFill>
                  <a:srgbClr val="475569"/>
                </a:solidFill>
              </a:rPr>
              <a:t>fluxo</a:t>
            </a:r>
            <a:r>
              <a:rPr sz="1400" dirty="0">
                <a:solidFill>
                  <a:srgbClr val="475569"/>
                </a:solidFill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521208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4023360"/>
            <a:ext cx="4846320" cy="1767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6366F1"/>
                </a:solidFill>
              </a:defRPr>
            </a:pPr>
            <a:r>
              <a:rPr sz="1400" dirty="0" err="1"/>
              <a:t>Decomposição</a:t>
            </a:r>
            <a:r>
              <a:rPr sz="1400" dirty="0"/>
              <a:t> Harmônica OLS</a:t>
            </a:r>
          </a:p>
          <a:p>
            <a:pPr>
              <a:spcAft>
                <a:spcPts val="400"/>
              </a:spcAft>
            </a:pPr>
            <a:r>
              <a:rPr sz="1400" b="1" dirty="0" err="1">
                <a:solidFill>
                  <a:srgbClr val="0F172A"/>
                </a:solidFill>
              </a:rPr>
              <a:t>Ajuste</a:t>
            </a:r>
            <a:r>
              <a:rPr sz="1400" b="1" dirty="0">
                <a:solidFill>
                  <a:srgbClr val="0F172A"/>
                </a:solidFill>
              </a:rPr>
              <a:t> </a:t>
            </a:r>
            <a:r>
              <a:rPr sz="1400" b="1" dirty="0" err="1">
                <a:solidFill>
                  <a:srgbClr val="0F172A"/>
                </a:solidFill>
              </a:rPr>
              <a:t>Multivariado</a:t>
            </a:r>
            <a:r>
              <a:rPr sz="1400" b="1" dirty="0">
                <a:solidFill>
                  <a:srgbClr val="0F172A"/>
                </a:solidFill>
              </a:rPr>
              <a:t>: </a:t>
            </a:r>
            <a:r>
              <a:rPr sz="1400" dirty="0" err="1">
                <a:solidFill>
                  <a:srgbClr val="475569"/>
                </a:solidFill>
              </a:rPr>
              <a:t>Regressão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harmônica</a:t>
            </a:r>
            <a:r>
              <a:rPr sz="1400" dirty="0">
                <a:solidFill>
                  <a:srgbClr val="475569"/>
                </a:solidFill>
              </a:rPr>
              <a:t> de 1 e 2 </a:t>
            </a:r>
            <a:r>
              <a:rPr sz="1400" dirty="0" err="1">
                <a:solidFill>
                  <a:srgbClr val="475569"/>
                </a:solidFill>
              </a:rPr>
              <a:t>ciclos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anuais</a:t>
            </a:r>
            <a:r>
              <a:rPr sz="1400" dirty="0">
                <a:solidFill>
                  <a:srgbClr val="475569"/>
                </a:solidFill>
              </a:rPr>
              <a:t> (Zhu &amp; Woodcock 2014) para </a:t>
            </a:r>
            <a:r>
              <a:rPr sz="1400" dirty="0" err="1">
                <a:solidFill>
                  <a:srgbClr val="475569"/>
                </a:solidFill>
              </a:rPr>
              <a:t>cada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banda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espectral</a:t>
            </a:r>
            <a:r>
              <a:rPr sz="1400" dirty="0">
                <a:solidFill>
                  <a:srgbClr val="475569"/>
                </a:solidFill>
              </a:rPr>
              <a:t>.</a:t>
            </a:r>
          </a:p>
          <a:p>
            <a:pPr>
              <a:spcAft>
                <a:spcPts val="400"/>
              </a:spcAft>
            </a:pPr>
            <a:r>
              <a:rPr sz="1400" b="1" dirty="0" err="1">
                <a:solidFill>
                  <a:srgbClr val="0F172A"/>
                </a:solidFill>
              </a:rPr>
              <a:t>Parâmetros</a:t>
            </a:r>
            <a:r>
              <a:rPr sz="1400" b="1" dirty="0">
                <a:solidFill>
                  <a:srgbClr val="0F172A"/>
                </a:solidFill>
              </a:rPr>
              <a:t> </a:t>
            </a:r>
            <a:r>
              <a:rPr sz="1400" b="1" dirty="0" err="1">
                <a:solidFill>
                  <a:srgbClr val="0F172A"/>
                </a:solidFill>
              </a:rPr>
              <a:t>Extraídos</a:t>
            </a:r>
            <a:r>
              <a:rPr sz="1400" b="1" dirty="0">
                <a:solidFill>
                  <a:srgbClr val="0F172A"/>
                </a:solidFill>
              </a:rPr>
              <a:t>: </a:t>
            </a:r>
            <a:r>
              <a:rPr sz="1400" dirty="0" err="1">
                <a:solidFill>
                  <a:srgbClr val="475569"/>
                </a:solidFill>
              </a:rPr>
              <a:t>Tendência</a:t>
            </a:r>
            <a:r>
              <a:rPr sz="1400" dirty="0">
                <a:solidFill>
                  <a:srgbClr val="475569"/>
                </a:solidFill>
              </a:rPr>
              <a:t> temporal (b1), amplitudes </a:t>
            </a:r>
            <a:r>
              <a:rPr sz="1400" dirty="0" err="1">
                <a:solidFill>
                  <a:srgbClr val="475569"/>
                </a:solidFill>
              </a:rPr>
              <a:t>anual</a:t>
            </a:r>
            <a:r>
              <a:rPr sz="1400" dirty="0">
                <a:solidFill>
                  <a:srgbClr val="475569"/>
                </a:solidFill>
              </a:rPr>
              <a:t>/</a:t>
            </a:r>
            <a:r>
              <a:rPr sz="1400" dirty="0" err="1">
                <a:solidFill>
                  <a:srgbClr val="475569"/>
                </a:solidFill>
              </a:rPr>
              <a:t>semianual</a:t>
            </a:r>
            <a:r>
              <a:rPr sz="1400" dirty="0">
                <a:solidFill>
                  <a:srgbClr val="475569"/>
                </a:solidFill>
              </a:rPr>
              <a:t> e </a:t>
            </a:r>
            <a:r>
              <a:rPr sz="1400" dirty="0" err="1">
                <a:solidFill>
                  <a:srgbClr val="475569"/>
                </a:solidFill>
              </a:rPr>
              <a:t>fases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espectrais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sazonais</a:t>
            </a:r>
            <a:r>
              <a:rPr sz="1400" dirty="0">
                <a:solidFill>
                  <a:srgbClr val="475569"/>
                </a:solidFill>
              </a:rPr>
              <a:t>.</a:t>
            </a:r>
          </a:p>
          <a:p>
            <a:pPr>
              <a:spcAft>
                <a:spcPts val="400"/>
              </a:spcAft>
            </a:pPr>
            <a:r>
              <a:rPr sz="1400" b="1" dirty="0" err="1">
                <a:solidFill>
                  <a:srgbClr val="0F172A"/>
                </a:solidFill>
              </a:rPr>
              <a:t>Métricas</a:t>
            </a:r>
            <a:r>
              <a:rPr sz="1400" b="1" dirty="0">
                <a:solidFill>
                  <a:srgbClr val="0F172A"/>
                </a:solidFill>
              </a:rPr>
              <a:t> de </a:t>
            </a:r>
            <a:r>
              <a:rPr sz="1400" b="1" dirty="0" err="1">
                <a:solidFill>
                  <a:srgbClr val="0F172A"/>
                </a:solidFill>
              </a:rPr>
              <a:t>Ajuste</a:t>
            </a:r>
            <a:r>
              <a:rPr sz="1400" b="1" dirty="0">
                <a:solidFill>
                  <a:srgbClr val="0F172A"/>
                </a:solidFill>
              </a:rPr>
              <a:t>: </a:t>
            </a:r>
            <a:r>
              <a:rPr sz="1400" dirty="0">
                <a:solidFill>
                  <a:srgbClr val="475569"/>
                </a:solidFill>
              </a:rPr>
              <a:t>Cada </a:t>
            </a:r>
            <a:r>
              <a:rPr sz="1400" dirty="0" err="1">
                <a:solidFill>
                  <a:srgbClr val="475569"/>
                </a:solidFill>
              </a:rPr>
              <a:t>coeficiente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armazena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número</a:t>
            </a:r>
            <a:r>
              <a:rPr sz="1400" dirty="0">
                <a:solidFill>
                  <a:srgbClr val="475569"/>
                </a:solidFill>
              </a:rPr>
              <a:t> de </a:t>
            </a:r>
            <a:r>
              <a:rPr sz="1400" dirty="0" err="1">
                <a:solidFill>
                  <a:srgbClr val="475569"/>
                </a:solidFill>
              </a:rPr>
              <a:t>observações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válidas</a:t>
            </a:r>
            <a:r>
              <a:rPr sz="1400" dirty="0">
                <a:solidFill>
                  <a:srgbClr val="475569"/>
                </a:solidFill>
              </a:rPr>
              <a:t>, R² do </a:t>
            </a:r>
            <a:r>
              <a:rPr sz="1400" dirty="0" err="1">
                <a:solidFill>
                  <a:srgbClr val="475569"/>
                </a:solidFill>
              </a:rPr>
              <a:t>ajuste</a:t>
            </a:r>
            <a:r>
              <a:rPr sz="1400" dirty="0">
                <a:solidFill>
                  <a:srgbClr val="475569"/>
                </a:solidFill>
              </a:rPr>
              <a:t> e </a:t>
            </a:r>
            <a:r>
              <a:rPr sz="1400" dirty="0" err="1">
                <a:solidFill>
                  <a:srgbClr val="475569"/>
                </a:solidFill>
              </a:rPr>
              <a:t>erro-padrão</a:t>
            </a:r>
            <a:r>
              <a:rPr sz="1400" dirty="0">
                <a:solidFill>
                  <a:srgbClr val="475569"/>
                </a:solidFill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840480"/>
            <a:ext cx="521208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4023360"/>
            <a:ext cx="4846320" cy="1767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D97706"/>
                </a:solidFill>
              </a:defRPr>
            </a:pPr>
            <a:r>
              <a:rPr sz="1400" dirty="0" err="1"/>
              <a:t>Dinâmica</a:t>
            </a:r>
            <a:r>
              <a:rPr sz="1400" dirty="0"/>
              <a:t> do Solo </a:t>
            </a:r>
            <a:r>
              <a:rPr sz="1400" dirty="0" err="1"/>
              <a:t>Exposto</a:t>
            </a:r>
            <a:r>
              <a:rPr sz="1400" dirty="0"/>
              <a:t> (Ê)</a:t>
            </a:r>
          </a:p>
          <a:p>
            <a:pPr>
              <a:spcAft>
                <a:spcPts val="400"/>
              </a:spcAft>
            </a:pPr>
            <a:r>
              <a:rPr sz="1400" b="1" dirty="0" err="1">
                <a:solidFill>
                  <a:srgbClr val="0F172A"/>
                </a:solidFill>
              </a:rPr>
              <a:t>Frequência</a:t>
            </a:r>
            <a:r>
              <a:rPr sz="1400" b="1" dirty="0">
                <a:solidFill>
                  <a:srgbClr val="0F172A"/>
                </a:solidFill>
              </a:rPr>
              <a:t> de Solo Nu (Ê): </a:t>
            </a:r>
            <a:r>
              <a:rPr sz="1400" dirty="0" err="1">
                <a:solidFill>
                  <a:srgbClr val="475569"/>
                </a:solidFill>
              </a:rPr>
              <a:t>Fração</a:t>
            </a:r>
            <a:r>
              <a:rPr sz="1400" dirty="0">
                <a:solidFill>
                  <a:srgbClr val="475569"/>
                </a:solidFill>
              </a:rPr>
              <a:t> temporal </a:t>
            </a:r>
            <a:r>
              <a:rPr sz="1400" dirty="0" err="1">
                <a:solidFill>
                  <a:srgbClr val="475569"/>
                </a:solidFill>
              </a:rPr>
              <a:t>em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que</a:t>
            </a:r>
            <a:r>
              <a:rPr sz="1400" dirty="0">
                <a:solidFill>
                  <a:srgbClr val="475569"/>
                </a:solidFill>
              </a:rPr>
              <a:t> o solo </a:t>
            </a:r>
            <a:r>
              <a:rPr sz="1400" dirty="0" err="1">
                <a:solidFill>
                  <a:srgbClr val="475569"/>
                </a:solidFill>
              </a:rPr>
              <a:t>permaneceu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descoberto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ao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longo</a:t>
            </a:r>
            <a:r>
              <a:rPr sz="1400" dirty="0">
                <a:solidFill>
                  <a:srgbClr val="475569"/>
                </a:solidFill>
              </a:rPr>
              <a:t> da </a:t>
            </a:r>
            <a:r>
              <a:rPr sz="1400" dirty="0" err="1">
                <a:solidFill>
                  <a:srgbClr val="475569"/>
                </a:solidFill>
              </a:rPr>
              <a:t>série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histórica</a:t>
            </a:r>
            <a:r>
              <a:rPr sz="1400" dirty="0">
                <a:solidFill>
                  <a:srgbClr val="475569"/>
                </a:solidFill>
              </a:rPr>
              <a:t>.</a:t>
            </a:r>
          </a:p>
          <a:p>
            <a:pPr>
              <a:spcAft>
                <a:spcPts val="400"/>
              </a:spcAft>
            </a:pPr>
            <a:r>
              <a:rPr sz="1400" b="1" dirty="0" err="1">
                <a:solidFill>
                  <a:srgbClr val="0F172A"/>
                </a:solidFill>
              </a:rPr>
              <a:t>Sequência</a:t>
            </a:r>
            <a:r>
              <a:rPr sz="1400" b="1" dirty="0">
                <a:solidFill>
                  <a:srgbClr val="0F172A"/>
                </a:solidFill>
              </a:rPr>
              <a:t> </a:t>
            </a:r>
            <a:r>
              <a:rPr sz="1400" b="1" dirty="0" err="1">
                <a:solidFill>
                  <a:srgbClr val="0F172A"/>
                </a:solidFill>
              </a:rPr>
              <a:t>Contínua</a:t>
            </a:r>
            <a:r>
              <a:rPr sz="1400" b="1" dirty="0">
                <a:solidFill>
                  <a:srgbClr val="0F172A"/>
                </a:solidFill>
              </a:rPr>
              <a:t>: </a:t>
            </a:r>
            <a:r>
              <a:rPr sz="1400" dirty="0">
                <a:solidFill>
                  <a:srgbClr val="475569"/>
                </a:solidFill>
              </a:rPr>
              <a:t>Maior </a:t>
            </a:r>
            <a:r>
              <a:rPr sz="1400" dirty="0" err="1">
                <a:solidFill>
                  <a:srgbClr val="475569"/>
                </a:solidFill>
              </a:rPr>
              <a:t>número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consecutivo</a:t>
            </a:r>
            <a:r>
              <a:rPr sz="1400" dirty="0">
                <a:solidFill>
                  <a:srgbClr val="475569"/>
                </a:solidFill>
              </a:rPr>
              <a:t> de meses sob </a:t>
            </a:r>
            <a:r>
              <a:rPr sz="1400" dirty="0" err="1">
                <a:solidFill>
                  <a:srgbClr val="475569"/>
                </a:solidFill>
              </a:rPr>
              <a:t>exposição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crítica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aos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agentes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erosivos</a:t>
            </a:r>
            <a:r>
              <a:rPr sz="1400" dirty="0">
                <a:solidFill>
                  <a:srgbClr val="475569"/>
                </a:solidFill>
              </a:rPr>
              <a:t>.</a:t>
            </a:r>
          </a:p>
          <a:p>
            <a:pPr>
              <a:spcAft>
                <a:spcPts val="400"/>
              </a:spcAft>
            </a:pPr>
            <a:r>
              <a:rPr sz="1400" b="1" dirty="0" err="1">
                <a:solidFill>
                  <a:srgbClr val="0F172A"/>
                </a:solidFill>
              </a:rPr>
              <a:t>Sazonalidade</a:t>
            </a:r>
            <a:r>
              <a:rPr sz="1400" b="1" dirty="0">
                <a:solidFill>
                  <a:srgbClr val="0F172A"/>
                </a:solidFill>
              </a:rPr>
              <a:t>: </a:t>
            </a:r>
            <a:r>
              <a:rPr sz="1400" dirty="0" err="1">
                <a:solidFill>
                  <a:srgbClr val="475569"/>
                </a:solidFill>
              </a:rPr>
              <a:t>Identifica</a:t>
            </a:r>
            <a:r>
              <a:rPr sz="1400" dirty="0">
                <a:solidFill>
                  <a:srgbClr val="475569"/>
                </a:solidFill>
              </a:rPr>
              <a:t> a </a:t>
            </a:r>
            <a:r>
              <a:rPr sz="1400" dirty="0" err="1">
                <a:solidFill>
                  <a:srgbClr val="475569"/>
                </a:solidFill>
              </a:rPr>
              <a:t>época</a:t>
            </a:r>
            <a:r>
              <a:rPr sz="1400" dirty="0">
                <a:solidFill>
                  <a:srgbClr val="475569"/>
                </a:solidFill>
              </a:rPr>
              <a:t> do </a:t>
            </a:r>
            <a:r>
              <a:rPr sz="1400" dirty="0" err="1">
                <a:solidFill>
                  <a:srgbClr val="475569"/>
                </a:solidFill>
              </a:rPr>
              <a:t>ano</a:t>
            </a:r>
            <a:r>
              <a:rPr sz="1400" dirty="0">
                <a:solidFill>
                  <a:srgbClr val="475569"/>
                </a:solidFill>
              </a:rPr>
              <a:t> com </a:t>
            </a:r>
            <a:r>
              <a:rPr sz="1400" dirty="0" err="1">
                <a:solidFill>
                  <a:srgbClr val="475569"/>
                </a:solidFill>
              </a:rPr>
              <a:t>maior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vulnerabilidade</a:t>
            </a:r>
            <a:r>
              <a:rPr sz="1400" dirty="0">
                <a:solidFill>
                  <a:srgbClr val="475569"/>
                </a:solidFill>
              </a:rPr>
              <a:t> a </a:t>
            </a:r>
            <a:r>
              <a:rPr sz="1400" dirty="0" err="1">
                <a:solidFill>
                  <a:srgbClr val="475569"/>
                </a:solidFill>
              </a:rPr>
              <a:t>chuvas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intensas</a:t>
            </a:r>
            <a:r>
              <a:rPr sz="1400" dirty="0">
                <a:solidFill>
                  <a:srgbClr val="475569"/>
                </a:solidFill>
              </a:rPr>
              <a:t> no Paraná.</a:t>
            </a:r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523C3828-C309-FADE-20FA-847FF451D0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262992"/>
            <a:ext cx="1279123" cy="424992"/>
          </a:xfrm>
          <a:prstGeom prst="rect">
            <a:avLst/>
          </a:prstGeom>
          <a:effectLst>
            <a:glow rad="63500">
              <a:schemeClr val="bg1"/>
            </a:glo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MODELAGEM FÍSICO-MATEMÁTICA CONVENCIONAL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Linha de Base RUSLE: Instrumento Comparativo com Respaldo Científico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SAREL v2.0 • Sistema de Amostragem e Rotulagem para Erosão Laminar • PPGTCA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10698480" cy="868680"/>
          </a:xfrm>
          <a:prstGeom prst="roundRect">
            <a:avLst/>
          </a:prstGeom>
          <a:solidFill>
            <a:srgbClr val="ECFDF5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29487" y="1604772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65F46"/>
                </a:solidFill>
              </a:defRPr>
            </a:pPr>
            <a:r>
              <a:rPr dirty="0"/>
              <a:t>A = R × K × LS × C × P   [</a:t>
            </a:r>
            <a:r>
              <a:rPr dirty="0" err="1"/>
              <a:t>Estimativa</a:t>
            </a:r>
            <a:r>
              <a:rPr dirty="0"/>
              <a:t> de </a:t>
            </a:r>
            <a:r>
              <a:rPr dirty="0" err="1"/>
              <a:t>Perda</a:t>
            </a:r>
            <a:r>
              <a:rPr dirty="0"/>
              <a:t> de Solo </a:t>
            </a:r>
            <a:r>
              <a:rPr dirty="0" err="1"/>
              <a:t>em</a:t>
            </a:r>
            <a:r>
              <a:rPr dirty="0"/>
              <a:t> t / (ha · </a:t>
            </a:r>
            <a:r>
              <a:rPr dirty="0" err="1"/>
              <a:t>ano</a:t>
            </a:r>
            <a:r>
              <a:rPr dirty="0"/>
              <a:t>)]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423160"/>
            <a:ext cx="3383280" cy="3703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4880" y="2596871"/>
            <a:ext cx="3017520" cy="26289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 b="1">
                <a:solidFill>
                  <a:srgbClr val="10B981"/>
                </a:solidFill>
              </a:defRPr>
            </a:pPr>
            <a:r>
              <a:rPr sz="1400" dirty="0"/>
              <a:t>Fator C: </a:t>
            </a:r>
            <a:r>
              <a:rPr sz="1400" dirty="0" err="1"/>
              <a:t>Durigon</a:t>
            </a:r>
            <a:r>
              <a:rPr sz="1400" dirty="0"/>
              <a:t> et al. (2014) [DECIDIDO - D01]</a:t>
            </a:r>
          </a:p>
          <a:p>
            <a:pPr>
              <a:spcAft>
                <a:spcPts val="400"/>
              </a:spcAft>
            </a:pPr>
            <a:r>
              <a:rPr sz="1400" b="1" dirty="0" err="1">
                <a:solidFill>
                  <a:srgbClr val="0F172A"/>
                </a:solidFill>
              </a:rPr>
              <a:t>Equação</a:t>
            </a:r>
            <a:r>
              <a:rPr sz="1400" b="1" dirty="0">
                <a:solidFill>
                  <a:srgbClr val="0F172A"/>
                </a:solidFill>
              </a:rPr>
              <a:t> Regional: </a:t>
            </a:r>
            <a:r>
              <a:rPr sz="1400" dirty="0">
                <a:solidFill>
                  <a:srgbClr val="475569"/>
                </a:solidFill>
              </a:rPr>
              <a:t>C = (1 − NDVI) / 2 </a:t>
            </a:r>
            <a:r>
              <a:rPr sz="1400" dirty="0" err="1">
                <a:solidFill>
                  <a:srgbClr val="475569"/>
                </a:solidFill>
              </a:rPr>
              <a:t>calibrada</a:t>
            </a:r>
            <a:r>
              <a:rPr sz="1400" dirty="0">
                <a:solidFill>
                  <a:srgbClr val="475569"/>
                </a:solidFill>
              </a:rPr>
              <a:t> para </a:t>
            </a:r>
            <a:r>
              <a:rPr sz="1400" dirty="0" err="1">
                <a:solidFill>
                  <a:srgbClr val="475569"/>
                </a:solidFill>
              </a:rPr>
              <a:t>bacias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tropicais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brasileiras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sem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parâmetros</a:t>
            </a:r>
            <a:r>
              <a:rPr sz="1400" dirty="0">
                <a:solidFill>
                  <a:srgbClr val="475569"/>
                </a:solidFill>
              </a:rPr>
              <a:t> livres.</a:t>
            </a:r>
          </a:p>
          <a:p>
            <a:pPr>
              <a:spcAft>
                <a:spcPts val="400"/>
              </a:spcAft>
            </a:pPr>
            <a:r>
              <a:rPr sz="1400" b="1" dirty="0" err="1">
                <a:solidFill>
                  <a:srgbClr val="0F172A"/>
                </a:solidFill>
              </a:rPr>
              <a:t>Domínio</a:t>
            </a:r>
            <a:r>
              <a:rPr sz="1400" b="1" dirty="0">
                <a:solidFill>
                  <a:srgbClr val="0F172A"/>
                </a:solidFill>
              </a:rPr>
              <a:t> </a:t>
            </a:r>
            <a:r>
              <a:rPr sz="1400" b="1" dirty="0" err="1">
                <a:solidFill>
                  <a:srgbClr val="0F172A"/>
                </a:solidFill>
              </a:rPr>
              <a:t>Físico</a:t>
            </a:r>
            <a:r>
              <a:rPr sz="1400" b="1" dirty="0">
                <a:solidFill>
                  <a:srgbClr val="0F172A"/>
                </a:solidFill>
              </a:rPr>
              <a:t>: </a:t>
            </a:r>
            <a:r>
              <a:rPr sz="1400" dirty="0">
                <a:solidFill>
                  <a:srgbClr val="475569"/>
                </a:solidFill>
              </a:rPr>
              <a:t>NDVI </a:t>
            </a:r>
            <a:r>
              <a:rPr sz="1400" dirty="0" err="1">
                <a:solidFill>
                  <a:srgbClr val="475569"/>
                </a:solidFill>
              </a:rPr>
              <a:t>contido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em</a:t>
            </a:r>
            <a:r>
              <a:rPr sz="1400" dirty="0">
                <a:solidFill>
                  <a:srgbClr val="475569"/>
                </a:solidFill>
              </a:rPr>
              <a:t> [-1, 1], </a:t>
            </a:r>
            <a:r>
              <a:rPr sz="1400" dirty="0" err="1">
                <a:solidFill>
                  <a:srgbClr val="475569"/>
                </a:solidFill>
              </a:rPr>
              <a:t>garantindo</a:t>
            </a:r>
            <a:r>
              <a:rPr sz="1400" dirty="0">
                <a:solidFill>
                  <a:srgbClr val="475569"/>
                </a:solidFill>
              </a:rPr>
              <a:t> C </a:t>
            </a:r>
            <a:r>
              <a:rPr sz="1400" dirty="0" err="1">
                <a:solidFill>
                  <a:srgbClr val="475569"/>
                </a:solidFill>
              </a:rPr>
              <a:t>contido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em</a:t>
            </a:r>
            <a:r>
              <a:rPr sz="1400" dirty="0">
                <a:solidFill>
                  <a:srgbClr val="475569"/>
                </a:solidFill>
              </a:rPr>
              <a:t> [0, 1] de forma </a:t>
            </a:r>
            <a:r>
              <a:rPr sz="1400" dirty="0" err="1">
                <a:solidFill>
                  <a:srgbClr val="475569"/>
                </a:solidFill>
              </a:rPr>
              <a:t>analítica</a:t>
            </a:r>
            <a:r>
              <a:rPr sz="1400" dirty="0">
                <a:solidFill>
                  <a:srgbClr val="475569"/>
                </a:solidFill>
              </a:rPr>
              <a:t> e </a:t>
            </a:r>
            <a:r>
              <a:rPr sz="1400" dirty="0" err="1">
                <a:solidFill>
                  <a:srgbClr val="475569"/>
                </a:solidFill>
              </a:rPr>
              <a:t>verificável</a:t>
            </a:r>
            <a:r>
              <a:rPr sz="1400" dirty="0">
                <a:solidFill>
                  <a:srgbClr val="475569"/>
                </a:solidFill>
              </a:rPr>
              <a:t>.</a:t>
            </a:r>
          </a:p>
          <a:p>
            <a:pPr>
              <a:spcAft>
                <a:spcPts val="400"/>
              </a:spcAft>
            </a:pPr>
            <a:r>
              <a:rPr sz="1400" b="1" dirty="0" err="1">
                <a:solidFill>
                  <a:srgbClr val="0F172A"/>
                </a:solidFill>
              </a:rPr>
              <a:t>Análise</a:t>
            </a:r>
            <a:r>
              <a:rPr sz="1400" b="1" dirty="0">
                <a:solidFill>
                  <a:srgbClr val="0F172A"/>
                </a:solidFill>
              </a:rPr>
              <a:t> de </a:t>
            </a:r>
            <a:r>
              <a:rPr sz="1400" b="1" dirty="0" err="1">
                <a:solidFill>
                  <a:srgbClr val="0F172A"/>
                </a:solidFill>
              </a:rPr>
              <a:t>Sensibilidade</a:t>
            </a:r>
            <a:r>
              <a:rPr sz="1400" b="1" dirty="0">
                <a:solidFill>
                  <a:srgbClr val="0F172A"/>
                </a:solidFill>
              </a:rPr>
              <a:t>: </a:t>
            </a:r>
            <a:r>
              <a:rPr sz="1400" dirty="0" err="1">
                <a:solidFill>
                  <a:srgbClr val="475569"/>
                </a:solidFill>
              </a:rPr>
              <a:t>Comparação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programada</a:t>
            </a:r>
            <a:r>
              <a:rPr sz="1400" dirty="0">
                <a:solidFill>
                  <a:srgbClr val="475569"/>
                </a:solidFill>
              </a:rPr>
              <a:t> com a </a:t>
            </a:r>
            <a:r>
              <a:rPr sz="1400" dirty="0" err="1">
                <a:solidFill>
                  <a:srgbClr val="475569"/>
                </a:solidFill>
              </a:rPr>
              <a:t>formulação</a:t>
            </a:r>
            <a:r>
              <a:rPr sz="1400" dirty="0">
                <a:solidFill>
                  <a:srgbClr val="475569"/>
                </a:solidFill>
              </a:rPr>
              <a:t> de van der </a:t>
            </a:r>
            <a:r>
              <a:rPr sz="1400" dirty="0" err="1">
                <a:solidFill>
                  <a:srgbClr val="475569"/>
                </a:solidFill>
              </a:rPr>
              <a:t>Knijff</a:t>
            </a:r>
            <a:r>
              <a:rPr sz="1400" dirty="0">
                <a:solidFill>
                  <a:srgbClr val="475569"/>
                </a:solidFill>
              </a:rPr>
              <a:t> et al. (2000).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423160"/>
            <a:ext cx="3383280" cy="3703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2514600"/>
            <a:ext cx="3017520" cy="3059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 b="1">
                <a:solidFill>
                  <a:srgbClr val="0EA5E9"/>
                </a:solidFill>
              </a:defRPr>
            </a:pPr>
            <a:r>
              <a:rPr sz="1400" dirty="0"/>
              <a:t>Fator P: </a:t>
            </a:r>
            <a:r>
              <a:rPr sz="1400" dirty="0" err="1"/>
              <a:t>Práticas</a:t>
            </a:r>
            <a:r>
              <a:rPr sz="1400" dirty="0"/>
              <a:t> </a:t>
            </a:r>
            <a:r>
              <a:rPr sz="1400" dirty="0" err="1"/>
              <a:t>Conservacionistas</a:t>
            </a:r>
            <a:r>
              <a:rPr sz="1400" dirty="0"/>
              <a:t> [TABELADO]</a:t>
            </a:r>
          </a:p>
          <a:p>
            <a:pPr>
              <a:spcAft>
                <a:spcPts val="400"/>
              </a:spcAft>
            </a:pPr>
            <a:r>
              <a:rPr sz="1400" b="1" dirty="0">
                <a:solidFill>
                  <a:srgbClr val="0F172A"/>
                </a:solidFill>
              </a:rPr>
              <a:t>Valor </a:t>
            </a:r>
            <a:r>
              <a:rPr sz="1400" b="1" dirty="0" err="1">
                <a:solidFill>
                  <a:srgbClr val="0F172A"/>
                </a:solidFill>
              </a:rPr>
              <a:t>Referencial</a:t>
            </a:r>
            <a:r>
              <a:rPr sz="1400" b="1" dirty="0">
                <a:solidFill>
                  <a:srgbClr val="0F172A"/>
                </a:solidFill>
              </a:rPr>
              <a:t>: </a:t>
            </a:r>
            <a:r>
              <a:rPr sz="1400" dirty="0">
                <a:solidFill>
                  <a:srgbClr val="475569"/>
                </a:solidFill>
              </a:rPr>
              <a:t>Fator P = 1,0 </a:t>
            </a:r>
            <a:r>
              <a:rPr sz="1400" dirty="0" err="1">
                <a:solidFill>
                  <a:srgbClr val="475569"/>
                </a:solidFill>
              </a:rPr>
              <a:t>quando</a:t>
            </a:r>
            <a:r>
              <a:rPr sz="1400" dirty="0">
                <a:solidFill>
                  <a:srgbClr val="475569"/>
                </a:solidFill>
              </a:rPr>
              <a:t> as </a:t>
            </a:r>
            <a:r>
              <a:rPr sz="1400" dirty="0" err="1">
                <a:solidFill>
                  <a:srgbClr val="475569"/>
                </a:solidFill>
              </a:rPr>
              <a:t>práticas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conservacionistas</a:t>
            </a:r>
            <a:r>
              <a:rPr sz="1400" dirty="0">
                <a:solidFill>
                  <a:srgbClr val="475569"/>
                </a:solidFill>
              </a:rPr>
              <a:t> do </a:t>
            </a:r>
            <a:r>
              <a:rPr sz="1400" dirty="0" err="1">
                <a:solidFill>
                  <a:srgbClr val="475569"/>
                </a:solidFill>
              </a:rPr>
              <a:t>imóvel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forem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desconhecidas</a:t>
            </a:r>
            <a:r>
              <a:rPr sz="1400" dirty="0">
                <a:solidFill>
                  <a:srgbClr val="475569"/>
                </a:solidFill>
              </a:rPr>
              <a:t> (Renard et al., 1997).</a:t>
            </a:r>
          </a:p>
          <a:p>
            <a:pPr>
              <a:spcAft>
                <a:spcPts val="400"/>
              </a:spcAft>
            </a:pPr>
            <a:r>
              <a:rPr sz="1400" b="1" dirty="0" err="1">
                <a:solidFill>
                  <a:srgbClr val="0F172A"/>
                </a:solidFill>
              </a:rPr>
              <a:t>Proveniência</a:t>
            </a:r>
            <a:r>
              <a:rPr sz="1400" b="1" dirty="0">
                <a:solidFill>
                  <a:srgbClr val="0F172A"/>
                </a:solidFill>
              </a:rPr>
              <a:t> </a:t>
            </a:r>
            <a:r>
              <a:rPr sz="1400" b="1" dirty="0" err="1">
                <a:solidFill>
                  <a:srgbClr val="0F172A"/>
                </a:solidFill>
              </a:rPr>
              <a:t>Declarada</a:t>
            </a:r>
            <a:r>
              <a:rPr sz="1400" b="1" dirty="0">
                <a:solidFill>
                  <a:srgbClr val="0F172A"/>
                </a:solidFill>
              </a:rPr>
              <a:t>: </a:t>
            </a:r>
            <a:r>
              <a:rPr sz="1400" dirty="0" err="1">
                <a:solidFill>
                  <a:srgbClr val="475569"/>
                </a:solidFill>
              </a:rPr>
              <a:t>Registrado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estritamente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como</a:t>
            </a:r>
            <a:r>
              <a:rPr sz="1400" dirty="0">
                <a:solidFill>
                  <a:srgbClr val="475569"/>
                </a:solidFill>
              </a:rPr>
              <a:t> '</a:t>
            </a:r>
            <a:r>
              <a:rPr sz="1400" dirty="0" err="1">
                <a:solidFill>
                  <a:srgbClr val="475569"/>
                </a:solidFill>
              </a:rPr>
              <a:t>tabelado</a:t>
            </a:r>
            <a:r>
              <a:rPr sz="1400" dirty="0">
                <a:solidFill>
                  <a:srgbClr val="475569"/>
                </a:solidFill>
              </a:rPr>
              <a:t>', </a:t>
            </a:r>
            <a:r>
              <a:rPr sz="1400" dirty="0" err="1">
                <a:solidFill>
                  <a:srgbClr val="475569"/>
                </a:solidFill>
              </a:rPr>
              <a:t>nunca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apresentado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como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medição</a:t>
            </a:r>
            <a:r>
              <a:rPr sz="1400" dirty="0">
                <a:solidFill>
                  <a:srgbClr val="475569"/>
                </a:solidFill>
              </a:rPr>
              <a:t> de campo.</a:t>
            </a:r>
          </a:p>
          <a:p>
            <a:pPr>
              <a:spcAft>
                <a:spcPts val="400"/>
              </a:spcAft>
            </a:pPr>
            <a:r>
              <a:rPr sz="1400" b="1" dirty="0" err="1">
                <a:solidFill>
                  <a:srgbClr val="0F172A"/>
                </a:solidFill>
              </a:rPr>
              <a:t>Adequação</a:t>
            </a:r>
            <a:r>
              <a:rPr sz="1400" b="1" dirty="0">
                <a:solidFill>
                  <a:srgbClr val="0F172A"/>
                </a:solidFill>
              </a:rPr>
              <a:t> </a:t>
            </a:r>
            <a:r>
              <a:rPr sz="1400" b="1" dirty="0" err="1">
                <a:solidFill>
                  <a:srgbClr val="0F172A"/>
                </a:solidFill>
              </a:rPr>
              <a:t>na</a:t>
            </a:r>
            <a:r>
              <a:rPr sz="1400" b="1" dirty="0">
                <a:solidFill>
                  <a:srgbClr val="0F172A"/>
                </a:solidFill>
              </a:rPr>
              <a:t> </a:t>
            </a:r>
            <a:r>
              <a:rPr sz="1400" b="1" dirty="0" err="1">
                <a:solidFill>
                  <a:srgbClr val="0F172A"/>
                </a:solidFill>
              </a:rPr>
              <a:t>Rotulagem</a:t>
            </a:r>
            <a:r>
              <a:rPr sz="1400" b="1" dirty="0">
                <a:solidFill>
                  <a:srgbClr val="0F172A"/>
                </a:solidFill>
              </a:rPr>
              <a:t>: </a:t>
            </a:r>
            <a:r>
              <a:rPr sz="1400" dirty="0" err="1">
                <a:solidFill>
                  <a:srgbClr val="475569"/>
                </a:solidFill>
              </a:rPr>
              <a:t>Ajustável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na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rotulagem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presencial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caso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terraços</a:t>
            </a:r>
            <a:r>
              <a:rPr sz="1400" dirty="0">
                <a:solidFill>
                  <a:srgbClr val="475569"/>
                </a:solidFill>
              </a:rPr>
              <a:t> de </a:t>
            </a:r>
            <a:r>
              <a:rPr sz="1400" dirty="0" err="1">
                <a:solidFill>
                  <a:srgbClr val="475569"/>
                </a:solidFill>
              </a:rPr>
              <a:t>retenção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íntegros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sejam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observados</a:t>
            </a:r>
            <a:r>
              <a:rPr sz="1400" dirty="0">
                <a:solidFill>
                  <a:srgbClr val="475569"/>
                </a:solidFill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423160"/>
            <a:ext cx="3383280" cy="3703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35478" y="2414054"/>
            <a:ext cx="3017520" cy="327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 b="1">
                <a:solidFill>
                  <a:srgbClr val="D97706"/>
                </a:solidFill>
              </a:defRPr>
            </a:pPr>
            <a:r>
              <a:rPr sz="1400" dirty="0" err="1"/>
              <a:t>Fatores</a:t>
            </a:r>
            <a:r>
              <a:rPr sz="1400" dirty="0"/>
              <a:t> R, K e LS [PENDENTES - D13, D14, D15]</a:t>
            </a:r>
          </a:p>
          <a:p>
            <a:pPr>
              <a:spcAft>
                <a:spcPts val="400"/>
              </a:spcAft>
            </a:pPr>
            <a:r>
              <a:rPr sz="1400" b="1" dirty="0">
                <a:solidFill>
                  <a:srgbClr val="0F172A"/>
                </a:solidFill>
              </a:rPr>
              <a:t>Trava </a:t>
            </a:r>
            <a:r>
              <a:rPr sz="1400" b="1" dirty="0" err="1">
                <a:solidFill>
                  <a:srgbClr val="0F172A"/>
                </a:solidFill>
              </a:rPr>
              <a:t>Metodológica</a:t>
            </a:r>
            <a:r>
              <a:rPr sz="1400" b="1" dirty="0">
                <a:solidFill>
                  <a:srgbClr val="0F172A"/>
                </a:solidFill>
              </a:rPr>
              <a:t> (</a:t>
            </a:r>
            <a:r>
              <a:rPr sz="1400" b="1" dirty="0" err="1">
                <a:solidFill>
                  <a:srgbClr val="0F172A"/>
                </a:solidFill>
              </a:rPr>
              <a:t>Regra</a:t>
            </a:r>
            <a:r>
              <a:rPr sz="1400" b="1" dirty="0">
                <a:solidFill>
                  <a:srgbClr val="0F172A"/>
                </a:solidFill>
              </a:rPr>
              <a:t> 9): </a:t>
            </a:r>
            <a:r>
              <a:rPr sz="1400" dirty="0" err="1">
                <a:solidFill>
                  <a:srgbClr val="475569"/>
                </a:solidFill>
              </a:rPr>
              <a:t>Enquanto</a:t>
            </a:r>
            <a:r>
              <a:rPr sz="1400" dirty="0">
                <a:solidFill>
                  <a:srgbClr val="475569"/>
                </a:solidFill>
              </a:rPr>
              <a:t> as </a:t>
            </a:r>
            <a:r>
              <a:rPr sz="1400" dirty="0" err="1">
                <a:solidFill>
                  <a:srgbClr val="475569"/>
                </a:solidFill>
              </a:rPr>
              <a:t>equações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não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forem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formalmente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deliberadas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pelo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pesquisador</a:t>
            </a:r>
            <a:r>
              <a:rPr sz="1400" dirty="0">
                <a:solidFill>
                  <a:srgbClr val="475569"/>
                </a:solidFill>
              </a:rPr>
              <a:t>, </a:t>
            </a:r>
            <a:r>
              <a:rPr sz="1400" dirty="0" err="1">
                <a:solidFill>
                  <a:srgbClr val="475569"/>
                </a:solidFill>
              </a:rPr>
              <a:t>permanecem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pendentes</a:t>
            </a:r>
            <a:r>
              <a:rPr sz="1400" dirty="0">
                <a:solidFill>
                  <a:srgbClr val="475569"/>
                </a:solidFill>
              </a:rPr>
              <a:t>.</a:t>
            </a:r>
          </a:p>
          <a:p>
            <a:pPr>
              <a:spcAft>
                <a:spcPts val="400"/>
              </a:spcAft>
            </a:pPr>
            <a:r>
              <a:rPr sz="1400" b="1" dirty="0" err="1">
                <a:solidFill>
                  <a:srgbClr val="0F172A"/>
                </a:solidFill>
              </a:rPr>
              <a:t>Bloqueio</a:t>
            </a:r>
            <a:r>
              <a:rPr sz="1400" b="1" dirty="0">
                <a:solidFill>
                  <a:srgbClr val="0F172A"/>
                </a:solidFill>
              </a:rPr>
              <a:t> de </a:t>
            </a:r>
            <a:r>
              <a:rPr sz="1400" b="1" dirty="0" err="1">
                <a:solidFill>
                  <a:srgbClr val="0F172A"/>
                </a:solidFill>
              </a:rPr>
              <a:t>Perda</a:t>
            </a:r>
            <a:r>
              <a:rPr sz="1400" b="1" dirty="0">
                <a:solidFill>
                  <a:srgbClr val="0F172A"/>
                </a:solidFill>
              </a:rPr>
              <a:t> de Solo: </a:t>
            </a:r>
            <a:r>
              <a:rPr sz="1400" dirty="0" err="1">
                <a:solidFill>
                  <a:srgbClr val="475569"/>
                </a:solidFill>
              </a:rPr>
              <a:t>Perda</a:t>
            </a:r>
            <a:r>
              <a:rPr sz="1400" dirty="0">
                <a:solidFill>
                  <a:srgbClr val="475569"/>
                </a:solidFill>
              </a:rPr>
              <a:t> de solo </a:t>
            </a:r>
            <a:r>
              <a:rPr sz="1400" dirty="0" err="1">
                <a:solidFill>
                  <a:srgbClr val="475569"/>
                </a:solidFill>
              </a:rPr>
              <a:t>fica</a:t>
            </a:r>
            <a:r>
              <a:rPr sz="1400" dirty="0">
                <a:solidFill>
                  <a:srgbClr val="475569"/>
                </a:solidFill>
              </a:rPr>
              <a:t> '</a:t>
            </a:r>
            <a:r>
              <a:rPr sz="1400" dirty="0" err="1">
                <a:solidFill>
                  <a:srgbClr val="475569"/>
                </a:solidFill>
              </a:rPr>
              <a:t>indisponivel</a:t>
            </a:r>
            <a:r>
              <a:rPr sz="1400" dirty="0">
                <a:solidFill>
                  <a:srgbClr val="475569"/>
                </a:solidFill>
              </a:rPr>
              <a:t> (</a:t>
            </a:r>
            <a:r>
              <a:rPr sz="1400" dirty="0" err="1">
                <a:solidFill>
                  <a:srgbClr val="475569"/>
                </a:solidFill>
              </a:rPr>
              <a:t>decisao</a:t>
            </a:r>
            <a:r>
              <a:rPr sz="1400" dirty="0">
                <a:solidFill>
                  <a:srgbClr val="475569"/>
                </a:solidFill>
              </a:rPr>
              <a:t>-pendente)'. </a:t>
            </a:r>
            <a:r>
              <a:rPr sz="1400" dirty="0" err="1">
                <a:solidFill>
                  <a:srgbClr val="475569"/>
                </a:solidFill>
              </a:rPr>
              <a:t>Proibido</a:t>
            </a:r>
            <a:r>
              <a:rPr sz="1400" dirty="0">
                <a:solidFill>
                  <a:srgbClr val="475569"/>
                </a:solidFill>
              </a:rPr>
              <a:t> usar </a:t>
            </a:r>
            <a:r>
              <a:rPr sz="1400" dirty="0" err="1">
                <a:solidFill>
                  <a:srgbClr val="475569"/>
                </a:solidFill>
              </a:rPr>
              <a:t>multiplicadores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arbitrários</a:t>
            </a:r>
            <a:r>
              <a:rPr sz="1400" dirty="0">
                <a:solidFill>
                  <a:srgbClr val="475569"/>
                </a:solidFill>
              </a:rPr>
              <a:t>.</a:t>
            </a:r>
          </a:p>
          <a:p>
            <a:pPr>
              <a:spcAft>
                <a:spcPts val="400"/>
              </a:spcAft>
            </a:pPr>
            <a:r>
              <a:rPr sz="1400" b="1" dirty="0" err="1">
                <a:solidFill>
                  <a:srgbClr val="0F172A"/>
                </a:solidFill>
              </a:rPr>
              <a:t>Invariante</a:t>
            </a:r>
            <a:r>
              <a:rPr sz="1400" b="1" dirty="0">
                <a:solidFill>
                  <a:srgbClr val="0F172A"/>
                </a:solidFill>
              </a:rPr>
              <a:t> 1 </a:t>
            </a:r>
            <a:r>
              <a:rPr sz="1400" b="1" dirty="0" err="1">
                <a:solidFill>
                  <a:srgbClr val="0F172A"/>
                </a:solidFill>
              </a:rPr>
              <a:t>Ativo</a:t>
            </a:r>
            <a:r>
              <a:rPr sz="1400" b="1" dirty="0">
                <a:solidFill>
                  <a:srgbClr val="0F172A"/>
                </a:solidFill>
              </a:rPr>
              <a:t>: </a:t>
            </a:r>
            <a:r>
              <a:rPr sz="1400" dirty="0">
                <a:solidFill>
                  <a:srgbClr val="475569"/>
                </a:solidFill>
              </a:rPr>
              <a:t>A </a:t>
            </a:r>
            <a:r>
              <a:rPr sz="1400" dirty="0" err="1">
                <a:solidFill>
                  <a:srgbClr val="475569"/>
                </a:solidFill>
              </a:rPr>
              <a:t>perda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só</a:t>
            </a:r>
            <a:r>
              <a:rPr sz="1400" dirty="0">
                <a:solidFill>
                  <a:srgbClr val="475569"/>
                </a:solidFill>
              </a:rPr>
              <a:t> é </a:t>
            </a:r>
            <a:r>
              <a:rPr sz="1400" dirty="0" err="1">
                <a:solidFill>
                  <a:srgbClr val="475569"/>
                </a:solidFill>
              </a:rPr>
              <a:t>exportada</a:t>
            </a:r>
            <a:r>
              <a:rPr sz="1400" dirty="0">
                <a:solidFill>
                  <a:srgbClr val="475569"/>
                </a:solidFill>
              </a:rPr>
              <a:t> se </a:t>
            </a:r>
            <a:r>
              <a:rPr sz="1400" dirty="0" err="1">
                <a:solidFill>
                  <a:srgbClr val="475569"/>
                </a:solidFill>
              </a:rPr>
              <a:t>os</a:t>
            </a:r>
            <a:r>
              <a:rPr sz="1400" dirty="0">
                <a:solidFill>
                  <a:srgbClr val="475569"/>
                </a:solidFill>
              </a:rPr>
              <a:t> 5 </a:t>
            </a:r>
            <a:r>
              <a:rPr sz="1400" dirty="0" err="1">
                <a:solidFill>
                  <a:srgbClr val="475569"/>
                </a:solidFill>
              </a:rPr>
              <a:t>fatores</a:t>
            </a:r>
            <a:r>
              <a:rPr sz="1400" dirty="0">
                <a:solidFill>
                  <a:srgbClr val="475569"/>
                </a:solidFill>
              </a:rPr>
              <a:t> e a </a:t>
            </a:r>
            <a:r>
              <a:rPr sz="1400" dirty="0" err="1">
                <a:solidFill>
                  <a:srgbClr val="475569"/>
                </a:solidFill>
              </a:rPr>
              <a:t>memória</a:t>
            </a:r>
            <a:r>
              <a:rPr sz="1400" dirty="0">
                <a:solidFill>
                  <a:srgbClr val="475569"/>
                </a:solidFill>
              </a:rPr>
              <a:t> de </a:t>
            </a:r>
            <a:r>
              <a:rPr sz="1400" dirty="0" err="1">
                <a:solidFill>
                  <a:srgbClr val="475569"/>
                </a:solidFill>
              </a:rPr>
              <a:t>cálculo</a:t>
            </a:r>
            <a:r>
              <a:rPr sz="1400" dirty="0">
                <a:solidFill>
                  <a:srgbClr val="475569"/>
                </a:solidFill>
              </a:rPr>
              <a:t> com a </a:t>
            </a:r>
            <a:r>
              <a:rPr sz="1400" dirty="0" err="1">
                <a:solidFill>
                  <a:srgbClr val="475569"/>
                </a:solidFill>
              </a:rPr>
              <a:t>equação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estiverem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preenchidos</a:t>
            </a:r>
            <a:r>
              <a:rPr sz="1400" dirty="0">
                <a:solidFill>
                  <a:srgbClr val="475569"/>
                </a:solidFill>
              </a:rPr>
              <a:t>.</a:t>
            </a:r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AAB18102-0D03-842B-248C-4418FB476E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262992"/>
            <a:ext cx="1279123" cy="424992"/>
          </a:xfrm>
          <a:prstGeom prst="rect">
            <a:avLst/>
          </a:prstGeom>
          <a:effectLst>
            <a:glow rad="63500">
              <a:schemeClr val="bg1"/>
            </a:glo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BASE TERRITORIAL AUDITÁVEL &amp; LGPD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Inteligência Fundiária: Integração SICAR/SIGEF/SNCR &amp; Proteção LGPD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SAREL v2.0 • Sistema de Amostragem e Rotulagem para Erosão Laminar • PPGTCA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3383280" cy="3566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3017520" cy="2680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10B981"/>
                </a:solidFill>
              </a:defRPr>
            </a:pPr>
            <a:r>
              <a:rPr sz="1400" dirty="0"/>
              <a:t>SICAR / MMA</a:t>
            </a:r>
          </a:p>
          <a:p>
            <a:pPr>
              <a:spcAft>
                <a:spcPts val="400"/>
              </a:spcAft>
            </a:pPr>
            <a:r>
              <a:rPr sz="1400" b="1" dirty="0">
                <a:solidFill>
                  <a:srgbClr val="0F172A"/>
                </a:solidFill>
              </a:rPr>
              <a:t>559.899 </a:t>
            </a:r>
            <a:r>
              <a:rPr sz="1400" b="1" dirty="0" err="1">
                <a:solidFill>
                  <a:srgbClr val="0F172A"/>
                </a:solidFill>
              </a:rPr>
              <a:t>Imóveis</a:t>
            </a:r>
            <a:r>
              <a:rPr sz="1400" b="1" dirty="0">
                <a:solidFill>
                  <a:srgbClr val="0F172A"/>
                </a:solidFill>
              </a:rPr>
              <a:t> </a:t>
            </a:r>
            <a:r>
              <a:rPr sz="1400" b="1" dirty="0" err="1">
                <a:solidFill>
                  <a:srgbClr val="0F172A"/>
                </a:solidFill>
              </a:rPr>
              <a:t>Rurais</a:t>
            </a:r>
            <a:r>
              <a:rPr sz="1400" b="1" dirty="0">
                <a:solidFill>
                  <a:srgbClr val="0F172A"/>
                </a:solidFill>
              </a:rPr>
              <a:t> no PR </a:t>
            </a:r>
          </a:p>
          <a:p>
            <a:pPr>
              <a:spcAft>
                <a:spcPts val="400"/>
              </a:spcAft>
            </a:pPr>
            <a:r>
              <a:rPr sz="1400" b="1" dirty="0">
                <a:solidFill>
                  <a:srgbClr val="0F172A"/>
                </a:solidFill>
              </a:rPr>
              <a:t>Código CAR </a:t>
            </a:r>
            <a:r>
              <a:rPr sz="1400" b="1" dirty="0" err="1">
                <a:solidFill>
                  <a:srgbClr val="0F172A"/>
                </a:solidFill>
              </a:rPr>
              <a:t>Oficial</a:t>
            </a:r>
            <a:r>
              <a:rPr sz="1400" b="1" dirty="0">
                <a:solidFill>
                  <a:srgbClr val="0F172A"/>
                </a:solidFill>
              </a:rPr>
              <a:t>: </a:t>
            </a:r>
            <a:r>
              <a:rPr sz="1400" dirty="0" err="1">
                <a:solidFill>
                  <a:srgbClr val="475569"/>
                </a:solidFill>
              </a:rPr>
              <a:t>Identificador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único</a:t>
            </a:r>
            <a:r>
              <a:rPr sz="1400" dirty="0">
                <a:solidFill>
                  <a:srgbClr val="475569"/>
                </a:solidFill>
              </a:rPr>
              <a:t> federal de </a:t>
            </a:r>
            <a:r>
              <a:rPr sz="1400" dirty="0" err="1">
                <a:solidFill>
                  <a:srgbClr val="475569"/>
                </a:solidFill>
              </a:rPr>
              <a:t>cada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imóvel</a:t>
            </a:r>
            <a:r>
              <a:rPr sz="1400" dirty="0">
                <a:solidFill>
                  <a:srgbClr val="475569"/>
                </a:solidFill>
              </a:rPr>
              <a:t> rural </a:t>
            </a:r>
            <a:r>
              <a:rPr sz="1400" dirty="0" err="1">
                <a:solidFill>
                  <a:srgbClr val="475569"/>
                </a:solidFill>
              </a:rPr>
              <a:t>cadastrado</a:t>
            </a:r>
            <a:r>
              <a:rPr sz="1400" dirty="0">
                <a:solidFill>
                  <a:srgbClr val="475569"/>
                </a:solidFill>
              </a:rPr>
              <a:t> no Paraná.</a:t>
            </a:r>
          </a:p>
          <a:p>
            <a:pPr>
              <a:spcAft>
                <a:spcPts val="400"/>
              </a:spcAft>
            </a:pPr>
            <a:r>
              <a:rPr sz="1400" b="1" dirty="0" err="1">
                <a:solidFill>
                  <a:srgbClr val="0F172A"/>
                </a:solidFill>
              </a:rPr>
              <a:t>Atributos</a:t>
            </a:r>
            <a:r>
              <a:rPr sz="1400" b="1" dirty="0">
                <a:solidFill>
                  <a:srgbClr val="0F172A"/>
                </a:solidFill>
              </a:rPr>
              <a:t> </a:t>
            </a:r>
            <a:r>
              <a:rPr sz="1400" b="1" dirty="0" err="1">
                <a:solidFill>
                  <a:srgbClr val="0F172A"/>
                </a:solidFill>
              </a:rPr>
              <a:t>Cartográficos</a:t>
            </a:r>
            <a:r>
              <a:rPr sz="1400" b="1" dirty="0">
                <a:solidFill>
                  <a:srgbClr val="0F172A"/>
                </a:solidFill>
              </a:rPr>
              <a:t>: </a:t>
            </a:r>
            <a:r>
              <a:rPr sz="1400" dirty="0" err="1">
                <a:solidFill>
                  <a:srgbClr val="475569"/>
                </a:solidFill>
              </a:rPr>
              <a:t>Área</a:t>
            </a:r>
            <a:r>
              <a:rPr sz="1400" dirty="0">
                <a:solidFill>
                  <a:srgbClr val="475569"/>
                </a:solidFill>
              </a:rPr>
              <a:t> total </a:t>
            </a:r>
            <a:r>
              <a:rPr sz="1400" dirty="0" err="1">
                <a:solidFill>
                  <a:srgbClr val="475569"/>
                </a:solidFill>
              </a:rPr>
              <a:t>em</a:t>
            </a:r>
            <a:r>
              <a:rPr sz="1400" dirty="0">
                <a:solidFill>
                  <a:srgbClr val="475569"/>
                </a:solidFill>
              </a:rPr>
              <a:t> hectares, </a:t>
            </a:r>
            <a:r>
              <a:rPr sz="1400" dirty="0" err="1">
                <a:solidFill>
                  <a:srgbClr val="475569"/>
                </a:solidFill>
              </a:rPr>
              <a:t>módulos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fiscais</a:t>
            </a:r>
            <a:r>
              <a:rPr sz="1400" dirty="0">
                <a:solidFill>
                  <a:srgbClr val="475569"/>
                </a:solidFill>
              </a:rPr>
              <a:t> e </a:t>
            </a:r>
            <a:r>
              <a:rPr sz="1400" dirty="0" err="1">
                <a:solidFill>
                  <a:srgbClr val="475569"/>
                </a:solidFill>
              </a:rPr>
              <a:t>situação</a:t>
            </a:r>
            <a:r>
              <a:rPr sz="1400" dirty="0">
                <a:solidFill>
                  <a:srgbClr val="475569"/>
                </a:solidFill>
              </a:rPr>
              <a:t> cadastral do </a:t>
            </a:r>
            <a:r>
              <a:rPr sz="1400" dirty="0" err="1">
                <a:solidFill>
                  <a:srgbClr val="475569"/>
                </a:solidFill>
              </a:rPr>
              <a:t>imóvel</a:t>
            </a:r>
            <a:r>
              <a:rPr sz="1400" dirty="0">
                <a:solidFill>
                  <a:srgbClr val="475569"/>
                </a:solidFill>
              </a:rPr>
              <a:t> rural.</a:t>
            </a:r>
          </a:p>
          <a:p>
            <a:pPr>
              <a:spcAft>
                <a:spcPts val="400"/>
              </a:spcAft>
            </a:pPr>
            <a:r>
              <a:rPr sz="1400" b="1" dirty="0" err="1">
                <a:solidFill>
                  <a:srgbClr val="0F172A"/>
                </a:solidFill>
              </a:rPr>
              <a:t>Perímetro</a:t>
            </a:r>
            <a:r>
              <a:rPr sz="1400" b="1" dirty="0">
                <a:solidFill>
                  <a:srgbClr val="0F172A"/>
                </a:solidFill>
              </a:rPr>
              <a:t> </a:t>
            </a:r>
            <a:r>
              <a:rPr sz="1400" b="1" dirty="0" err="1">
                <a:solidFill>
                  <a:srgbClr val="0F172A"/>
                </a:solidFill>
              </a:rPr>
              <a:t>Vetorial</a:t>
            </a:r>
            <a:r>
              <a:rPr sz="1400" b="1" dirty="0">
                <a:solidFill>
                  <a:srgbClr val="0F172A"/>
                </a:solidFill>
              </a:rPr>
              <a:t>: </a:t>
            </a:r>
            <a:r>
              <a:rPr sz="1400" dirty="0" err="1">
                <a:solidFill>
                  <a:srgbClr val="475569"/>
                </a:solidFill>
              </a:rPr>
              <a:t>Polígono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georreferenciado</a:t>
            </a:r>
            <a:r>
              <a:rPr sz="1400" dirty="0">
                <a:solidFill>
                  <a:srgbClr val="475569"/>
                </a:solidFill>
              </a:rPr>
              <a:t> da </a:t>
            </a:r>
            <a:r>
              <a:rPr sz="1400" dirty="0" err="1">
                <a:solidFill>
                  <a:srgbClr val="475569"/>
                </a:solidFill>
              </a:rPr>
              <a:t>propriedade</a:t>
            </a:r>
            <a:r>
              <a:rPr sz="1400" dirty="0">
                <a:solidFill>
                  <a:srgbClr val="475569"/>
                </a:solidFill>
              </a:rPr>
              <a:t> para </a:t>
            </a:r>
            <a:r>
              <a:rPr sz="1400" dirty="0" err="1">
                <a:solidFill>
                  <a:srgbClr val="475569"/>
                </a:solidFill>
              </a:rPr>
              <a:t>conferência</a:t>
            </a:r>
            <a:r>
              <a:rPr sz="1400" dirty="0">
                <a:solidFill>
                  <a:srgbClr val="475569"/>
                </a:solidFill>
              </a:rPr>
              <a:t> de </a:t>
            </a:r>
            <a:r>
              <a:rPr sz="1400" dirty="0" err="1">
                <a:solidFill>
                  <a:srgbClr val="475569"/>
                </a:solidFill>
              </a:rPr>
              <a:t>limites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territoriais</a:t>
            </a:r>
            <a:r>
              <a:rPr sz="1400" dirty="0">
                <a:solidFill>
                  <a:srgbClr val="475569"/>
                </a:solidFill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383280" cy="3566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0" y="1600200"/>
            <a:ext cx="3017520" cy="2680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0EA5E9"/>
                </a:solidFill>
              </a:defRPr>
            </a:pPr>
            <a:r>
              <a:rPr sz="1400" dirty="0"/>
              <a:t>SIGEF / INCRA</a:t>
            </a:r>
          </a:p>
          <a:p>
            <a:pPr>
              <a:spcAft>
                <a:spcPts val="400"/>
              </a:spcAft>
            </a:pPr>
            <a:r>
              <a:rPr sz="1400" b="1" dirty="0">
                <a:solidFill>
                  <a:srgbClr val="0F172A"/>
                </a:solidFill>
              </a:rPr>
              <a:t>170.046 </a:t>
            </a:r>
            <a:r>
              <a:rPr sz="1400" b="1" dirty="0" err="1">
                <a:solidFill>
                  <a:srgbClr val="0F172A"/>
                </a:solidFill>
              </a:rPr>
              <a:t>Parcelas</a:t>
            </a:r>
            <a:r>
              <a:rPr sz="1400" b="1" dirty="0">
                <a:solidFill>
                  <a:srgbClr val="0F172A"/>
                </a:solidFill>
              </a:rPr>
              <a:t> </a:t>
            </a:r>
            <a:r>
              <a:rPr sz="1400" b="1" dirty="0" err="1">
                <a:solidFill>
                  <a:srgbClr val="0F172A"/>
                </a:solidFill>
              </a:rPr>
              <a:t>Certificadas</a:t>
            </a:r>
            <a:r>
              <a:rPr sz="1400" b="1" dirty="0">
                <a:solidFill>
                  <a:srgbClr val="0F172A"/>
                </a:solidFill>
              </a:rPr>
              <a:t> </a:t>
            </a:r>
          </a:p>
          <a:p>
            <a:pPr>
              <a:spcAft>
                <a:spcPts val="400"/>
              </a:spcAft>
            </a:pPr>
            <a:r>
              <a:rPr sz="1400" b="1" dirty="0">
                <a:solidFill>
                  <a:srgbClr val="0F172A"/>
                </a:solidFill>
              </a:rPr>
              <a:t>Lei 10.267: </a:t>
            </a:r>
            <a:r>
              <a:rPr sz="1400" dirty="0" err="1">
                <a:solidFill>
                  <a:srgbClr val="475569"/>
                </a:solidFill>
              </a:rPr>
              <a:t>Certificação</a:t>
            </a:r>
            <a:r>
              <a:rPr sz="1400" dirty="0">
                <a:solidFill>
                  <a:srgbClr val="475569"/>
                </a:solidFill>
              </a:rPr>
              <a:t> de </a:t>
            </a:r>
            <a:r>
              <a:rPr sz="1400" dirty="0" err="1">
                <a:solidFill>
                  <a:srgbClr val="475569"/>
                </a:solidFill>
              </a:rPr>
              <a:t>georreferenciamento</a:t>
            </a:r>
            <a:r>
              <a:rPr sz="1400" dirty="0">
                <a:solidFill>
                  <a:srgbClr val="475569"/>
                </a:solidFill>
              </a:rPr>
              <a:t> de </a:t>
            </a:r>
            <a:r>
              <a:rPr sz="1400" dirty="0" err="1">
                <a:solidFill>
                  <a:srgbClr val="475569"/>
                </a:solidFill>
              </a:rPr>
              <a:t>imóveis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rurais</a:t>
            </a:r>
            <a:r>
              <a:rPr sz="1400" dirty="0">
                <a:solidFill>
                  <a:srgbClr val="475569"/>
                </a:solidFill>
              </a:rPr>
              <a:t> com </a:t>
            </a:r>
            <a:r>
              <a:rPr sz="1400" dirty="0" err="1">
                <a:solidFill>
                  <a:srgbClr val="475569"/>
                </a:solidFill>
              </a:rPr>
              <a:t>precisão</a:t>
            </a:r>
            <a:r>
              <a:rPr sz="1400" dirty="0">
                <a:solidFill>
                  <a:srgbClr val="475569"/>
                </a:solidFill>
              </a:rPr>
              <a:t> de </a:t>
            </a:r>
            <a:r>
              <a:rPr sz="1400" dirty="0" err="1">
                <a:solidFill>
                  <a:srgbClr val="475569"/>
                </a:solidFill>
              </a:rPr>
              <a:t>agrimensura</a:t>
            </a:r>
            <a:r>
              <a:rPr sz="1400" dirty="0">
                <a:solidFill>
                  <a:srgbClr val="475569"/>
                </a:solidFill>
              </a:rPr>
              <a:t>.</a:t>
            </a:r>
          </a:p>
          <a:p>
            <a:pPr>
              <a:spcAft>
                <a:spcPts val="400"/>
              </a:spcAft>
            </a:pPr>
            <a:r>
              <a:rPr sz="1400" b="1" dirty="0" err="1">
                <a:solidFill>
                  <a:srgbClr val="0F172A"/>
                </a:solidFill>
              </a:rPr>
              <a:t>Segurança</a:t>
            </a:r>
            <a:r>
              <a:rPr sz="1400" b="1" dirty="0">
                <a:solidFill>
                  <a:srgbClr val="0F172A"/>
                </a:solidFill>
              </a:rPr>
              <a:t> Registral: </a:t>
            </a:r>
            <a:r>
              <a:rPr sz="1400" dirty="0" err="1">
                <a:solidFill>
                  <a:srgbClr val="475569"/>
                </a:solidFill>
              </a:rPr>
              <a:t>Identificação</a:t>
            </a:r>
            <a:r>
              <a:rPr sz="1400" dirty="0">
                <a:solidFill>
                  <a:srgbClr val="475569"/>
                </a:solidFill>
              </a:rPr>
              <a:t> do </a:t>
            </a:r>
            <a:r>
              <a:rPr sz="1400" dirty="0" err="1">
                <a:solidFill>
                  <a:srgbClr val="475569"/>
                </a:solidFill>
              </a:rPr>
              <a:t>número</a:t>
            </a:r>
            <a:r>
              <a:rPr sz="1400" dirty="0">
                <a:solidFill>
                  <a:srgbClr val="475569"/>
                </a:solidFill>
              </a:rPr>
              <a:t> de </a:t>
            </a:r>
            <a:r>
              <a:rPr sz="1400" dirty="0" err="1">
                <a:solidFill>
                  <a:srgbClr val="475569"/>
                </a:solidFill>
              </a:rPr>
              <a:t>Matrícula</a:t>
            </a:r>
            <a:r>
              <a:rPr sz="1400" dirty="0">
                <a:solidFill>
                  <a:srgbClr val="475569"/>
                </a:solidFill>
              </a:rPr>
              <a:t> no </a:t>
            </a:r>
            <a:r>
              <a:rPr sz="1400" dirty="0" err="1">
                <a:solidFill>
                  <a:srgbClr val="475569"/>
                </a:solidFill>
              </a:rPr>
              <a:t>Cartório</a:t>
            </a:r>
            <a:r>
              <a:rPr sz="1400" dirty="0">
                <a:solidFill>
                  <a:srgbClr val="475569"/>
                </a:solidFill>
              </a:rPr>
              <a:t> de Registro de </a:t>
            </a:r>
            <a:r>
              <a:rPr sz="1400" dirty="0" err="1">
                <a:solidFill>
                  <a:srgbClr val="475569"/>
                </a:solidFill>
              </a:rPr>
              <a:t>Imóveis</a:t>
            </a:r>
            <a:r>
              <a:rPr sz="1400" dirty="0">
                <a:solidFill>
                  <a:srgbClr val="475569"/>
                </a:solidFill>
              </a:rPr>
              <a:t> (CRI).</a:t>
            </a:r>
          </a:p>
          <a:p>
            <a:pPr>
              <a:spcAft>
                <a:spcPts val="400"/>
              </a:spcAft>
            </a:pPr>
            <a:r>
              <a:rPr sz="1400" b="1" dirty="0" err="1">
                <a:solidFill>
                  <a:srgbClr val="0F172A"/>
                </a:solidFill>
              </a:rPr>
              <a:t>Responsabilidade</a:t>
            </a:r>
            <a:r>
              <a:rPr sz="1400" b="1" dirty="0">
                <a:solidFill>
                  <a:srgbClr val="0F172A"/>
                </a:solidFill>
              </a:rPr>
              <a:t> Técnica: </a:t>
            </a:r>
            <a:r>
              <a:rPr sz="1400" dirty="0">
                <a:solidFill>
                  <a:srgbClr val="475569"/>
                </a:solidFill>
              </a:rPr>
              <a:t>Registro de ART/CREA do </a:t>
            </a:r>
            <a:r>
              <a:rPr sz="1400" dirty="0" err="1">
                <a:solidFill>
                  <a:srgbClr val="475569"/>
                </a:solidFill>
              </a:rPr>
              <a:t>engenheiro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responsável</a:t>
            </a:r>
            <a:r>
              <a:rPr sz="1400" dirty="0">
                <a:solidFill>
                  <a:srgbClr val="475569"/>
                </a:solidFill>
              </a:rPr>
              <a:t> pela </a:t>
            </a:r>
            <a:r>
              <a:rPr sz="1400" dirty="0" err="1">
                <a:solidFill>
                  <a:srgbClr val="475569"/>
                </a:solidFill>
              </a:rPr>
              <a:t>demarcação</a:t>
            </a:r>
            <a:r>
              <a:rPr sz="1000" dirty="0">
                <a:solidFill>
                  <a:srgbClr val="475569"/>
                </a:solidFill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17320"/>
            <a:ext cx="3383280" cy="3566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0" y="1600200"/>
            <a:ext cx="3017520" cy="2680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6366F1"/>
                </a:solidFill>
              </a:defRPr>
            </a:pPr>
            <a:r>
              <a:rPr sz="1400" dirty="0"/>
              <a:t>SNCR / INCRA</a:t>
            </a:r>
          </a:p>
          <a:p>
            <a:pPr>
              <a:spcAft>
                <a:spcPts val="400"/>
              </a:spcAft>
            </a:pPr>
            <a:r>
              <a:rPr sz="1400" b="1" dirty="0">
                <a:solidFill>
                  <a:srgbClr val="0F172A"/>
                </a:solidFill>
              </a:rPr>
              <a:t>957.183 </a:t>
            </a:r>
            <a:r>
              <a:rPr sz="1400" b="1" dirty="0" err="1">
                <a:solidFill>
                  <a:srgbClr val="0F172A"/>
                </a:solidFill>
              </a:rPr>
              <a:t>Cadastros</a:t>
            </a:r>
            <a:r>
              <a:rPr sz="1400" b="1" dirty="0">
                <a:solidFill>
                  <a:srgbClr val="0F172A"/>
                </a:solidFill>
              </a:rPr>
              <a:t> de </a:t>
            </a:r>
            <a:r>
              <a:rPr sz="1400" b="1" dirty="0" err="1">
                <a:solidFill>
                  <a:srgbClr val="0F172A"/>
                </a:solidFill>
              </a:rPr>
              <a:t>Titulares</a:t>
            </a:r>
            <a:r>
              <a:rPr sz="1400" b="1" dirty="0">
                <a:solidFill>
                  <a:srgbClr val="0F172A"/>
                </a:solidFill>
              </a:rPr>
              <a:t> </a:t>
            </a:r>
          </a:p>
          <a:p>
            <a:pPr>
              <a:spcAft>
                <a:spcPts val="400"/>
              </a:spcAft>
            </a:pPr>
            <a:r>
              <a:rPr sz="1400" b="1" dirty="0">
                <a:solidFill>
                  <a:srgbClr val="0F172A"/>
                </a:solidFill>
              </a:rPr>
              <a:t>Base Legal: </a:t>
            </a:r>
            <a:r>
              <a:rPr sz="1400" dirty="0">
                <a:solidFill>
                  <a:srgbClr val="475569"/>
                </a:solidFill>
              </a:rPr>
              <a:t>Sistema Nacional de </a:t>
            </a:r>
            <a:r>
              <a:rPr sz="1400" dirty="0" err="1">
                <a:solidFill>
                  <a:srgbClr val="475569"/>
                </a:solidFill>
              </a:rPr>
              <a:t>Cadastro</a:t>
            </a:r>
            <a:r>
              <a:rPr sz="1400" dirty="0">
                <a:solidFill>
                  <a:srgbClr val="475569"/>
                </a:solidFill>
              </a:rPr>
              <a:t> Rural </a:t>
            </a:r>
            <a:r>
              <a:rPr sz="1400" dirty="0" err="1">
                <a:solidFill>
                  <a:srgbClr val="475569"/>
                </a:solidFill>
              </a:rPr>
              <a:t>instituído</a:t>
            </a:r>
            <a:r>
              <a:rPr sz="1400" dirty="0">
                <a:solidFill>
                  <a:srgbClr val="475569"/>
                </a:solidFill>
              </a:rPr>
              <a:t> pela Lei 5.868/1972.</a:t>
            </a:r>
          </a:p>
          <a:p>
            <a:pPr>
              <a:spcAft>
                <a:spcPts val="400"/>
              </a:spcAft>
            </a:pPr>
            <a:r>
              <a:rPr sz="1400" b="1" dirty="0" err="1">
                <a:solidFill>
                  <a:srgbClr val="0F172A"/>
                </a:solidFill>
              </a:rPr>
              <a:t>Viabilização</a:t>
            </a:r>
            <a:r>
              <a:rPr sz="1400" b="1" dirty="0">
                <a:solidFill>
                  <a:srgbClr val="0F172A"/>
                </a:solidFill>
              </a:rPr>
              <a:t> do </a:t>
            </a:r>
            <a:r>
              <a:rPr sz="1400" b="1" dirty="0" err="1">
                <a:solidFill>
                  <a:srgbClr val="0F172A"/>
                </a:solidFill>
              </a:rPr>
              <a:t>Acesso</a:t>
            </a:r>
            <a:r>
              <a:rPr sz="1400" b="1" dirty="0">
                <a:solidFill>
                  <a:srgbClr val="0F172A"/>
                </a:solidFill>
              </a:rPr>
              <a:t>: </a:t>
            </a:r>
            <a:r>
              <a:rPr sz="1400" dirty="0" err="1">
                <a:solidFill>
                  <a:srgbClr val="475569"/>
                </a:solidFill>
              </a:rPr>
              <a:t>Permite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que</a:t>
            </a:r>
            <a:r>
              <a:rPr sz="1400" dirty="0">
                <a:solidFill>
                  <a:srgbClr val="475569"/>
                </a:solidFill>
              </a:rPr>
              <a:t> a equipe de campo </a:t>
            </a:r>
            <a:r>
              <a:rPr sz="1400" dirty="0" err="1">
                <a:solidFill>
                  <a:srgbClr val="475569"/>
                </a:solidFill>
              </a:rPr>
              <a:t>contate</a:t>
            </a:r>
            <a:r>
              <a:rPr sz="1400" dirty="0">
                <a:solidFill>
                  <a:srgbClr val="475569"/>
                </a:solidFill>
              </a:rPr>
              <a:t> o </a:t>
            </a:r>
            <a:r>
              <a:rPr sz="1400" dirty="0" err="1">
                <a:solidFill>
                  <a:srgbClr val="475569"/>
                </a:solidFill>
              </a:rPr>
              <a:t>produtor</a:t>
            </a:r>
            <a:r>
              <a:rPr sz="1400" dirty="0">
                <a:solidFill>
                  <a:srgbClr val="475569"/>
                </a:solidFill>
              </a:rPr>
              <a:t> para </a:t>
            </a:r>
            <a:r>
              <a:rPr sz="1400" dirty="0" err="1">
                <a:solidFill>
                  <a:srgbClr val="475569"/>
                </a:solidFill>
              </a:rPr>
              <a:t>solicitar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autorização</a:t>
            </a:r>
            <a:r>
              <a:rPr sz="1400" dirty="0">
                <a:solidFill>
                  <a:srgbClr val="475569"/>
                </a:solidFill>
              </a:rPr>
              <a:t> de visita.</a:t>
            </a:r>
          </a:p>
          <a:p>
            <a:pPr>
              <a:spcAft>
                <a:spcPts val="400"/>
              </a:spcAft>
            </a:pPr>
            <a:r>
              <a:rPr sz="1400" b="1" dirty="0" err="1">
                <a:solidFill>
                  <a:srgbClr val="0F172A"/>
                </a:solidFill>
              </a:rPr>
              <a:t>Indexação</a:t>
            </a:r>
            <a:r>
              <a:rPr sz="1400" b="1" dirty="0">
                <a:solidFill>
                  <a:srgbClr val="0F172A"/>
                </a:solidFill>
              </a:rPr>
              <a:t> </a:t>
            </a:r>
            <a:r>
              <a:rPr sz="1400" b="1" dirty="0" err="1">
                <a:solidFill>
                  <a:srgbClr val="0F172A"/>
                </a:solidFill>
              </a:rPr>
              <a:t>Espacial</a:t>
            </a:r>
            <a:r>
              <a:rPr sz="1400" b="1" dirty="0">
                <a:solidFill>
                  <a:srgbClr val="0F172A"/>
                </a:solidFill>
              </a:rPr>
              <a:t> R*Tree: </a:t>
            </a:r>
            <a:r>
              <a:rPr sz="1400" dirty="0" err="1">
                <a:solidFill>
                  <a:srgbClr val="475569"/>
                </a:solidFill>
              </a:rPr>
              <a:t>Consultas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espaciais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executadas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em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milissegundos</a:t>
            </a:r>
            <a:r>
              <a:rPr sz="1400" dirty="0">
                <a:solidFill>
                  <a:srgbClr val="475569"/>
                </a:solidFill>
              </a:rPr>
              <a:t> no banco SQLite local.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166360"/>
            <a:ext cx="10698480" cy="1143000"/>
          </a:xfrm>
          <a:prstGeom prst="roundRect">
            <a:avLst/>
          </a:prstGeom>
          <a:solidFill>
            <a:srgbClr val="ECFDF5"/>
          </a:solidFill>
          <a:ln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5212080"/>
            <a:ext cx="10332720" cy="907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5F46"/>
                </a:solidFill>
              </a:defRPr>
            </a:pPr>
            <a:r>
              <a:rPr dirty="0"/>
              <a:t>CONFORMIDADE RIGOROSA COM A LGPD (LEI 13.709/2018, ART. 7º, IV):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rPr sz="1400" dirty="0" err="1"/>
              <a:t>Os</a:t>
            </a:r>
            <a:r>
              <a:rPr sz="1400" dirty="0"/>
              <a:t> dados </a:t>
            </a:r>
            <a:r>
              <a:rPr sz="1400" dirty="0" err="1"/>
              <a:t>fundiários</a:t>
            </a:r>
            <a:r>
              <a:rPr sz="1400" dirty="0"/>
              <a:t> </a:t>
            </a:r>
            <a:r>
              <a:rPr sz="1400" dirty="0" err="1"/>
              <a:t>servem</a:t>
            </a:r>
            <a:r>
              <a:rPr sz="1400" dirty="0"/>
              <a:t> </a:t>
            </a:r>
            <a:r>
              <a:rPr sz="1400" dirty="0" err="1"/>
              <a:t>exclusivamente</a:t>
            </a:r>
            <a:r>
              <a:rPr sz="1400" dirty="0"/>
              <a:t> à </a:t>
            </a:r>
            <a:r>
              <a:rPr sz="1400" dirty="0" err="1"/>
              <a:t>gestão</a:t>
            </a:r>
            <a:r>
              <a:rPr sz="1400" dirty="0"/>
              <a:t> </a:t>
            </a:r>
            <a:r>
              <a:rPr sz="1400" dirty="0" err="1"/>
              <a:t>operacional</a:t>
            </a:r>
            <a:r>
              <a:rPr sz="1400" dirty="0"/>
              <a:t> de </a:t>
            </a:r>
            <a:r>
              <a:rPr sz="1400" dirty="0" err="1"/>
              <a:t>acesso</a:t>
            </a:r>
            <a:r>
              <a:rPr sz="1400" dirty="0"/>
              <a:t> </a:t>
            </a:r>
            <a:r>
              <a:rPr sz="1400" dirty="0" err="1"/>
              <a:t>em</a:t>
            </a:r>
            <a:r>
              <a:rPr sz="1400" dirty="0"/>
              <a:t> campo e </a:t>
            </a:r>
            <a:r>
              <a:rPr sz="1400" dirty="0" err="1"/>
              <a:t>nunca</a:t>
            </a:r>
            <a:r>
              <a:rPr sz="1400" dirty="0"/>
              <a:t> </a:t>
            </a:r>
            <a:r>
              <a:rPr sz="1400" dirty="0" err="1"/>
              <a:t>entram</a:t>
            </a:r>
            <a:r>
              <a:rPr sz="1400" dirty="0"/>
              <a:t> </a:t>
            </a:r>
            <a:r>
              <a:rPr sz="1400" dirty="0" err="1"/>
              <a:t>na</a:t>
            </a:r>
            <a:r>
              <a:rPr sz="1400" dirty="0"/>
              <a:t> </a:t>
            </a:r>
            <a:r>
              <a:rPr sz="1400" dirty="0" err="1"/>
              <a:t>matriz</a:t>
            </a:r>
            <a:r>
              <a:rPr sz="1400" dirty="0"/>
              <a:t> de </a:t>
            </a:r>
            <a:r>
              <a:rPr sz="1400" dirty="0" err="1"/>
              <a:t>treino</a:t>
            </a:r>
            <a:r>
              <a:rPr sz="1400" dirty="0"/>
              <a:t> do </a:t>
            </a:r>
            <a:r>
              <a:rPr sz="1400" dirty="0" err="1"/>
              <a:t>XGBoost</a:t>
            </a:r>
            <a:r>
              <a:rPr sz="1400" dirty="0"/>
              <a:t>. </a:t>
            </a:r>
            <a:r>
              <a:rPr sz="1400" dirty="0" err="1"/>
              <a:t>Nomes</a:t>
            </a:r>
            <a:r>
              <a:rPr sz="1400" dirty="0"/>
              <a:t> e </a:t>
            </a:r>
            <a:r>
              <a:rPr sz="1400" dirty="0" err="1"/>
              <a:t>documentos</a:t>
            </a:r>
            <a:r>
              <a:rPr sz="1400" dirty="0"/>
              <a:t> de </a:t>
            </a:r>
            <a:r>
              <a:rPr sz="1400" dirty="0" err="1"/>
              <a:t>titulares</a:t>
            </a:r>
            <a:r>
              <a:rPr sz="1400" dirty="0"/>
              <a:t> </a:t>
            </a:r>
            <a:r>
              <a:rPr sz="1400" dirty="0" err="1"/>
              <a:t>são</a:t>
            </a:r>
            <a:r>
              <a:rPr sz="1400" dirty="0"/>
              <a:t> </a:t>
            </a:r>
            <a:r>
              <a:rPr sz="1400" dirty="0" err="1"/>
              <a:t>mascarados</a:t>
            </a:r>
            <a:r>
              <a:rPr sz="1400" dirty="0"/>
              <a:t> </a:t>
            </a:r>
            <a:r>
              <a:rPr sz="1400" dirty="0" err="1"/>
              <a:t>na</a:t>
            </a:r>
            <a:r>
              <a:rPr sz="1400" dirty="0"/>
              <a:t> </a:t>
            </a:r>
            <a:r>
              <a:rPr sz="1400" dirty="0" err="1"/>
              <a:t>visualização</a:t>
            </a:r>
            <a:r>
              <a:rPr sz="1400" dirty="0"/>
              <a:t>. </a:t>
            </a:r>
            <a:r>
              <a:rPr sz="1400" dirty="0" err="1"/>
              <a:t>Rotas</a:t>
            </a:r>
            <a:r>
              <a:rPr sz="1400" dirty="0"/>
              <a:t> </a:t>
            </a:r>
            <a:r>
              <a:rPr sz="1400" dirty="0" err="1"/>
              <a:t>fundiárias</a:t>
            </a:r>
            <a:r>
              <a:rPr sz="1400" dirty="0"/>
              <a:t> e tokens </a:t>
            </a:r>
            <a:r>
              <a:rPr sz="1400" dirty="0" err="1"/>
              <a:t>transitam</a:t>
            </a:r>
            <a:r>
              <a:rPr sz="1400" dirty="0"/>
              <a:t> </a:t>
            </a:r>
            <a:r>
              <a:rPr sz="1400" dirty="0" err="1"/>
              <a:t>em</a:t>
            </a:r>
            <a:r>
              <a:rPr sz="1400" dirty="0"/>
              <a:t> </a:t>
            </a:r>
            <a:r>
              <a:rPr sz="1400" dirty="0" err="1"/>
              <a:t>sessões</a:t>
            </a:r>
            <a:r>
              <a:rPr sz="1400" dirty="0"/>
              <a:t> </a:t>
            </a:r>
            <a:r>
              <a:rPr sz="1400" dirty="0" err="1"/>
              <a:t>efêmeras</a:t>
            </a:r>
            <a:r>
              <a:rPr sz="1400" dirty="0"/>
              <a:t> no </a:t>
            </a:r>
            <a:r>
              <a:rPr sz="1400" dirty="0" err="1"/>
              <a:t>servidor</a:t>
            </a:r>
            <a:r>
              <a:rPr sz="1400" dirty="0"/>
              <a:t>, com </a:t>
            </a:r>
            <a:r>
              <a:rPr sz="1400" dirty="0" err="1"/>
              <a:t>recusa</a:t>
            </a:r>
            <a:r>
              <a:rPr sz="1400" dirty="0"/>
              <a:t> a </a:t>
            </a:r>
            <a:r>
              <a:rPr sz="1400" dirty="0" err="1"/>
              <a:t>conexões</a:t>
            </a:r>
            <a:r>
              <a:rPr sz="1400" dirty="0"/>
              <a:t> </a:t>
            </a:r>
            <a:r>
              <a:rPr sz="1400" dirty="0" err="1"/>
              <a:t>externas</a:t>
            </a:r>
            <a:r>
              <a:rPr sz="1400" dirty="0"/>
              <a:t>.</a:t>
            </a:r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DF6CEF8B-A929-8823-1442-A534F90DB4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262992"/>
            <a:ext cx="1279123" cy="424992"/>
          </a:xfrm>
          <a:prstGeom prst="rect">
            <a:avLst/>
          </a:prstGeom>
          <a:effectLst>
            <a:glow rad="63500">
              <a:schemeClr val="bg1"/>
            </a:glo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CAMPANHAS DE ROTULAGEM &amp; CONCORDÂNCIA HUMANA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Protocolo de Rotulagem Cega: Controle de Viés &amp; Validação Estatística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SAREL v2.0 • Sistema de Amostragem e Rotulagem para Erosão Laminar • PPGTCA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2514600" cy="4709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2148840" cy="327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0EA5E9"/>
                </a:solidFill>
              </a:defRPr>
            </a:pPr>
            <a:r>
              <a:rPr sz="1400" dirty="0"/>
              <a:t>Fase A: </a:t>
            </a:r>
            <a:r>
              <a:rPr sz="1400" dirty="0" err="1"/>
              <a:t>Interpretação</a:t>
            </a:r>
            <a:r>
              <a:rPr sz="1400" dirty="0"/>
              <a:t> </a:t>
            </a:r>
            <a:r>
              <a:rPr sz="1400" dirty="0" err="1"/>
              <a:t>Cega</a:t>
            </a:r>
            <a:endParaRPr sz="1400" dirty="0"/>
          </a:p>
          <a:p>
            <a:pPr>
              <a:spcAft>
                <a:spcPts val="400"/>
              </a:spcAft>
            </a:pPr>
            <a:r>
              <a:rPr sz="1400" b="1" dirty="0">
                <a:solidFill>
                  <a:srgbClr val="0F172A"/>
                </a:solidFill>
              </a:rPr>
              <a:t>Imagens </a:t>
            </a:r>
            <a:r>
              <a:rPr sz="1400" b="1" dirty="0" err="1">
                <a:solidFill>
                  <a:srgbClr val="0F172A"/>
                </a:solidFill>
              </a:rPr>
              <a:t>PlanetScope</a:t>
            </a:r>
            <a:r>
              <a:rPr sz="1400" b="1" dirty="0">
                <a:solidFill>
                  <a:srgbClr val="0F172A"/>
                </a:solidFill>
              </a:rPr>
              <a:t>/VHR: </a:t>
            </a:r>
            <a:r>
              <a:rPr sz="1400" dirty="0" err="1">
                <a:solidFill>
                  <a:srgbClr val="475569"/>
                </a:solidFill>
              </a:rPr>
              <a:t>Inspeção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em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alta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resolução</a:t>
            </a:r>
            <a:r>
              <a:rPr sz="1400" dirty="0">
                <a:solidFill>
                  <a:srgbClr val="475569"/>
                </a:solidFill>
              </a:rPr>
              <a:t> com data de </a:t>
            </a:r>
            <a:r>
              <a:rPr sz="1400" dirty="0" err="1">
                <a:solidFill>
                  <a:srgbClr val="475569"/>
                </a:solidFill>
              </a:rPr>
              <a:t>aquisição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visível</a:t>
            </a:r>
            <a:r>
              <a:rPr sz="1400" dirty="0">
                <a:solidFill>
                  <a:srgbClr val="475569"/>
                </a:solidFill>
              </a:rPr>
              <a:t> no visor.</a:t>
            </a:r>
          </a:p>
          <a:p>
            <a:pPr>
              <a:spcAft>
                <a:spcPts val="400"/>
              </a:spcAft>
            </a:pPr>
            <a:r>
              <a:rPr sz="1400" b="1" dirty="0" err="1">
                <a:solidFill>
                  <a:srgbClr val="0F172A"/>
                </a:solidFill>
              </a:rPr>
              <a:t>Isolamento</a:t>
            </a:r>
            <a:r>
              <a:rPr sz="1400" b="1" dirty="0">
                <a:solidFill>
                  <a:srgbClr val="0F172A"/>
                </a:solidFill>
              </a:rPr>
              <a:t> </a:t>
            </a:r>
            <a:r>
              <a:rPr sz="1400" b="1" dirty="0" err="1">
                <a:solidFill>
                  <a:srgbClr val="0F172A"/>
                </a:solidFill>
              </a:rPr>
              <a:t>Cego</a:t>
            </a:r>
            <a:r>
              <a:rPr sz="1400" b="1" dirty="0">
                <a:solidFill>
                  <a:srgbClr val="0F172A"/>
                </a:solidFill>
              </a:rPr>
              <a:t>: </a:t>
            </a:r>
            <a:r>
              <a:rPr sz="1400" dirty="0">
                <a:solidFill>
                  <a:srgbClr val="475569"/>
                </a:solidFill>
              </a:rPr>
              <a:t>O </a:t>
            </a:r>
            <a:r>
              <a:rPr sz="1400" dirty="0" err="1">
                <a:solidFill>
                  <a:srgbClr val="475569"/>
                </a:solidFill>
              </a:rPr>
              <a:t>intérprete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desconhece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predições</a:t>
            </a:r>
            <a:r>
              <a:rPr sz="1400" dirty="0">
                <a:solidFill>
                  <a:srgbClr val="475569"/>
                </a:solidFill>
              </a:rPr>
              <a:t>, </a:t>
            </a:r>
            <a:r>
              <a:rPr sz="1400" dirty="0" err="1">
                <a:solidFill>
                  <a:srgbClr val="475569"/>
                </a:solidFill>
              </a:rPr>
              <a:t>fatores</a:t>
            </a:r>
            <a:r>
              <a:rPr sz="1400" dirty="0">
                <a:solidFill>
                  <a:srgbClr val="475569"/>
                </a:solidFill>
              </a:rPr>
              <a:t> RUSLE, </a:t>
            </a:r>
            <a:r>
              <a:rPr sz="1400" dirty="0" err="1">
                <a:solidFill>
                  <a:srgbClr val="475569"/>
                </a:solidFill>
              </a:rPr>
              <a:t>declividade</a:t>
            </a:r>
            <a:r>
              <a:rPr sz="1400" dirty="0">
                <a:solidFill>
                  <a:srgbClr val="475569"/>
                </a:solidFill>
              </a:rPr>
              <a:t> e </a:t>
            </a:r>
            <a:r>
              <a:rPr sz="1400" dirty="0" err="1">
                <a:solidFill>
                  <a:srgbClr val="475569"/>
                </a:solidFill>
              </a:rPr>
              <a:t>estrato</a:t>
            </a:r>
            <a:r>
              <a:rPr sz="1400" dirty="0">
                <a:solidFill>
                  <a:srgbClr val="475569"/>
                </a:solidFill>
              </a:rPr>
              <a:t>.</a:t>
            </a:r>
          </a:p>
          <a:p>
            <a:pPr>
              <a:spcAft>
                <a:spcPts val="400"/>
              </a:spcAft>
            </a:pPr>
            <a:r>
              <a:rPr sz="1400" b="1" dirty="0" err="1">
                <a:solidFill>
                  <a:srgbClr val="0F172A"/>
                </a:solidFill>
              </a:rPr>
              <a:t>Critério</a:t>
            </a:r>
            <a:r>
              <a:rPr sz="1400" b="1" dirty="0">
                <a:solidFill>
                  <a:srgbClr val="0F172A"/>
                </a:solidFill>
              </a:rPr>
              <a:t> Padronizado: </a:t>
            </a:r>
            <a:r>
              <a:rPr sz="1400" dirty="0" err="1">
                <a:solidFill>
                  <a:srgbClr val="475569"/>
                </a:solidFill>
              </a:rPr>
              <a:t>Avaliação</a:t>
            </a:r>
            <a:r>
              <a:rPr sz="1400" dirty="0">
                <a:solidFill>
                  <a:srgbClr val="475569"/>
                </a:solidFill>
              </a:rPr>
              <a:t> de </a:t>
            </a:r>
            <a:r>
              <a:rPr sz="1400" dirty="0" err="1">
                <a:solidFill>
                  <a:srgbClr val="475569"/>
                </a:solidFill>
              </a:rPr>
              <a:t>cobertura</a:t>
            </a:r>
            <a:r>
              <a:rPr sz="1400" dirty="0">
                <a:solidFill>
                  <a:srgbClr val="475569"/>
                </a:solidFill>
              </a:rPr>
              <a:t> vegetal, </a:t>
            </a:r>
            <a:r>
              <a:rPr sz="1400" dirty="0" err="1">
                <a:solidFill>
                  <a:srgbClr val="475569"/>
                </a:solidFill>
              </a:rPr>
              <a:t>decapitação</a:t>
            </a:r>
            <a:r>
              <a:rPr sz="1400" dirty="0">
                <a:solidFill>
                  <a:srgbClr val="475569"/>
                </a:solidFill>
              </a:rPr>
              <a:t> superficial e </a:t>
            </a:r>
            <a:r>
              <a:rPr sz="1400" dirty="0" err="1">
                <a:solidFill>
                  <a:srgbClr val="475569"/>
                </a:solidFill>
              </a:rPr>
              <a:t>terraços</a:t>
            </a:r>
            <a:r>
              <a:rPr sz="1400" dirty="0">
                <a:solidFill>
                  <a:srgbClr val="475569"/>
                </a:solidFill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417320"/>
            <a:ext cx="2514600" cy="4709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0" y="1600200"/>
            <a:ext cx="2148840" cy="37061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0B981"/>
                </a:solidFill>
              </a:defRPr>
            </a:pPr>
            <a:r>
              <a:rPr sz="1400" dirty="0"/>
              <a:t>Fase B: </a:t>
            </a:r>
            <a:r>
              <a:rPr sz="1400" dirty="0" err="1"/>
              <a:t>Validação</a:t>
            </a:r>
            <a:r>
              <a:rPr sz="1400" dirty="0"/>
              <a:t> de Campo</a:t>
            </a:r>
          </a:p>
          <a:p>
            <a:pPr>
              <a:spcAft>
                <a:spcPts val="400"/>
              </a:spcAft>
            </a:pPr>
            <a:r>
              <a:rPr sz="1400" b="1" dirty="0" err="1">
                <a:solidFill>
                  <a:srgbClr val="0F172A"/>
                </a:solidFill>
              </a:rPr>
              <a:t>Subamostra</a:t>
            </a:r>
            <a:r>
              <a:rPr sz="1400" b="1" dirty="0">
                <a:solidFill>
                  <a:srgbClr val="0F172A"/>
                </a:solidFill>
              </a:rPr>
              <a:t> </a:t>
            </a:r>
            <a:r>
              <a:rPr sz="1400" b="1" dirty="0" err="1">
                <a:solidFill>
                  <a:srgbClr val="0F172A"/>
                </a:solidFill>
              </a:rPr>
              <a:t>Presencial</a:t>
            </a:r>
            <a:r>
              <a:rPr sz="1400" b="1" dirty="0">
                <a:solidFill>
                  <a:srgbClr val="0F172A"/>
                </a:solidFill>
              </a:rPr>
              <a:t>: </a:t>
            </a:r>
            <a:r>
              <a:rPr sz="1400" dirty="0">
                <a:solidFill>
                  <a:srgbClr val="475569"/>
                </a:solidFill>
              </a:rPr>
              <a:t>Equipe visita ~20% dos </a:t>
            </a:r>
            <a:r>
              <a:rPr sz="1400" dirty="0" err="1">
                <a:solidFill>
                  <a:srgbClr val="475569"/>
                </a:solidFill>
              </a:rPr>
              <a:t>pontos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munida</a:t>
            </a:r>
            <a:r>
              <a:rPr sz="1400" dirty="0">
                <a:solidFill>
                  <a:srgbClr val="475569"/>
                </a:solidFill>
              </a:rPr>
              <a:t> de GNSS </a:t>
            </a:r>
            <a:r>
              <a:rPr sz="1400" dirty="0" err="1">
                <a:solidFill>
                  <a:srgbClr val="475569"/>
                </a:solidFill>
              </a:rPr>
              <a:t>submétrico</a:t>
            </a:r>
            <a:r>
              <a:rPr sz="1400" dirty="0">
                <a:solidFill>
                  <a:srgbClr val="475569"/>
                </a:solidFill>
              </a:rPr>
              <a:t> e </a:t>
            </a:r>
            <a:r>
              <a:rPr sz="1400" dirty="0" err="1">
                <a:solidFill>
                  <a:srgbClr val="475569"/>
                </a:solidFill>
              </a:rPr>
              <a:t>formulário</a:t>
            </a:r>
            <a:r>
              <a:rPr sz="1400" dirty="0">
                <a:solidFill>
                  <a:srgbClr val="475569"/>
                </a:solidFill>
              </a:rPr>
              <a:t> Kobo.</a:t>
            </a:r>
          </a:p>
          <a:p>
            <a:pPr>
              <a:spcAft>
                <a:spcPts val="400"/>
              </a:spcAft>
            </a:pPr>
            <a:r>
              <a:rPr sz="1400" b="1" dirty="0" err="1">
                <a:solidFill>
                  <a:srgbClr val="0F172A"/>
                </a:solidFill>
              </a:rPr>
              <a:t>Cegueira</a:t>
            </a:r>
            <a:r>
              <a:rPr sz="1400" b="1" dirty="0">
                <a:solidFill>
                  <a:srgbClr val="0F172A"/>
                </a:solidFill>
              </a:rPr>
              <a:t> Cruzada: </a:t>
            </a:r>
            <a:r>
              <a:rPr sz="1400" dirty="0">
                <a:solidFill>
                  <a:srgbClr val="475569"/>
                </a:solidFill>
              </a:rPr>
              <a:t>A equipe </a:t>
            </a:r>
            <a:r>
              <a:rPr sz="1400" dirty="0" err="1">
                <a:solidFill>
                  <a:srgbClr val="475569"/>
                </a:solidFill>
              </a:rPr>
              <a:t>desconhece</a:t>
            </a:r>
            <a:r>
              <a:rPr sz="1400" dirty="0">
                <a:solidFill>
                  <a:srgbClr val="475569"/>
                </a:solidFill>
              </a:rPr>
              <a:t> o </a:t>
            </a:r>
            <a:r>
              <a:rPr sz="1400" dirty="0" err="1">
                <a:solidFill>
                  <a:srgbClr val="475569"/>
                </a:solidFill>
              </a:rPr>
              <a:t>rótulo</a:t>
            </a:r>
            <a:r>
              <a:rPr sz="1400" dirty="0">
                <a:solidFill>
                  <a:srgbClr val="475569"/>
                </a:solidFill>
              </a:rPr>
              <a:t> da Fase A, </a:t>
            </a:r>
            <a:r>
              <a:rPr sz="1400" dirty="0" err="1">
                <a:solidFill>
                  <a:srgbClr val="475569"/>
                </a:solidFill>
              </a:rPr>
              <a:t>permitindo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avaliar</a:t>
            </a:r>
            <a:r>
              <a:rPr sz="1400" dirty="0">
                <a:solidFill>
                  <a:srgbClr val="475569"/>
                </a:solidFill>
              </a:rPr>
              <a:t> a taxa de </a:t>
            </a:r>
            <a:r>
              <a:rPr sz="1400" dirty="0" err="1">
                <a:solidFill>
                  <a:srgbClr val="475569"/>
                </a:solidFill>
              </a:rPr>
              <a:t>erro</a:t>
            </a:r>
            <a:r>
              <a:rPr sz="1400" dirty="0">
                <a:solidFill>
                  <a:srgbClr val="475569"/>
                </a:solidFill>
              </a:rPr>
              <a:t>.</a:t>
            </a:r>
          </a:p>
          <a:p>
            <a:pPr>
              <a:spcAft>
                <a:spcPts val="400"/>
              </a:spcAft>
            </a:pPr>
            <a:r>
              <a:rPr sz="1400" b="1" dirty="0" err="1">
                <a:solidFill>
                  <a:srgbClr val="0F172A"/>
                </a:solidFill>
              </a:rPr>
              <a:t>Marcadores</a:t>
            </a:r>
            <a:r>
              <a:rPr sz="1400" b="1" dirty="0">
                <a:solidFill>
                  <a:srgbClr val="0F172A"/>
                </a:solidFill>
              </a:rPr>
              <a:t> </a:t>
            </a:r>
            <a:r>
              <a:rPr sz="1400" b="1" dirty="0" err="1">
                <a:solidFill>
                  <a:srgbClr val="0F172A"/>
                </a:solidFill>
              </a:rPr>
              <a:t>Biofísicos</a:t>
            </a:r>
            <a:r>
              <a:rPr sz="1400" b="1" dirty="0">
                <a:solidFill>
                  <a:srgbClr val="0F172A"/>
                </a:solidFill>
              </a:rPr>
              <a:t>: </a:t>
            </a:r>
            <a:r>
              <a:rPr sz="1400" dirty="0" err="1">
                <a:solidFill>
                  <a:srgbClr val="475569"/>
                </a:solidFill>
              </a:rPr>
              <a:t>Avaliação</a:t>
            </a:r>
            <a:r>
              <a:rPr sz="1400" dirty="0">
                <a:solidFill>
                  <a:srgbClr val="475569"/>
                </a:solidFill>
              </a:rPr>
              <a:t> de </a:t>
            </a:r>
            <a:r>
              <a:rPr sz="1400" dirty="0" err="1">
                <a:solidFill>
                  <a:srgbClr val="475569"/>
                </a:solidFill>
              </a:rPr>
              <a:t>pedestais</a:t>
            </a:r>
            <a:r>
              <a:rPr sz="1400" dirty="0">
                <a:solidFill>
                  <a:srgbClr val="475569"/>
                </a:solidFill>
              </a:rPr>
              <a:t>, </a:t>
            </a:r>
            <a:r>
              <a:rPr sz="1400" dirty="0" err="1">
                <a:solidFill>
                  <a:srgbClr val="475569"/>
                </a:solidFill>
              </a:rPr>
              <a:t>descalçamento</a:t>
            </a:r>
            <a:r>
              <a:rPr sz="1400" dirty="0">
                <a:solidFill>
                  <a:srgbClr val="475569"/>
                </a:solidFill>
              </a:rPr>
              <a:t> radicular e </a:t>
            </a:r>
            <a:r>
              <a:rPr sz="1400" dirty="0" err="1">
                <a:solidFill>
                  <a:srgbClr val="475569"/>
                </a:solidFill>
              </a:rPr>
              <a:t>crosta</a:t>
            </a:r>
            <a:r>
              <a:rPr sz="1400" dirty="0">
                <a:solidFill>
                  <a:srgbClr val="475569"/>
                </a:solidFill>
              </a:rPr>
              <a:t> superficial.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17320"/>
            <a:ext cx="2514600" cy="4709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600200"/>
            <a:ext cx="2148840" cy="3490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D97706"/>
                </a:solidFill>
              </a:defRPr>
            </a:pPr>
            <a:r>
              <a:rPr sz="1400" dirty="0"/>
              <a:t>Fase C: Auditoria Kappa com IC 95%</a:t>
            </a:r>
          </a:p>
          <a:p>
            <a:pPr>
              <a:spcAft>
                <a:spcPts val="400"/>
              </a:spcAft>
            </a:pPr>
            <a:r>
              <a:rPr sz="1400" b="1" dirty="0">
                <a:solidFill>
                  <a:srgbClr val="0F172A"/>
                </a:solidFill>
              </a:rPr>
              <a:t>Kappa de Cohen (1960): </a:t>
            </a:r>
            <a:r>
              <a:rPr sz="1400" dirty="0">
                <a:solidFill>
                  <a:srgbClr val="475569"/>
                </a:solidFill>
              </a:rPr>
              <a:t>Mede a </a:t>
            </a:r>
            <a:r>
              <a:rPr sz="1400" dirty="0" err="1">
                <a:solidFill>
                  <a:srgbClr val="475569"/>
                </a:solidFill>
              </a:rPr>
              <a:t>validade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concorrente</a:t>
            </a:r>
            <a:r>
              <a:rPr sz="1400" dirty="0">
                <a:solidFill>
                  <a:srgbClr val="475569"/>
                </a:solidFill>
              </a:rPr>
              <a:t> entre </a:t>
            </a:r>
            <a:r>
              <a:rPr sz="1400" dirty="0" err="1">
                <a:solidFill>
                  <a:srgbClr val="475569"/>
                </a:solidFill>
              </a:rPr>
              <a:t>rótulo</a:t>
            </a:r>
            <a:r>
              <a:rPr sz="1400" dirty="0">
                <a:solidFill>
                  <a:srgbClr val="475569"/>
                </a:solidFill>
              </a:rPr>
              <a:t> orbital e </a:t>
            </a:r>
            <a:r>
              <a:rPr sz="1400" dirty="0" err="1">
                <a:solidFill>
                  <a:srgbClr val="475569"/>
                </a:solidFill>
              </a:rPr>
              <a:t>verdade</a:t>
            </a:r>
            <a:r>
              <a:rPr sz="1400" dirty="0">
                <a:solidFill>
                  <a:srgbClr val="475569"/>
                </a:solidFill>
              </a:rPr>
              <a:t> de campo.</a:t>
            </a:r>
          </a:p>
          <a:p>
            <a:pPr>
              <a:spcAft>
                <a:spcPts val="400"/>
              </a:spcAft>
            </a:pPr>
            <a:r>
              <a:rPr sz="1400" b="1" dirty="0" err="1">
                <a:solidFill>
                  <a:srgbClr val="0F172A"/>
                </a:solidFill>
              </a:rPr>
              <a:t>Intervalo</a:t>
            </a:r>
            <a:r>
              <a:rPr sz="1400" b="1" dirty="0">
                <a:solidFill>
                  <a:srgbClr val="0F172A"/>
                </a:solidFill>
              </a:rPr>
              <a:t> de </a:t>
            </a:r>
            <a:r>
              <a:rPr sz="1400" b="1" dirty="0" err="1">
                <a:solidFill>
                  <a:srgbClr val="0F172A"/>
                </a:solidFill>
              </a:rPr>
              <a:t>Confiança</a:t>
            </a:r>
            <a:r>
              <a:rPr sz="1400" b="1" dirty="0">
                <a:solidFill>
                  <a:srgbClr val="0F172A"/>
                </a:solidFill>
              </a:rPr>
              <a:t>: </a:t>
            </a:r>
            <a:r>
              <a:rPr sz="1400" dirty="0" err="1">
                <a:solidFill>
                  <a:srgbClr val="475569"/>
                </a:solidFill>
              </a:rPr>
              <a:t>Cálculo</a:t>
            </a:r>
            <a:r>
              <a:rPr sz="1400" dirty="0">
                <a:solidFill>
                  <a:srgbClr val="475569"/>
                </a:solidFill>
              </a:rPr>
              <a:t> do Erro-</a:t>
            </a:r>
            <a:r>
              <a:rPr sz="1400" dirty="0" err="1">
                <a:solidFill>
                  <a:srgbClr val="475569"/>
                </a:solidFill>
              </a:rPr>
              <a:t>Padrão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assintótico</a:t>
            </a:r>
            <a:r>
              <a:rPr sz="1400" dirty="0">
                <a:solidFill>
                  <a:srgbClr val="475569"/>
                </a:solidFill>
              </a:rPr>
              <a:t> e IC 95% contra </a:t>
            </a:r>
            <a:r>
              <a:rPr sz="1400" dirty="0" err="1">
                <a:solidFill>
                  <a:srgbClr val="475569"/>
                </a:solidFill>
              </a:rPr>
              <a:t>variações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amostrais</a:t>
            </a:r>
            <a:r>
              <a:rPr sz="1400" dirty="0">
                <a:solidFill>
                  <a:srgbClr val="475569"/>
                </a:solidFill>
              </a:rPr>
              <a:t>.</a:t>
            </a:r>
          </a:p>
          <a:p>
            <a:pPr>
              <a:spcAft>
                <a:spcPts val="400"/>
              </a:spcAft>
            </a:pPr>
            <a:r>
              <a:rPr sz="1400" b="1" dirty="0">
                <a:solidFill>
                  <a:srgbClr val="0F172A"/>
                </a:solidFill>
              </a:rPr>
              <a:t>Trava </a:t>
            </a:r>
            <a:r>
              <a:rPr sz="1400" b="1" dirty="0" err="1">
                <a:solidFill>
                  <a:srgbClr val="0F172A"/>
                </a:solidFill>
              </a:rPr>
              <a:t>Operacional</a:t>
            </a:r>
            <a:r>
              <a:rPr sz="1400" b="1" dirty="0">
                <a:solidFill>
                  <a:srgbClr val="0F172A"/>
                </a:solidFill>
              </a:rPr>
              <a:t>: </a:t>
            </a:r>
            <a:r>
              <a:rPr sz="1400" dirty="0">
                <a:solidFill>
                  <a:srgbClr val="475569"/>
                </a:solidFill>
              </a:rPr>
              <a:t>Exige κ ≥ 0,61 (patamar </a:t>
            </a:r>
            <a:r>
              <a:rPr sz="1400" dirty="0" err="1">
                <a:solidFill>
                  <a:srgbClr val="475569"/>
                </a:solidFill>
              </a:rPr>
              <a:t>substancial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segundo</a:t>
            </a:r>
            <a:r>
              <a:rPr sz="1400" dirty="0">
                <a:solidFill>
                  <a:srgbClr val="475569"/>
                </a:solidFill>
              </a:rPr>
              <a:t> Landis &amp; Koch, 1977).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1417320"/>
            <a:ext cx="2514600" cy="4709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0" y="1600200"/>
            <a:ext cx="2148840" cy="37061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6366F1"/>
                </a:solidFill>
              </a:defRPr>
            </a:pPr>
            <a:r>
              <a:rPr sz="1400" dirty="0"/>
              <a:t>Fase D: Drone Held-Out</a:t>
            </a:r>
          </a:p>
          <a:p>
            <a:pPr>
              <a:spcAft>
                <a:spcPts val="400"/>
              </a:spcAft>
            </a:pPr>
            <a:r>
              <a:rPr sz="1400" b="1" dirty="0" err="1">
                <a:solidFill>
                  <a:srgbClr val="0F172A"/>
                </a:solidFill>
              </a:rPr>
              <a:t>Ortomosaicos</a:t>
            </a:r>
            <a:r>
              <a:rPr sz="1400" b="1" dirty="0">
                <a:solidFill>
                  <a:srgbClr val="0F172A"/>
                </a:solidFill>
              </a:rPr>
              <a:t> </a:t>
            </a:r>
            <a:r>
              <a:rPr sz="1400" b="1" dirty="0" err="1">
                <a:solidFill>
                  <a:srgbClr val="0F172A"/>
                </a:solidFill>
              </a:rPr>
              <a:t>Centimétricos</a:t>
            </a:r>
            <a:r>
              <a:rPr sz="1400" b="1" dirty="0">
                <a:solidFill>
                  <a:srgbClr val="0F172A"/>
                </a:solidFill>
              </a:rPr>
              <a:t>: </a:t>
            </a:r>
            <a:r>
              <a:rPr sz="1400" dirty="0">
                <a:solidFill>
                  <a:srgbClr val="475569"/>
                </a:solidFill>
              </a:rPr>
              <a:t>Voo de drone </a:t>
            </a:r>
            <a:r>
              <a:rPr sz="1400" dirty="0" err="1">
                <a:solidFill>
                  <a:srgbClr val="475569"/>
                </a:solidFill>
              </a:rPr>
              <a:t>gerando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modelos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tridimensionais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em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sítios</a:t>
            </a:r>
            <a:r>
              <a:rPr sz="1400" dirty="0">
                <a:solidFill>
                  <a:srgbClr val="475569"/>
                </a:solidFill>
              </a:rPr>
              <a:t> de </a:t>
            </a:r>
            <a:r>
              <a:rPr sz="1400" dirty="0" err="1">
                <a:solidFill>
                  <a:srgbClr val="475569"/>
                </a:solidFill>
              </a:rPr>
              <a:t>referência</a:t>
            </a:r>
            <a:r>
              <a:rPr sz="1400" dirty="0">
                <a:solidFill>
                  <a:srgbClr val="475569"/>
                </a:solidFill>
              </a:rPr>
              <a:t>.</a:t>
            </a:r>
          </a:p>
          <a:p>
            <a:pPr>
              <a:spcAft>
                <a:spcPts val="400"/>
              </a:spcAft>
            </a:pPr>
            <a:r>
              <a:rPr sz="1400" b="1" dirty="0" err="1">
                <a:solidFill>
                  <a:srgbClr val="0F172A"/>
                </a:solidFill>
              </a:rPr>
              <a:t>Segregação</a:t>
            </a:r>
            <a:r>
              <a:rPr sz="1400" b="1" dirty="0">
                <a:solidFill>
                  <a:srgbClr val="0F172A"/>
                </a:solidFill>
              </a:rPr>
              <a:t> </a:t>
            </a:r>
            <a:r>
              <a:rPr sz="1400" b="1" dirty="0" err="1">
                <a:solidFill>
                  <a:srgbClr val="0F172A"/>
                </a:solidFill>
              </a:rPr>
              <a:t>Obrigatória</a:t>
            </a:r>
            <a:r>
              <a:rPr sz="1400" b="1" dirty="0">
                <a:solidFill>
                  <a:srgbClr val="0F172A"/>
                </a:solidFill>
              </a:rPr>
              <a:t>: </a:t>
            </a:r>
            <a:r>
              <a:rPr sz="1400" dirty="0" err="1">
                <a:solidFill>
                  <a:srgbClr val="475569"/>
                </a:solidFill>
              </a:rPr>
              <a:t>Amostras</a:t>
            </a:r>
            <a:r>
              <a:rPr sz="1400" dirty="0">
                <a:solidFill>
                  <a:srgbClr val="475569"/>
                </a:solidFill>
              </a:rPr>
              <a:t> de drone </a:t>
            </a:r>
            <a:r>
              <a:rPr sz="1400" dirty="0" err="1">
                <a:solidFill>
                  <a:srgbClr val="475569"/>
                </a:solidFill>
              </a:rPr>
              <a:t>mantidas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compulsoriamente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como</a:t>
            </a:r>
            <a:r>
              <a:rPr sz="1400" dirty="0">
                <a:solidFill>
                  <a:srgbClr val="475569"/>
                </a:solidFill>
              </a:rPr>
              <a:t> teste (held-out).</a:t>
            </a:r>
          </a:p>
          <a:p>
            <a:pPr>
              <a:spcAft>
                <a:spcPts val="400"/>
              </a:spcAft>
            </a:pPr>
            <a:r>
              <a:rPr sz="1400" b="1" dirty="0" err="1">
                <a:solidFill>
                  <a:srgbClr val="0F172A"/>
                </a:solidFill>
              </a:rPr>
              <a:t>Testagem</a:t>
            </a:r>
            <a:r>
              <a:rPr sz="1400" b="1" dirty="0">
                <a:solidFill>
                  <a:srgbClr val="0F172A"/>
                </a:solidFill>
              </a:rPr>
              <a:t> Independente: </a:t>
            </a:r>
            <a:r>
              <a:rPr sz="1400" dirty="0" err="1">
                <a:solidFill>
                  <a:srgbClr val="475569"/>
                </a:solidFill>
              </a:rPr>
              <a:t>Isoladas</a:t>
            </a:r>
            <a:r>
              <a:rPr sz="1400" dirty="0">
                <a:solidFill>
                  <a:srgbClr val="475569"/>
                </a:solidFill>
              </a:rPr>
              <a:t> do </a:t>
            </a:r>
            <a:r>
              <a:rPr sz="1400" dirty="0" err="1">
                <a:solidFill>
                  <a:srgbClr val="475569"/>
                </a:solidFill>
              </a:rPr>
              <a:t>treino</a:t>
            </a:r>
            <a:r>
              <a:rPr sz="1400" dirty="0">
                <a:solidFill>
                  <a:srgbClr val="475569"/>
                </a:solidFill>
              </a:rPr>
              <a:t> do </a:t>
            </a:r>
            <a:r>
              <a:rPr sz="1400" dirty="0" err="1">
                <a:solidFill>
                  <a:srgbClr val="475569"/>
                </a:solidFill>
              </a:rPr>
              <a:t>modelo</a:t>
            </a:r>
            <a:r>
              <a:rPr sz="1400" dirty="0">
                <a:solidFill>
                  <a:srgbClr val="475569"/>
                </a:solidFill>
              </a:rPr>
              <a:t>, </a:t>
            </a:r>
            <a:r>
              <a:rPr sz="1400" dirty="0" err="1">
                <a:solidFill>
                  <a:srgbClr val="475569"/>
                </a:solidFill>
              </a:rPr>
              <a:t>garantindo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avaliação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não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contaminada</a:t>
            </a:r>
            <a:r>
              <a:rPr sz="1400" dirty="0">
                <a:solidFill>
                  <a:srgbClr val="475569"/>
                </a:solidFill>
              </a:rPr>
              <a:t>.</a:t>
            </a:r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8600A3BD-B6D1-216A-08F4-9A3F519D07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262992"/>
            <a:ext cx="1279123" cy="424992"/>
          </a:xfrm>
          <a:prstGeom prst="rect">
            <a:avLst/>
          </a:prstGeom>
          <a:effectLst>
            <a:glow rad="63500">
              <a:schemeClr val="bg1"/>
            </a:glo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APRENDIZADO DE MÁQUINA &amp; EXPLICABILIDADE FÍSICA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Modelagem Preditiva Externa: XGBoost LOCO &amp; Explicabilidade SHAP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SAREL v2.0 • Sistema de Amostragem e Rotulagem para Erosão Laminar • PPGTCA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3383280" cy="4709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3017520" cy="39523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E11D48"/>
                </a:solidFill>
              </a:defRPr>
            </a:pPr>
            <a:r>
              <a:rPr sz="1600" dirty="0" err="1"/>
              <a:t>Validação</a:t>
            </a:r>
            <a:r>
              <a:rPr sz="1600" dirty="0"/>
              <a:t> Cruzada LOCO</a:t>
            </a:r>
          </a:p>
          <a:p>
            <a:pPr>
              <a:spcAft>
                <a:spcPts val="400"/>
              </a:spcAft>
            </a:pPr>
            <a:r>
              <a:rPr sz="1600" b="1" dirty="0" err="1">
                <a:solidFill>
                  <a:srgbClr val="0F172A"/>
                </a:solidFill>
              </a:rPr>
              <a:t>Autocorrelação</a:t>
            </a:r>
            <a:r>
              <a:rPr sz="1600" b="1" dirty="0">
                <a:solidFill>
                  <a:srgbClr val="0F172A"/>
                </a:solidFill>
              </a:rPr>
              <a:t> </a:t>
            </a:r>
            <a:r>
              <a:rPr sz="1600" b="1" dirty="0" err="1">
                <a:solidFill>
                  <a:srgbClr val="0F172A"/>
                </a:solidFill>
              </a:rPr>
              <a:t>Espacial</a:t>
            </a:r>
            <a:r>
              <a:rPr sz="1600" b="1" dirty="0">
                <a:solidFill>
                  <a:srgbClr val="0F172A"/>
                </a:solidFill>
              </a:rPr>
              <a:t>: </a:t>
            </a:r>
            <a:r>
              <a:rPr sz="1600" dirty="0" err="1">
                <a:solidFill>
                  <a:srgbClr val="475569"/>
                </a:solidFill>
              </a:rPr>
              <a:t>Amostras</a:t>
            </a:r>
            <a:r>
              <a:rPr sz="1600" dirty="0">
                <a:solidFill>
                  <a:srgbClr val="475569"/>
                </a:solidFill>
              </a:rPr>
              <a:t> </a:t>
            </a:r>
            <a:r>
              <a:rPr sz="1600" dirty="0" err="1">
                <a:solidFill>
                  <a:srgbClr val="475569"/>
                </a:solidFill>
              </a:rPr>
              <a:t>geoespaciais</a:t>
            </a:r>
            <a:r>
              <a:rPr sz="1600" dirty="0">
                <a:solidFill>
                  <a:srgbClr val="475569"/>
                </a:solidFill>
              </a:rPr>
              <a:t> </a:t>
            </a:r>
            <a:r>
              <a:rPr sz="1600" dirty="0" err="1">
                <a:solidFill>
                  <a:srgbClr val="475569"/>
                </a:solidFill>
              </a:rPr>
              <a:t>violam</a:t>
            </a:r>
            <a:r>
              <a:rPr sz="1600" dirty="0">
                <a:solidFill>
                  <a:srgbClr val="475569"/>
                </a:solidFill>
              </a:rPr>
              <a:t> a </a:t>
            </a:r>
            <a:r>
              <a:rPr sz="1600" dirty="0" err="1">
                <a:solidFill>
                  <a:srgbClr val="475569"/>
                </a:solidFill>
              </a:rPr>
              <a:t>premissa</a:t>
            </a:r>
            <a:r>
              <a:rPr sz="1600" dirty="0">
                <a:solidFill>
                  <a:srgbClr val="475569"/>
                </a:solidFill>
              </a:rPr>
              <a:t> </a:t>
            </a:r>
            <a:r>
              <a:rPr sz="1600" dirty="0" err="1">
                <a:solidFill>
                  <a:srgbClr val="475569"/>
                </a:solidFill>
              </a:rPr>
              <a:t>i.i.d.</a:t>
            </a:r>
            <a:r>
              <a:rPr sz="1600" dirty="0">
                <a:solidFill>
                  <a:srgbClr val="475569"/>
                </a:solidFill>
              </a:rPr>
              <a:t> O K-Fold </a:t>
            </a:r>
            <a:r>
              <a:rPr sz="1600" dirty="0" err="1">
                <a:solidFill>
                  <a:srgbClr val="475569"/>
                </a:solidFill>
              </a:rPr>
              <a:t>comum</a:t>
            </a:r>
            <a:r>
              <a:rPr sz="1600" dirty="0">
                <a:solidFill>
                  <a:srgbClr val="475569"/>
                </a:solidFill>
              </a:rPr>
              <a:t> </a:t>
            </a:r>
            <a:r>
              <a:rPr sz="1600" dirty="0" err="1">
                <a:solidFill>
                  <a:srgbClr val="475569"/>
                </a:solidFill>
              </a:rPr>
              <a:t>mistura</a:t>
            </a:r>
            <a:r>
              <a:rPr sz="1600" dirty="0">
                <a:solidFill>
                  <a:srgbClr val="475569"/>
                </a:solidFill>
              </a:rPr>
              <a:t> pixels </a:t>
            </a:r>
            <a:r>
              <a:rPr sz="1600" dirty="0" err="1">
                <a:solidFill>
                  <a:srgbClr val="475569"/>
                </a:solidFill>
              </a:rPr>
              <a:t>vizinhos</a:t>
            </a:r>
            <a:r>
              <a:rPr sz="1600" dirty="0">
                <a:solidFill>
                  <a:srgbClr val="475569"/>
                </a:solidFill>
              </a:rPr>
              <a:t>, </a:t>
            </a:r>
            <a:r>
              <a:rPr sz="1600" dirty="0" err="1">
                <a:solidFill>
                  <a:srgbClr val="475569"/>
                </a:solidFill>
              </a:rPr>
              <a:t>inflando</a:t>
            </a:r>
            <a:r>
              <a:rPr sz="1600" dirty="0">
                <a:solidFill>
                  <a:srgbClr val="475569"/>
                </a:solidFill>
              </a:rPr>
              <a:t> </a:t>
            </a:r>
            <a:r>
              <a:rPr sz="1600" dirty="0" err="1">
                <a:solidFill>
                  <a:srgbClr val="475569"/>
                </a:solidFill>
              </a:rPr>
              <a:t>métricas</a:t>
            </a:r>
            <a:r>
              <a:rPr sz="1600" dirty="0">
                <a:solidFill>
                  <a:srgbClr val="475569"/>
                </a:solidFill>
              </a:rPr>
              <a:t>.</a:t>
            </a:r>
          </a:p>
          <a:p>
            <a:pPr>
              <a:spcAft>
                <a:spcPts val="400"/>
              </a:spcAft>
            </a:pPr>
            <a:r>
              <a:rPr sz="1600" b="1" dirty="0">
                <a:solidFill>
                  <a:srgbClr val="0F172A"/>
                </a:solidFill>
              </a:rPr>
              <a:t>Leave-One-Catchment-Out: </a:t>
            </a:r>
            <a:r>
              <a:rPr sz="1600" dirty="0">
                <a:solidFill>
                  <a:srgbClr val="475569"/>
                </a:solidFill>
              </a:rPr>
              <a:t>O </a:t>
            </a:r>
            <a:r>
              <a:rPr sz="1600" dirty="0" err="1">
                <a:solidFill>
                  <a:srgbClr val="475569"/>
                </a:solidFill>
              </a:rPr>
              <a:t>algoritmo</a:t>
            </a:r>
            <a:r>
              <a:rPr sz="1600" dirty="0">
                <a:solidFill>
                  <a:srgbClr val="475569"/>
                </a:solidFill>
              </a:rPr>
              <a:t> </a:t>
            </a:r>
            <a:r>
              <a:rPr sz="1600" dirty="0" err="1">
                <a:solidFill>
                  <a:srgbClr val="475569"/>
                </a:solidFill>
              </a:rPr>
              <a:t>treina</a:t>
            </a:r>
            <a:r>
              <a:rPr sz="1600" dirty="0">
                <a:solidFill>
                  <a:srgbClr val="475569"/>
                </a:solidFill>
              </a:rPr>
              <a:t> </a:t>
            </a:r>
            <a:r>
              <a:rPr sz="1600" dirty="0" err="1">
                <a:solidFill>
                  <a:srgbClr val="475569"/>
                </a:solidFill>
              </a:rPr>
              <a:t>em</a:t>
            </a:r>
            <a:r>
              <a:rPr sz="1600" dirty="0">
                <a:solidFill>
                  <a:srgbClr val="475569"/>
                </a:solidFill>
              </a:rPr>
              <a:t> </a:t>
            </a:r>
            <a:r>
              <a:rPr sz="1600" dirty="0" err="1">
                <a:solidFill>
                  <a:srgbClr val="475569"/>
                </a:solidFill>
              </a:rPr>
              <a:t>bacias</a:t>
            </a:r>
            <a:r>
              <a:rPr sz="1600" dirty="0">
                <a:solidFill>
                  <a:srgbClr val="475569"/>
                </a:solidFill>
              </a:rPr>
              <a:t> </a:t>
            </a:r>
            <a:r>
              <a:rPr sz="1600" dirty="0" err="1">
                <a:solidFill>
                  <a:srgbClr val="475569"/>
                </a:solidFill>
              </a:rPr>
              <a:t>hidrográficas</a:t>
            </a:r>
            <a:r>
              <a:rPr sz="1600" dirty="0">
                <a:solidFill>
                  <a:srgbClr val="475569"/>
                </a:solidFill>
              </a:rPr>
              <a:t> e é </a:t>
            </a:r>
            <a:r>
              <a:rPr sz="1600" dirty="0" err="1">
                <a:solidFill>
                  <a:srgbClr val="475569"/>
                </a:solidFill>
              </a:rPr>
              <a:t>testado</a:t>
            </a:r>
            <a:r>
              <a:rPr sz="1600" dirty="0">
                <a:solidFill>
                  <a:srgbClr val="475569"/>
                </a:solidFill>
              </a:rPr>
              <a:t> </a:t>
            </a:r>
            <a:r>
              <a:rPr sz="1600" dirty="0" err="1">
                <a:solidFill>
                  <a:srgbClr val="475569"/>
                </a:solidFill>
              </a:rPr>
              <a:t>em</a:t>
            </a:r>
            <a:r>
              <a:rPr sz="1600" dirty="0">
                <a:solidFill>
                  <a:srgbClr val="475569"/>
                </a:solidFill>
              </a:rPr>
              <a:t> </a:t>
            </a:r>
            <a:r>
              <a:rPr sz="1600" dirty="0" err="1">
                <a:solidFill>
                  <a:srgbClr val="475569"/>
                </a:solidFill>
              </a:rPr>
              <a:t>uma</a:t>
            </a:r>
            <a:r>
              <a:rPr sz="1600" dirty="0">
                <a:solidFill>
                  <a:srgbClr val="475569"/>
                </a:solidFill>
              </a:rPr>
              <a:t> </a:t>
            </a:r>
            <a:r>
              <a:rPr sz="1600" dirty="0" err="1">
                <a:solidFill>
                  <a:srgbClr val="475569"/>
                </a:solidFill>
              </a:rPr>
              <a:t>bacia</a:t>
            </a:r>
            <a:r>
              <a:rPr sz="1600" dirty="0">
                <a:solidFill>
                  <a:srgbClr val="475569"/>
                </a:solidFill>
              </a:rPr>
              <a:t> </a:t>
            </a:r>
            <a:r>
              <a:rPr sz="1600" dirty="0" err="1">
                <a:solidFill>
                  <a:srgbClr val="475569"/>
                </a:solidFill>
              </a:rPr>
              <a:t>inteiramente</a:t>
            </a:r>
            <a:r>
              <a:rPr sz="1600" dirty="0">
                <a:solidFill>
                  <a:srgbClr val="475569"/>
                </a:solidFill>
              </a:rPr>
              <a:t> </a:t>
            </a:r>
            <a:r>
              <a:rPr sz="1600" dirty="0" err="1">
                <a:solidFill>
                  <a:srgbClr val="475569"/>
                </a:solidFill>
              </a:rPr>
              <a:t>retida</a:t>
            </a:r>
            <a:r>
              <a:rPr sz="1600" dirty="0">
                <a:solidFill>
                  <a:srgbClr val="475569"/>
                </a:solidFill>
              </a:rPr>
              <a:t> (Roberts et al., 2017).</a:t>
            </a:r>
          </a:p>
          <a:p>
            <a:pPr>
              <a:spcAft>
                <a:spcPts val="400"/>
              </a:spcAft>
            </a:pPr>
            <a:r>
              <a:rPr sz="1600" b="1" dirty="0" err="1">
                <a:solidFill>
                  <a:srgbClr val="0F172A"/>
                </a:solidFill>
              </a:rPr>
              <a:t>Capacidade</a:t>
            </a:r>
            <a:r>
              <a:rPr sz="1600" b="1" dirty="0">
                <a:solidFill>
                  <a:srgbClr val="0F172A"/>
                </a:solidFill>
              </a:rPr>
              <a:t> de </a:t>
            </a:r>
            <a:r>
              <a:rPr sz="1600" b="1" dirty="0" err="1">
                <a:solidFill>
                  <a:srgbClr val="0F172A"/>
                </a:solidFill>
              </a:rPr>
              <a:t>Generalização</a:t>
            </a:r>
            <a:r>
              <a:rPr sz="1600" b="1" dirty="0">
                <a:solidFill>
                  <a:srgbClr val="0F172A"/>
                </a:solidFill>
              </a:rPr>
              <a:t>: </a:t>
            </a:r>
            <a:r>
              <a:rPr sz="1600" dirty="0">
                <a:solidFill>
                  <a:srgbClr val="475569"/>
                </a:solidFill>
              </a:rPr>
              <a:t>Mede a </a:t>
            </a:r>
            <a:r>
              <a:rPr sz="1600" dirty="0" err="1">
                <a:solidFill>
                  <a:srgbClr val="475569"/>
                </a:solidFill>
              </a:rPr>
              <a:t>capacidade</a:t>
            </a:r>
            <a:r>
              <a:rPr sz="1600" dirty="0">
                <a:solidFill>
                  <a:srgbClr val="475569"/>
                </a:solidFill>
              </a:rPr>
              <a:t> real de </a:t>
            </a:r>
            <a:r>
              <a:rPr sz="1600" dirty="0" err="1">
                <a:solidFill>
                  <a:srgbClr val="475569"/>
                </a:solidFill>
              </a:rPr>
              <a:t>extrapolação</a:t>
            </a:r>
            <a:r>
              <a:rPr sz="1600" dirty="0">
                <a:solidFill>
                  <a:srgbClr val="475569"/>
                </a:solidFill>
              </a:rPr>
              <a:t> </a:t>
            </a:r>
            <a:r>
              <a:rPr sz="1600" dirty="0" err="1">
                <a:solidFill>
                  <a:srgbClr val="475569"/>
                </a:solidFill>
              </a:rPr>
              <a:t>espacial</a:t>
            </a:r>
            <a:r>
              <a:rPr sz="1600" dirty="0">
                <a:solidFill>
                  <a:srgbClr val="475569"/>
                </a:solidFill>
              </a:rPr>
              <a:t> do </a:t>
            </a:r>
            <a:r>
              <a:rPr sz="1600" dirty="0" err="1">
                <a:solidFill>
                  <a:srgbClr val="475569"/>
                </a:solidFill>
              </a:rPr>
              <a:t>modelo</a:t>
            </a:r>
            <a:r>
              <a:rPr sz="1600" dirty="0">
                <a:solidFill>
                  <a:srgbClr val="475569"/>
                </a:solidFill>
              </a:rPr>
              <a:t> </a:t>
            </a:r>
            <a:r>
              <a:rPr sz="1600" dirty="0" err="1">
                <a:solidFill>
                  <a:srgbClr val="475569"/>
                </a:solidFill>
              </a:rPr>
              <a:t>sem</a:t>
            </a:r>
            <a:r>
              <a:rPr sz="1600" dirty="0">
                <a:solidFill>
                  <a:srgbClr val="475569"/>
                </a:solidFill>
              </a:rPr>
              <a:t> </a:t>
            </a:r>
            <a:r>
              <a:rPr sz="1600" dirty="0" err="1">
                <a:solidFill>
                  <a:srgbClr val="475569"/>
                </a:solidFill>
              </a:rPr>
              <a:t>vazamento</a:t>
            </a:r>
            <a:r>
              <a:rPr sz="1600" dirty="0">
                <a:solidFill>
                  <a:srgbClr val="475569"/>
                </a:solidFill>
              </a:rPr>
              <a:t> territorial.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383280" cy="4709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0" y="1600200"/>
            <a:ext cx="3017520" cy="39523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0EA5E9"/>
                </a:solidFill>
              </a:defRPr>
            </a:pPr>
            <a:r>
              <a:rPr sz="1600" dirty="0" err="1"/>
              <a:t>Explicabilidade</a:t>
            </a:r>
            <a:r>
              <a:rPr sz="1600" dirty="0"/>
              <a:t> </a:t>
            </a:r>
            <a:r>
              <a:rPr sz="1600" dirty="0" err="1"/>
              <a:t>Física</a:t>
            </a:r>
            <a:r>
              <a:rPr sz="1600" dirty="0"/>
              <a:t> via SHAP</a:t>
            </a:r>
          </a:p>
          <a:p>
            <a:pPr>
              <a:spcAft>
                <a:spcPts val="400"/>
              </a:spcAft>
            </a:pPr>
            <a:r>
              <a:rPr sz="1600" b="1" dirty="0">
                <a:solidFill>
                  <a:srgbClr val="0F172A"/>
                </a:solidFill>
              </a:rPr>
              <a:t>Valores de Shapley: </a:t>
            </a:r>
            <a:r>
              <a:rPr sz="1600" dirty="0">
                <a:solidFill>
                  <a:srgbClr val="475569"/>
                </a:solidFill>
              </a:rPr>
              <a:t>Mede a </a:t>
            </a:r>
            <a:r>
              <a:rPr sz="1600" dirty="0" err="1">
                <a:solidFill>
                  <a:srgbClr val="475569"/>
                </a:solidFill>
              </a:rPr>
              <a:t>contribuição</a:t>
            </a:r>
            <a:r>
              <a:rPr sz="1600" dirty="0">
                <a:solidFill>
                  <a:srgbClr val="475569"/>
                </a:solidFill>
              </a:rPr>
              <a:t> marginal de </a:t>
            </a:r>
            <a:r>
              <a:rPr sz="1600" dirty="0" err="1">
                <a:solidFill>
                  <a:srgbClr val="475569"/>
                </a:solidFill>
              </a:rPr>
              <a:t>cada</a:t>
            </a:r>
            <a:r>
              <a:rPr sz="1600" dirty="0">
                <a:solidFill>
                  <a:srgbClr val="475569"/>
                </a:solidFill>
              </a:rPr>
              <a:t> </a:t>
            </a:r>
            <a:r>
              <a:rPr sz="1600" dirty="0" err="1">
                <a:solidFill>
                  <a:srgbClr val="475569"/>
                </a:solidFill>
              </a:rPr>
              <a:t>variável</a:t>
            </a:r>
            <a:r>
              <a:rPr sz="1600" dirty="0">
                <a:solidFill>
                  <a:srgbClr val="475569"/>
                </a:solidFill>
              </a:rPr>
              <a:t> </a:t>
            </a:r>
            <a:r>
              <a:rPr sz="1600" dirty="0" err="1">
                <a:solidFill>
                  <a:srgbClr val="475569"/>
                </a:solidFill>
              </a:rPr>
              <a:t>preditora</a:t>
            </a:r>
            <a:r>
              <a:rPr sz="1600" dirty="0">
                <a:solidFill>
                  <a:srgbClr val="475569"/>
                </a:solidFill>
              </a:rPr>
              <a:t> </a:t>
            </a:r>
            <a:r>
              <a:rPr sz="1600" dirty="0" err="1">
                <a:solidFill>
                  <a:srgbClr val="475569"/>
                </a:solidFill>
              </a:rPr>
              <a:t>na</a:t>
            </a:r>
            <a:r>
              <a:rPr sz="1600" dirty="0">
                <a:solidFill>
                  <a:srgbClr val="475569"/>
                </a:solidFill>
              </a:rPr>
              <a:t> </a:t>
            </a:r>
            <a:r>
              <a:rPr sz="1600" dirty="0" err="1">
                <a:solidFill>
                  <a:srgbClr val="475569"/>
                </a:solidFill>
              </a:rPr>
              <a:t>saída</a:t>
            </a:r>
            <a:r>
              <a:rPr sz="1600" dirty="0">
                <a:solidFill>
                  <a:srgbClr val="475569"/>
                </a:solidFill>
              </a:rPr>
              <a:t> do </a:t>
            </a:r>
            <a:r>
              <a:rPr sz="1600" dirty="0" err="1">
                <a:solidFill>
                  <a:srgbClr val="475569"/>
                </a:solidFill>
              </a:rPr>
              <a:t>classificador</a:t>
            </a:r>
            <a:r>
              <a:rPr sz="1600" dirty="0">
                <a:solidFill>
                  <a:srgbClr val="475569"/>
                </a:solidFill>
              </a:rPr>
              <a:t> (Lundberg &amp; Lee, 2017).</a:t>
            </a:r>
          </a:p>
          <a:p>
            <a:pPr>
              <a:spcAft>
                <a:spcPts val="400"/>
              </a:spcAft>
            </a:pPr>
            <a:r>
              <a:rPr sz="1600" b="1" dirty="0">
                <a:solidFill>
                  <a:srgbClr val="0F172A"/>
                </a:solidFill>
              </a:rPr>
              <a:t>Auditoria de </a:t>
            </a:r>
            <a:r>
              <a:rPr sz="1600" b="1" dirty="0" err="1">
                <a:solidFill>
                  <a:srgbClr val="0F172A"/>
                </a:solidFill>
              </a:rPr>
              <a:t>Coerência</a:t>
            </a:r>
            <a:r>
              <a:rPr sz="1600" b="1" dirty="0">
                <a:solidFill>
                  <a:srgbClr val="0F172A"/>
                </a:solidFill>
              </a:rPr>
              <a:t>: </a:t>
            </a:r>
            <a:r>
              <a:rPr sz="1600" dirty="0" err="1">
                <a:solidFill>
                  <a:srgbClr val="475569"/>
                </a:solidFill>
              </a:rPr>
              <a:t>Verifica</a:t>
            </a:r>
            <a:r>
              <a:rPr sz="1600" dirty="0">
                <a:solidFill>
                  <a:srgbClr val="475569"/>
                </a:solidFill>
              </a:rPr>
              <a:t> se a </a:t>
            </a:r>
            <a:r>
              <a:rPr sz="1600" dirty="0" err="1">
                <a:solidFill>
                  <a:srgbClr val="475569"/>
                </a:solidFill>
              </a:rPr>
              <a:t>predição</a:t>
            </a:r>
            <a:r>
              <a:rPr sz="1600" dirty="0">
                <a:solidFill>
                  <a:srgbClr val="475569"/>
                </a:solidFill>
              </a:rPr>
              <a:t> </a:t>
            </a:r>
            <a:r>
              <a:rPr sz="1600" dirty="0" err="1">
                <a:solidFill>
                  <a:srgbClr val="475569"/>
                </a:solidFill>
              </a:rPr>
              <a:t>reflete</a:t>
            </a:r>
            <a:r>
              <a:rPr sz="1600" dirty="0">
                <a:solidFill>
                  <a:srgbClr val="475569"/>
                </a:solidFill>
              </a:rPr>
              <a:t> </a:t>
            </a:r>
            <a:r>
              <a:rPr sz="1600" dirty="0" err="1">
                <a:solidFill>
                  <a:srgbClr val="475569"/>
                </a:solidFill>
              </a:rPr>
              <a:t>processos</a:t>
            </a:r>
            <a:r>
              <a:rPr sz="1600" dirty="0">
                <a:solidFill>
                  <a:srgbClr val="475569"/>
                </a:solidFill>
              </a:rPr>
              <a:t> </a:t>
            </a:r>
            <a:r>
              <a:rPr sz="1600" dirty="0" err="1">
                <a:solidFill>
                  <a:srgbClr val="475569"/>
                </a:solidFill>
              </a:rPr>
              <a:t>biofísicos</a:t>
            </a:r>
            <a:r>
              <a:rPr sz="1600" dirty="0">
                <a:solidFill>
                  <a:srgbClr val="475569"/>
                </a:solidFill>
              </a:rPr>
              <a:t> reais (</a:t>
            </a:r>
            <a:r>
              <a:rPr sz="1600" dirty="0" err="1">
                <a:solidFill>
                  <a:srgbClr val="475569"/>
                </a:solidFill>
              </a:rPr>
              <a:t>alta</a:t>
            </a:r>
            <a:r>
              <a:rPr sz="1600" dirty="0">
                <a:solidFill>
                  <a:srgbClr val="475569"/>
                </a:solidFill>
              </a:rPr>
              <a:t> </a:t>
            </a:r>
            <a:r>
              <a:rPr sz="1600" dirty="0" err="1">
                <a:solidFill>
                  <a:srgbClr val="475569"/>
                </a:solidFill>
              </a:rPr>
              <a:t>declividade</a:t>
            </a:r>
            <a:r>
              <a:rPr sz="1600" dirty="0">
                <a:solidFill>
                  <a:srgbClr val="475569"/>
                </a:solidFill>
              </a:rPr>
              <a:t> + solo </a:t>
            </a:r>
            <a:r>
              <a:rPr sz="1600" dirty="0" err="1">
                <a:solidFill>
                  <a:srgbClr val="475569"/>
                </a:solidFill>
              </a:rPr>
              <a:t>exposto</a:t>
            </a:r>
            <a:r>
              <a:rPr sz="1600" dirty="0">
                <a:solidFill>
                  <a:srgbClr val="475569"/>
                </a:solidFill>
              </a:rPr>
              <a:t>), e </a:t>
            </a:r>
            <a:r>
              <a:rPr sz="1600" dirty="0" err="1">
                <a:solidFill>
                  <a:srgbClr val="475569"/>
                </a:solidFill>
              </a:rPr>
              <a:t>não</a:t>
            </a:r>
            <a:r>
              <a:rPr sz="1600" dirty="0">
                <a:solidFill>
                  <a:srgbClr val="475569"/>
                </a:solidFill>
              </a:rPr>
              <a:t> </a:t>
            </a:r>
            <a:r>
              <a:rPr sz="1600" dirty="0" err="1">
                <a:solidFill>
                  <a:srgbClr val="475569"/>
                </a:solidFill>
              </a:rPr>
              <a:t>ruídos</a:t>
            </a:r>
            <a:r>
              <a:rPr sz="1600" dirty="0">
                <a:solidFill>
                  <a:srgbClr val="475569"/>
                </a:solidFill>
              </a:rPr>
              <a:t> de </a:t>
            </a:r>
            <a:r>
              <a:rPr sz="1600" dirty="0" err="1">
                <a:solidFill>
                  <a:srgbClr val="475569"/>
                </a:solidFill>
              </a:rPr>
              <a:t>amostragem</a:t>
            </a:r>
            <a:r>
              <a:rPr sz="1600" dirty="0">
                <a:solidFill>
                  <a:srgbClr val="475569"/>
                </a:solidFill>
              </a:rPr>
              <a:t>.</a:t>
            </a:r>
          </a:p>
          <a:p>
            <a:pPr>
              <a:spcAft>
                <a:spcPts val="400"/>
              </a:spcAft>
            </a:pPr>
            <a:r>
              <a:rPr sz="1600" b="1" dirty="0" err="1">
                <a:solidFill>
                  <a:srgbClr val="0F172A"/>
                </a:solidFill>
              </a:rPr>
              <a:t>Entregáveis</a:t>
            </a:r>
            <a:r>
              <a:rPr sz="1600" b="1" dirty="0">
                <a:solidFill>
                  <a:srgbClr val="0F172A"/>
                </a:solidFill>
              </a:rPr>
              <a:t> da Pesquisa: </a:t>
            </a:r>
            <a:r>
              <a:rPr sz="1600" dirty="0" err="1">
                <a:solidFill>
                  <a:srgbClr val="475569"/>
                </a:solidFill>
              </a:rPr>
              <a:t>Gráficos</a:t>
            </a:r>
            <a:r>
              <a:rPr sz="1600" dirty="0">
                <a:solidFill>
                  <a:srgbClr val="475569"/>
                </a:solidFill>
              </a:rPr>
              <a:t> SHAP Summary e </a:t>
            </a:r>
            <a:r>
              <a:rPr sz="1600" dirty="0" err="1">
                <a:solidFill>
                  <a:srgbClr val="475569"/>
                </a:solidFill>
              </a:rPr>
              <a:t>dependência</a:t>
            </a:r>
            <a:r>
              <a:rPr sz="1600" dirty="0">
                <a:solidFill>
                  <a:srgbClr val="475569"/>
                </a:solidFill>
              </a:rPr>
              <a:t> </a:t>
            </a:r>
            <a:r>
              <a:rPr sz="1600" dirty="0" err="1">
                <a:solidFill>
                  <a:srgbClr val="475569"/>
                </a:solidFill>
              </a:rPr>
              <a:t>parcial</a:t>
            </a:r>
            <a:r>
              <a:rPr sz="1600" dirty="0">
                <a:solidFill>
                  <a:srgbClr val="475569"/>
                </a:solidFill>
              </a:rPr>
              <a:t> </a:t>
            </a:r>
            <a:r>
              <a:rPr sz="1600" dirty="0" err="1">
                <a:solidFill>
                  <a:srgbClr val="475569"/>
                </a:solidFill>
              </a:rPr>
              <a:t>revelando</a:t>
            </a:r>
            <a:r>
              <a:rPr sz="1600" dirty="0">
                <a:solidFill>
                  <a:srgbClr val="475569"/>
                </a:solidFill>
              </a:rPr>
              <a:t> </a:t>
            </a:r>
            <a:r>
              <a:rPr sz="1600" dirty="0" err="1">
                <a:solidFill>
                  <a:srgbClr val="475569"/>
                </a:solidFill>
              </a:rPr>
              <a:t>limiares</a:t>
            </a:r>
            <a:r>
              <a:rPr sz="1600" dirty="0">
                <a:solidFill>
                  <a:srgbClr val="475569"/>
                </a:solidFill>
              </a:rPr>
              <a:t> </a:t>
            </a:r>
            <a:r>
              <a:rPr sz="1600" dirty="0" err="1">
                <a:solidFill>
                  <a:srgbClr val="475569"/>
                </a:solidFill>
              </a:rPr>
              <a:t>críticos</a:t>
            </a:r>
            <a:r>
              <a:rPr sz="1600" dirty="0">
                <a:solidFill>
                  <a:srgbClr val="475569"/>
                </a:solidFill>
              </a:rPr>
              <a:t> </a:t>
            </a:r>
            <a:r>
              <a:rPr sz="1600" dirty="0" err="1">
                <a:solidFill>
                  <a:srgbClr val="475569"/>
                </a:solidFill>
              </a:rPr>
              <a:t>na</a:t>
            </a:r>
            <a:r>
              <a:rPr sz="1600" dirty="0">
                <a:solidFill>
                  <a:srgbClr val="475569"/>
                </a:solidFill>
              </a:rPr>
              <a:t> </a:t>
            </a:r>
            <a:r>
              <a:rPr sz="1600" dirty="0" err="1">
                <a:solidFill>
                  <a:srgbClr val="475569"/>
                </a:solidFill>
              </a:rPr>
              <a:t>paisagem</a:t>
            </a:r>
            <a:r>
              <a:rPr sz="1600" dirty="0">
                <a:solidFill>
                  <a:srgbClr val="475569"/>
                </a:solidFill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17320"/>
            <a:ext cx="3383280" cy="4709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0" y="1600200"/>
            <a:ext cx="3017520" cy="39523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0B981"/>
                </a:solidFill>
              </a:defRPr>
            </a:pPr>
            <a:r>
              <a:rPr sz="1600" dirty="0" err="1"/>
              <a:t>Métricas</a:t>
            </a:r>
            <a:r>
              <a:rPr sz="1600" dirty="0"/>
              <a:t> </a:t>
            </a:r>
            <a:r>
              <a:rPr sz="1600" dirty="0" err="1"/>
              <a:t>Científicas</a:t>
            </a:r>
            <a:r>
              <a:rPr sz="1600" dirty="0"/>
              <a:t> </a:t>
            </a:r>
            <a:r>
              <a:rPr sz="1600" dirty="0" err="1"/>
              <a:t>Realistas</a:t>
            </a:r>
            <a:endParaRPr sz="1600" dirty="0"/>
          </a:p>
          <a:p>
            <a:pPr>
              <a:spcAft>
                <a:spcPts val="400"/>
              </a:spcAft>
            </a:pPr>
            <a:r>
              <a:rPr sz="1600" b="1" dirty="0" err="1">
                <a:solidFill>
                  <a:srgbClr val="0F172A"/>
                </a:solidFill>
              </a:rPr>
              <a:t>Discriminação</a:t>
            </a:r>
            <a:r>
              <a:rPr sz="1600" b="1" dirty="0">
                <a:solidFill>
                  <a:srgbClr val="0F172A"/>
                </a:solidFill>
              </a:rPr>
              <a:t> vs </a:t>
            </a:r>
            <a:r>
              <a:rPr sz="1600" b="1" dirty="0" err="1">
                <a:solidFill>
                  <a:srgbClr val="0F172A"/>
                </a:solidFill>
              </a:rPr>
              <a:t>Calibração</a:t>
            </a:r>
            <a:r>
              <a:rPr sz="1600" b="1" dirty="0">
                <a:solidFill>
                  <a:srgbClr val="0F172A"/>
                </a:solidFill>
              </a:rPr>
              <a:t>: </a:t>
            </a:r>
            <a:r>
              <a:rPr sz="1600" dirty="0" err="1">
                <a:solidFill>
                  <a:srgbClr val="475569"/>
                </a:solidFill>
              </a:rPr>
              <a:t>Acurácia</a:t>
            </a:r>
            <a:r>
              <a:rPr sz="1600" dirty="0">
                <a:solidFill>
                  <a:srgbClr val="475569"/>
                </a:solidFill>
              </a:rPr>
              <a:t> </a:t>
            </a:r>
            <a:r>
              <a:rPr sz="1600" dirty="0" err="1">
                <a:solidFill>
                  <a:srgbClr val="475569"/>
                </a:solidFill>
              </a:rPr>
              <a:t>realista</a:t>
            </a:r>
            <a:r>
              <a:rPr sz="1600" dirty="0">
                <a:solidFill>
                  <a:srgbClr val="475569"/>
                </a:solidFill>
              </a:rPr>
              <a:t> </a:t>
            </a:r>
            <a:r>
              <a:rPr sz="1600" dirty="0" err="1">
                <a:solidFill>
                  <a:srgbClr val="475569"/>
                </a:solidFill>
              </a:rPr>
              <a:t>esperada</a:t>
            </a:r>
            <a:r>
              <a:rPr sz="1600" dirty="0">
                <a:solidFill>
                  <a:srgbClr val="475569"/>
                </a:solidFill>
              </a:rPr>
              <a:t> entre 82% e 91%; ROC-AUC </a:t>
            </a:r>
            <a:r>
              <a:rPr sz="1600" dirty="0" err="1">
                <a:solidFill>
                  <a:srgbClr val="475569"/>
                </a:solidFill>
              </a:rPr>
              <a:t>avalia</a:t>
            </a:r>
            <a:r>
              <a:rPr sz="1600" dirty="0">
                <a:solidFill>
                  <a:srgbClr val="475569"/>
                </a:solidFill>
              </a:rPr>
              <a:t> </a:t>
            </a:r>
            <a:r>
              <a:rPr sz="1600" dirty="0" err="1">
                <a:solidFill>
                  <a:srgbClr val="475569"/>
                </a:solidFill>
              </a:rPr>
              <a:t>discriminação</a:t>
            </a:r>
            <a:r>
              <a:rPr sz="1600" dirty="0">
                <a:solidFill>
                  <a:srgbClr val="475569"/>
                </a:solidFill>
              </a:rPr>
              <a:t>, </a:t>
            </a:r>
            <a:r>
              <a:rPr sz="1600" dirty="0" err="1">
                <a:solidFill>
                  <a:srgbClr val="475569"/>
                </a:solidFill>
              </a:rPr>
              <a:t>enquanto</a:t>
            </a:r>
            <a:r>
              <a:rPr sz="1600" dirty="0">
                <a:solidFill>
                  <a:srgbClr val="475569"/>
                </a:solidFill>
              </a:rPr>
              <a:t> Brier Score </a:t>
            </a:r>
            <a:r>
              <a:rPr sz="1600" dirty="0" err="1">
                <a:solidFill>
                  <a:srgbClr val="475569"/>
                </a:solidFill>
              </a:rPr>
              <a:t>avalia</a:t>
            </a:r>
            <a:r>
              <a:rPr sz="1600" dirty="0">
                <a:solidFill>
                  <a:srgbClr val="475569"/>
                </a:solidFill>
              </a:rPr>
              <a:t> </a:t>
            </a:r>
            <a:r>
              <a:rPr sz="1600" dirty="0" err="1">
                <a:solidFill>
                  <a:srgbClr val="475569"/>
                </a:solidFill>
              </a:rPr>
              <a:t>calibração</a:t>
            </a:r>
            <a:r>
              <a:rPr sz="1600" dirty="0">
                <a:solidFill>
                  <a:srgbClr val="475569"/>
                </a:solidFill>
              </a:rPr>
              <a:t>.</a:t>
            </a:r>
          </a:p>
          <a:p>
            <a:pPr>
              <a:spcAft>
                <a:spcPts val="400"/>
              </a:spcAft>
            </a:pPr>
            <a:r>
              <a:rPr sz="1600" b="1" dirty="0" err="1">
                <a:solidFill>
                  <a:srgbClr val="0F172A"/>
                </a:solidFill>
              </a:rPr>
              <a:t>Remoção</a:t>
            </a:r>
            <a:r>
              <a:rPr sz="1600" b="1" dirty="0">
                <a:solidFill>
                  <a:srgbClr val="0F172A"/>
                </a:solidFill>
              </a:rPr>
              <a:t> da </a:t>
            </a:r>
            <a:r>
              <a:rPr sz="1600" b="1" dirty="0" err="1">
                <a:solidFill>
                  <a:srgbClr val="0F172A"/>
                </a:solidFill>
              </a:rPr>
              <a:t>Perda</a:t>
            </a:r>
            <a:r>
              <a:rPr sz="1600" b="1" dirty="0">
                <a:solidFill>
                  <a:srgbClr val="0F172A"/>
                </a:solidFill>
              </a:rPr>
              <a:t> RUSLE: </a:t>
            </a:r>
            <a:r>
              <a:rPr sz="1600" dirty="0">
                <a:solidFill>
                  <a:srgbClr val="475569"/>
                </a:solidFill>
              </a:rPr>
              <a:t>A </a:t>
            </a:r>
            <a:r>
              <a:rPr sz="1600" dirty="0" err="1">
                <a:solidFill>
                  <a:srgbClr val="475569"/>
                </a:solidFill>
              </a:rPr>
              <a:t>perda</a:t>
            </a:r>
            <a:r>
              <a:rPr sz="1600" dirty="0">
                <a:solidFill>
                  <a:srgbClr val="475569"/>
                </a:solidFill>
              </a:rPr>
              <a:t> de solo </a:t>
            </a:r>
            <a:r>
              <a:rPr sz="1600" dirty="0" err="1">
                <a:solidFill>
                  <a:srgbClr val="475569"/>
                </a:solidFill>
              </a:rPr>
              <a:t>calculada</a:t>
            </a:r>
            <a:r>
              <a:rPr sz="1600" dirty="0">
                <a:solidFill>
                  <a:srgbClr val="475569"/>
                </a:solidFill>
              </a:rPr>
              <a:t> </a:t>
            </a:r>
            <a:r>
              <a:rPr sz="1600" dirty="0" err="1">
                <a:solidFill>
                  <a:srgbClr val="475569"/>
                </a:solidFill>
              </a:rPr>
              <a:t>foi</a:t>
            </a:r>
            <a:r>
              <a:rPr sz="1600" dirty="0">
                <a:solidFill>
                  <a:srgbClr val="475569"/>
                </a:solidFill>
              </a:rPr>
              <a:t> </a:t>
            </a:r>
            <a:r>
              <a:rPr sz="1600" dirty="0" err="1">
                <a:solidFill>
                  <a:srgbClr val="475569"/>
                </a:solidFill>
              </a:rPr>
              <a:t>formalmente</a:t>
            </a:r>
            <a:r>
              <a:rPr sz="1600" dirty="0">
                <a:solidFill>
                  <a:srgbClr val="475569"/>
                </a:solidFill>
              </a:rPr>
              <a:t> </a:t>
            </a:r>
            <a:r>
              <a:rPr sz="1600" dirty="0" err="1">
                <a:solidFill>
                  <a:srgbClr val="475569"/>
                </a:solidFill>
              </a:rPr>
              <a:t>removida</a:t>
            </a:r>
            <a:r>
              <a:rPr sz="1600" dirty="0">
                <a:solidFill>
                  <a:srgbClr val="475569"/>
                </a:solidFill>
              </a:rPr>
              <a:t> da </a:t>
            </a:r>
            <a:r>
              <a:rPr sz="1600" dirty="0" err="1">
                <a:solidFill>
                  <a:srgbClr val="475569"/>
                </a:solidFill>
              </a:rPr>
              <a:t>matriz</a:t>
            </a:r>
            <a:r>
              <a:rPr sz="1600" dirty="0">
                <a:solidFill>
                  <a:srgbClr val="475569"/>
                </a:solidFill>
              </a:rPr>
              <a:t> de </a:t>
            </a:r>
            <a:r>
              <a:rPr sz="1600" dirty="0" err="1">
                <a:solidFill>
                  <a:srgbClr val="475569"/>
                </a:solidFill>
              </a:rPr>
              <a:t>treino</a:t>
            </a:r>
            <a:r>
              <a:rPr sz="1600" dirty="0">
                <a:solidFill>
                  <a:srgbClr val="475569"/>
                </a:solidFill>
              </a:rPr>
              <a:t>, </a:t>
            </a:r>
            <a:r>
              <a:rPr sz="1600" dirty="0" err="1">
                <a:solidFill>
                  <a:srgbClr val="475569"/>
                </a:solidFill>
              </a:rPr>
              <a:t>evitando</a:t>
            </a:r>
            <a:r>
              <a:rPr sz="1600" dirty="0">
                <a:solidFill>
                  <a:srgbClr val="475569"/>
                </a:solidFill>
              </a:rPr>
              <a:t> </a:t>
            </a:r>
            <a:r>
              <a:rPr sz="1600" dirty="0" err="1">
                <a:solidFill>
                  <a:srgbClr val="475569"/>
                </a:solidFill>
              </a:rPr>
              <a:t>qualquer</a:t>
            </a:r>
            <a:r>
              <a:rPr sz="1600" dirty="0">
                <a:solidFill>
                  <a:srgbClr val="475569"/>
                </a:solidFill>
              </a:rPr>
              <a:t> </a:t>
            </a:r>
            <a:r>
              <a:rPr sz="1600" dirty="0" err="1">
                <a:solidFill>
                  <a:srgbClr val="475569"/>
                </a:solidFill>
              </a:rPr>
              <a:t>circularidade</a:t>
            </a:r>
            <a:r>
              <a:rPr sz="1600" dirty="0">
                <a:solidFill>
                  <a:srgbClr val="475569"/>
                </a:solidFill>
              </a:rPr>
              <a:t>.</a:t>
            </a:r>
          </a:p>
          <a:p>
            <a:pPr>
              <a:spcAft>
                <a:spcPts val="400"/>
              </a:spcAft>
            </a:pPr>
            <a:r>
              <a:rPr sz="1600" b="1" dirty="0">
                <a:solidFill>
                  <a:srgbClr val="0F172A"/>
                </a:solidFill>
              </a:rPr>
              <a:t>Trava Anti-Mock Ativa: </a:t>
            </a:r>
            <a:r>
              <a:rPr sz="1600" dirty="0">
                <a:solidFill>
                  <a:srgbClr val="475569"/>
                </a:solidFill>
              </a:rPr>
              <a:t>O script treinar_xgboost_loco.py </a:t>
            </a:r>
            <a:r>
              <a:rPr sz="1600" dirty="0" err="1">
                <a:solidFill>
                  <a:srgbClr val="475569"/>
                </a:solidFill>
              </a:rPr>
              <a:t>possui</a:t>
            </a:r>
            <a:r>
              <a:rPr sz="1600" dirty="0">
                <a:solidFill>
                  <a:srgbClr val="475569"/>
                </a:solidFill>
              </a:rPr>
              <a:t> </a:t>
            </a:r>
            <a:r>
              <a:rPr sz="1600" dirty="0" err="1">
                <a:solidFill>
                  <a:srgbClr val="475569"/>
                </a:solidFill>
              </a:rPr>
              <a:t>validação</a:t>
            </a:r>
            <a:r>
              <a:rPr sz="1600" dirty="0">
                <a:solidFill>
                  <a:srgbClr val="475569"/>
                </a:solidFill>
              </a:rPr>
              <a:t> </a:t>
            </a:r>
            <a:r>
              <a:rPr sz="1600" dirty="0" err="1">
                <a:solidFill>
                  <a:srgbClr val="475569"/>
                </a:solidFill>
              </a:rPr>
              <a:t>que</a:t>
            </a:r>
            <a:r>
              <a:rPr sz="1600" dirty="0">
                <a:solidFill>
                  <a:srgbClr val="475569"/>
                </a:solidFill>
              </a:rPr>
              <a:t> barra </a:t>
            </a:r>
            <a:r>
              <a:rPr sz="1600" dirty="0" err="1">
                <a:solidFill>
                  <a:srgbClr val="475569"/>
                </a:solidFill>
              </a:rPr>
              <a:t>matrizes</a:t>
            </a:r>
            <a:r>
              <a:rPr sz="1600" dirty="0">
                <a:solidFill>
                  <a:srgbClr val="475569"/>
                </a:solidFill>
              </a:rPr>
              <a:t> </a:t>
            </a:r>
            <a:r>
              <a:rPr sz="1600" dirty="0" err="1">
                <a:solidFill>
                  <a:srgbClr val="475569"/>
                </a:solidFill>
              </a:rPr>
              <a:t>sintéticas</a:t>
            </a:r>
            <a:r>
              <a:rPr sz="1600" dirty="0">
                <a:solidFill>
                  <a:srgbClr val="475569"/>
                </a:solidFill>
              </a:rPr>
              <a:t> </a:t>
            </a:r>
            <a:r>
              <a:rPr sz="1600" dirty="0" err="1">
                <a:solidFill>
                  <a:srgbClr val="475569"/>
                </a:solidFill>
              </a:rPr>
              <a:t>ou</a:t>
            </a:r>
            <a:r>
              <a:rPr sz="1600" dirty="0">
                <a:solidFill>
                  <a:srgbClr val="475569"/>
                </a:solidFill>
              </a:rPr>
              <a:t> </a:t>
            </a:r>
            <a:r>
              <a:rPr sz="1600" dirty="0" err="1">
                <a:solidFill>
                  <a:srgbClr val="475569"/>
                </a:solidFill>
              </a:rPr>
              <a:t>constantes</a:t>
            </a:r>
            <a:r>
              <a:rPr sz="1600" dirty="0">
                <a:solidFill>
                  <a:srgbClr val="475569"/>
                </a:solidFill>
              </a:rPr>
              <a:t> </a:t>
            </a:r>
            <a:r>
              <a:rPr sz="1600" dirty="0" err="1">
                <a:solidFill>
                  <a:srgbClr val="475569"/>
                </a:solidFill>
              </a:rPr>
              <a:t>residuais</a:t>
            </a:r>
            <a:r>
              <a:rPr sz="1600" dirty="0">
                <a:solidFill>
                  <a:srgbClr val="475569"/>
                </a:solidFill>
              </a:rPr>
              <a:t>.</a:t>
            </a: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B762D557-E31A-1FFD-915E-B1B2961342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262992"/>
            <a:ext cx="1279123" cy="424992"/>
          </a:xfrm>
          <a:prstGeom prst="rect">
            <a:avLst/>
          </a:prstGeom>
          <a:effectLst>
            <a:glow rad="63500">
              <a:schemeClr val="bg1"/>
            </a:glo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CONTROLE DE QUALIDADE AUTOMATIZADO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Invariantes de Integridade: 7 Portões de Auditoria de Dados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SAREL v2.0 • Sistema de Amostragem e Rotulagem para Erosão Laminar • PPGTCA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106984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22960" y="1527048"/>
            <a:ext cx="1645920" cy="420624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INVARIANTE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1582642"/>
            <a:ext cx="8686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 err="1">
                <a:solidFill>
                  <a:srgbClr val="0F172A"/>
                </a:solidFill>
              </a:rPr>
              <a:t>Coerência</a:t>
            </a:r>
            <a:r>
              <a:rPr sz="1400" b="1" dirty="0">
                <a:solidFill>
                  <a:srgbClr val="0F172A"/>
                </a:solidFill>
              </a:rPr>
              <a:t> RUSLE: </a:t>
            </a:r>
            <a:r>
              <a:rPr sz="1400" dirty="0" err="1">
                <a:solidFill>
                  <a:srgbClr val="475569"/>
                </a:solidFill>
              </a:rPr>
              <a:t>Perda</a:t>
            </a:r>
            <a:r>
              <a:rPr sz="1400" dirty="0">
                <a:solidFill>
                  <a:srgbClr val="475569"/>
                </a:solidFill>
              </a:rPr>
              <a:t> de solo </a:t>
            </a:r>
            <a:r>
              <a:rPr sz="1400" dirty="0" err="1">
                <a:solidFill>
                  <a:srgbClr val="475569"/>
                </a:solidFill>
              </a:rPr>
              <a:t>preenchida</a:t>
            </a:r>
            <a:r>
              <a:rPr sz="1400" dirty="0">
                <a:solidFill>
                  <a:srgbClr val="475569"/>
                </a:solidFill>
              </a:rPr>
              <a:t> ⟺ 5 </a:t>
            </a:r>
            <a:r>
              <a:rPr sz="1400" dirty="0" err="1">
                <a:solidFill>
                  <a:srgbClr val="475569"/>
                </a:solidFill>
              </a:rPr>
              <a:t>fatores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preenchidos</a:t>
            </a:r>
            <a:r>
              <a:rPr sz="1400" dirty="0">
                <a:solidFill>
                  <a:srgbClr val="475569"/>
                </a:solidFill>
              </a:rPr>
              <a:t> ⟺ </a:t>
            </a:r>
            <a:r>
              <a:rPr sz="1400" dirty="0" err="1">
                <a:solidFill>
                  <a:srgbClr val="475569"/>
                </a:solidFill>
              </a:rPr>
              <a:t>memória</a:t>
            </a:r>
            <a:r>
              <a:rPr sz="1400" dirty="0">
                <a:solidFill>
                  <a:srgbClr val="475569"/>
                </a:solidFill>
              </a:rPr>
              <a:t> de </a:t>
            </a:r>
            <a:r>
              <a:rPr sz="1400" dirty="0" err="1">
                <a:solidFill>
                  <a:srgbClr val="475569"/>
                </a:solidFill>
              </a:rPr>
              <a:t>cálculo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válida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presente</a:t>
            </a:r>
            <a:r>
              <a:rPr sz="1400" dirty="0">
                <a:solidFill>
                  <a:srgbClr val="475569"/>
                </a:solidFill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12264"/>
            <a:ext cx="106984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22960" y="2221992"/>
            <a:ext cx="1645920" cy="420624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INVARIANTE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39" y="2235467"/>
            <a:ext cx="89154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>
                <a:solidFill>
                  <a:srgbClr val="0F172A"/>
                </a:solidFill>
              </a:rPr>
              <a:t>Lista de </a:t>
            </a:r>
            <a:r>
              <a:rPr sz="1400" b="1" dirty="0" err="1">
                <a:solidFill>
                  <a:srgbClr val="0F172A"/>
                </a:solidFill>
              </a:rPr>
              <a:t>Permissão</a:t>
            </a:r>
            <a:r>
              <a:rPr sz="1400" b="1" dirty="0">
                <a:solidFill>
                  <a:srgbClr val="0F172A"/>
                </a:solidFill>
              </a:rPr>
              <a:t> do </a:t>
            </a:r>
            <a:r>
              <a:rPr sz="1400" b="1" dirty="0" err="1">
                <a:solidFill>
                  <a:srgbClr val="0F172A"/>
                </a:solidFill>
              </a:rPr>
              <a:t>Perfil</a:t>
            </a:r>
            <a:r>
              <a:rPr sz="1400" b="1" dirty="0">
                <a:solidFill>
                  <a:srgbClr val="0F172A"/>
                </a:solidFill>
              </a:rPr>
              <a:t>: </a:t>
            </a:r>
            <a:r>
              <a:rPr sz="1400" dirty="0" err="1">
                <a:solidFill>
                  <a:srgbClr val="475569"/>
                </a:solidFill>
              </a:rPr>
              <a:t>Colunas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contidas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estritamente</a:t>
            </a:r>
            <a:r>
              <a:rPr sz="1400" dirty="0">
                <a:solidFill>
                  <a:srgbClr val="475569"/>
                </a:solidFill>
              </a:rPr>
              <a:t> no </a:t>
            </a:r>
            <a:r>
              <a:rPr sz="1400" dirty="0" err="1">
                <a:solidFill>
                  <a:srgbClr val="475569"/>
                </a:solidFill>
              </a:rPr>
              <a:t>perfil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cego</a:t>
            </a:r>
            <a:r>
              <a:rPr sz="1400" dirty="0">
                <a:solidFill>
                  <a:srgbClr val="475569"/>
                </a:solidFill>
              </a:rPr>
              <a:t> (</a:t>
            </a:r>
            <a:r>
              <a:rPr sz="1400" dirty="0" err="1">
                <a:solidFill>
                  <a:srgbClr val="475569"/>
                </a:solidFill>
              </a:rPr>
              <a:t>pesquisador</a:t>
            </a:r>
            <a:r>
              <a:rPr sz="1400" dirty="0">
                <a:solidFill>
                  <a:srgbClr val="475569"/>
                </a:solidFill>
              </a:rPr>
              <a:t>, campo, </a:t>
            </a:r>
            <a:r>
              <a:rPr sz="1400" dirty="0" err="1">
                <a:solidFill>
                  <a:srgbClr val="475569"/>
                </a:solidFill>
              </a:rPr>
              <a:t>voo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ou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matriz</a:t>
            </a:r>
            <a:r>
              <a:rPr sz="1400" dirty="0">
                <a:solidFill>
                  <a:srgbClr val="475569"/>
                </a:solidFill>
              </a:rPr>
              <a:t> de </a:t>
            </a:r>
            <a:r>
              <a:rPr sz="1400" dirty="0" err="1">
                <a:solidFill>
                  <a:srgbClr val="475569"/>
                </a:solidFill>
              </a:rPr>
              <a:t>treino</a:t>
            </a:r>
            <a:r>
              <a:rPr sz="1400" dirty="0">
                <a:solidFill>
                  <a:srgbClr val="475569"/>
                </a:solidFill>
              </a:rPr>
              <a:t>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807208"/>
            <a:ext cx="106984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22960" y="2916936"/>
            <a:ext cx="1645920" cy="420624"/>
          </a:xfrm>
          <a:prstGeom prst="round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INVARIANTE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2880360"/>
            <a:ext cx="8686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 err="1">
                <a:solidFill>
                  <a:srgbClr val="0F172A"/>
                </a:solidFill>
              </a:rPr>
              <a:t>Rastreamento</a:t>
            </a:r>
            <a:r>
              <a:rPr sz="1400" b="1" dirty="0">
                <a:solidFill>
                  <a:srgbClr val="0F172A"/>
                </a:solidFill>
              </a:rPr>
              <a:t> de Campos </a:t>
            </a:r>
            <a:r>
              <a:rPr sz="1400" b="1" dirty="0" err="1">
                <a:solidFill>
                  <a:srgbClr val="0F172A"/>
                </a:solidFill>
              </a:rPr>
              <a:t>Estimados</a:t>
            </a:r>
            <a:r>
              <a:rPr sz="1400" b="1" dirty="0">
                <a:solidFill>
                  <a:srgbClr val="0F172A"/>
                </a:solidFill>
              </a:rPr>
              <a:t>: </a:t>
            </a:r>
            <a:r>
              <a:rPr sz="1400" dirty="0">
                <a:solidFill>
                  <a:srgbClr val="475569"/>
                </a:solidFill>
              </a:rPr>
              <a:t>A </a:t>
            </a:r>
            <a:r>
              <a:rPr sz="1400" dirty="0" err="1">
                <a:solidFill>
                  <a:srgbClr val="475569"/>
                </a:solidFill>
              </a:rPr>
              <a:t>coluna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Campos_Estimados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lista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exatamente</a:t>
            </a:r>
            <a:r>
              <a:rPr sz="1400" dirty="0">
                <a:solidFill>
                  <a:srgbClr val="475569"/>
                </a:solidFill>
              </a:rPr>
              <a:t> as </a:t>
            </a:r>
            <a:r>
              <a:rPr sz="1400" dirty="0" err="1">
                <a:solidFill>
                  <a:srgbClr val="475569"/>
                </a:solidFill>
              </a:rPr>
              <a:t>variáveis</a:t>
            </a:r>
            <a:r>
              <a:rPr sz="1400" dirty="0">
                <a:solidFill>
                  <a:srgbClr val="475569"/>
                </a:solidFill>
              </a:rPr>
              <a:t> com </a:t>
            </a:r>
            <a:r>
              <a:rPr sz="1400" dirty="0" err="1">
                <a:solidFill>
                  <a:srgbClr val="475569"/>
                </a:solidFill>
              </a:rPr>
              <a:t>proveniência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diferente</a:t>
            </a:r>
            <a:r>
              <a:rPr sz="1400" dirty="0">
                <a:solidFill>
                  <a:srgbClr val="475569"/>
                </a:solidFill>
              </a:rPr>
              <a:t> de '</a:t>
            </a:r>
            <a:r>
              <a:rPr sz="1400" dirty="0" err="1">
                <a:solidFill>
                  <a:srgbClr val="475569"/>
                </a:solidFill>
              </a:rPr>
              <a:t>medido</a:t>
            </a:r>
            <a:r>
              <a:rPr sz="1400" dirty="0">
                <a:solidFill>
                  <a:srgbClr val="475569"/>
                </a:solidFill>
              </a:rPr>
              <a:t>'.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502152"/>
            <a:ext cx="106984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22960" y="3611880"/>
            <a:ext cx="1645920" cy="420624"/>
          </a:xfrm>
          <a:prstGeom prst="round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INVARIANTE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3575304"/>
            <a:ext cx="8686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 err="1">
                <a:solidFill>
                  <a:srgbClr val="0F172A"/>
                </a:solidFill>
              </a:rPr>
              <a:t>Rastreabilidade</a:t>
            </a:r>
            <a:r>
              <a:rPr sz="1400" b="1" dirty="0">
                <a:solidFill>
                  <a:srgbClr val="0F172A"/>
                </a:solidFill>
              </a:rPr>
              <a:t> Orbital: </a:t>
            </a:r>
            <a:r>
              <a:rPr sz="1400" dirty="0">
                <a:solidFill>
                  <a:srgbClr val="475569"/>
                </a:solidFill>
              </a:rPr>
              <a:t>Dado </a:t>
            </a:r>
            <a:r>
              <a:rPr sz="1400" dirty="0" err="1">
                <a:solidFill>
                  <a:srgbClr val="475569"/>
                </a:solidFill>
              </a:rPr>
              <a:t>derivado</a:t>
            </a:r>
            <a:r>
              <a:rPr sz="1400" dirty="0">
                <a:solidFill>
                  <a:srgbClr val="475569"/>
                </a:solidFill>
              </a:rPr>
              <a:t> de </a:t>
            </a:r>
            <a:r>
              <a:rPr sz="1400" dirty="0" err="1">
                <a:solidFill>
                  <a:srgbClr val="475569"/>
                </a:solidFill>
              </a:rPr>
              <a:t>satélite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exige</a:t>
            </a:r>
            <a:r>
              <a:rPr sz="1400" dirty="0">
                <a:solidFill>
                  <a:srgbClr val="475569"/>
                </a:solidFill>
              </a:rPr>
              <a:t> PRODUCT_ID das </a:t>
            </a:r>
            <a:r>
              <a:rPr sz="1400" dirty="0" err="1">
                <a:solidFill>
                  <a:srgbClr val="475569"/>
                </a:solidFill>
              </a:rPr>
              <a:t>cenas</a:t>
            </a:r>
            <a:r>
              <a:rPr sz="1400" dirty="0">
                <a:solidFill>
                  <a:srgbClr val="475569"/>
                </a:solidFill>
              </a:rPr>
              <a:t>, </a:t>
            </a:r>
            <a:r>
              <a:rPr sz="1400" dirty="0" err="1">
                <a:solidFill>
                  <a:srgbClr val="475569"/>
                </a:solidFill>
              </a:rPr>
              <a:t>versão</a:t>
            </a:r>
            <a:r>
              <a:rPr sz="1400" dirty="0">
                <a:solidFill>
                  <a:srgbClr val="475569"/>
                </a:solidFill>
              </a:rPr>
              <a:t> do motor e data de </a:t>
            </a:r>
            <a:r>
              <a:rPr sz="1400" dirty="0" err="1">
                <a:solidFill>
                  <a:srgbClr val="475569"/>
                </a:solidFill>
              </a:rPr>
              <a:t>processamento</a:t>
            </a:r>
            <a:r>
              <a:rPr sz="1400" dirty="0">
                <a:solidFill>
                  <a:srgbClr val="475569"/>
                </a:solidFill>
              </a:rPr>
              <a:t>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197096"/>
            <a:ext cx="106984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22960" y="4306824"/>
            <a:ext cx="1645920" cy="420624"/>
          </a:xfrm>
          <a:prstGeom prst="round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INVARIANTE 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06040" y="4270248"/>
            <a:ext cx="8686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 err="1">
                <a:solidFill>
                  <a:srgbClr val="0F172A"/>
                </a:solidFill>
              </a:rPr>
              <a:t>Afirmação</a:t>
            </a:r>
            <a:r>
              <a:rPr sz="1400" b="1" dirty="0">
                <a:solidFill>
                  <a:srgbClr val="0F172A"/>
                </a:solidFill>
              </a:rPr>
              <a:t> Negativa </a:t>
            </a:r>
            <a:r>
              <a:rPr sz="1400" b="1" dirty="0" err="1">
                <a:solidFill>
                  <a:srgbClr val="0F172A"/>
                </a:solidFill>
              </a:rPr>
              <a:t>Fundiária</a:t>
            </a:r>
            <a:r>
              <a:rPr sz="1400" b="1" dirty="0">
                <a:solidFill>
                  <a:srgbClr val="0F172A"/>
                </a:solidFill>
              </a:rPr>
              <a:t>: </a:t>
            </a:r>
            <a:r>
              <a:rPr sz="1400" dirty="0" err="1">
                <a:solidFill>
                  <a:srgbClr val="475569"/>
                </a:solidFill>
              </a:rPr>
              <a:t>Declaração</a:t>
            </a:r>
            <a:r>
              <a:rPr sz="1400" dirty="0">
                <a:solidFill>
                  <a:srgbClr val="475569"/>
                </a:solidFill>
              </a:rPr>
              <a:t> '</a:t>
            </a:r>
            <a:r>
              <a:rPr sz="1400" dirty="0" err="1">
                <a:solidFill>
                  <a:srgbClr val="475569"/>
                </a:solidFill>
              </a:rPr>
              <a:t>sem-correspondencia</a:t>
            </a:r>
            <a:r>
              <a:rPr sz="1400" dirty="0">
                <a:solidFill>
                  <a:srgbClr val="475569"/>
                </a:solidFill>
              </a:rPr>
              <a:t>' </a:t>
            </a:r>
            <a:r>
              <a:rPr sz="1400" dirty="0" err="1">
                <a:solidFill>
                  <a:srgbClr val="475569"/>
                </a:solidFill>
              </a:rPr>
              <a:t>só</a:t>
            </a:r>
            <a:r>
              <a:rPr sz="1400" dirty="0">
                <a:solidFill>
                  <a:srgbClr val="475569"/>
                </a:solidFill>
              </a:rPr>
              <a:t> é </a:t>
            </a:r>
            <a:r>
              <a:rPr sz="1400" dirty="0" err="1">
                <a:solidFill>
                  <a:srgbClr val="475569"/>
                </a:solidFill>
              </a:rPr>
              <a:t>aceita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após</a:t>
            </a:r>
            <a:r>
              <a:rPr sz="1400" dirty="0">
                <a:solidFill>
                  <a:srgbClr val="475569"/>
                </a:solidFill>
              </a:rPr>
              <a:t> consulta cadastral </a:t>
            </a:r>
            <a:r>
              <a:rPr sz="1400" dirty="0" err="1">
                <a:solidFill>
                  <a:srgbClr val="475569"/>
                </a:solidFill>
              </a:rPr>
              <a:t>bem-sucedida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sem</a:t>
            </a:r>
            <a:r>
              <a:rPr sz="1400" dirty="0">
                <a:solidFill>
                  <a:srgbClr val="475569"/>
                </a:solidFill>
              </a:rPr>
              <a:t> match.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892040"/>
            <a:ext cx="106984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22960" y="5001768"/>
            <a:ext cx="1645920" cy="420624"/>
          </a:xfrm>
          <a:prstGeom prst="roundRect">
            <a:avLst/>
          </a:prstGeom>
          <a:solidFill>
            <a:srgbClr val="065F46"/>
          </a:solidFill>
          <a:ln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INVARIANTE 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06040" y="4965192"/>
            <a:ext cx="8686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>
                <a:solidFill>
                  <a:srgbClr val="0F172A"/>
                </a:solidFill>
              </a:rPr>
              <a:t>Lista Negra de </a:t>
            </a:r>
            <a:r>
              <a:rPr sz="1400" b="1" dirty="0" err="1">
                <a:solidFill>
                  <a:srgbClr val="0F172A"/>
                </a:solidFill>
              </a:rPr>
              <a:t>Literais</a:t>
            </a:r>
            <a:r>
              <a:rPr sz="1400" b="1" dirty="0">
                <a:solidFill>
                  <a:srgbClr val="0F172A"/>
                </a:solidFill>
              </a:rPr>
              <a:t> </a:t>
            </a:r>
            <a:r>
              <a:rPr sz="1400" b="1" dirty="0" err="1">
                <a:solidFill>
                  <a:srgbClr val="0F172A"/>
                </a:solidFill>
              </a:rPr>
              <a:t>Geográficos</a:t>
            </a:r>
            <a:r>
              <a:rPr sz="1400" b="1" dirty="0">
                <a:solidFill>
                  <a:srgbClr val="0F172A"/>
                </a:solidFill>
              </a:rPr>
              <a:t>: </a:t>
            </a:r>
            <a:r>
              <a:rPr sz="1400" dirty="0" err="1">
                <a:solidFill>
                  <a:srgbClr val="475569"/>
                </a:solidFill>
              </a:rPr>
              <a:t>Bloqueia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termos</a:t>
            </a:r>
            <a:r>
              <a:rPr sz="1400" dirty="0">
                <a:solidFill>
                  <a:srgbClr val="475569"/>
                </a:solidFill>
              </a:rPr>
              <a:t> de </a:t>
            </a:r>
            <a:r>
              <a:rPr sz="1400" dirty="0" err="1">
                <a:solidFill>
                  <a:srgbClr val="475569"/>
                </a:solidFill>
              </a:rPr>
              <a:t>desenvolvimento</a:t>
            </a:r>
            <a:r>
              <a:rPr sz="1400" dirty="0">
                <a:solidFill>
                  <a:srgbClr val="475569"/>
                </a:solidFill>
              </a:rPr>
              <a:t> ('Custom', 'Bacia Local') </a:t>
            </a:r>
            <a:r>
              <a:rPr sz="1400" dirty="0" err="1">
                <a:solidFill>
                  <a:srgbClr val="475569"/>
                </a:solidFill>
              </a:rPr>
              <a:t>ou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nome</a:t>
            </a:r>
            <a:r>
              <a:rPr sz="1400" dirty="0">
                <a:solidFill>
                  <a:srgbClr val="475569"/>
                </a:solidFill>
              </a:rPr>
              <a:t> de UF </a:t>
            </a:r>
            <a:r>
              <a:rPr sz="1400" dirty="0" err="1">
                <a:solidFill>
                  <a:srgbClr val="475569"/>
                </a:solidFill>
              </a:rPr>
              <a:t>na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coluna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município</a:t>
            </a:r>
            <a:r>
              <a:rPr sz="1000" dirty="0">
                <a:solidFill>
                  <a:srgbClr val="475569"/>
                </a:solidFill>
              </a:rPr>
              <a:t>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586984"/>
            <a:ext cx="106984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22960" y="5696712"/>
            <a:ext cx="1645920" cy="420624"/>
          </a:xfrm>
          <a:prstGeom prst="round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INVARIANTE 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06040" y="5660136"/>
            <a:ext cx="8686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>
                <a:solidFill>
                  <a:srgbClr val="0F172A"/>
                </a:solidFill>
              </a:rPr>
              <a:t>Detector de Constante </a:t>
            </a:r>
            <a:r>
              <a:rPr sz="1400" b="1" dirty="0" err="1">
                <a:solidFill>
                  <a:srgbClr val="0F172A"/>
                </a:solidFill>
              </a:rPr>
              <a:t>Disfarçada</a:t>
            </a:r>
            <a:r>
              <a:rPr sz="1400" b="1" dirty="0">
                <a:solidFill>
                  <a:srgbClr val="0F172A"/>
                </a:solidFill>
              </a:rPr>
              <a:t>: </a:t>
            </a:r>
            <a:r>
              <a:rPr sz="1400" dirty="0" err="1">
                <a:solidFill>
                  <a:srgbClr val="475569"/>
                </a:solidFill>
              </a:rPr>
              <a:t>Bloqueia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colunas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numéricas</a:t>
            </a:r>
            <a:r>
              <a:rPr sz="1400" dirty="0">
                <a:solidFill>
                  <a:srgbClr val="475569"/>
                </a:solidFill>
              </a:rPr>
              <a:t> com valor </a:t>
            </a:r>
            <a:r>
              <a:rPr sz="1400" dirty="0" err="1">
                <a:solidFill>
                  <a:srgbClr val="475569"/>
                </a:solidFill>
              </a:rPr>
              <a:t>idêntico</a:t>
            </a:r>
            <a:r>
              <a:rPr sz="1400" dirty="0">
                <a:solidFill>
                  <a:srgbClr val="475569"/>
                </a:solidFill>
              </a:rPr>
              <a:t> (N ≥ 21), </a:t>
            </a:r>
            <a:r>
              <a:rPr sz="1400" dirty="0" err="1">
                <a:solidFill>
                  <a:srgbClr val="475569"/>
                </a:solidFill>
              </a:rPr>
              <a:t>exceto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fatores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tabelados</a:t>
            </a:r>
            <a:r>
              <a:rPr sz="1400" dirty="0">
                <a:solidFill>
                  <a:srgbClr val="475569"/>
                </a:solidFill>
              </a:rPr>
              <a:t> com </a:t>
            </a:r>
            <a:r>
              <a:rPr sz="1400" dirty="0" err="1">
                <a:solidFill>
                  <a:srgbClr val="475569"/>
                </a:solidFill>
              </a:rPr>
              <a:t>proveniência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explícita</a:t>
            </a:r>
            <a:r>
              <a:rPr sz="1400" dirty="0">
                <a:solidFill>
                  <a:srgbClr val="475569"/>
                </a:solidFill>
              </a:rPr>
              <a:t>.</a:t>
            </a:r>
          </a:p>
        </p:txBody>
      </p:sp>
      <p:pic>
        <p:nvPicPr>
          <p:cNvPr id="29" name="Imagem 28">
            <a:extLst>
              <a:ext uri="{FF2B5EF4-FFF2-40B4-BE49-F238E27FC236}">
                <a16:creationId xmlns:a16="http://schemas.microsoft.com/office/drawing/2014/main" id="{B5FC8CDF-CCDF-9F99-2DD7-6E9C347674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262992"/>
            <a:ext cx="1279123" cy="424992"/>
          </a:xfrm>
          <a:prstGeom prst="rect">
            <a:avLst/>
          </a:prstGeom>
          <a:effectLst>
            <a:glow rad="63500">
              <a:schemeClr val="bg1"/>
            </a:glo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TRANSPARÊNCIA CIENTÍFICA &amp; LIMITES DE VALIDADE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Limitações Metodológicas &amp; Desafios da Operação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510528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SAREL v2.0 • Sistema de Amostragem e Rotulagem para Erosão Laminar • PPGTCA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521208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4846320" cy="1767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D97706"/>
                </a:solidFill>
              </a:defRPr>
            </a:pPr>
            <a:r>
              <a:rPr sz="1400" dirty="0" err="1"/>
              <a:t>Resolução</a:t>
            </a:r>
            <a:r>
              <a:rPr sz="1400" dirty="0"/>
              <a:t> </a:t>
            </a:r>
            <a:r>
              <a:rPr sz="1400" dirty="0" err="1"/>
              <a:t>Espacial</a:t>
            </a:r>
            <a:r>
              <a:rPr sz="1400" dirty="0"/>
              <a:t> de 30 metros</a:t>
            </a:r>
          </a:p>
          <a:p>
            <a:pPr>
              <a:spcAft>
                <a:spcPts val="400"/>
              </a:spcAft>
            </a:pPr>
            <a:r>
              <a:rPr sz="1400" b="1" dirty="0" err="1">
                <a:solidFill>
                  <a:srgbClr val="0F172A"/>
                </a:solidFill>
              </a:rPr>
              <a:t>Tamanho</a:t>
            </a:r>
            <a:r>
              <a:rPr sz="1400" b="1" dirty="0">
                <a:solidFill>
                  <a:srgbClr val="0F172A"/>
                </a:solidFill>
              </a:rPr>
              <a:t> do Pixel: </a:t>
            </a:r>
            <a:r>
              <a:rPr sz="1400" dirty="0">
                <a:solidFill>
                  <a:srgbClr val="475569"/>
                </a:solidFill>
              </a:rPr>
              <a:t>Copernicus DEM (30m) </a:t>
            </a:r>
            <a:r>
              <a:rPr sz="1400" dirty="0" err="1">
                <a:solidFill>
                  <a:srgbClr val="475569"/>
                </a:solidFill>
              </a:rPr>
              <a:t>suaviza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microtopografia</a:t>
            </a:r>
            <a:r>
              <a:rPr sz="1400" dirty="0">
                <a:solidFill>
                  <a:srgbClr val="475569"/>
                </a:solidFill>
              </a:rPr>
              <a:t>, </a:t>
            </a:r>
            <a:r>
              <a:rPr sz="1400" dirty="0" err="1">
                <a:solidFill>
                  <a:srgbClr val="475569"/>
                </a:solidFill>
              </a:rPr>
              <a:t>feições</a:t>
            </a:r>
            <a:r>
              <a:rPr sz="1400" dirty="0">
                <a:solidFill>
                  <a:srgbClr val="475569"/>
                </a:solidFill>
              </a:rPr>
              <a:t> de </a:t>
            </a:r>
            <a:r>
              <a:rPr sz="1400" dirty="0" err="1">
                <a:solidFill>
                  <a:srgbClr val="475569"/>
                </a:solidFill>
              </a:rPr>
              <a:t>microrrelevo</a:t>
            </a:r>
            <a:r>
              <a:rPr sz="1400" dirty="0">
                <a:solidFill>
                  <a:srgbClr val="475569"/>
                </a:solidFill>
              </a:rPr>
              <a:t> e </a:t>
            </a:r>
            <a:r>
              <a:rPr sz="1400" dirty="0" err="1">
                <a:solidFill>
                  <a:srgbClr val="475569"/>
                </a:solidFill>
              </a:rPr>
              <a:t>terraços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estreitos</a:t>
            </a:r>
            <a:r>
              <a:rPr sz="1400" dirty="0">
                <a:solidFill>
                  <a:srgbClr val="475569"/>
                </a:solidFill>
              </a:rPr>
              <a:t>.</a:t>
            </a:r>
          </a:p>
          <a:p>
            <a:pPr>
              <a:spcAft>
                <a:spcPts val="400"/>
              </a:spcAft>
            </a:pPr>
            <a:r>
              <a:rPr sz="1400" b="1" dirty="0" err="1">
                <a:solidFill>
                  <a:srgbClr val="0F172A"/>
                </a:solidFill>
              </a:rPr>
              <a:t>Consequência</a:t>
            </a:r>
            <a:r>
              <a:rPr sz="1400" b="1" dirty="0">
                <a:solidFill>
                  <a:srgbClr val="0F172A"/>
                </a:solidFill>
              </a:rPr>
              <a:t>: </a:t>
            </a:r>
            <a:r>
              <a:rPr sz="1400" dirty="0">
                <a:solidFill>
                  <a:srgbClr val="475569"/>
                </a:solidFill>
              </a:rPr>
              <a:t>Pode </a:t>
            </a:r>
            <a:r>
              <a:rPr sz="1400" dirty="0" err="1">
                <a:solidFill>
                  <a:srgbClr val="475569"/>
                </a:solidFill>
              </a:rPr>
              <a:t>subestimar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localmente</a:t>
            </a:r>
            <a:r>
              <a:rPr sz="1400" dirty="0">
                <a:solidFill>
                  <a:srgbClr val="475569"/>
                </a:solidFill>
              </a:rPr>
              <a:t> a </a:t>
            </a:r>
            <a:r>
              <a:rPr sz="1400" dirty="0" err="1">
                <a:solidFill>
                  <a:srgbClr val="475569"/>
                </a:solidFill>
              </a:rPr>
              <a:t>declividade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em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talvegues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abruptos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ou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rupturas</a:t>
            </a:r>
            <a:r>
              <a:rPr sz="1400" dirty="0">
                <a:solidFill>
                  <a:srgbClr val="475569"/>
                </a:solidFill>
              </a:rPr>
              <a:t> de </a:t>
            </a:r>
            <a:r>
              <a:rPr sz="1400" dirty="0" err="1">
                <a:solidFill>
                  <a:srgbClr val="475569"/>
                </a:solidFill>
              </a:rPr>
              <a:t>declive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acentuadas</a:t>
            </a:r>
            <a:r>
              <a:rPr sz="1400" dirty="0">
                <a:solidFill>
                  <a:srgbClr val="475569"/>
                </a:solidFill>
              </a:rPr>
              <a:t>.</a:t>
            </a:r>
          </a:p>
          <a:p>
            <a:pPr>
              <a:spcAft>
                <a:spcPts val="400"/>
              </a:spcAft>
            </a:pPr>
            <a:r>
              <a:rPr sz="1400" b="1" dirty="0" err="1">
                <a:solidFill>
                  <a:srgbClr val="0F172A"/>
                </a:solidFill>
              </a:rPr>
              <a:t>Atenuação</a:t>
            </a:r>
            <a:r>
              <a:rPr sz="1400" b="1" dirty="0">
                <a:solidFill>
                  <a:srgbClr val="0F172A"/>
                </a:solidFill>
              </a:rPr>
              <a:t>: </a:t>
            </a:r>
            <a:r>
              <a:rPr sz="1400" dirty="0">
                <a:solidFill>
                  <a:srgbClr val="475569"/>
                </a:solidFill>
              </a:rPr>
              <a:t>Uso </a:t>
            </a:r>
            <a:r>
              <a:rPr sz="1400" dirty="0" err="1">
                <a:solidFill>
                  <a:srgbClr val="475569"/>
                </a:solidFill>
              </a:rPr>
              <a:t>complementar</a:t>
            </a:r>
            <a:r>
              <a:rPr sz="1400" dirty="0">
                <a:solidFill>
                  <a:srgbClr val="475569"/>
                </a:solidFill>
              </a:rPr>
              <a:t> de </a:t>
            </a:r>
            <a:r>
              <a:rPr sz="1400" dirty="0" err="1">
                <a:solidFill>
                  <a:srgbClr val="475569"/>
                </a:solidFill>
              </a:rPr>
              <a:t>ortomosaicos</a:t>
            </a:r>
            <a:r>
              <a:rPr sz="1400" dirty="0">
                <a:solidFill>
                  <a:srgbClr val="475569"/>
                </a:solidFill>
              </a:rPr>
              <a:t> de drone (GSD &lt; 5cm) </a:t>
            </a:r>
            <a:r>
              <a:rPr sz="1400" dirty="0" err="1">
                <a:solidFill>
                  <a:srgbClr val="475569"/>
                </a:solidFill>
              </a:rPr>
              <a:t>nas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áreas</a:t>
            </a:r>
            <a:r>
              <a:rPr sz="1400" dirty="0">
                <a:solidFill>
                  <a:srgbClr val="475569"/>
                </a:solidFill>
              </a:rPr>
              <a:t> de </a:t>
            </a:r>
            <a:r>
              <a:rPr sz="1400" dirty="0" err="1">
                <a:solidFill>
                  <a:srgbClr val="475569"/>
                </a:solidFill>
              </a:rPr>
              <a:t>calibração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presencial</a:t>
            </a:r>
            <a:r>
              <a:rPr sz="1400" dirty="0">
                <a:solidFill>
                  <a:srgbClr val="475569"/>
                </a:solidFill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21208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600200"/>
            <a:ext cx="4846320" cy="1767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E11D48"/>
                </a:solidFill>
              </a:defRPr>
            </a:pPr>
            <a:r>
              <a:rPr sz="1400" dirty="0" err="1"/>
              <a:t>Persistência</a:t>
            </a:r>
            <a:r>
              <a:rPr sz="1400" dirty="0"/>
              <a:t> de </a:t>
            </a:r>
            <a:r>
              <a:rPr sz="1400" dirty="0" err="1"/>
              <a:t>Cobertura</a:t>
            </a:r>
            <a:r>
              <a:rPr sz="1400" dirty="0"/>
              <a:t> de </a:t>
            </a:r>
            <a:r>
              <a:rPr sz="1400" dirty="0" err="1"/>
              <a:t>Nuvens</a:t>
            </a:r>
            <a:endParaRPr sz="1400" dirty="0"/>
          </a:p>
          <a:p>
            <a:pPr>
              <a:spcAft>
                <a:spcPts val="400"/>
              </a:spcAft>
            </a:pPr>
            <a:r>
              <a:rPr sz="1400" b="1" dirty="0" err="1">
                <a:solidFill>
                  <a:srgbClr val="0F172A"/>
                </a:solidFill>
              </a:rPr>
              <a:t>Região</a:t>
            </a:r>
            <a:r>
              <a:rPr sz="1400" b="1" dirty="0">
                <a:solidFill>
                  <a:srgbClr val="0F172A"/>
                </a:solidFill>
              </a:rPr>
              <a:t> Sul do </a:t>
            </a:r>
            <a:r>
              <a:rPr sz="1400" b="1" dirty="0" err="1">
                <a:solidFill>
                  <a:srgbClr val="0F172A"/>
                </a:solidFill>
              </a:rPr>
              <a:t>Brasil</a:t>
            </a:r>
            <a:r>
              <a:rPr sz="1400" b="1" dirty="0">
                <a:solidFill>
                  <a:srgbClr val="0F172A"/>
                </a:solidFill>
              </a:rPr>
              <a:t>: </a:t>
            </a:r>
            <a:r>
              <a:rPr sz="1400" dirty="0" err="1">
                <a:solidFill>
                  <a:srgbClr val="475569"/>
                </a:solidFill>
              </a:rPr>
              <a:t>Elevada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nebulosidade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em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períodos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chuvosos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críticos</a:t>
            </a:r>
            <a:r>
              <a:rPr sz="1400" dirty="0">
                <a:solidFill>
                  <a:srgbClr val="475569"/>
                </a:solidFill>
              </a:rPr>
              <a:t> de primavera e </a:t>
            </a:r>
            <a:r>
              <a:rPr sz="1400" dirty="0" err="1">
                <a:solidFill>
                  <a:srgbClr val="475569"/>
                </a:solidFill>
              </a:rPr>
              <a:t>verão</a:t>
            </a:r>
            <a:r>
              <a:rPr sz="1400" dirty="0">
                <a:solidFill>
                  <a:srgbClr val="475569"/>
                </a:solidFill>
              </a:rPr>
              <a:t>.</a:t>
            </a:r>
          </a:p>
          <a:p>
            <a:pPr>
              <a:spcAft>
                <a:spcPts val="400"/>
              </a:spcAft>
            </a:pPr>
            <a:r>
              <a:rPr sz="1400" b="1" dirty="0" err="1">
                <a:solidFill>
                  <a:srgbClr val="0F172A"/>
                </a:solidFill>
              </a:rPr>
              <a:t>Consequência</a:t>
            </a:r>
            <a:r>
              <a:rPr sz="1400" b="1" dirty="0">
                <a:solidFill>
                  <a:srgbClr val="0F172A"/>
                </a:solidFill>
              </a:rPr>
              <a:t>: </a:t>
            </a:r>
            <a:r>
              <a:rPr sz="1400" dirty="0" err="1">
                <a:solidFill>
                  <a:srgbClr val="475569"/>
                </a:solidFill>
              </a:rPr>
              <a:t>Redução</a:t>
            </a:r>
            <a:r>
              <a:rPr sz="1400" dirty="0">
                <a:solidFill>
                  <a:srgbClr val="475569"/>
                </a:solidFill>
              </a:rPr>
              <a:t> do </a:t>
            </a:r>
            <a:r>
              <a:rPr sz="1400" dirty="0" err="1">
                <a:solidFill>
                  <a:srgbClr val="475569"/>
                </a:solidFill>
              </a:rPr>
              <a:t>número</a:t>
            </a:r>
            <a:r>
              <a:rPr sz="1400" dirty="0">
                <a:solidFill>
                  <a:srgbClr val="475569"/>
                </a:solidFill>
              </a:rPr>
              <a:t> de imagens </a:t>
            </a:r>
            <a:r>
              <a:rPr sz="1400" dirty="0" err="1">
                <a:solidFill>
                  <a:srgbClr val="475569"/>
                </a:solidFill>
              </a:rPr>
              <a:t>úteis</a:t>
            </a:r>
            <a:r>
              <a:rPr sz="1400" dirty="0">
                <a:solidFill>
                  <a:srgbClr val="475569"/>
                </a:solidFill>
              </a:rPr>
              <a:t> no Sentinel-2 e </a:t>
            </a:r>
            <a:r>
              <a:rPr sz="1400" dirty="0" err="1">
                <a:solidFill>
                  <a:srgbClr val="475569"/>
                </a:solidFill>
              </a:rPr>
              <a:t>janelas</a:t>
            </a:r>
            <a:r>
              <a:rPr sz="1400" dirty="0">
                <a:solidFill>
                  <a:srgbClr val="475569"/>
                </a:solidFill>
              </a:rPr>
              <a:t> de </a:t>
            </a:r>
            <a:r>
              <a:rPr sz="1400" dirty="0" err="1">
                <a:solidFill>
                  <a:srgbClr val="475569"/>
                </a:solidFill>
              </a:rPr>
              <a:t>observação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truncadas</a:t>
            </a:r>
            <a:r>
              <a:rPr sz="1400" dirty="0">
                <a:solidFill>
                  <a:srgbClr val="475569"/>
                </a:solidFill>
              </a:rPr>
              <a:t>.</a:t>
            </a:r>
          </a:p>
          <a:p>
            <a:pPr>
              <a:spcAft>
                <a:spcPts val="400"/>
              </a:spcAft>
            </a:pPr>
            <a:r>
              <a:rPr sz="1400" b="1" dirty="0" err="1">
                <a:solidFill>
                  <a:srgbClr val="0F172A"/>
                </a:solidFill>
              </a:rPr>
              <a:t>Atenuação</a:t>
            </a:r>
            <a:r>
              <a:rPr sz="1400" b="1" dirty="0">
                <a:solidFill>
                  <a:srgbClr val="0F172A"/>
                </a:solidFill>
              </a:rPr>
              <a:t>: </a:t>
            </a:r>
            <a:r>
              <a:rPr sz="1400" dirty="0" err="1">
                <a:solidFill>
                  <a:srgbClr val="475569"/>
                </a:solidFill>
              </a:rPr>
              <a:t>Composição</a:t>
            </a:r>
            <a:r>
              <a:rPr sz="1400" dirty="0">
                <a:solidFill>
                  <a:srgbClr val="475569"/>
                </a:solidFill>
              </a:rPr>
              <a:t> temporal com BSI, </a:t>
            </a:r>
            <a:r>
              <a:rPr sz="1400" dirty="0" err="1">
                <a:solidFill>
                  <a:srgbClr val="475569"/>
                </a:solidFill>
              </a:rPr>
              <a:t>máscaras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estritas</a:t>
            </a:r>
            <a:r>
              <a:rPr sz="1400" dirty="0">
                <a:solidFill>
                  <a:srgbClr val="475569"/>
                </a:solidFill>
              </a:rPr>
              <a:t> de </a:t>
            </a:r>
            <a:r>
              <a:rPr sz="1400" dirty="0" err="1">
                <a:solidFill>
                  <a:srgbClr val="475569"/>
                </a:solidFill>
              </a:rPr>
              <a:t>nuvem</a:t>
            </a:r>
            <a:r>
              <a:rPr sz="1400" dirty="0">
                <a:solidFill>
                  <a:srgbClr val="475569"/>
                </a:solidFill>
              </a:rPr>
              <a:t>/sombra e </a:t>
            </a:r>
            <a:r>
              <a:rPr sz="1400" dirty="0" err="1">
                <a:solidFill>
                  <a:srgbClr val="475569"/>
                </a:solidFill>
              </a:rPr>
              <a:t>séries</a:t>
            </a:r>
            <a:r>
              <a:rPr sz="1400" dirty="0">
                <a:solidFill>
                  <a:srgbClr val="475569"/>
                </a:solidFill>
              </a:rPr>
              <a:t> de </a:t>
            </a:r>
            <a:r>
              <a:rPr sz="1400" dirty="0" err="1">
                <a:solidFill>
                  <a:srgbClr val="475569"/>
                </a:solidFill>
              </a:rPr>
              <a:t>múltiplos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anos</a:t>
            </a:r>
            <a:r>
              <a:rPr sz="1400" dirty="0">
                <a:solidFill>
                  <a:srgbClr val="475569"/>
                </a:solidFill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521208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4023360"/>
            <a:ext cx="4846320" cy="1767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6366F1"/>
                </a:solidFill>
              </a:defRPr>
            </a:pPr>
            <a:r>
              <a:rPr sz="1400" dirty="0" err="1"/>
              <a:t>Viés</a:t>
            </a:r>
            <a:r>
              <a:rPr sz="1400" dirty="0"/>
              <a:t> de </a:t>
            </a:r>
            <a:r>
              <a:rPr sz="1400" dirty="0" err="1"/>
              <a:t>Consentimento</a:t>
            </a:r>
            <a:r>
              <a:rPr sz="1400" dirty="0"/>
              <a:t> dos Produtores</a:t>
            </a:r>
          </a:p>
          <a:p>
            <a:pPr>
              <a:spcAft>
                <a:spcPts val="400"/>
              </a:spcAft>
            </a:pPr>
            <a:r>
              <a:rPr sz="1400" b="1" dirty="0" err="1">
                <a:solidFill>
                  <a:srgbClr val="0F172A"/>
                </a:solidFill>
              </a:rPr>
              <a:t>Acesso</a:t>
            </a:r>
            <a:r>
              <a:rPr sz="1400" b="1" dirty="0">
                <a:solidFill>
                  <a:srgbClr val="0F172A"/>
                </a:solidFill>
              </a:rPr>
              <a:t> </a:t>
            </a:r>
            <a:r>
              <a:rPr sz="1400" b="1" dirty="0" err="1">
                <a:solidFill>
                  <a:srgbClr val="0F172A"/>
                </a:solidFill>
              </a:rPr>
              <a:t>aos</a:t>
            </a:r>
            <a:r>
              <a:rPr sz="1400" b="1" dirty="0">
                <a:solidFill>
                  <a:srgbClr val="0F172A"/>
                </a:solidFill>
              </a:rPr>
              <a:t> </a:t>
            </a:r>
            <a:r>
              <a:rPr sz="1400" b="1" dirty="0" err="1">
                <a:solidFill>
                  <a:srgbClr val="0F172A"/>
                </a:solidFill>
              </a:rPr>
              <a:t>Imóveis</a:t>
            </a:r>
            <a:r>
              <a:rPr sz="1400" b="1" dirty="0">
                <a:solidFill>
                  <a:srgbClr val="0F172A"/>
                </a:solidFill>
              </a:rPr>
              <a:t>: </a:t>
            </a:r>
            <a:r>
              <a:rPr sz="1400" dirty="0">
                <a:solidFill>
                  <a:srgbClr val="475569"/>
                </a:solidFill>
              </a:rPr>
              <a:t>A </a:t>
            </a:r>
            <a:r>
              <a:rPr sz="1400" dirty="0" err="1">
                <a:solidFill>
                  <a:srgbClr val="475569"/>
                </a:solidFill>
              </a:rPr>
              <a:t>validação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presencial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exige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autorização</a:t>
            </a:r>
            <a:r>
              <a:rPr sz="1400" dirty="0">
                <a:solidFill>
                  <a:srgbClr val="475569"/>
                </a:solidFill>
              </a:rPr>
              <a:t> formal de entrada </a:t>
            </a:r>
            <a:r>
              <a:rPr sz="1400" dirty="0" err="1">
                <a:solidFill>
                  <a:srgbClr val="475569"/>
                </a:solidFill>
              </a:rPr>
              <a:t>pelo</a:t>
            </a:r>
            <a:r>
              <a:rPr sz="1400" dirty="0">
                <a:solidFill>
                  <a:srgbClr val="475569"/>
                </a:solidFill>
              </a:rPr>
              <a:t> titular do </a:t>
            </a:r>
            <a:r>
              <a:rPr sz="1400" dirty="0" err="1">
                <a:solidFill>
                  <a:srgbClr val="475569"/>
                </a:solidFill>
              </a:rPr>
              <a:t>imóvel</a:t>
            </a:r>
            <a:r>
              <a:rPr sz="1400" dirty="0">
                <a:solidFill>
                  <a:srgbClr val="475569"/>
                </a:solidFill>
              </a:rPr>
              <a:t> rural.</a:t>
            </a:r>
          </a:p>
          <a:p>
            <a:pPr>
              <a:spcAft>
                <a:spcPts val="400"/>
              </a:spcAft>
            </a:pPr>
            <a:r>
              <a:rPr sz="1400" b="1" dirty="0" err="1">
                <a:solidFill>
                  <a:srgbClr val="0F172A"/>
                </a:solidFill>
              </a:rPr>
              <a:t>Consequência</a:t>
            </a:r>
            <a:r>
              <a:rPr sz="1400" b="1" dirty="0">
                <a:solidFill>
                  <a:srgbClr val="0F172A"/>
                </a:solidFill>
              </a:rPr>
              <a:t>: </a:t>
            </a:r>
            <a:r>
              <a:rPr sz="1400" dirty="0" err="1">
                <a:solidFill>
                  <a:srgbClr val="475569"/>
                </a:solidFill>
              </a:rPr>
              <a:t>Possível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viés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amostral</a:t>
            </a:r>
            <a:r>
              <a:rPr sz="1400" dirty="0">
                <a:solidFill>
                  <a:srgbClr val="475569"/>
                </a:solidFill>
              </a:rPr>
              <a:t> de </a:t>
            </a:r>
            <a:r>
              <a:rPr sz="1400" dirty="0" err="1">
                <a:solidFill>
                  <a:srgbClr val="475569"/>
                </a:solidFill>
              </a:rPr>
              <a:t>proprietários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mais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colaborativos</a:t>
            </a:r>
            <a:r>
              <a:rPr sz="1400" dirty="0">
                <a:solidFill>
                  <a:srgbClr val="475569"/>
                </a:solidFill>
              </a:rPr>
              <a:t> e com </a:t>
            </a:r>
            <a:r>
              <a:rPr sz="1400" dirty="0" err="1">
                <a:solidFill>
                  <a:srgbClr val="475569"/>
                </a:solidFill>
              </a:rPr>
              <a:t>manejo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potencialmente</a:t>
            </a:r>
            <a:r>
              <a:rPr sz="1400" dirty="0">
                <a:solidFill>
                  <a:srgbClr val="475569"/>
                </a:solidFill>
              </a:rPr>
              <a:t> superior.</a:t>
            </a:r>
          </a:p>
          <a:p>
            <a:pPr>
              <a:spcAft>
                <a:spcPts val="400"/>
              </a:spcAft>
            </a:pPr>
            <a:r>
              <a:rPr sz="1400" b="1" dirty="0" err="1">
                <a:solidFill>
                  <a:srgbClr val="0F172A"/>
                </a:solidFill>
              </a:rPr>
              <a:t>Atenuação</a:t>
            </a:r>
            <a:r>
              <a:rPr sz="1400" b="1" dirty="0">
                <a:solidFill>
                  <a:srgbClr val="0F172A"/>
                </a:solidFill>
              </a:rPr>
              <a:t>: </a:t>
            </a:r>
            <a:r>
              <a:rPr sz="1400" dirty="0" err="1">
                <a:solidFill>
                  <a:srgbClr val="475569"/>
                </a:solidFill>
              </a:rPr>
              <a:t>Condução</a:t>
            </a:r>
            <a:r>
              <a:rPr sz="1400" dirty="0">
                <a:solidFill>
                  <a:srgbClr val="475569"/>
                </a:solidFill>
              </a:rPr>
              <a:t> de </a:t>
            </a:r>
            <a:r>
              <a:rPr sz="1400" dirty="0" err="1">
                <a:solidFill>
                  <a:srgbClr val="475569"/>
                </a:solidFill>
              </a:rPr>
              <a:t>fotointerpretação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cega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independente</a:t>
            </a:r>
            <a:r>
              <a:rPr sz="1400" dirty="0">
                <a:solidFill>
                  <a:srgbClr val="475569"/>
                </a:solidFill>
              </a:rPr>
              <a:t> e </a:t>
            </a:r>
            <a:r>
              <a:rPr sz="1400" dirty="0" err="1">
                <a:solidFill>
                  <a:srgbClr val="475569"/>
                </a:solidFill>
              </a:rPr>
              <a:t>geolocalização</a:t>
            </a:r>
            <a:r>
              <a:rPr sz="1400" dirty="0">
                <a:solidFill>
                  <a:srgbClr val="475569"/>
                </a:solidFill>
              </a:rPr>
              <a:t> com </a:t>
            </a:r>
            <a:r>
              <a:rPr sz="1400" dirty="0" err="1">
                <a:solidFill>
                  <a:srgbClr val="475569"/>
                </a:solidFill>
              </a:rPr>
              <a:t>amostragem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balanceada</a:t>
            </a:r>
            <a:r>
              <a:rPr sz="1400" dirty="0">
                <a:solidFill>
                  <a:srgbClr val="475569"/>
                </a:solidFill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840480"/>
            <a:ext cx="521208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4023360"/>
            <a:ext cx="4846320" cy="1767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0EA5E9"/>
                </a:solidFill>
              </a:defRPr>
            </a:pPr>
            <a:r>
              <a:rPr sz="1400" dirty="0" err="1"/>
              <a:t>Descasamento</a:t>
            </a:r>
            <a:r>
              <a:rPr sz="1400" dirty="0"/>
              <a:t> Temporal Solo-Sensor</a:t>
            </a:r>
          </a:p>
          <a:p>
            <a:pPr>
              <a:spcAft>
                <a:spcPts val="400"/>
              </a:spcAft>
            </a:pPr>
            <a:r>
              <a:rPr sz="1400" b="1" dirty="0" err="1">
                <a:solidFill>
                  <a:srgbClr val="0F172A"/>
                </a:solidFill>
              </a:rPr>
              <a:t>Dinâmica</a:t>
            </a:r>
            <a:r>
              <a:rPr sz="1400" b="1" dirty="0">
                <a:solidFill>
                  <a:srgbClr val="0F172A"/>
                </a:solidFill>
              </a:rPr>
              <a:t> Agrícola: </a:t>
            </a:r>
            <a:r>
              <a:rPr sz="1400" dirty="0" err="1">
                <a:solidFill>
                  <a:srgbClr val="475569"/>
                </a:solidFill>
              </a:rPr>
              <a:t>Eventos</a:t>
            </a:r>
            <a:r>
              <a:rPr sz="1400" dirty="0">
                <a:solidFill>
                  <a:srgbClr val="475569"/>
                </a:solidFill>
              </a:rPr>
              <a:t> de </a:t>
            </a:r>
            <a:r>
              <a:rPr sz="1400" dirty="0" err="1">
                <a:solidFill>
                  <a:srgbClr val="475569"/>
                </a:solidFill>
              </a:rPr>
              <a:t>chuva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intensa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podem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ocorrer</a:t>
            </a:r>
            <a:r>
              <a:rPr sz="1400" dirty="0">
                <a:solidFill>
                  <a:srgbClr val="475569"/>
                </a:solidFill>
              </a:rPr>
              <a:t> entre as </a:t>
            </a:r>
            <a:r>
              <a:rPr sz="1400" dirty="0" err="1">
                <a:solidFill>
                  <a:srgbClr val="475569"/>
                </a:solidFill>
              </a:rPr>
              <a:t>passagens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orbitais</a:t>
            </a:r>
            <a:r>
              <a:rPr sz="1400" dirty="0">
                <a:solidFill>
                  <a:srgbClr val="475569"/>
                </a:solidFill>
              </a:rPr>
              <a:t> de 5 </a:t>
            </a:r>
            <a:r>
              <a:rPr sz="1400" dirty="0" err="1">
                <a:solidFill>
                  <a:srgbClr val="475569"/>
                </a:solidFill>
              </a:rPr>
              <a:t>dias</a:t>
            </a:r>
            <a:r>
              <a:rPr sz="1400" dirty="0">
                <a:solidFill>
                  <a:srgbClr val="475569"/>
                </a:solidFill>
              </a:rPr>
              <a:t> do Sentinel-2.</a:t>
            </a:r>
          </a:p>
          <a:p>
            <a:pPr>
              <a:spcAft>
                <a:spcPts val="400"/>
              </a:spcAft>
            </a:pPr>
            <a:r>
              <a:rPr sz="1400" b="1" dirty="0" err="1">
                <a:solidFill>
                  <a:srgbClr val="0F172A"/>
                </a:solidFill>
              </a:rPr>
              <a:t>Consequência</a:t>
            </a:r>
            <a:r>
              <a:rPr sz="1400" b="1" dirty="0">
                <a:solidFill>
                  <a:srgbClr val="0F172A"/>
                </a:solidFill>
              </a:rPr>
              <a:t>: </a:t>
            </a:r>
            <a:r>
              <a:rPr sz="1400" dirty="0" err="1">
                <a:solidFill>
                  <a:srgbClr val="475569"/>
                </a:solidFill>
              </a:rPr>
              <a:t>Erosão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ocorrida</a:t>
            </a:r>
            <a:r>
              <a:rPr sz="1400" dirty="0">
                <a:solidFill>
                  <a:srgbClr val="475569"/>
                </a:solidFill>
              </a:rPr>
              <a:t> logo </a:t>
            </a:r>
            <a:r>
              <a:rPr sz="1400" dirty="0" err="1">
                <a:solidFill>
                  <a:srgbClr val="475569"/>
                </a:solidFill>
              </a:rPr>
              <a:t>após</a:t>
            </a:r>
            <a:r>
              <a:rPr sz="1400" dirty="0">
                <a:solidFill>
                  <a:srgbClr val="475569"/>
                </a:solidFill>
              </a:rPr>
              <a:t> o </a:t>
            </a:r>
            <a:r>
              <a:rPr sz="1400" dirty="0" err="1">
                <a:solidFill>
                  <a:srgbClr val="475569"/>
                </a:solidFill>
              </a:rPr>
              <a:t>preparo</a:t>
            </a:r>
            <a:r>
              <a:rPr sz="1400" dirty="0">
                <a:solidFill>
                  <a:srgbClr val="475569"/>
                </a:solidFill>
              </a:rPr>
              <a:t> do solo </a:t>
            </a:r>
            <a:r>
              <a:rPr sz="1400" dirty="0" err="1">
                <a:solidFill>
                  <a:srgbClr val="475569"/>
                </a:solidFill>
              </a:rPr>
              <a:t>pode</a:t>
            </a:r>
            <a:r>
              <a:rPr sz="1400" dirty="0">
                <a:solidFill>
                  <a:srgbClr val="475569"/>
                </a:solidFill>
              </a:rPr>
              <a:t> ser </a:t>
            </a:r>
            <a:r>
              <a:rPr sz="1400" dirty="0" err="1">
                <a:solidFill>
                  <a:srgbClr val="475569"/>
                </a:solidFill>
              </a:rPr>
              <a:t>mascarada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pelo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rápido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crescimento</a:t>
            </a:r>
            <a:r>
              <a:rPr sz="1400" dirty="0">
                <a:solidFill>
                  <a:srgbClr val="475569"/>
                </a:solidFill>
              </a:rPr>
              <a:t> de </a:t>
            </a:r>
            <a:r>
              <a:rPr sz="1400" dirty="0" err="1">
                <a:solidFill>
                  <a:srgbClr val="475569"/>
                </a:solidFill>
              </a:rPr>
              <a:t>plantas</a:t>
            </a:r>
            <a:r>
              <a:rPr sz="1400" dirty="0">
                <a:solidFill>
                  <a:srgbClr val="475569"/>
                </a:solidFill>
              </a:rPr>
              <a:t>.</a:t>
            </a:r>
          </a:p>
          <a:p>
            <a:pPr>
              <a:spcAft>
                <a:spcPts val="400"/>
              </a:spcAft>
            </a:pPr>
            <a:r>
              <a:rPr sz="1400" b="1" dirty="0" err="1">
                <a:solidFill>
                  <a:srgbClr val="0F172A"/>
                </a:solidFill>
              </a:rPr>
              <a:t>Atenuação</a:t>
            </a:r>
            <a:r>
              <a:rPr sz="1400" b="1" dirty="0">
                <a:solidFill>
                  <a:srgbClr val="0F172A"/>
                </a:solidFill>
              </a:rPr>
              <a:t>: </a:t>
            </a:r>
            <a:r>
              <a:rPr sz="1400" dirty="0">
                <a:solidFill>
                  <a:srgbClr val="475569"/>
                </a:solidFill>
              </a:rPr>
              <a:t>Registro da data </a:t>
            </a:r>
            <a:r>
              <a:rPr sz="1400" dirty="0" err="1">
                <a:solidFill>
                  <a:srgbClr val="475569"/>
                </a:solidFill>
              </a:rPr>
              <a:t>exata</a:t>
            </a:r>
            <a:r>
              <a:rPr sz="1400" dirty="0">
                <a:solidFill>
                  <a:srgbClr val="475569"/>
                </a:solidFill>
              </a:rPr>
              <a:t> de </a:t>
            </a:r>
            <a:r>
              <a:rPr sz="1400" dirty="0" err="1">
                <a:solidFill>
                  <a:srgbClr val="475569"/>
                </a:solidFill>
              </a:rPr>
              <a:t>cada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observação</a:t>
            </a:r>
            <a:r>
              <a:rPr sz="1400" dirty="0">
                <a:solidFill>
                  <a:srgbClr val="475569"/>
                </a:solidFill>
              </a:rPr>
              <a:t> e </a:t>
            </a:r>
            <a:r>
              <a:rPr sz="1400" dirty="0" err="1">
                <a:solidFill>
                  <a:srgbClr val="475569"/>
                </a:solidFill>
              </a:rPr>
              <a:t>análise</a:t>
            </a:r>
            <a:r>
              <a:rPr sz="1400" dirty="0">
                <a:solidFill>
                  <a:srgbClr val="475569"/>
                </a:solidFill>
              </a:rPr>
              <a:t> da </a:t>
            </a:r>
            <a:r>
              <a:rPr sz="1400" dirty="0" err="1">
                <a:solidFill>
                  <a:srgbClr val="475569"/>
                </a:solidFill>
              </a:rPr>
              <a:t>série</a:t>
            </a:r>
            <a:r>
              <a:rPr sz="1400" dirty="0">
                <a:solidFill>
                  <a:srgbClr val="475569"/>
                </a:solidFill>
              </a:rPr>
              <a:t> </a:t>
            </a:r>
            <a:r>
              <a:rPr sz="1400" dirty="0" err="1">
                <a:solidFill>
                  <a:srgbClr val="475569"/>
                </a:solidFill>
              </a:rPr>
              <a:t>histórica</a:t>
            </a:r>
            <a:r>
              <a:rPr sz="1400" dirty="0">
                <a:solidFill>
                  <a:srgbClr val="475569"/>
                </a:solidFill>
              </a:rPr>
              <a:t> de solo </a:t>
            </a:r>
            <a:r>
              <a:rPr sz="1400" dirty="0" err="1">
                <a:solidFill>
                  <a:srgbClr val="475569"/>
                </a:solidFill>
              </a:rPr>
              <a:t>exposto</a:t>
            </a:r>
            <a:r>
              <a:rPr sz="1400" dirty="0">
                <a:solidFill>
                  <a:srgbClr val="475569"/>
                </a:solidFill>
              </a:rPr>
              <a:t> (Ê).</a:t>
            </a:r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53DD45D1-85E2-7638-8CDB-6FC57C7C48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262992"/>
            <a:ext cx="1279123" cy="424992"/>
          </a:xfrm>
          <a:prstGeom prst="rect">
            <a:avLst/>
          </a:prstGeom>
          <a:effectLst>
            <a:glow rad="63500">
              <a:schemeClr val="bg1"/>
            </a:glo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143000"/>
            <a:ext cx="5486400" cy="35035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rPr sz="1400" dirty="0"/>
              <a:t>CONCLUSÃO &amp; CONTRIBUIÇÃO CIENTÍFICA</a:t>
            </a:r>
          </a:p>
          <a:p>
            <a:pPr>
              <a:spcBef>
                <a:spcPts val="600"/>
              </a:spcBef>
              <a:defRPr sz="2200" b="1">
                <a:solidFill>
                  <a:srgbClr val="FFFFFF"/>
                </a:solidFill>
              </a:defRPr>
            </a:pPr>
            <a:r>
              <a:rPr dirty="0"/>
              <a:t>Um </a:t>
            </a:r>
            <a:r>
              <a:rPr dirty="0" err="1"/>
              <a:t>Instrumento</a:t>
            </a:r>
            <a:r>
              <a:rPr dirty="0"/>
              <a:t> </a:t>
            </a:r>
            <a:r>
              <a:rPr dirty="0" err="1"/>
              <a:t>Transparente</a:t>
            </a:r>
            <a:r>
              <a:rPr dirty="0"/>
              <a:t> e </a:t>
            </a:r>
            <a:r>
              <a:rPr dirty="0" err="1"/>
              <a:t>Auditável</a:t>
            </a:r>
            <a:endParaRPr dirty="0"/>
          </a:p>
          <a:p>
            <a:pPr>
              <a:spcBef>
                <a:spcPts val="800"/>
              </a:spcBef>
            </a:pPr>
            <a:r>
              <a:rPr sz="1400" b="1" dirty="0">
                <a:solidFill>
                  <a:srgbClr val="10B981"/>
                </a:solidFill>
              </a:rPr>
              <a:t>• </a:t>
            </a:r>
            <a:r>
              <a:rPr sz="1400" b="1" dirty="0" err="1">
                <a:solidFill>
                  <a:srgbClr val="10B981"/>
                </a:solidFill>
              </a:rPr>
              <a:t>Viabilidade</a:t>
            </a:r>
            <a:r>
              <a:rPr sz="1400" b="1" dirty="0">
                <a:solidFill>
                  <a:srgbClr val="10B981"/>
                </a:solidFill>
              </a:rPr>
              <a:t> </a:t>
            </a:r>
            <a:r>
              <a:rPr sz="1400" b="1" dirty="0" err="1">
                <a:solidFill>
                  <a:srgbClr val="10B981"/>
                </a:solidFill>
              </a:rPr>
              <a:t>Operacional</a:t>
            </a:r>
            <a:r>
              <a:rPr sz="1400" b="1" dirty="0">
                <a:solidFill>
                  <a:srgbClr val="10B981"/>
                </a:solidFill>
              </a:rPr>
              <a:t>: </a:t>
            </a:r>
            <a:r>
              <a:rPr sz="1400" dirty="0">
                <a:solidFill>
                  <a:srgbClr val="CBD5E1"/>
                </a:solidFill>
              </a:rPr>
              <a:t>A </a:t>
            </a:r>
            <a:r>
              <a:rPr sz="1400" dirty="0" err="1">
                <a:solidFill>
                  <a:srgbClr val="CBD5E1"/>
                </a:solidFill>
              </a:rPr>
              <a:t>estratégia</a:t>
            </a:r>
            <a:r>
              <a:rPr sz="1400" dirty="0">
                <a:solidFill>
                  <a:srgbClr val="CBD5E1"/>
                </a:solidFill>
              </a:rPr>
              <a:t> </a:t>
            </a:r>
            <a:r>
              <a:rPr sz="1400" dirty="0" err="1">
                <a:solidFill>
                  <a:srgbClr val="CBD5E1"/>
                </a:solidFill>
              </a:rPr>
              <a:t>híbrida</a:t>
            </a:r>
            <a:r>
              <a:rPr sz="1400" dirty="0">
                <a:solidFill>
                  <a:srgbClr val="CBD5E1"/>
                </a:solidFill>
              </a:rPr>
              <a:t> </a:t>
            </a:r>
            <a:r>
              <a:rPr sz="1400" dirty="0" err="1">
                <a:solidFill>
                  <a:srgbClr val="CBD5E1"/>
                </a:solidFill>
              </a:rPr>
              <a:t>mitiga</a:t>
            </a:r>
            <a:r>
              <a:rPr sz="1400" dirty="0">
                <a:solidFill>
                  <a:srgbClr val="CBD5E1"/>
                </a:solidFill>
              </a:rPr>
              <a:t> </a:t>
            </a:r>
            <a:r>
              <a:rPr sz="1400" dirty="0" err="1">
                <a:solidFill>
                  <a:srgbClr val="CBD5E1"/>
                </a:solidFill>
              </a:rPr>
              <a:t>os</a:t>
            </a:r>
            <a:r>
              <a:rPr sz="1400" dirty="0">
                <a:solidFill>
                  <a:srgbClr val="CBD5E1"/>
                </a:solidFill>
              </a:rPr>
              <a:t> custos </a:t>
            </a:r>
            <a:r>
              <a:rPr sz="1400" dirty="0" err="1">
                <a:solidFill>
                  <a:srgbClr val="CBD5E1"/>
                </a:solidFill>
              </a:rPr>
              <a:t>logísticos</a:t>
            </a:r>
            <a:r>
              <a:rPr sz="1400" dirty="0">
                <a:solidFill>
                  <a:srgbClr val="CBD5E1"/>
                </a:solidFill>
              </a:rPr>
              <a:t> de campo </a:t>
            </a:r>
            <a:r>
              <a:rPr sz="1400" dirty="0" err="1">
                <a:solidFill>
                  <a:srgbClr val="CBD5E1"/>
                </a:solidFill>
              </a:rPr>
              <a:t>em</a:t>
            </a:r>
            <a:r>
              <a:rPr sz="1400" dirty="0">
                <a:solidFill>
                  <a:srgbClr val="CBD5E1"/>
                </a:solidFill>
              </a:rPr>
              <a:t> ~80%, </a:t>
            </a:r>
            <a:r>
              <a:rPr sz="1400" dirty="0" err="1">
                <a:solidFill>
                  <a:srgbClr val="CBD5E1"/>
                </a:solidFill>
              </a:rPr>
              <a:t>tornando</a:t>
            </a:r>
            <a:r>
              <a:rPr sz="1400" dirty="0">
                <a:solidFill>
                  <a:srgbClr val="CBD5E1"/>
                </a:solidFill>
              </a:rPr>
              <a:t> </a:t>
            </a:r>
            <a:r>
              <a:rPr sz="1400" dirty="0" err="1">
                <a:solidFill>
                  <a:srgbClr val="CBD5E1"/>
                </a:solidFill>
              </a:rPr>
              <a:t>viável</a:t>
            </a:r>
            <a:r>
              <a:rPr sz="1400" dirty="0">
                <a:solidFill>
                  <a:srgbClr val="CBD5E1"/>
                </a:solidFill>
              </a:rPr>
              <a:t> a </a:t>
            </a:r>
            <a:r>
              <a:rPr sz="1400" dirty="0" err="1">
                <a:solidFill>
                  <a:srgbClr val="CBD5E1"/>
                </a:solidFill>
              </a:rPr>
              <a:t>validação</a:t>
            </a:r>
            <a:r>
              <a:rPr sz="1400" dirty="0">
                <a:solidFill>
                  <a:srgbClr val="CBD5E1"/>
                </a:solidFill>
              </a:rPr>
              <a:t> de </a:t>
            </a:r>
            <a:r>
              <a:rPr sz="1400" dirty="0" err="1">
                <a:solidFill>
                  <a:srgbClr val="CBD5E1"/>
                </a:solidFill>
              </a:rPr>
              <a:t>modelos</a:t>
            </a:r>
            <a:r>
              <a:rPr sz="1400" dirty="0">
                <a:solidFill>
                  <a:srgbClr val="CBD5E1"/>
                </a:solidFill>
              </a:rPr>
              <a:t> de </a:t>
            </a:r>
            <a:r>
              <a:rPr sz="1400" dirty="0" err="1">
                <a:solidFill>
                  <a:srgbClr val="CBD5E1"/>
                </a:solidFill>
              </a:rPr>
              <a:t>predição</a:t>
            </a:r>
            <a:r>
              <a:rPr sz="1400" dirty="0">
                <a:solidFill>
                  <a:srgbClr val="CBD5E1"/>
                </a:solidFill>
              </a:rPr>
              <a:t> no </a:t>
            </a:r>
            <a:r>
              <a:rPr sz="1400" dirty="0" err="1">
                <a:solidFill>
                  <a:srgbClr val="CBD5E1"/>
                </a:solidFill>
              </a:rPr>
              <a:t>mestrado</a:t>
            </a:r>
            <a:r>
              <a:rPr sz="1400" dirty="0">
                <a:solidFill>
                  <a:srgbClr val="CBD5E1"/>
                </a:solidFill>
              </a:rPr>
              <a:t>.</a:t>
            </a:r>
          </a:p>
          <a:p>
            <a:pPr>
              <a:spcBef>
                <a:spcPts val="800"/>
              </a:spcBef>
            </a:pPr>
            <a:r>
              <a:rPr sz="1400" b="1" dirty="0">
                <a:solidFill>
                  <a:srgbClr val="10B981"/>
                </a:solidFill>
              </a:rPr>
              <a:t>• </a:t>
            </a:r>
            <a:r>
              <a:rPr sz="1400" b="1" dirty="0" err="1">
                <a:solidFill>
                  <a:srgbClr val="10B981"/>
                </a:solidFill>
              </a:rPr>
              <a:t>Ruptura</a:t>
            </a:r>
            <a:r>
              <a:rPr sz="1400" b="1" dirty="0">
                <a:solidFill>
                  <a:srgbClr val="10B981"/>
                </a:solidFill>
              </a:rPr>
              <a:t> com o Dado </a:t>
            </a:r>
            <a:r>
              <a:rPr sz="1400" b="1" dirty="0" err="1">
                <a:solidFill>
                  <a:srgbClr val="10B981"/>
                </a:solidFill>
              </a:rPr>
              <a:t>Presumido</a:t>
            </a:r>
            <a:r>
              <a:rPr sz="1400" b="1" dirty="0">
                <a:solidFill>
                  <a:srgbClr val="10B981"/>
                </a:solidFill>
              </a:rPr>
              <a:t>: </a:t>
            </a:r>
            <a:r>
              <a:rPr sz="1400" dirty="0">
                <a:solidFill>
                  <a:srgbClr val="CBD5E1"/>
                </a:solidFill>
              </a:rPr>
              <a:t>O SAREL </a:t>
            </a:r>
            <a:r>
              <a:rPr sz="1400" dirty="0" err="1">
                <a:solidFill>
                  <a:srgbClr val="CBD5E1"/>
                </a:solidFill>
              </a:rPr>
              <a:t>substitui</a:t>
            </a:r>
            <a:r>
              <a:rPr sz="1400" dirty="0">
                <a:solidFill>
                  <a:srgbClr val="CBD5E1"/>
                </a:solidFill>
              </a:rPr>
              <a:t> </a:t>
            </a:r>
            <a:r>
              <a:rPr sz="1400" dirty="0" err="1">
                <a:solidFill>
                  <a:srgbClr val="CBD5E1"/>
                </a:solidFill>
              </a:rPr>
              <a:t>suposições</a:t>
            </a:r>
            <a:r>
              <a:rPr sz="1400" dirty="0">
                <a:solidFill>
                  <a:srgbClr val="CBD5E1"/>
                </a:solidFill>
              </a:rPr>
              <a:t> </a:t>
            </a:r>
            <a:r>
              <a:rPr sz="1400" dirty="0" err="1">
                <a:solidFill>
                  <a:srgbClr val="CBD5E1"/>
                </a:solidFill>
              </a:rPr>
              <a:t>por</a:t>
            </a:r>
            <a:r>
              <a:rPr sz="1400" dirty="0">
                <a:solidFill>
                  <a:srgbClr val="CBD5E1"/>
                </a:solidFill>
              </a:rPr>
              <a:t> </a:t>
            </a:r>
            <a:r>
              <a:rPr sz="1400" dirty="0" err="1">
                <a:solidFill>
                  <a:srgbClr val="CBD5E1"/>
                </a:solidFill>
              </a:rPr>
              <a:t>proveniência</a:t>
            </a:r>
            <a:r>
              <a:rPr sz="1400" dirty="0">
                <a:solidFill>
                  <a:srgbClr val="CBD5E1"/>
                </a:solidFill>
              </a:rPr>
              <a:t> formal (</a:t>
            </a:r>
            <a:r>
              <a:rPr sz="1400" dirty="0" err="1">
                <a:solidFill>
                  <a:srgbClr val="CBD5E1"/>
                </a:solidFill>
              </a:rPr>
              <a:t>medido</a:t>
            </a:r>
            <a:r>
              <a:rPr sz="1400" dirty="0">
                <a:solidFill>
                  <a:srgbClr val="CBD5E1"/>
                </a:solidFill>
              </a:rPr>
              <a:t>, </a:t>
            </a:r>
            <a:r>
              <a:rPr sz="1400" dirty="0" err="1">
                <a:solidFill>
                  <a:srgbClr val="CBD5E1"/>
                </a:solidFill>
              </a:rPr>
              <a:t>modelado</a:t>
            </a:r>
            <a:r>
              <a:rPr sz="1400" dirty="0">
                <a:solidFill>
                  <a:srgbClr val="CBD5E1"/>
                </a:solidFill>
              </a:rPr>
              <a:t>, </a:t>
            </a:r>
            <a:r>
              <a:rPr sz="1400" dirty="0" err="1">
                <a:solidFill>
                  <a:srgbClr val="CBD5E1"/>
                </a:solidFill>
              </a:rPr>
              <a:t>tabelado</a:t>
            </a:r>
            <a:r>
              <a:rPr sz="1400" dirty="0">
                <a:solidFill>
                  <a:srgbClr val="CBD5E1"/>
                </a:solidFill>
              </a:rPr>
              <a:t>, </a:t>
            </a:r>
            <a:r>
              <a:rPr sz="1400" dirty="0" err="1">
                <a:solidFill>
                  <a:srgbClr val="CBD5E1"/>
                </a:solidFill>
              </a:rPr>
              <a:t>indisponível</a:t>
            </a:r>
            <a:r>
              <a:rPr sz="1400" dirty="0">
                <a:solidFill>
                  <a:srgbClr val="CBD5E1"/>
                </a:solidFill>
              </a:rPr>
              <a:t>).</a:t>
            </a:r>
          </a:p>
          <a:p>
            <a:pPr>
              <a:spcBef>
                <a:spcPts val="800"/>
              </a:spcBef>
            </a:pPr>
            <a:r>
              <a:rPr sz="1400" b="1" dirty="0">
                <a:solidFill>
                  <a:srgbClr val="10B981"/>
                </a:solidFill>
              </a:rPr>
              <a:t>• Rigor </a:t>
            </a:r>
            <a:r>
              <a:rPr sz="1400" b="1" dirty="0" err="1">
                <a:solidFill>
                  <a:srgbClr val="10B981"/>
                </a:solidFill>
              </a:rPr>
              <a:t>em</a:t>
            </a:r>
            <a:r>
              <a:rPr sz="1400" b="1" dirty="0">
                <a:solidFill>
                  <a:srgbClr val="10B981"/>
                </a:solidFill>
              </a:rPr>
              <a:t> </a:t>
            </a:r>
            <a:r>
              <a:rPr sz="1400" b="1" dirty="0" err="1">
                <a:solidFill>
                  <a:srgbClr val="10B981"/>
                </a:solidFill>
              </a:rPr>
              <a:t>Ciência</a:t>
            </a:r>
            <a:r>
              <a:rPr sz="1400" b="1" dirty="0">
                <a:solidFill>
                  <a:srgbClr val="10B981"/>
                </a:solidFill>
              </a:rPr>
              <a:t> de Dados: </a:t>
            </a:r>
            <a:r>
              <a:rPr sz="1400" dirty="0" err="1">
                <a:solidFill>
                  <a:srgbClr val="CBD5E1"/>
                </a:solidFill>
              </a:rPr>
              <a:t>Estratificação</a:t>
            </a:r>
            <a:r>
              <a:rPr sz="1400" dirty="0">
                <a:solidFill>
                  <a:srgbClr val="CBD5E1"/>
                </a:solidFill>
              </a:rPr>
              <a:t> </a:t>
            </a:r>
            <a:r>
              <a:rPr sz="1400" dirty="0" err="1">
                <a:solidFill>
                  <a:srgbClr val="CBD5E1"/>
                </a:solidFill>
              </a:rPr>
              <a:t>multivariada</a:t>
            </a:r>
            <a:r>
              <a:rPr sz="1400" dirty="0">
                <a:solidFill>
                  <a:srgbClr val="CBD5E1"/>
                </a:solidFill>
              </a:rPr>
              <a:t>, </a:t>
            </a:r>
            <a:r>
              <a:rPr sz="1400" dirty="0" err="1">
                <a:solidFill>
                  <a:srgbClr val="CBD5E1"/>
                </a:solidFill>
              </a:rPr>
              <a:t>rarefação</a:t>
            </a:r>
            <a:r>
              <a:rPr sz="1400" dirty="0">
                <a:solidFill>
                  <a:srgbClr val="CBD5E1"/>
                </a:solidFill>
              </a:rPr>
              <a:t> </a:t>
            </a:r>
            <a:r>
              <a:rPr sz="1400" dirty="0" err="1">
                <a:solidFill>
                  <a:srgbClr val="CBD5E1"/>
                </a:solidFill>
              </a:rPr>
              <a:t>espacial</a:t>
            </a:r>
            <a:r>
              <a:rPr sz="1400" dirty="0">
                <a:solidFill>
                  <a:srgbClr val="CBD5E1"/>
                </a:solidFill>
              </a:rPr>
              <a:t>, </a:t>
            </a:r>
            <a:r>
              <a:rPr sz="1400" dirty="0" err="1">
                <a:solidFill>
                  <a:srgbClr val="CBD5E1"/>
                </a:solidFill>
              </a:rPr>
              <a:t>validação</a:t>
            </a:r>
            <a:r>
              <a:rPr sz="1400" dirty="0">
                <a:solidFill>
                  <a:srgbClr val="CBD5E1"/>
                </a:solidFill>
              </a:rPr>
              <a:t> </a:t>
            </a:r>
            <a:r>
              <a:rPr sz="1400" dirty="0" err="1">
                <a:solidFill>
                  <a:srgbClr val="CBD5E1"/>
                </a:solidFill>
              </a:rPr>
              <a:t>espacial</a:t>
            </a:r>
            <a:r>
              <a:rPr sz="1400" dirty="0">
                <a:solidFill>
                  <a:srgbClr val="CBD5E1"/>
                </a:solidFill>
              </a:rPr>
              <a:t> LOCO e </a:t>
            </a:r>
            <a:r>
              <a:rPr sz="1400" dirty="0" err="1">
                <a:solidFill>
                  <a:srgbClr val="CBD5E1"/>
                </a:solidFill>
              </a:rPr>
              <a:t>explicabilidade</a:t>
            </a:r>
            <a:r>
              <a:rPr sz="1400" dirty="0">
                <a:solidFill>
                  <a:srgbClr val="CBD5E1"/>
                </a:solidFill>
              </a:rPr>
              <a:t> SHAP </a:t>
            </a:r>
            <a:r>
              <a:rPr sz="1400" dirty="0" err="1">
                <a:solidFill>
                  <a:srgbClr val="CBD5E1"/>
                </a:solidFill>
              </a:rPr>
              <a:t>alinham</a:t>
            </a:r>
            <a:r>
              <a:rPr sz="1400" dirty="0">
                <a:solidFill>
                  <a:srgbClr val="CBD5E1"/>
                </a:solidFill>
              </a:rPr>
              <a:t> a </a:t>
            </a:r>
            <a:r>
              <a:rPr sz="1400" dirty="0" err="1">
                <a:solidFill>
                  <a:srgbClr val="CBD5E1"/>
                </a:solidFill>
              </a:rPr>
              <a:t>pesquisa</a:t>
            </a:r>
            <a:r>
              <a:rPr sz="1400" dirty="0">
                <a:solidFill>
                  <a:srgbClr val="CBD5E1"/>
                </a:solidFill>
              </a:rPr>
              <a:t> à </a:t>
            </a:r>
            <a:r>
              <a:rPr sz="1400" dirty="0" err="1">
                <a:solidFill>
                  <a:srgbClr val="CBD5E1"/>
                </a:solidFill>
              </a:rPr>
              <a:t>literatura</a:t>
            </a:r>
            <a:r>
              <a:rPr sz="1400" dirty="0">
                <a:solidFill>
                  <a:srgbClr val="CBD5E1"/>
                </a:solidFill>
              </a:rPr>
              <a:t> </a:t>
            </a:r>
            <a:r>
              <a:rPr sz="1400" dirty="0" err="1">
                <a:solidFill>
                  <a:srgbClr val="CBD5E1"/>
                </a:solidFill>
              </a:rPr>
              <a:t>contemporânea</a:t>
            </a:r>
            <a:r>
              <a:rPr sz="1400" dirty="0">
                <a:solidFill>
                  <a:srgbClr val="CBD5E1"/>
                </a:solidFill>
              </a:rPr>
              <a:t>.</a:t>
            </a:r>
          </a:p>
          <a:p>
            <a:pPr>
              <a:spcBef>
                <a:spcPts val="800"/>
              </a:spcBef>
            </a:pPr>
            <a:r>
              <a:rPr sz="1400" b="1" dirty="0">
                <a:solidFill>
                  <a:srgbClr val="10B981"/>
                </a:solidFill>
              </a:rPr>
              <a:t>• </a:t>
            </a:r>
            <a:r>
              <a:rPr sz="1400" b="1" dirty="0" err="1">
                <a:solidFill>
                  <a:srgbClr val="10B981"/>
                </a:solidFill>
              </a:rPr>
              <a:t>Prontidão</a:t>
            </a:r>
            <a:r>
              <a:rPr sz="1400" b="1" dirty="0">
                <a:solidFill>
                  <a:srgbClr val="10B981"/>
                </a:solidFill>
              </a:rPr>
              <a:t> Instrumental: </a:t>
            </a:r>
            <a:r>
              <a:rPr sz="1400" dirty="0" err="1">
                <a:solidFill>
                  <a:srgbClr val="CBD5E1"/>
                </a:solidFill>
              </a:rPr>
              <a:t>Arquitetura</a:t>
            </a:r>
            <a:r>
              <a:rPr sz="1400" dirty="0">
                <a:solidFill>
                  <a:srgbClr val="CBD5E1"/>
                </a:solidFill>
              </a:rPr>
              <a:t> com 35 </a:t>
            </a:r>
            <a:r>
              <a:rPr sz="1400" dirty="0" err="1">
                <a:solidFill>
                  <a:srgbClr val="CBD5E1"/>
                </a:solidFill>
              </a:rPr>
              <a:t>arquivos</a:t>
            </a:r>
            <a:r>
              <a:rPr sz="1400" dirty="0">
                <a:solidFill>
                  <a:srgbClr val="CBD5E1"/>
                </a:solidFill>
              </a:rPr>
              <a:t> de teste e 235 </a:t>
            </a:r>
            <a:r>
              <a:rPr sz="1400" dirty="0" err="1">
                <a:solidFill>
                  <a:srgbClr val="CBD5E1"/>
                </a:solidFill>
              </a:rPr>
              <a:t>asserções</a:t>
            </a:r>
            <a:r>
              <a:rPr sz="1400" dirty="0">
                <a:solidFill>
                  <a:srgbClr val="CBD5E1"/>
                </a:solidFill>
              </a:rPr>
              <a:t> </a:t>
            </a:r>
            <a:r>
              <a:rPr sz="1400" dirty="0" err="1">
                <a:solidFill>
                  <a:srgbClr val="CBD5E1"/>
                </a:solidFill>
              </a:rPr>
              <a:t>automatizadas</a:t>
            </a:r>
            <a:r>
              <a:rPr sz="1400" dirty="0">
                <a:solidFill>
                  <a:srgbClr val="CBD5E1"/>
                </a:solidFill>
              </a:rPr>
              <a:t> </a:t>
            </a:r>
            <a:r>
              <a:rPr sz="1400" dirty="0" err="1">
                <a:solidFill>
                  <a:srgbClr val="CBD5E1"/>
                </a:solidFill>
              </a:rPr>
              <a:t>garantindo</a:t>
            </a:r>
            <a:r>
              <a:rPr sz="1400" dirty="0">
                <a:solidFill>
                  <a:srgbClr val="CBD5E1"/>
                </a:solidFill>
              </a:rPr>
              <a:t> o </a:t>
            </a:r>
            <a:r>
              <a:rPr sz="1400" dirty="0" err="1">
                <a:solidFill>
                  <a:srgbClr val="CBD5E1"/>
                </a:solidFill>
              </a:rPr>
              <a:t>cumprimento</a:t>
            </a:r>
            <a:r>
              <a:rPr sz="1400" dirty="0">
                <a:solidFill>
                  <a:srgbClr val="CBD5E1"/>
                </a:solidFill>
              </a:rPr>
              <a:t> das </a:t>
            </a:r>
            <a:r>
              <a:rPr sz="1400" dirty="0" err="1">
                <a:solidFill>
                  <a:srgbClr val="CBD5E1"/>
                </a:solidFill>
              </a:rPr>
              <a:t>travas</a:t>
            </a:r>
            <a:r>
              <a:rPr sz="1400" dirty="0">
                <a:solidFill>
                  <a:srgbClr val="CBD5E1"/>
                </a:solidFill>
              </a:rPr>
              <a:t> e dos </a:t>
            </a:r>
            <a:r>
              <a:rPr sz="1400" dirty="0" err="1">
                <a:solidFill>
                  <a:srgbClr val="CBD5E1"/>
                </a:solidFill>
              </a:rPr>
              <a:t>invariantes</a:t>
            </a:r>
            <a:r>
              <a:rPr sz="1400" dirty="0">
                <a:solidFill>
                  <a:srgbClr val="CBD5E1"/>
                </a:solidFill>
              </a:rPr>
              <a:t>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92869" y="893726"/>
            <a:ext cx="5052631" cy="5338629"/>
          </a:xfrm>
          <a:prstGeom prst="roundRect">
            <a:avLst/>
          </a:prstGeom>
          <a:solidFill>
            <a:srgbClr val="1E293B"/>
          </a:solidFill>
          <a:ln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949440" y="1140594"/>
            <a:ext cx="4480560" cy="49295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rPr dirty="0"/>
              <a:t>REFERÊNCIAS BIBLIOGRÁFICAS CANÔNICAS</a:t>
            </a:r>
          </a:p>
          <a:p>
            <a:pPr>
              <a:spcBef>
                <a:spcPts val="400"/>
              </a:spcBef>
            </a:pPr>
            <a:r>
              <a:rPr sz="1400" b="1" dirty="0">
                <a:solidFill>
                  <a:srgbClr val="FFFFFF"/>
                </a:solidFill>
              </a:rPr>
              <a:t>• Renard et al. (1997): </a:t>
            </a:r>
            <a:r>
              <a:rPr sz="1400" dirty="0">
                <a:solidFill>
                  <a:srgbClr val="CBD5E1"/>
                </a:solidFill>
              </a:rPr>
              <a:t>Predicting soil erosion by water: a guide to conservation planning with RUSLE. USDA Agricultural Handbook 703.</a:t>
            </a:r>
          </a:p>
          <a:p>
            <a:pPr>
              <a:spcBef>
                <a:spcPts val="400"/>
              </a:spcBef>
            </a:pPr>
            <a:r>
              <a:rPr sz="1400" b="1" dirty="0">
                <a:solidFill>
                  <a:srgbClr val="FFFFFF"/>
                </a:solidFill>
              </a:rPr>
              <a:t>• </a:t>
            </a:r>
            <a:r>
              <a:rPr sz="1400" b="1" dirty="0" err="1">
                <a:solidFill>
                  <a:srgbClr val="FFFFFF"/>
                </a:solidFill>
              </a:rPr>
              <a:t>Durigon</a:t>
            </a:r>
            <a:r>
              <a:rPr sz="1400" b="1" dirty="0">
                <a:solidFill>
                  <a:srgbClr val="FFFFFF"/>
                </a:solidFill>
              </a:rPr>
              <a:t> et al. (2014): </a:t>
            </a:r>
            <a:r>
              <a:rPr sz="1400" dirty="0">
                <a:solidFill>
                  <a:srgbClr val="CBD5E1"/>
                </a:solidFill>
              </a:rPr>
              <a:t>NDVI-based C-factor estimation for RUSLE in Brazilian watersheds. Brazilian Journal of Soil Science, 38(3).</a:t>
            </a:r>
          </a:p>
          <a:p>
            <a:pPr>
              <a:spcBef>
                <a:spcPts val="400"/>
              </a:spcBef>
            </a:pPr>
            <a:r>
              <a:rPr sz="1400" b="1" dirty="0">
                <a:solidFill>
                  <a:srgbClr val="FFFFFF"/>
                </a:solidFill>
              </a:rPr>
              <a:t>• Zhu &amp; Woodcock (2014): </a:t>
            </a:r>
            <a:r>
              <a:rPr sz="1400" dirty="0">
                <a:solidFill>
                  <a:srgbClr val="CBD5E1"/>
                </a:solidFill>
              </a:rPr>
              <a:t>Continuous change detection and classification of land cover using all available Landsat data. Remote Sensing of Environment.</a:t>
            </a:r>
          </a:p>
          <a:p>
            <a:pPr>
              <a:spcBef>
                <a:spcPts val="400"/>
              </a:spcBef>
            </a:pPr>
            <a:r>
              <a:rPr sz="1400" b="1" dirty="0">
                <a:solidFill>
                  <a:srgbClr val="FFFFFF"/>
                </a:solidFill>
              </a:rPr>
              <a:t>• Landis &amp; Koch (1977): </a:t>
            </a:r>
            <a:r>
              <a:rPr sz="1400" dirty="0">
                <a:solidFill>
                  <a:srgbClr val="CBD5E1"/>
                </a:solidFill>
              </a:rPr>
              <a:t>The measurement of observer agreement for categorical data. Biometrics, 33(1), 159-174.</a:t>
            </a:r>
          </a:p>
          <a:p>
            <a:pPr>
              <a:spcBef>
                <a:spcPts val="400"/>
              </a:spcBef>
            </a:pPr>
            <a:r>
              <a:rPr sz="1400" b="1" dirty="0">
                <a:solidFill>
                  <a:srgbClr val="FFFFFF"/>
                </a:solidFill>
              </a:rPr>
              <a:t>• Roberts et al. (2017): </a:t>
            </a:r>
            <a:r>
              <a:rPr sz="1400" dirty="0">
                <a:solidFill>
                  <a:srgbClr val="CBD5E1"/>
                </a:solidFill>
              </a:rPr>
              <a:t>Cross-validation strategies for data with temporal, spatial, or hierarchical structure. </a:t>
            </a:r>
            <a:r>
              <a:rPr sz="1400" dirty="0" err="1">
                <a:solidFill>
                  <a:srgbClr val="CBD5E1"/>
                </a:solidFill>
              </a:rPr>
              <a:t>Ecography</a:t>
            </a:r>
            <a:r>
              <a:rPr sz="1400" dirty="0">
                <a:solidFill>
                  <a:srgbClr val="CBD5E1"/>
                </a:solidFill>
              </a:rPr>
              <a:t>, 40(8).</a:t>
            </a:r>
          </a:p>
          <a:p>
            <a:pPr>
              <a:spcBef>
                <a:spcPts val="400"/>
              </a:spcBef>
            </a:pPr>
            <a:r>
              <a:rPr sz="1400" b="1" dirty="0">
                <a:solidFill>
                  <a:srgbClr val="FFFFFF"/>
                </a:solidFill>
              </a:rPr>
              <a:t>• Tobler (1970): </a:t>
            </a:r>
            <a:r>
              <a:rPr sz="1400" dirty="0">
                <a:solidFill>
                  <a:srgbClr val="CBD5E1"/>
                </a:solidFill>
              </a:rPr>
              <a:t>A computer movie simulating urban growth in the Detroit region. Economic Geography, 46(sup1).</a:t>
            </a:r>
          </a:p>
          <a:p>
            <a:pPr>
              <a:spcBef>
                <a:spcPts val="400"/>
              </a:spcBef>
            </a:pPr>
            <a:r>
              <a:rPr sz="1400" b="1" dirty="0">
                <a:solidFill>
                  <a:srgbClr val="FFFFFF"/>
                </a:solidFill>
              </a:rPr>
              <a:t>• Lundberg &amp; Lee (2017): </a:t>
            </a:r>
            <a:r>
              <a:rPr sz="1400" dirty="0">
                <a:solidFill>
                  <a:srgbClr val="CBD5E1"/>
                </a:solidFill>
              </a:rPr>
              <a:t>A unified approach to interpreting model predictions. Advances in Neural Information Processing Systems (</a:t>
            </a:r>
            <a:r>
              <a:rPr sz="1400" dirty="0" err="1">
                <a:solidFill>
                  <a:srgbClr val="CBD5E1"/>
                </a:solidFill>
              </a:rPr>
              <a:t>NeurIPS</a:t>
            </a:r>
            <a:r>
              <a:rPr sz="1400" dirty="0">
                <a:solidFill>
                  <a:srgbClr val="CBD5E1"/>
                </a:solidFill>
              </a:rPr>
              <a:t>).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E3FD728-EE5B-9729-AB37-E5F09E0753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4464" y="5180976"/>
            <a:ext cx="2743200" cy="835774"/>
          </a:xfrm>
          <a:prstGeom prst="rect">
            <a:avLst/>
          </a:prstGeom>
          <a:effectLst>
            <a:glow rad="63500">
              <a:schemeClr val="bg1"/>
            </a:glow>
          </a:effectLst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90F14DC6-FB8A-2CA5-AA5B-C4AB16FF87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309019"/>
            <a:ext cx="2047539" cy="680301"/>
          </a:xfrm>
          <a:prstGeom prst="rect">
            <a:avLst/>
          </a:prstGeom>
          <a:effectLst>
            <a:glow rad="63500">
              <a:schemeClr val="bg1"/>
            </a:glo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3478</Words>
  <Application>Microsoft Office PowerPoint</Application>
  <PresentationFormat>Ecrã Panorâmico</PresentationFormat>
  <Paragraphs>243</Paragraphs>
  <Slides>14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Luis Alfredo</cp:lastModifiedBy>
  <cp:revision>4</cp:revision>
  <dcterms:created xsi:type="dcterms:W3CDTF">2013-01-27T09:14:16Z</dcterms:created>
  <dcterms:modified xsi:type="dcterms:W3CDTF">2026-09-17T01:26:56Z</dcterms:modified>
  <cp:category/>
</cp:coreProperties>
</file>