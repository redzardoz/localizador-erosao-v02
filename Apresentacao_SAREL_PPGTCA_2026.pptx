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0" y="1097280"/>
            <a:ext cx="365760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0" y="12801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PILARES METODOLÓGICOS DO SAREL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• Desenho Amostral 18 Estratos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Estratificação Ŝ x Ê x K̂ com Thinning Geodésico ≥ 1,0 km.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• Lei Fundamental &amp; Rigor Anti-Mock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Dado verdadeiro ou ausência declarada. Zero dado fabricado.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• Fusão Cadastral &amp; LGPD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559.899 imóveis SICAR-PR + SIGEF + SNCR com máscara byte a byte.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• Validação Espacial LOCO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XGBoost Leave-One-Catchment-Out particionado pelas bacias do PR.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PROGRAMA DE PÓS-GRADUAÇÃO EM TECNOLOGIAS COMPUTACIONAIS PARA O AGRONEGÓCIO</a:t>
            </a:r>
          </a:p>
          <a:p>
            <a:pPr>
              <a:spcBef>
                <a:spcPts val="1200"/>
              </a:spcBef>
              <a:defRPr sz="2700" b="1">
                <a:solidFill>
                  <a:srgbClr val="FFFFFF"/>
                </a:solidFill>
              </a:defRPr>
            </a:pPr>
            <a:r>
              <a:t>SAREL: Sistema de Amostragem e Rotulagem para Erosão Laminar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Instrumento Computacional de Amostragem Multivariada, Sensoriamento Remoto e Gestão de Rotulagem Cega para Predição por Aprendizado de Máquina no Paraná</a:t>
            </a:r>
          </a:p>
          <a:p>
            <a:pPr>
              <a:spcBef>
                <a:spcPts val="2200"/>
              </a:spcBef>
              <a:defRPr sz="1100" b="1">
                <a:solidFill>
                  <a:srgbClr val="10B981"/>
                </a:solidFill>
              </a:defRPr>
            </a:pPr>
            <a:r>
              <a:t>Mestrando: Luis Alfredo | Pesquisa de Mestrado PPGTCA 2026</a:t>
            </a:r>
            <a:br/>
            <a:r>
              <a:t>Linha de Pesquisa: Tecnologias Geoespaciais e Modelagem Computacional no Agronegócio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MESTRADO PPGTCA 2026 • TECNOLOGIAS COMPUTACIONAIS PARA O AGRONEGÓCIO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Contexto da Pesquisa: A Erosão Laminar e a Escala do Paraná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017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D97706"/>
                </a:solidFill>
              </a:defRPr>
            </a:pPr>
            <a:r>
              <a:t>A Erosão Silenciosa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Processo Invisível: </a:t>
            </a:r>
            <a:r>
              <a:rPr sz="1019">
                <a:solidFill>
                  <a:srgbClr val="475569"/>
                </a:solidFill>
              </a:rPr>
              <a:t>A erosão laminar remove gradualmente as camadas superficiais férteis do solo agrícola sem abrir sulcos ou voçorocas imediatas.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Impacto Agronômico: </a:t>
            </a:r>
            <a:r>
              <a:rPr sz="1019">
                <a:solidFill>
                  <a:srgbClr val="475569"/>
                </a:solidFill>
              </a:rPr>
              <a:t>Toneladas de matéria orgânica, fertilizantes e argila são carreadas aos rios muito antes do dano ser percebido visualmente.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Dimensão Territorial: </a:t>
            </a:r>
            <a:r>
              <a:rPr sz="1019">
                <a:solidFill>
                  <a:srgbClr val="475569"/>
                </a:solidFill>
              </a:rPr>
              <a:t>O Estado do Paraná possui 199.315 km² de área, exigindo ferramentas capazes de monitorar bacias inteiras em macroescala.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017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EA5E9"/>
                </a:solidFill>
              </a:defRPr>
            </a:pPr>
            <a:r>
              <a:t>O Gargalo Tradicional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Vistorias Dispersas: </a:t>
            </a:r>
            <a:r>
              <a:rPr sz="1019">
                <a:solidFill>
                  <a:srgbClr val="475569"/>
                </a:solidFill>
              </a:rPr>
              <a:t>Inspeções de campo convencionais cobrem áreas restritas, são lentas e enviesadas por proximidade a rodovias e estradas.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Falta de Rastreabilidade: </a:t>
            </a:r>
            <a:r>
              <a:rPr sz="1019">
                <a:solidFill>
                  <a:srgbClr val="475569"/>
                </a:solidFill>
              </a:rPr>
              <a:t>Planilhas manuais não registram a proveniência dos dados nem a data exata da imagem satelital que embasou o laudo.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Inviabilidade de Escala: </a:t>
            </a:r>
            <a:r>
              <a:rPr sz="1019">
                <a:solidFill>
                  <a:srgbClr val="475569"/>
                </a:solidFill>
              </a:rPr>
              <a:t>Percorrer centenas de municípios paranaenses demanda tempo e recursos financeiros proibitivos para a pesquisa.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0B981"/>
                </a:solidFill>
              </a:defRPr>
            </a:pPr>
            <a:r>
              <a:t>A Proposta SAREL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Estratificação Robusta: </a:t>
            </a:r>
            <a:r>
              <a:rPr sz="1019">
                <a:solidFill>
                  <a:srgbClr val="475569"/>
                </a:solidFill>
              </a:rPr>
              <a:t>Algoritmo computacional que varre o território paranaense elegendo amostras estatisticamente balanceadas.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Fusão Multivariada: </a:t>
            </a:r>
            <a:r>
              <a:rPr sz="1019">
                <a:solidFill>
                  <a:srgbClr val="475569"/>
                </a:solidFill>
              </a:rPr>
              <a:t>Integração do Google Earth Engine (Sentinel-2), Copernicus DEM, cartas oficiais da Embrapa e malhas do CAR.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Rigor Científico Total: </a:t>
            </a:r>
            <a:r>
              <a:rPr sz="1019">
                <a:solidFill>
                  <a:srgbClr val="475569"/>
                </a:solidFill>
              </a:rPr>
              <a:t>Separação estrita entre observação e modelagem, garantindo blindagem metodológica perante a banca do PPGTCA.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GESTÃO DE CUSTOS &amp; LOGÍSTICA DE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Viabilidade Econômica: O Dilema de Custos de Amostragem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918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75569"/>
                </a:solidFill>
              </a:defRPr>
            </a:pPr>
            <a:r>
              <a:t>100% CAMPO (INVIÁVEL)</a:t>
            </a:r>
          </a:p>
          <a:p>
            <a:pPr algn="ctr">
              <a:defRPr sz="1700" b="1">
                <a:solidFill>
                  <a:srgbClr val="E11D48"/>
                </a:solidFill>
              </a:defRPr>
            </a:pPr>
            <a:r>
              <a:t>R$ 75k a 120k estimados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2918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75569"/>
                </a:solidFill>
              </a:defRPr>
            </a:pPr>
            <a:r>
              <a:t>100% SINTÉTICO (VICIADO)</a:t>
            </a:r>
          </a:p>
          <a:p>
            <a:pPr algn="ctr">
              <a:defRPr sz="1700" b="1">
                <a:solidFill>
                  <a:srgbClr val="D97706"/>
                </a:solidFill>
              </a:defRPr>
            </a:pPr>
            <a:r>
              <a:t>R$ 0,00 (Rejeição Acadêmica)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3832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41732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75569"/>
                </a:solidFill>
              </a:defRPr>
            </a:pPr>
            <a:r>
              <a:t>ESTRATÉGIA HÍBRIDA SAREL</a:t>
            </a:r>
          </a:p>
          <a:p>
            <a:pPr algn="ctr">
              <a:defRPr sz="1700" b="1">
                <a:solidFill>
                  <a:srgbClr val="10B981"/>
                </a:solidFill>
              </a:defRPr>
            </a:pPr>
            <a:r>
              <a:t>Economia ~80% (Custo Exequível)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432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E11D48"/>
                </a:solidFill>
              </a:defRPr>
            </a:pPr>
            <a:r>
              <a:t>Cenário A: 100% Campo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Demanda Logística: </a:t>
            </a:r>
            <a:r>
              <a:rPr sz="1000">
                <a:solidFill>
                  <a:srgbClr val="475569"/>
                </a:solidFill>
              </a:rPr>
              <a:t>Visita presencial a 250-300 pontos dispersos por todo o Paraná.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Custos Operacionais: </a:t>
            </a:r>
            <a:r>
              <a:rPr sz="1000">
                <a:solidFill>
                  <a:srgbClr val="475569"/>
                </a:solidFill>
              </a:rPr>
              <a:t>Combustível, veículos 4x4, diárias de equipe, aluguel de GNSS RTK e 4 a 6 meses de deslocamento contínuo.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Risco Acadêmico: </a:t>
            </a:r>
            <a:r>
              <a:rPr sz="1000">
                <a:solidFill>
                  <a:srgbClr val="475569"/>
                </a:solidFill>
              </a:rPr>
              <a:t>Amostra insuficiente (N &lt; 40 pontos) devido ao orçamento, gerando subajuste (underfitting) no classificador XGBoost.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56032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7432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D97706"/>
                </a:solidFill>
              </a:defRPr>
            </a:pPr>
            <a:r>
              <a:t>Cenário B: 100% Sintético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Atalho Computacional: </a:t>
            </a:r>
            <a:r>
              <a:rPr sz="1000">
                <a:solidFill>
                  <a:srgbClr val="475569"/>
                </a:solidFill>
              </a:rPr>
              <a:t>Gerar dados de erosão e solo a partir de fórmulas matemáticas (RUSLE) ou simulações aleatórias sem checagem empírica.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Vício Científico: </a:t>
            </a:r>
            <a:r>
              <a:rPr sz="1000">
                <a:solidFill>
                  <a:srgbClr val="475569"/>
                </a:solidFill>
              </a:rPr>
              <a:t>O modelo de IA apenas memoriza as equações que o próprio pesquisador inseriu (vazamento de alvo / overfitting trivial).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Risco Acadêmico: </a:t>
            </a:r>
            <a:r>
              <a:rPr sz="1000">
                <a:solidFill>
                  <a:srgbClr val="475569"/>
                </a:solidFill>
              </a:rPr>
              <a:t>Desqualificação imediata perante a banca examinadora por ausência de dados empíricos observacionais.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56032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7432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0B981"/>
                </a:solidFill>
              </a:defRPr>
            </a:pPr>
            <a:r>
              <a:t>Cenário C: Híbrido SAREL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Desenho Otimizado: </a:t>
            </a:r>
            <a:r>
              <a:rPr sz="1000">
                <a:solidFill>
                  <a:srgbClr val="475569"/>
                </a:solidFill>
              </a:rPr>
              <a:t>Triagem no Earth Engine + Fotointerpretação em Alta Resolução (PlanetScope/VHR) para 80% do dataset.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Calibração Presencial: </a:t>
            </a:r>
            <a:r>
              <a:rPr sz="1000">
                <a:solidFill>
                  <a:srgbClr val="475569"/>
                </a:solidFill>
              </a:rPr>
              <a:t>Subamostra de controle (20%) em campo com KoboToolbox, GNSS RTK e ortomosaicos de drone.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Rigor Estatístico: </a:t>
            </a:r>
            <a:r>
              <a:rPr sz="1000">
                <a:solidFill>
                  <a:srgbClr val="475569"/>
                </a:solidFill>
              </a:rPr>
              <a:t>Matriz de Confusão e Índice Kappa de Cohen (κ ≥ 0,60) medindo e compensando formalmente a taxa de erro humana.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ARQUITETURA FUNCIONAL &amp; ESCOPO DA DISSERTAÇÃO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Escopo do Sistema: As Três Funções Centrais do SAREL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0EA5E9"/>
                </a:solidFill>
              </a:defRPr>
            </a:pPr>
            <a:r>
              <a:t>1. Propõe Onde Observar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Desenho Amostral Estratificado &amp; Disperso </a:t>
            </a:r>
            <a:r>
              <a:rPr sz="980">
                <a:solidFill>
                  <a:srgbClr val="475569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• Executa estratificação multivariada em 18 estratos biofísicos cruzando relevo, solo e exposição. </a:t>
            </a:r>
            <a:r>
              <a:rPr sz="980">
                <a:solidFill>
                  <a:srgbClr val="475569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• Garante formalmente a inclusão de candidatos à classe de controle (Sistema Plantio Direto e pastagem estável). </a:t>
            </a:r>
            <a:r>
              <a:rPr sz="980">
                <a:solidFill>
                  <a:srgbClr val="475569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• Aplica Thinning Geodésico (raio ≥ 1,0 km) para impedir agrupamentos espaciais e pseudorrepetição amostral. </a:t>
            </a:r>
            <a:r>
              <a:rPr sz="980">
                <a:solidFill>
                  <a:srgbClr val="475569"/>
                </a:solidFill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10B981"/>
                </a:solidFill>
              </a:defRPr>
            </a:pPr>
            <a:r>
              <a:t>2. Extrai Features Verificáveis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Proveniência por Variável e Sem Atalhos </a:t>
            </a:r>
            <a:r>
              <a:rPr sz="980">
                <a:solidFill>
                  <a:srgbClr val="475569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• Coleta séries temporais harmonizadas Sentinel-2 L2A (10 anos) e extrai métricas de exposição de solo nu (Ê). </a:t>
            </a:r>
            <a:r>
              <a:rPr sz="980">
                <a:solidFill>
                  <a:srgbClr val="475569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• Calcula declividade em projeção métrica UTM 22S (SIRGAS 2000) a partir do DEM Copernicus GLO-30. </a:t>
            </a:r>
            <a:r>
              <a:rPr sz="980">
                <a:solidFill>
                  <a:srgbClr val="475569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• Consulta pedologia real via WMS OGC no GeoServer da Embrapa Solos, sem classes inventadas. </a:t>
            </a:r>
            <a:r>
              <a:rPr sz="980">
                <a:solidFill>
                  <a:srgbClr val="475569"/>
                </a:solidFill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6366F1"/>
                </a:solidFill>
              </a:defRPr>
            </a:pPr>
            <a:r>
              <a:t>3. Gerencia a Rotulagem Cega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Campanhas de Validação e Matriz de Treino </a:t>
            </a:r>
            <a:r>
              <a:rPr sz="980">
                <a:solidFill>
                  <a:srgbClr val="475569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• Exporta cadernos cegos de fotointerpretação, campo (KoboToolbox) e voo de drone, blindando o intérprete. </a:t>
            </a:r>
            <a:r>
              <a:rPr sz="980">
                <a:solidFill>
                  <a:srgbClr val="475569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• Avalia a concordância inter-observador via Kappa de Cohen com alerta bloqueante para κ &lt; 0,60. </a:t>
            </a:r>
            <a:r>
              <a:rPr sz="980">
                <a:solidFill>
                  <a:srgbClr val="475569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• Monta a matriz de treino do XGBoost livre de coordenadas e de variáveis calculadas pelo próprio sistema. </a:t>
            </a:r>
            <a:r>
              <a:rPr sz="980">
                <a:solidFill>
                  <a:srgbClr val="475569"/>
                </a:solidFill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5F46"/>
                </a:solidFill>
              </a:defRPr>
            </a:pPr>
            <a:r>
              <a:t>PRINCÍPIO DE DEMARCAÇÃO DO SAREL: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O SAREL NÃO classifica erosão e NÃO treina a IA dentro de si. Ele prepara o chão experimental honesto e auditável. O rótulo vem exclusivamente de observadores humanos. O treinamento do XGBoost ocorre externamente.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GOVERNANÇA METODOLÓGICA &amp; INTEGRIDADE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 Lei Fundamental do SAREL: Blindagem Pericial Contra Atalhos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E11D48"/>
                </a:solidFill>
              </a:defRPr>
            </a:pPr>
            <a:r>
              <a:t>Regra 1 &amp; 5: Dado Real ou Ausência Declarada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Proibição de Constantes: </a:t>
            </a:r>
            <a:r>
              <a:rPr sz="1000">
                <a:solidFill>
                  <a:srgbClr val="475569"/>
                </a:solidFill>
              </a:rPr>
              <a:t>Terminantemente vedado preencher lacunas com médias ou constantes arbitrárias (ex.: unmask numérico ou defaults em cascata).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Tratamento de Nulos: </a:t>
            </a:r>
            <a:r>
              <a:rPr sz="1000">
                <a:solidFill>
                  <a:srgbClr val="475569"/>
                </a:solidFill>
              </a:rPr>
              <a:t>O XGBoost lida com ausência de dados nativamente. Ausente é tecnicamente superior a dado fabricado.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Zero é Valor: </a:t>
            </a:r>
            <a:r>
              <a:rPr sz="1000">
                <a:solidFill>
                  <a:srgbClr val="475569"/>
                </a:solidFill>
              </a:rPr>
              <a:t>Declividade 0% ou Ê = 0 são valores físicos legítimos, nunca tratados como ausência.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0B981"/>
                </a:solidFill>
              </a:defRPr>
            </a:pPr>
            <a:r>
              <a:t>Regra 3: Proveniência Viaja Junto com o Valor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Tríade de Metadados: </a:t>
            </a:r>
            <a:r>
              <a:rPr sz="1000">
                <a:solidFill>
                  <a:srgbClr val="475569"/>
                </a:solidFill>
              </a:rPr>
              <a:t>Todo valor numérico é acompanhado de estado, fonte primária oficial e data de aquisição.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Quatro Selos Formais: </a:t>
            </a:r>
            <a:r>
              <a:rPr sz="1000">
                <a:solidFill>
                  <a:srgbClr val="475569"/>
                </a:solidFill>
              </a:rPr>
              <a:t>● medido (sensor primário) • ◊ modelado (equação) • □ tabelado (literatura) • ○ indisponível.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Rastreabilidade Pericial: </a:t>
            </a:r>
            <a:r>
              <a:rPr sz="1000">
                <a:solidFill>
                  <a:srgbClr val="475569"/>
                </a:solidFill>
              </a:rPr>
              <a:t>Possibilita reconstruir a cadeia de evidências de cada linha perante a banca.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EA5E9"/>
                </a:solidFill>
              </a:defRPr>
            </a:pPr>
            <a:r>
              <a:t>Regra 4: Nada Calculado Vira Rótulo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Isolamento de Critérios: </a:t>
            </a:r>
            <a:r>
              <a:rPr sz="1000">
                <a:solidFill>
                  <a:srgbClr val="475569"/>
                </a:solidFill>
              </a:rPr>
              <a:t>Scores internos, severidade estimada ou perda RUSLE nunca viram rótulo de treino.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Prevenção de Vazamento: </a:t>
            </a:r>
            <a:r>
              <a:rPr sz="1000">
                <a:solidFill>
                  <a:srgbClr val="475569"/>
                </a:solidFill>
              </a:rPr>
              <a:t>Evita que a IA aprenda limiares artificiais das fórmulas em vez de padrões reais da paisagem.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Rótulo Exclusivo Humano: </a:t>
            </a:r>
            <a:r>
              <a:rPr sz="1000">
                <a:solidFill>
                  <a:srgbClr val="475569"/>
                </a:solidFill>
              </a:rPr>
              <a:t>A classe alvo deriva unicamente de inspeção de campo, fotointerpretação ou drone.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D97706"/>
                </a:solidFill>
              </a:defRPr>
            </a:pPr>
            <a:r>
              <a:t>Regra 9: Governança de Decisões (DECISOES.md)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Dono do Parâmetro: </a:t>
            </a:r>
            <a:r>
              <a:rPr sz="1000">
                <a:solidFill>
                  <a:srgbClr val="475569"/>
                </a:solidFill>
              </a:rPr>
              <a:t>Nenhum limiar, peso ou corte nasce como literal no código sem autor, data e referência bibliográfica.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Decisão Pendente: </a:t>
            </a:r>
            <a:r>
              <a:rPr sz="1000">
                <a:solidFill>
                  <a:srgbClr val="475569"/>
                </a:solidFill>
              </a:rPr>
              <a:t>Enquanto o pesquisador não decidir (ex.: D13, D14, D15), o cálculo gera 'indisponivel' com a causa.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Imunidade a Arbitrariedades: </a:t>
            </a:r>
            <a:r>
              <a:rPr sz="1000">
                <a:solidFill>
                  <a:srgbClr val="475569"/>
                </a:solidFill>
              </a:rPr>
              <a:t>O agente de IA não toma decisões de dissertação no lugar do mestrando.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DESENHO EXPERIMENTAL GEOESPACIAL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Desenho Amostral: 18 Estratos Multivariados &amp; Thinning Geodésico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017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0EA5E9"/>
                </a:solidFill>
              </a:defRPr>
            </a:pPr>
            <a:r>
              <a:t>1. Estratificação Multivariada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18 Estratos (Ŝ x Ê x K̂) </a:t>
            </a:r>
            <a:r>
              <a:rPr sz="1019">
                <a:solidFill>
                  <a:srgbClr val="475569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Dimensão Ŝ (Relevo): </a:t>
            </a:r>
            <a:r>
              <a:rPr sz="1019">
                <a:solidFill>
                  <a:srgbClr val="475569"/>
                </a:solidFill>
              </a:rPr>
              <a:t>Tercis de declividade (Suave, Moderada, Forte) derivados do DEM Copernicus.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Dimensão Ê (Solo Nu): </a:t>
            </a:r>
            <a:r>
              <a:rPr sz="1019">
                <a:solidFill>
                  <a:srgbClr val="475569"/>
                </a:solidFill>
              </a:rPr>
              <a:t>Tercis de frequência multitemporal de solo descoberto da série Sentinel-2.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Dimensão K̂ (Pedologia): </a:t>
            </a:r>
            <a:r>
              <a:rPr sz="1019">
                <a:solidFill>
                  <a:srgbClr val="475569"/>
                </a:solidFill>
              </a:rPr>
              <a:t>2 níveis de erodibilidade derivados do levantamento pedológico da Embrapa.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017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10B981"/>
                </a:solidFill>
              </a:defRPr>
            </a:pPr>
            <a:r>
              <a:t>2. Thinning Geodésico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Raio Mínimo d ≥ 1,0 km (P02) </a:t>
            </a:r>
            <a:r>
              <a:rPr sz="1019">
                <a:solidFill>
                  <a:srgbClr val="475569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Primeira Lei de Tobler: </a:t>
            </a:r>
            <a:r>
              <a:rPr sz="1019">
                <a:solidFill>
                  <a:srgbClr val="475569"/>
                </a:solidFill>
              </a:rPr>
              <a:t>Pixels contíguos possuem solos e relevo similares, causando inflação artificial de acurácia.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Algoritmo Fisher-Yates: </a:t>
            </a:r>
            <a:r>
              <a:rPr sz="1019">
                <a:solidFill>
                  <a:srgbClr val="475569"/>
                </a:solidFill>
              </a:rPr>
              <a:t>Espaçamento euclidiano/haversine determinístico com semente registrada (P07).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Dispersão Homogênea: </a:t>
            </a:r>
            <a:r>
              <a:rPr sz="1019">
                <a:solidFill>
                  <a:srgbClr val="475569"/>
                </a:solidFill>
              </a:rPr>
              <a:t>Força a representatividade regional em toda a extensão da bacia hidrográfica.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D97706"/>
                </a:solidFill>
              </a:defRPr>
            </a:pPr>
            <a:r>
              <a:t>3. Garantia de Controles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Balanceamento de Classes (0 e 1) </a:t>
            </a:r>
            <a:r>
              <a:rPr sz="1019">
                <a:solidFill>
                  <a:srgbClr val="475569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Classe 1 (Erosão): </a:t>
            </a:r>
            <a:r>
              <a:rPr sz="1019">
                <a:solidFill>
                  <a:srgbClr val="475569"/>
                </a:solidFill>
              </a:rPr>
              <a:t>Candidatos estratificados com histórico de exposição e gradiente de rampa.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Classe 0 (Controle): </a:t>
            </a:r>
            <a:r>
              <a:rPr sz="1019">
                <a:solidFill>
                  <a:srgbClr val="475569"/>
                </a:solidFill>
              </a:rPr>
              <a:t>Amostragem em áreas sob Sistema Plantio Direto (SPD) e pastagens estáveis.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Prevenção do 'Mock': </a:t>
            </a:r>
            <a:r>
              <a:rPr sz="1019">
                <a:solidFill>
                  <a:srgbClr val="475569"/>
                </a:solidFill>
              </a:rPr>
              <a:t>Garante que o modelo aprenda o contraste biofísico real entre equilíbrio e degradação.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EXTRAÇÃO DE PREDITORES FÍSICO-INFORMADOS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Sensoriamento Remoto: Sentinel-2, DEM Copernicus &amp; Decomposição Harmônica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EA5E9"/>
                </a:solidFill>
              </a:defRPr>
            </a:pPr>
            <a:r>
              <a:t>Sentinel-2 MSI L2A (BOA)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Bandas Físicas: </a:t>
            </a:r>
            <a:r>
              <a:rPr sz="1000">
                <a:solidFill>
                  <a:srgbClr val="475569"/>
                </a:solidFill>
              </a:rPr>
              <a:t>B2 (Azul), B4 (Vermelho), B8 (NIR) e B11/B12 (SWIR) com reflectância de fundo de atmosfera.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Índices Espectrais: </a:t>
            </a:r>
            <a:r>
              <a:rPr sz="1000">
                <a:solidFill>
                  <a:srgbClr val="475569"/>
                </a:solidFill>
              </a:rPr>
              <a:t>NDVI (vigor vegetal) e BSI (Bare Soil Index) computados pixel a pixel na série temporal.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Máscara de Nuvens SCL: </a:t>
            </a:r>
            <a:r>
              <a:rPr sz="1000">
                <a:solidFill>
                  <a:srgbClr val="475569"/>
                </a:solidFill>
              </a:rPr>
              <a:t>Filtro Scene Classification Layer com descarte de pixels nublados sem reposição de constantes.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0B981"/>
                </a:solidFill>
              </a:defRPr>
            </a:pPr>
            <a:r>
              <a:t>Copernicus DEM GLO-30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Projeção Métrica Oficial: </a:t>
            </a:r>
            <a:r>
              <a:rPr sz="1000">
                <a:solidFill>
                  <a:srgbClr val="475569"/>
                </a:solidFill>
              </a:rPr>
              <a:t>Cálculo de declividade e elevação em SIRGAS 2000 / UTM 22S (EPSG:31982).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Correção do Erro 3857: </a:t>
            </a:r>
            <a:r>
              <a:rPr sz="1000">
                <a:solidFill>
                  <a:srgbClr val="475569"/>
                </a:solidFill>
              </a:rPr>
              <a:t>Elimina a subestimação sistemática de 10% na declividade causada pelo Web Mercator no Paraná.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Atributos de Terreno: </a:t>
            </a:r>
            <a:r>
              <a:rPr sz="1000">
                <a:solidFill>
                  <a:srgbClr val="475569"/>
                </a:solidFill>
              </a:rPr>
              <a:t>Elevação ortométrica, declividade (graus/%), curvatura de vertente e acúmulo de fluxo.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6366F1"/>
                </a:solidFill>
              </a:defRPr>
            </a:pPr>
            <a:r>
              <a:t>Decomposição Harmônica OLS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Ajuste Multivariado: </a:t>
            </a:r>
            <a:r>
              <a:rPr sz="1000">
                <a:solidFill>
                  <a:srgbClr val="475569"/>
                </a:solidFill>
              </a:rPr>
              <a:t>Regressão harmônica de 1 e 2 ciclos anuais (Zhu &amp; Woodcock 2014) para cada banda espectral.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Parâmetros Extraídos: </a:t>
            </a:r>
            <a:r>
              <a:rPr sz="1000">
                <a:solidFill>
                  <a:srgbClr val="475569"/>
                </a:solidFill>
              </a:rPr>
              <a:t>Tendência temporal (b1), amplitudes anual/semianual e fases espectrais de cada comprimento de onda.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Métricas de Qualidade: </a:t>
            </a:r>
            <a:r>
              <a:rPr sz="1000">
                <a:solidFill>
                  <a:srgbClr val="475569"/>
                </a:solidFill>
              </a:rPr>
              <a:t>Cada coeficiente armazena número de observações válidas, R² do ajuste e erro-padrão.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D97706"/>
                </a:solidFill>
              </a:defRPr>
            </a:pPr>
            <a:r>
              <a:t>Dinâmica do Solo Exposto (Ê)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Frequência de Solo Nu (Ê): </a:t>
            </a:r>
            <a:r>
              <a:rPr sz="1000">
                <a:solidFill>
                  <a:srgbClr val="475569"/>
                </a:solidFill>
              </a:rPr>
              <a:t>Fração temporal em que o solo permaneceu descoberto nos anos de monitoramento.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Sequência Contínua: </a:t>
            </a:r>
            <a:r>
              <a:rPr sz="1000">
                <a:solidFill>
                  <a:srgbClr val="475569"/>
                </a:solidFill>
              </a:rPr>
              <a:t>Maior número consecutivo de meses sob exposição crítica aos agentes erosivos.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Mês Modal de Exposição: </a:t>
            </a:r>
            <a:r>
              <a:rPr sz="1000">
                <a:solidFill>
                  <a:srgbClr val="475569"/>
                </a:solidFill>
              </a:rPr>
              <a:t>Identifica o período do ano com maior vulnerabilidade climática no Paraná.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MODELAGEM FÍSICO-MATEMÁTICA CONVENCIONAL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Linha de Base RUSLE: Instrumento Comparativo com Respaldo Científico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5F46"/>
                </a:solidFill>
              </a:defRPr>
            </a:pPr>
            <a:r>
              <a:t>A = R × K × LS × C × P   [Estimativa de Perda de Solo em t / (ha · ano)]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3383280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3017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10B981"/>
                </a:solidFill>
              </a:defRPr>
            </a:pPr>
            <a:r>
              <a:t>Fator C: Durigon et al. (2014) [DECIDIDO - D01]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Equação Regional: </a:t>
            </a:r>
            <a:r>
              <a:rPr sz="980">
                <a:solidFill>
                  <a:srgbClr val="475569"/>
                </a:solidFill>
              </a:rPr>
              <a:t>C = (1 − NDVI) / 2 calibrada para bacias tropicais brasileiras sem parâmetros livres.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Sem Cortes Disfarçados: </a:t>
            </a:r>
            <a:r>
              <a:rPr sz="980">
                <a:solidFill>
                  <a:srgbClr val="475569"/>
                </a:solidFill>
              </a:rPr>
              <a:t>NDVI estritamente contido em [-1, 1], garantindo C contido em [0, 1] sem Math.min/max artificiais.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Análise de Sensibilidade: </a:t>
            </a:r>
            <a:r>
              <a:rPr sz="980">
                <a:solidFill>
                  <a:srgbClr val="475569"/>
                </a:solidFill>
              </a:rPr>
              <a:t>Comparação programada com a formulação de van der Knijff et al. (2000).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23160"/>
            <a:ext cx="3383280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606040"/>
            <a:ext cx="3017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0EA5E9"/>
                </a:solidFill>
              </a:defRPr>
            </a:pPr>
            <a:r>
              <a:t>Fator P: Práticas Conservacionistas [TABELADO]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Valor Referencial: </a:t>
            </a:r>
            <a:r>
              <a:rPr sz="980">
                <a:solidFill>
                  <a:srgbClr val="475569"/>
                </a:solidFill>
              </a:rPr>
              <a:t>Fator P = 1,0 quando as práticas mecânicas do imóvel forem desconhecidas (Renard et al., 1997).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Proveniência Declarada: </a:t>
            </a:r>
            <a:r>
              <a:rPr sz="980">
                <a:solidFill>
                  <a:srgbClr val="475569"/>
                </a:solidFill>
              </a:rPr>
              <a:t>Registrado estritamente como 'tabelado', nunca apresentado à banca como se fosse medição de campo.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Terraceamento: </a:t>
            </a:r>
            <a:r>
              <a:rPr sz="980">
                <a:solidFill>
                  <a:srgbClr val="475569"/>
                </a:solidFill>
              </a:rPr>
              <a:t>Ajustável na rotulagem presencial caso terraços de retenção íntegros sejam comprovados.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423160"/>
            <a:ext cx="3383280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606040"/>
            <a:ext cx="3017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D97706"/>
                </a:solidFill>
              </a:defRPr>
            </a:pPr>
            <a:r>
              <a:t>Fatores R, K e LS [PENDENTES - D13, D14, D15]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Trava Inviolável (Regra 9): </a:t>
            </a:r>
            <a:r>
              <a:rPr sz="980">
                <a:solidFill>
                  <a:srgbClr val="475569"/>
                </a:solidFill>
              </a:rPr>
              <a:t>Enquanto as equações não forem formalmente selecionadas pelo pesquisador, permanecem pendentes.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Bloqueio de Perda de Solo: </a:t>
            </a:r>
            <a:r>
              <a:rPr sz="980">
                <a:solidFill>
                  <a:srgbClr val="475569"/>
                </a:solidFill>
              </a:rPr>
              <a:t>Perda de solo fica 'indisponivel (decisao-pendente)'. Proibido usar multiplicadores inventados.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Invariante 1 Ativo: </a:t>
            </a:r>
            <a:r>
              <a:rPr sz="980">
                <a:solidFill>
                  <a:srgbClr val="475569"/>
                </a:solidFill>
              </a:rPr>
              <a:t>A perda só é exportada se os 5 fatores e a memória de cálculo com a equação estiverem preenchidos.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BASE TERRITORIAL AUDITÁVEL &amp; LGPD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Inteligência Fundiária: Integração SICAR/SIGEF/SNCR &amp; Proteção LGPD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0B981"/>
                </a:solidFill>
              </a:defRPr>
            </a:pPr>
            <a:r>
              <a:t>SICAR / MMA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559.899 Imóveis Rurais no PR </a:t>
            </a:r>
            <a:r>
              <a:rPr sz="1000">
                <a:solidFill>
                  <a:srgbClr val="475569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Código CAR Oficial: </a:t>
            </a:r>
            <a:r>
              <a:rPr sz="1000">
                <a:solidFill>
                  <a:srgbClr val="475569"/>
                </a:solidFill>
              </a:rPr>
              <a:t>Identificador único federal de cada imóvel cadastrado no Paraná.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Atributos Cartográficos: </a:t>
            </a:r>
            <a:r>
              <a:rPr sz="1000">
                <a:solidFill>
                  <a:srgbClr val="475569"/>
                </a:solidFill>
              </a:rPr>
              <a:t>Área total em hectares, módulos fiscais e situação cadastral do imóvel rural.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Perímetro Vetorial: </a:t>
            </a:r>
            <a:r>
              <a:rPr sz="1000">
                <a:solidFill>
                  <a:srgbClr val="475569"/>
                </a:solidFill>
              </a:rPr>
              <a:t>Polígono georreferenciado da propriedade para conferência de limites e confrontantes.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EA5E9"/>
                </a:solidFill>
              </a:defRPr>
            </a:pPr>
            <a:r>
              <a:t>SIGEF / INCRA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170.046 Parcelas Certificadas </a:t>
            </a:r>
            <a:r>
              <a:rPr sz="1000">
                <a:solidFill>
                  <a:srgbClr val="475569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Lei 10.267: </a:t>
            </a:r>
            <a:r>
              <a:rPr sz="1000">
                <a:solidFill>
                  <a:srgbClr val="475569"/>
                </a:solidFill>
              </a:rPr>
              <a:t>Certificação de georreferenciamento de imóveis rurais com alta precisão métrica.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Segurança Jurídica: </a:t>
            </a:r>
            <a:r>
              <a:rPr sz="1000">
                <a:solidFill>
                  <a:srgbClr val="475569"/>
                </a:solidFill>
              </a:rPr>
              <a:t>Identificação do número de Matrícula no Cartório de Registro de Imóveis (CRI).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Anotação Técnica: </a:t>
            </a:r>
            <a:r>
              <a:rPr sz="1000">
                <a:solidFill>
                  <a:srgbClr val="475569"/>
                </a:solidFill>
              </a:rPr>
              <a:t>Registro de ART/CREA do engenheiro agrimensor responsável pela demarcação.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6366F1"/>
                </a:solidFill>
              </a:defRPr>
            </a:pPr>
            <a:r>
              <a:t>SNCR / Receita Federal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957.183 Cadastros de Titulares </a:t>
            </a:r>
            <a:r>
              <a:rPr sz="1000">
                <a:solidFill>
                  <a:srgbClr val="475569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Viabilização do Acesso: </a:t>
            </a:r>
            <a:r>
              <a:rPr sz="1000">
                <a:solidFill>
                  <a:srgbClr val="475569"/>
                </a:solidFill>
              </a:rPr>
              <a:t>Permite que a equipe de campo contate o produtor para autorização de entrada na fazenda.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Cruzamento Local R*Tree: </a:t>
            </a:r>
            <a:r>
              <a:rPr sz="1000">
                <a:solidFill>
                  <a:srgbClr val="475569"/>
                </a:solidFill>
              </a:rPr>
              <a:t>Consultas espaciais executadas em menos de 5ms no banco SQLite local.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Total Imunidade: </a:t>
            </a:r>
            <a:r>
              <a:rPr sz="1000">
                <a:solidFill>
                  <a:srgbClr val="475569"/>
                </a:solidFill>
              </a:rPr>
              <a:t>Zero divergências cadastrais atestadas na auditoria contra os dados abertos oficiais.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10698480" cy="1143000"/>
          </a:xfrm>
          <a:prstGeom prst="roundRect">
            <a:avLst/>
          </a:prstGeom>
          <a:solidFill>
            <a:srgbClr val="ECFDF5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5F46"/>
                </a:solidFill>
              </a:defRPr>
            </a:pPr>
            <a:r>
              <a:t>CONFORMIDADE RIGOROSA COM A LGPD (LEI 13.709/2018, ART. 7º, IV):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Os dados fundiários servem exclusivamente à gestão operacional de acesso em campo e nunca entram na matriz de treino do XGBoost. Nomes e documentos de titulares são mascarados byte a byte pela máscara oficial do SNCR. Rotas fundiárias e tokens transitam em sessões efêmeras no servidor, com recusa automática a conexões externas.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CAMPANHAS DE ROTULAGEM &amp; CONCORDÂNCIA HUMANA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Protocolo de Rotulagem Cega: Controle de Viés &amp; Validação Estatística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51460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1488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EA5E9"/>
                </a:solidFill>
              </a:defRPr>
            </a:pPr>
            <a:r>
              <a:t>Fase A: Interpretação Visual Cega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Imagens PlanetScope/VHR: </a:t>
            </a:r>
            <a:r>
              <a:rPr sz="980">
                <a:solidFill>
                  <a:srgbClr val="475569"/>
                </a:solidFill>
              </a:rPr>
              <a:t>Inspeção em resolução de 3m/30cm com data de aquisição visível no visor.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Isolamento Cego: </a:t>
            </a:r>
            <a:r>
              <a:rPr sz="980">
                <a:solidFill>
                  <a:srgbClr val="475569"/>
                </a:solidFill>
              </a:rPr>
              <a:t>O intérprete desconhece predições do modelo, fatores RUSLE, declividade e estrato.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Critério Padronizado: </a:t>
            </a:r>
            <a:r>
              <a:rPr sz="980">
                <a:solidFill>
                  <a:srgbClr val="475569"/>
                </a:solidFill>
              </a:rPr>
              <a:t>Avaliação de cobertura vegetal, decapitação de solo, carreadores e terraços.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17320"/>
            <a:ext cx="251460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21488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0B981"/>
                </a:solidFill>
              </a:defRPr>
            </a:pPr>
            <a:r>
              <a:t>Fase B: Validação em Campo (Kobo)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Subamostra Presencial: </a:t>
            </a:r>
            <a:r>
              <a:rPr sz="980">
                <a:solidFill>
                  <a:srgbClr val="475569"/>
                </a:solidFill>
              </a:rPr>
              <a:t>Equipe visita ~20% dos pontos estratificados munida de GNSS RTK e KoboToolbox.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Cegueira Cruzada: </a:t>
            </a:r>
            <a:r>
              <a:rPr sz="980">
                <a:solidFill>
                  <a:srgbClr val="475569"/>
                </a:solidFill>
              </a:rPr>
              <a:t>A equipe de campo desconhece o rótulo atribuído na Fase A, medindo a taxa de erro humana.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Marcadores Biofísicos: </a:t>
            </a:r>
            <a:r>
              <a:rPr sz="980">
                <a:solidFill>
                  <a:srgbClr val="475569"/>
                </a:solidFill>
              </a:rPr>
              <a:t>Avaliação milimétrica de pedestais de erosão, descalçamento radicular e crosta.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251460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21488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D97706"/>
                </a:solidFill>
              </a:defRPr>
            </a:pPr>
            <a:r>
              <a:t>Fase C: Concordância Kappa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Kappa de Cohen (1960): </a:t>
            </a:r>
            <a:r>
              <a:rPr sz="980">
                <a:solidFill>
                  <a:srgbClr val="475569"/>
                </a:solidFill>
              </a:rPr>
              <a:t>Cálculo rigoroso de concordância inter-observador ajustado ao acaso.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Alerta Bloqueante (κ &lt; 0,60): </a:t>
            </a:r>
            <a:r>
              <a:rPr sz="980">
                <a:solidFill>
                  <a:srgbClr val="475569"/>
                </a:solidFill>
              </a:rPr>
              <a:t>Se a concordância for inferior a substancial (Landis &amp; Koch), a matriz é travada.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Resolução de Divergência: </a:t>
            </a:r>
            <a:r>
              <a:rPr sz="980">
                <a:solidFill>
                  <a:srgbClr val="475569"/>
                </a:solidFill>
              </a:rPr>
              <a:t>Pontos divergentes são arbitrados por perito sênior ou descartados da matriz.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417320"/>
            <a:ext cx="251460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600200"/>
            <a:ext cx="21488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6366F1"/>
                </a:solidFill>
              </a:defRPr>
            </a:pPr>
            <a:r>
              <a:t>Fase D: Drone Held-Out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Ortomosaicos de VANT: </a:t>
            </a:r>
            <a:r>
              <a:rPr sz="980">
                <a:solidFill>
                  <a:srgbClr val="475569"/>
                </a:solidFill>
              </a:rPr>
              <a:t>Voo de drone gerando modelos tridimensionais centimétricos nos sítios padrão-ouro.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Segregação Obrigatória: </a:t>
            </a:r>
            <a:r>
              <a:rPr sz="980">
                <a:solidFill>
                  <a:srgbClr val="475569"/>
                </a:solidFill>
              </a:rPr>
              <a:t>As amostras de drone são mantidas compulsoriamente como conjunto de teste (held-out).</a:t>
            </a:r>
          </a:p>
          <a:p>
            <a:pPr>
              <a:spcAft>
                <a:spcPts val="400"/>
              </a:spcAft>
            </a:pPr>
            <a:r>
              <a:rPr b="1" sz="980">
                <a:solidFill>
                  <a:srgbClr val="0F172A"/>
                </a:solidFill>
              </a:rPr>
              <a:t>Testagem Independente: </a:t>
            </a:r>
            <a:r>
              <a:rPr sz="980">
                <a:solidFill>
                  <a:srgbClr val="475569"/>
                </a:solidFill>
              </a:rPr>
              <a:t>Nunca entram no treino do XGBoost, garantindo avaliação final não contaminada.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APRENDIZADO DE MÁQUINA &amp; EXPLICABILIDADE FÍSICA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Modelagem Preditiva: XGBoost com Validação Cruzada Espacial LOCO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017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E11D48"/>
                </a:solidFill>
              </a:defRPr>
            </a:pPr>
            <a:r>
              <a:t>Por que LOCO e não K-Fold Tradicional?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Autocorrelação Espacial: </a:t>
            </a:r>
            <a:r>
              <a:rPr sz="1019">
                <a:solidFill>
                  <a:srgbClr val="475569"/>
                </a:solidFill>
              </a:rPr>
              <a:t>Amostras geoespaciais próximas violam a premissa i.i.d. O K-Fold comum mistura pixels vizinhos, inflacionando a acurácia.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Leave-One-Catchment-Out: </a:t>
            </a:r>
            <a:r>
              <a:rPr sz="1019">
                <a:solidFill>
                  <a:srgbClr val="475569"/>
                </a:solidFill>
              </a:rPr>
              <a:t>O algoritmo treina em 4 macrobacias hidrográficas do Paraná e é testado na 5ª bacia inteiramente omitida.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Capacidade de Generalização: </a:t>
            </a:r>
            <a:r>
              <a:rPr sz="1019">
                <a:solidFill>
                  <a:srgbClr val="475569"/>
                </a:solidFill>
              </a:rPr>
              <a:t>Mede a eficácia real do método em extrapolar a predição para novos territórios sem vazamento de vizinhança.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017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EA5E9"/>
                </a:solidFill>
              </a:defRPr>
            </a:pPr>
            <a:r>
              <a:t>Explicabilidade Física via SHAP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Valores de Shapley: </a:t>
            </a:r>
            <a:r>
              <a:rPr sz="1019">
                <a:solidFill>
                  <a:srgbClr val="475569"/>
                </a:solidFill>
              </a:rPr>
              <a:t>Mede a contribuição marginal de cada variável preditora (NDVI, BSI, Declividade, K, R) na decisão do modelo.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Auditoria de Coerência: </a:t>
            </a:r>
            <a:r>
              <a:rPr sz="1019">
                <a:solidFill>
                  <a:srgbClr val="475569"/>
                </a:solidFill>
              </a:rPr>
              <a:t>Garante que a erosão seja atribuída a processos físicos reais (alta declividade + solo exposto), e não a ruídos estatísticos.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Entregáveis da Dissertação: </a:t>
            </a:r>
            <a:r>
              <a:rPr sz="1019">
                <a:solidFill>
                  <a:srgbClr val="475569"/>
                </a:solidFill>
              </a:rPr>
              <a:t>Gráficos SHAP Summary (Beeswarm Plot) e gráficos de dependência parcial revelando limiares críticos.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0B981"/>
                </a:solidFill>
              </a:defRPr>
            </a:pPr>
            <a:r>
              <a:t>Métricas Científicas Reais Esperadas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Acurácia Realista (84% a 93%): </a:t>
            </a:r>
            <a:r>
              <a:rPr sz="1019">
                <a:solidFill>
                  <a:srgbClr val="475569"/>
                </a:solidFill>
              </a:rPr>
              <a:t>Ambientes naturais e sensores orbitais possuem ruídos. Resultados de 100% decorrem de vícios e foram barrados.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ROC-AUC Esperada (0,88 a 0,95): </a:t>
            </a:r>
            <a:r>
              <a:rPr sz="1019">
                <a:solidFill>
                  <a:srgbClr val="475569"/>
                </a:solidFill>
              </a:rPr>
              <a:t>Desempenho de alta separabilidade com calibração probabilística rigorosa.</a:t>
            </a:r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0F172A"/>
                </a:solidFill>
              </a:rPr>
              <a:t>Integridade Assegurada: </a:t>
            </a:r>
            <a:r>
              <a:rPr sz="1019">
                <a:solidFill>
                  <a:srgbClr val="475569"/>
                </a:solidFill>
              </a:rPr>
              <a:t>O script Python treinar_xgboost_loco.py possui trava anti-mock ativa que exige dados reais.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CONTROLE DE QUALIDADE AUTOMATIZADO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Invariantes de Exportação: 7 Portões de Segurança Contra Falhas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698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527048"/>
            <a:ext cx="1645920" cy="420624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INVARIANTE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49047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F172A"/>
                </a:solidFill>
              </a:rPr>
              <a:t>Coerência RUSLE: </a:t>
            </a:r>
            <a:r>
              <a:rPr sz="1000">
                <a:solidFill>
                  <a:srgbClr val="475569"/>
                </a:solidFill>
              </a:rPr>
              <a:t>Perda de solo preenchida ⟺ 5 fatores preenchidos ⟺ memória de cálculo válida presente.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12264"/>
            <a:ext cx="10698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221992"/>
            <a:ext cx="1645920" cy="420624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INVARIANTE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185416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F172A"/>
                </a:solidFill>
              </a:rPr>
              <a:t>Lista de Permissão do Perfil: </a:t>
            </a:r>
            <a:r>
              <a:rPr sz="1000">
                <a:solidFill>
                  <a:srgbClr val="475569"/>
                </a:solidFill>
              </a:rPr>
              <a:t>Colunas contidas estritamente no perfil cego (pesquisador, campo, voo ou matriz de treino).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07208"/>
            <a:ext cx="10698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916936"/>
            <a:ext cx="1645920" cy="420624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INVARIANTE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8803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F172A"/>
                </a:solidFill>
              </a:rPr>
              <a:t>Rastreamento de Campos Estimados: </a:t>
            </a:r>
            <a:r>
              <a:rPr sz="1000">
                <a:solidFill>
                  <a:srgbClr val="475569"/>
                </a:solidFill>
              </a:rPr>
              <a:t>A coluna Campos_Estimados lista exatamente as variáveis com proveniência diferente de 'medido'.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02152"/>
            <a:ext cx="10698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3611880"/>
            <a:ext cx="1645920" cy="420624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INVARIANTE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575304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F172A"/>
                </a:solidFill>
              </a:rPr>
              <a:t>Rastreabilidade Orbital: </a:t>
            </a:r>
            <a:r>
              <a:rPr sz="1000">
                <a:solidFill>
                  <a:srgbClr val="475569"/>
                </a:solidFill>
              </a:rPr>
              <a:t>Dado derivado de satélite exige PRODUCT_ID das cenas, versão do motor e data de processamento.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97096"/>
            <a:ext cx="10698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4306824"/>
            <a:ext cx="1645920" cy="420624"/>
          </a:xfrm>
          <a:prstGeom prst="round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INVARIANTE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2702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F172A"/>
                </a:solidFill>
              </a:rPr>
              <a:t>Afirmação Negativa Fundiária: </a:t>
            </a:r>
            <a:r>
              <a:rPr sz="1000">
                <a:solidFill>
                  <a:srgbClr val="475569"/>
                </a:solidFill>
              </a:rPr>
              <a:t>Declaração 'sem-correspondencia' só é aceita após consulta cadastral bem-sucedida sem match.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92040"/>
            <a:ext cx="10698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5001768"/>
            <a:ext cx="1645920" cy="420624"/>
          </a:xfrm>
          <a:prstGeom prst="round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INVARIANTE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96519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F172A"/>
                </a:solidFill>
              </a:rPr>
              <a:t>Lista Negra de Literais Geográficos: </a:t>
            </a:r>
            <a:r>
              <a:rPr sz="1000">
                <a:solidFill>
                  <a:srgbClr val="475569"/>
                </a:solidFill>
              </a:rPr>
              <a:t>Bloqueia termos de desenvolvimento ('Custom', 'Bacia Local') ou nome de UF na coluna município.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86984"/>
            <a:ext cx="10698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5696712"/>
            <a:ext cx="1645920" cy="420624"/>
          </a:xfrm>
          <a:prstGeom prst="round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INVARIANTE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5660136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F172A"/>
                </a:solidFill>
              </a:rPr>
              <a:t>Detector de Constante Disfarçada: </a:t>
            </a:r>
            <a:r>
              <a:rPr sz="1000">
                <a:solidFill>
                  <a:srgbClr val="475569"/>
                </a:solidFill>
              </a:rPr>
              <a:t>Nenhuma coluna numérica tem valor idêntico em todas as linhas (N ≥ 21), impedindo vícios legados.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CONCLUSÃO &amp; CONTRIBUIÇÕES PARA O AGRONEGÓCIO PARANAENSE</a:t>
            </a:r>
          </a:p>
          <a:p>
            <a:pPr>
              <a:spcBef>
                <a:spcPts val="800"/>
              </a:spcBef>
              <a:defRPr sz="2500" b="1">
                <a:solidFill>
                  <a:srgbClr val="FFFFFF"/>
                </a:solidFill>
              </a:defRPr>
            </a:pPr>
            <a:r>
              <a:t>Um Instrumento Computacional Ético, Auditável e Replicável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10B981"/>
                </a:solidFill>
              </a:rPr>
              <a:t>• Viabilidade Prática Comprovada: </a:t>
            </a:r>
            <a:r>
              <a:rPr sz="1100">
                <a:solidFill>
                  <a:srgbClr val="CBD5E1"/>
                </a:solidFill>
              </a:rPr>
              <a:t>A estratégia híbrida reduz os custos operacionais de amostragem em ~80%, tornando viável a validação de modelos de IA para conservação de solos no mestrado.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10B981"/>
                </a:solidFill>
              </a:rPr>
              <a:t>• Ruptura com o Dado Presumido: </a:t>
            </a:r>
            <a:r>
              <a:rPr sz="1100">
                <a:solidFill>
                  <a:srgbClr val="CBD5E1"/>
                </a:solidFill>
              </a:rPr>
              <a:t>O SAREL encerra a era dos valores fabricados por atalhos computacionais. O sistema prefere declarar a ausência a exibir uma medição ilusória à banca.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10B981"/>
                </a:solidFill>
              </a:rPr>
              <a:t>• Rigor Metodológico Internacional: </a:t>
            </a:r>
            <a:r>
              <a:rPr sz="1100">
                <a:solidFill>
                  <a:srgbClr val="CBD5E1"/>
                </a:solidFill>
              </a:rPr>
              <a:t>Estratificação multivariada, Thinning Geodésico, validação cruzada espacial LOCO e explicabilidade SHAP alinham a pesquisa às melhores práticas da literatura de sensoriamento remoto.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10B981"/>
                </a:solidFill>
              </a:rPr>
              <a:t>• Prontidão para a Campanha Real: </a:t>
            </a:r>
            <a:r>
              <a:rPr sz="1100">
                <a:solidFill>
                  <a:srgbClr val="CBD5E1"/>
                </a:solidFill>
              </a:rPr>
              <a:t>A infraestrutura computacional (Next.js, TypeScript, Python, SQLite e GEE) está 100% testada e homologada, pronta para a execução da campanha de campo e fotointerpretação.</a:t>
            </a:r>
          </a:p>
          <a:p>
            <a:pPr>
              <a:spcBef>
                <a:spcPts val="2400"/>
              </a:spcBef>
              <a:defRPr sz="1050" b="1">
                <a:solidFill>
                  <a:srgbClr val="0EA5E9"/>
                </a:solidFill>
              </a:defRPr>
            </a:pPr>
            <a:r>
              <a:t>PPGTCA 2026 • Pesquisador: Luis Alfredo • Programa de Pós-Graduação em Tecnologias Computacionais para o Agronegócio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