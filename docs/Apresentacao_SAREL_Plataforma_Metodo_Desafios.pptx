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 Onde entra a série temporal: a frequência de solo nu, calculada sobre a fração de cenas Sentinel-2 válidas de 2016 a 2026, é o eixo de solo nu dos estratos; as métricas da série, como persistência e maior sequência de solo nu, também alimentam os preditores do modelo; e há um mínimo de 6 observações válidas por célula e janela, abaixo do qual a métrica é indisponível, não deflacionada. A frequência de solo nu ainda não foi medida, por falta da credencial do Google Earth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 sorteio registra semente, commit do código, hash do conjunto de candidatos e uma tabela reversa de códigos opacos, que fica fora do Git. Uma vez gerado, o selo não pode ser refeito, senão se poderia escolher o sorteio que favoreça o resultado. Mas e se o proprietário recusar? A proposta, ainda sem parâmetros decididos, é o mesmo selo trazer, por estrato, uma lista ordenada de reservas: a recusa aciona a próxima do mesmo estrato, que herda o papel de treino ou teste. A ferramenta de pool já existe; a parte das reservas está em implementação.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Quantidade de voos: são 72 polígonos de 5,02 ha, ou seja, 72 missões de mapeamento, uma por polígono; eram 36 no desenho anterior. Elas não precisam ser 72 saídas: o planejador agrupa polígonos próximos em jornadas de campo, com teto padrão de 6 polígonos por jornada, ajustável, o que dá cerca de 12 jornadas. Esse agrupamento é uma proposta do planejador, ainda não validada em campo. Tempo de voo: a produtividade medida foi de 2,3 ha/min na Missão 009, o que dá cerca de 2,2 min por polígono; mas a única outra missão válida, a 000, teve 0,53 ha/min, o que dá cerca de 9,5 min. Com duas missões medidas, a faixa honesta é de 2 a 10 minutos por polígono, ou de 2,6 a 11 horas de voo no total, sem contar deslocamento. O que domina a campanha é deslocamento, montagem e as 72 autorizações. O número de baterias e de decolagens não está definido: depende da aeronave e do agrupamento, e não tenho esse dado. Por que 72: é a estrutura de 18 estratos com 4 polígonos cada, e não um excesso. A área total de cerca de 361 ha é o que o custo de voo suporta; ela rende cerca de 1.845 unidades espacialmente independentes (D24), no limite para o bloco espectral e abaixo do recomendado para solo, chuva e terreno. A tela mostra os três conjuntos da campanha.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914400"/>
            <a:ext cx="2468880" cy="1783080"/>
          </a:xfrm>
          <a:prstGeom prst="roundRect">
            <a:avLst>
              <a:gd name="adj" fmla="val 4103"/>
            </a:avLst>
          </a:prstGeom>
          <a:solidFill>
            <a:srgbClr val="EEF3EF"/>
          </a:solidFill>
          <a:ln w="12700">
            <a:solidFill>
              <a:srgbClr val="EEF3EF"/>
            </a:solidFill>
            <a:prstDash val="solid"/>
          </a:ln>
        </p:spPr>
      </p:sp>
      <p:sp>
        <p:nvSpPr>
          <p:cNvPr id="6" name="Text 3"/>
          <p:cNvSpPr txBox="1"/>
          <p:nvPr/>
        </p:nvSpPr>
        <p:spPr>
          <a:xfrm>
            <a:off x="59436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050" dirty="0"/>
          </a:p>
        </p:txBody>
      </p:sp>
      <p:sp>
        <p:nvSpPr>
          <p:cNvPr id="9" name="Text 6"/>
          <p:cNvSpPr txBox="1"/>
          <p:nvPr/>
        </p:nvSpPr>
        <p:spPr>
          <a:xfrm>
            <a:off x="2926080" y="15544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914400"/>
            <a:ext cx="2468880" cy="1783080"/>
          </a:xfrm>
          <a:prstGeom prst="roundRect">
            <a:avLst>
              <a:gd name="adj" fmla="val 4103"/>
            </a:avLst>
          </a:prstGeom>
          <a:solidFill>
            <a:srgbClr val="EEF3EF"/>
          </a:solidFill>
          <a:ln w="12700">
            <a:solidFill>
              <a:srgbClr val="EEF3EF"/>
            </a:solidFill>
            <a:prstDash val="solid"/>
          </a:ln>
        </p:spPr>
      </p:sp>
      <p:sp>
        <p:nvSpPr>
          <p:cNvPr id="11" name="Text 8"/>
          <p:cNvSpPr txBox="1"/>
          <p:nvPr/>
        </p:nvSpPr>
        <p:spPr>
          <a:xfrm>
            <a:off x="342900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050" dirty="0"/>
          </a:p>
        </p:txBody>
      </p:sp>
      <p:sp>
        <p:nvSpPr>
          <p:cNvPr id="14" name="Text 11"/>
          <p:cNvSpPr txBox="1"/>
          <p:nvPr/>
        </p:nvSpPr>
        <p:spPr>
          <a:xfrm>
            <a:off x="5760720" y="15544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914400"/>
            <a:ext cx="2468880" cy="1783080"/>
          </a:xfrm>
          <a:prstGeom prst="roundRect">
            <a:avLst>
              <a:gd name="adj" fmla="val 4103"/>
            </a:avLst>
          </a:prstGeom>
          <a:solidFill>
            <a:srgbClr val="EEF3EF"/>
          </a:solidFill>
          <a:ln w="12700">
            <a:solidFill>
              <a:srgbClr val="EEF3EF"/>
            </a:solidFill>
            <a:prstDash val="solid"/>
          </a:ln>
        </p:spPr>
      </p:sp>
      <p:sp>
        <p:nvSpPr>
          <p:cNvPr id="16" name="Text 13"/>
          <p:cNvSpPr txBox="1"/>
          <p:nvPr/>
        </p:nvSpPr>
        <p:spPr>
          <a:xfrm>
            <a:off x="626364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Carta Embrapa 2024. Nível 1: muito baixa a média (K ≤ 0,0285). Nível 2: alta e muito alta (K ≥ 0,0300); a extremamente alta entra por emenda em registro.</a:t>
            </a:r>
            <a:endParaRPr lang="en-US" sz="1050" dirty="0"/>
          </a:p>
        </p:txBody>
      </p:sp>
      <p:sp>
        <p:nvSpPr>
          <p:cNvPr id="19" name="Text 16"/>
          <p:cNvSpPr txBox="1"/>
          <p:nvPr/>
        </p:nvSpPr>
        <p:spPr>
          <a:xfrm>
            <a:off x="457200" y="2788920"/>
            <a:ext cx="8229600" cy="320040"/>
          </a:xfrm>
          <a:prstGeom prst="rect">
            <a:avLst/>
          </a:prstGeom>
          <a:noFill/>
          <a:ln/>
        </p:spPr>
        <p:txBody>
          <a:bodyPr wrap="square" lIns="0" tIns="0" rIns="0" bIns="0" rtlCol="0" anchor="t"/>
          <a:lstStyle/>
          <a:p>
            <a:pPr indent="0" marL="0">
              <a:buNone/>
            </a:pPr>
            <a:r>
              <a:rPr lang="en-US" sz="14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400" dirty="0"/>
          </a:p>
        </p:txBody>
      </p:sp>
      <p:sp>
        <p:nvSpPr>
          <p:cNvPr id="20" name="Text 17"/>
          <p:cNvSpPr txBox="1"/>
          <p:nvPr/>
        </p:nvSpPr>
        <p:spPr>
          <a:xfrm>
            <a:off x="457200" y="3154680"/>
            <a:ext cx="8229600" cy="73152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 maior interesse</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Tercil: três grupos de tamanho aproximado; o corte é calculado sobre os candidatos da própria área e empates caem no grupo mais baixo</a:t>
            </a:r>
            <a:endParaRPr lang="en-US" sz="1050" dirty="0"/>
          </a:p>
        </p:txBody>
      </p:sp>
      <p:sp>
        <p:nvSpPr>
          <p:cNvPr id="21" name="Shape 18"/>
          <p:cNvSpPr/>
          <p:nvPr/>
        </p:nvSpPr>
        <p:spPr>
          <a:xfrm>
            <a:off x="457200" y="3886200"/>
            <a:ext cx="8229600" cy="822960"/>
          </a:xfrm>
          <a:prstGeom prst="roundRect">
            <a:avLst>
              <a:gd name="adj" fmla="val 8889"/>
            </a:avLst>
          </a:prstGeom>
          <a:solidFill>
            <a:srgbClr val="FBEFE6"/>
          </a:solidFill>
          <a:ln w="12700">
            <a:solidFill>
              <a:srgbClr val="FBEFE6"/>
            </a:solidFill>
            <a:prstDash val="solid"/>
          </a:ln>
        </p:spPr>
      </p:sp>
      <p:sp>
        <p:nvSpPr>
          <p:cNvPr id="22" name="Text 19"/>
          <p:cNvSpPr txBox="1"/>
          <p:nvPr/>
        </p:nvSpPr>
        <p:spPr>
          <a:xfrm>
            <a:off x="594360" y="3922776"/>
            <a:ext cx="7955280" cy="228600"/>
          </a:xfrm>
          <a:prstGeom prst="rect">
            <a:avLst/>
          </a:prstGeom>
          <a:noFill/>
          <a:ln/>
        </p:spPr>
        <p:txBody>
          <a:bodyPr wrap="square" lIns="0" tIns="0" rIns="0" bIns="0" rtlCol="0" anchor="t"/>
          <a:lstStyle/>
          <a:p>
            <a:pPr indent="0" marL="0">
              <a:buNone/>
            </a:pPr>
            <a:r>
              <a:rPr lang="en-US" sz="1150" b="1" dirty="0">
                <a:solidFill>
                  <a:srgbClr val="C65D3B"/>
                </a:solidFill>
                <a:latin typeface="Cambria" pitchFamily="34" charset="0"/>
                <a:ea typeface="Cambria" pitchFamily="34" charset="-122"/>
                <a:cs typeface="Cambria" pitchFamily="34" charset="-120"/>
              </a:rPr>
              <a:t>Onde entra a série temporal (Sentinel-2, 2016–2026)</a:t>
            </a:r>
            <a:endParaRPr lang="en-US" sz="1150" dirty="0"/>
          </a:p>
        </p:txBody>
      </p:sp>
      <p:sp>
        <p:nvSpPr>
          <p:cNvPr id="23" name="Text 20"/>
          <p:cNvSpPr txBox="1"/>
          <p:nvPr/>
        </p:nvSpPr>
        <p:spPr>
          <a:xfrm>
            <a:off x="594360" y="4160520"/>
            <a:ext cx="7955280" cy="548640"/>
          </a:xfrm>
          <a:prstGeom prst="rect">
            <a:avLst/>
          </a:prstGeom>
          <a:noFill/>
          <a:ln/>
        </p:spPr>
        <p:txBody>
          <a:bodyPr wrap="square" lIns="0" tIns="0" rIns="0" bIns="0" rtlCol="0" anchor="t"/>
          <a:lstStyle/>
          <a:p>
            <a:pPr indent="0" marL="0">
              <a:buNone/>
            </a:pPr>
            <a:r>
              <a:rPr lang="en-US" sz="1000" dirty="0">
                <a:solidFill>
                  <a:srgbClr val="1B2A22"/>
                </a:solidFill>
                <a:latin typeface="Calibri" pitchFamily="34" charset="0"/>
                <a:ea typeface="Calibri" pitchFamily="34" charset="-122"/>
                <a:cs typeface="Calibri" pitchFamily="34" charset="-120"/>
              </a:rPr>
              <a:t>1) Solo nu: fração de cenas válidas em que a célula está exposta = eixo dos estratos.  2) Preditores do modelo: persistência, maior sequência de solo nu e composto espectral.  3) Qualidade: mínimo de 6 observações válidas por célula e janela; abaixo disso a métrica é “indisponível”. A frequência de solo nu ainda não foi medida (falta a credencial do GEE).</a:t>
            </a:r>
            <a:endParaRPr lang="en-US" sz="1000" dirty="0"/>
          </a:p>
        </p:txBody>
      </p:sp>
      <p:sp>
        <p:nvSpPr>
          <p:cNvPr id="24" name="Text 21"/>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Sorteio selado e o problema da recusa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500" b="1" dirty="0">
                <a:solidFill>
                  <a:srgbClr val="2F6B4F"/>
                </a:solidFill>
                <a:latin typeface="Cambria" pitchFamily="34" charset="0"/>
                <a:ea typeface="Cambria" pitchFamily="34" charset="-122"/>
                <a:cs typeface="Cambria" pitchFamily="34" charset="-120"/>
              </a:rPr>
              <a:t>O que o selo registra</a:t>
            </a:r>
            <a:endParaRPr lang="en-US" sz="15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Semente do sorteio e commit do código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SHA-256 do conjunto de candidatos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Hash de integridade do resultado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Tabela reversa de códigos opacos, fora do Git</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de candidato sintético e de segunda execução</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500" b="1" dirty="0">
                <a:solidFill>
                  <a:srgbClr val="C65D3B"/>
                </a:solidFill>
                <a:latin typeface="Cambria" pitchFamily="34" charset="0"/>
                <a:ea typeface="Cambria" pitchFamily="34" charset="-122"/>
                <a:cs typeface="Cambria" pitchFamily="34" charset="-120"/>
              </a:rPr>
              <a:t>Se recusar (proposta)</a:t>
            </a:r>
            <a:endParaRPr lang="en-US" sz="15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No mesmo selo: 4 titulares e reservas ordenadas por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aciona a próxima reserva do mesmo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reserva herda o papel (treino ou teste)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Registro append-only, com data e motivo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Parâmetros em aberto: número de reservas, n mínimo e taxa de recusa</a:t>
            </a:r>
            <a:endParaRPr lang="en-US" sz="1250" dirty="0"/>
          </a:p>
        </p:txBody>
      </p:sp>
      <p:sp>
        <p:nvSpPr>
          <p:cNvPr id="11" name="Text 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D23; King &amp; Zeng (2001); Olofsson et al. (2014); Cochran (1977). O protocolo de reservas é proposta, em implementação.</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quantos voos e quanto tempo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57200" y="100584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7" name="Text 4"/>
          <p:cNvSpPr txBox="1"/>
          <p:nvPr/>
        </p:nvSpPr>
        <p:spPr>
          <a:xfrm>
            <a:off x="5486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missões de mapeamento, uma por polígono (eram 36)</a:t>
            </a:r>
            <a:endParaRPr lang="en-US" sz="1100" dirty="0"/>
          </a:p>
        </p:txBody>
      </p:sp>
      <p:sp>
        <p:nvSpPr>
          <p:cNvPr id="8" name="Shape 5"/>
          <p:cNvSpPr/>
          <p:nvPr/>
        </p:nvSpPr>
        <p:spPr>
          <a:xfrm>
            <a:off x="2514600" y="100584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12</a:t>
            </a:r>
            <a:endParaRPr lang="en-US" sz="2200" dirty="0"/>
          </a:p>
        </p:txBody>
      </p:sp>
      <p:sp>
        <p:nvSpPr>
          <p:cNvPr id="10" name="Text 7"/>
          <p:cNvSpPr txBox="1"/>
          <p:nvPr/>
        </p:nvSpPr>
        <p:spPr>
          <a:xfrm>
            <a:off x="26060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jornadas de campo, com até 6 polígonos cada (proposta)</a:t>
            </a:r>
            <a:endParaRPr lang="en-US" sz="1100" dirty="0"/>
          </a:p>
        </p:txBody>
      </p:sp>
      <p:sp>
        <p:nvSpPr>
          <p:cNvPr id="11" name="Shape 8"/>
          <p:cNvSpPr/>
          <p:nvPr/>
        </p:nvSpPr>
        <p:spPr>
          <a:xfrm>
            <a:off x="4572000" y="100584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2 a 10 min</a:t>
            </a:r>
            <a:endParaRPr lang="en-US" sz="2200" dirty="0"/>
          </a:p>
        </p:txBody>
      </p:sp>
      <p:sp>
        <p:nvSpPr>
          <p:cNvPr id="13" name="Text 10"/>
          <p:cNvSpPr txBox="1"/>
          <p:nvPr/>
        </p:nvSpPr>
        <p:spPr>
          <a:xfrm>
            <a:off x="46634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voo por polígono (2,3 ha/min na Missão 009; 0,53 na 000)</a:t>
            </a:r>
            <a:endParaRPr lang="en-US" sz="1100" dirty="0"/>
          </a:p>
        </p:txBody>
      </p:sp>
      <p:sp>
        <p:nvSpPr>
          <p:cNvPr id="14" name="Shape 11"/>
          <p:cNvSpPr/>
          <p:nvPr/>
        </p:nvSpPr>
        <p:spPr>
          <a:xfrm>
            <a:off x="6629400" y="1005840"/>
            <a:ext cx="205740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115568"/>
            <a:ext cx="205740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6" name="Text 13"/>
          <p:cNvSpPr txBox="1"/>
          <p:nvPr/>
        </p:nvSpPr>
        <p:spPr>
          <a:xfrm>
            <a:off x="6720840" y="1719072"/>
            <a:ext cx="187452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de proprietário</a:t>
            </a:r>
            <a:endParaRPr lang="en-US" sz="1100" dirty="0"/>
          </a:p>
        </p:txBody>
      </p:sp>
      <p:sp>
        <p:nvSpPr>
          <p:cNvPr id="17" name="Shape 14"/>
          <p:cNvSpPr/>
          <p:nvPr/>
        </p:nvSpPr>
        <p:spPr>
          <a:xfrm>
            <a:off x="1815828" y="2267712"/>
            <a:ext cx="5512343" cy="1179576"/>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1834116" y="2286000"/>
            <a:ext cx="5475767" cy="1143000"/>
          </a:xfrm>
          <a:prstGeom prst="rect">
            <a:avLst/>
          </a:prstGeom>
        </p:spPr>
      </p:pic>
      <p:sp>
        <p:nvSpPr>
          <p:cNvPr id="19" name="Text 15"/>
          <p:cNvSpPr txBox="1"/>
          <p:nvPr/>
        </p:nvSpPr>
        <p:spPr>
          <a:xfrm>
            <a:off x="457200" y="3474720"/>
            <a:ext cx="8229600" cy="128016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Por que 72: 18 estratos × 4 polígonos (2 treino + 2 teste); a área total, cerca de 361 ha, é o que o custo de voo suporta e rende cerca de 1.845 unidades independentes (D24): no limite para o bloco espectral e abaixo do recomendado para solo, chuva e terreno</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Tempo total de voo: de 2,6 h a 11 h, sem contar o deslocamento, que domina a campanha</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Nº de baterias e de decolagens: ainda não definido; depende da aeronave e do agrupamento</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Base: 2 missões medidas (uma terceira foi excluída por ortomosaico degenerado); é uma faixa, não uma estimativa precisa</a:t>
            </a:r>
            <a:endParaRPr lang="en-US" sz="105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cobertura_voos.geojson (Missões 000 e 009); agrupamento: planejador de jornadas (teto padrão 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51560"/>
            <a:ext cx="4251960" cy="35661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14</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2026-10-19T09:04:56Z</dcterms:created>
  <dcterms:modified xsi:type="dcterms:W3CDTF">2026-10-19T09:04:56Z</dcterms:modified>
</cp:coreProperties>
</file>