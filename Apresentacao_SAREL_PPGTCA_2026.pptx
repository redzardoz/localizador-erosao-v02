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0" y="1097280"/>
            <a:ext cx="365760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0" y="128016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PILARES METODOLÓGICOS DO SAREL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t>• Desenho Amostral 18 Estratos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Estratificação Ŝ x Ê x K̂ com Thinning Geodésico ≥ 1,0 km.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t>• Rigor Metodológico Anti-Mock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Dado verdadeiro ou ausência declarada. Zero dado fabricado.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t>• Fusão Cadastral &amp; LGPD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559.899 imóveis SICAR-PR + SIGEF + SNCR com anonimização.</a:t>
            </a:r>
          </a:p>
          <a:p>
            <a:pPr>
              <a:spcBef>
                <a:spcPts val="800"/>
              </a:spcBef>
              <a:defRPr sz="1000" b="1">
                <a:solidFill>
                  <a:srgbClr val="FFFFFF"/>
                </a:solidFill>
              </a:defRPr>
            </a:pPr>
            <a:r>
              <a:t>• Validação Espacial Externa LOCO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t>Modelagem XGBoost externa particionada por bacias hidrográficas.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PROGRAMA DE PÓS-GRADUAÇÃO EM TECNOLOGIAS COMPUTACIONAIS PARA O AGRONEGÓCIO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SAREL: Sistema de Amostragem e Rotulagem para Erosão Laminar</a:t>
            </a:r>
          </a:p>
          <a:p>
            <a:pPr>
              <a:spcBef>
                <a:spcPts val="1200"/>
              </a:spcBef>
              <a:defRPr sz="1250">
                <a:solidFill>
                  <a:srgbClr val="CBD5E1"/>
                </a:solidFill>
              </a:defRPr>
            </a:pPr>
            <a:r>
              <a:t>Instrumento Computacional de Amostragem Multivariada, Sensoriamento Remoto e Gestão de Rotulagem Cega para Predição por Aprendizado de Máquina no Paraná</a:t>
            </a:r>
          </a:p>
          <a:p>
            <a:pPr>
              <a:spcBef>
                <a:spcPts val="2200"/>
              </a:spcBef>
              <a:defRPr sz="1050" b="1">
                <a:solidFill>
                  <a:srgbClr val="10B981"/>
                </a:solidFill>
              </a:defRPr>
            </a:pPr>
            <a:r>
              <a:t>Mestrando: Luis Alfredo | Pesquisa de Mestrado PPGTCA 2026</a:t>
            </a:r>
            <a:br/>
            <a:r>
              <a:t>Linha de Pesquisa: Tecnologias Geoespaciais e Modelagem Computacional no Agronegócio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MESTRADO PPGTCA 2026 • TECNOLOGIAS COMPUTACIONAIS PARA O AGRONEGÓCIO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Contexto da Pesquisa: A Erosão Laminar e a Escala do Paraná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D97706"/>
                </a:solidFill>
              </a:defRPr>
            </a:pPr>
            <a:r>
              <a:t>A Erosão Silenciosa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Processo Difuso: </a:t>
            </a:r>
            <a:r>
              <a:rPr sz="1019">
                <a:solidFill>
                  <a:srgbClr val="475569"/>
                </a:solidFill>
              </a:rPr>
              <a:t>A erosão laminar remove gradualmente as camadas superficiais férteis do solo agrícola sem abrir sulcos ou voçorocas imediatas.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Impacto Agronômico: </a:t>
            </a:r>
            <a:r>
              <a:rPr sz="1019">
                <a:solidFill>
                  <a:srgbClr val="475569"/>
                </a:solidFill>
              </a:rPr>
              <a:t>Perda contínua de matéria orgânica, nutrientes minerais e redução da capacidade de infiltração hídrica do solo.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Dimensão Territorial: </a:t>
            </a:r>
            <a:r>
              <a:rPr sz="1019">
                <a:solidFill>
                  <a:srgbClr val="475569"/>
                </a:solidFill>
              </a:rPr>
              <a:t>O Estado do Paraná possui 199.315 km² de área, exigindo ferramentas capazes de monitorar bacias hidrográficas inteiras.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0EA5E9"/>
                </a:solidFill>
              </a:defRPr>
            </a:pPr>
            <a:r>
              <a:t>O Gargalo Tradicional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Vistorias Dispersas: </a:t>
            </a:r>
            <a:r>
              <a:rPr sz="1019">
                <a:solidFill>
                  <a:srgbClr val="475569"/>
                </a:solidFill>
              </a:rPr>
              <a:t>Inspeções convencionais de campo cobrem áreas restritas, são lentas e sujeitas a viés de proximidade rodoviária.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Falta de Rastreabilidade: </a:t>
            </a:r>
            <a:r>
              <a:rPr sz="1019">
                <a:solidFill>
                  <a:srgbClr val="475569"/>
                </a:solidFill>
              </a:rPr>
              <a:t>Planilhas sem rastreamento de proveniência, produto orbital ou data exata da imagem que embasou a rotulagem.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Inviabilidade de Escala: </a:t>
            </a:r>
            <a:r>
              <a:rPr sz="1019">
                <a:solidFill>
                  <a:srgbClr val="475569"/>
                </a:solidFill>
              </a:rPr>
              <a:t>Percorrer centenas de municípios paranaenses demanda tempo e recursos financeiros incompatíveis com a pós-graduação.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0B981"/>
                </a:solidFill>
              </a:defRPr>
            </a:pPr>
            <a:r>
              <a:t>A Proposta SAREL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Estratificação Robusta: </a:t>
            </a:r>
            <a:r>
              <a:rPr sz="1019">
                <a:solidFill>
                  <a:srgbClr val="475569"/>
                </a:solidFill>
              </a:rPr>
              <a:t>Algoritmo computacional que varre o território estadual elegendo amostras balanceadas em relevo, solo e histórico.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Fusão Multivariada: </a:t>
            </a:r>
            <a:r>
              <a:rPr sz="1019">
                <a:solidFill>
                  <a:srgbClr val="475569"/>
                </a:solidFill>
              </a:rPr>
              <a:t>Integração do Google Earth Engine (Sentinel-2), Copernicus DEM, cartas oficiais da Embrapa e malha do CAR.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Transparência Metodológica: </a:t>
            </a:r>
            <a:r>
              <a:rPr sz="1019">
                <a:solidFill>
                  <a:srgbClr val="475569"/>
                </a:solidFill>
              </a:rPr>
              <a:t>Separação rigorosa entre amostragem e predição, garantindo reprodutibilidade acadêmica perante a banca.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GESTÃO DE CUSTOS &amp; LOGÍSTICA DE PESQUISA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Viabilidade Metodológica: O Dilema de Custos de Amostragem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2918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t>100% CAMPO (ORÇAMENTO ELEVADO)</a:t>
            </a:r>
          </a:p>
          <a:p>
            <a:pPr algn="ctr">
              <a:defRPr sz="1600" b="1">
                <a:solidFill>
                  <a:srgbClr val="E11D48"/>
                </a:solidFill>
              </a:defRPr>
            </a:pPr>
            <a:r>
              <a:t>R$ 75k a 120k estimados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25880"/>
            <a:ext cx="32918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41732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t>100% SINTÉTICO (VÍCIO CIENTÍFICO)</a:t>
            </a:r>
          </a:p>
          <a:p>
            <a:pPr algn="ctr">
              <a:defRPr sz="1600" b="1">
                <a:solidFill>
                  <a:srgbClr val="D97706"/>
                </a:solidFill>
              </a:defRPr>
            </a:pPr>
            <a:r>
              <a:t>R$ 0,00 (Rejeição Acadêmica)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3832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417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t>ESTRATÉGIA HÍBRIDA SAREL</a:t>
            </a:r>
          </a:p>
          <a:p>
            <a:pPr algn="ctr">
              <a:defRPr sz="1600" b="1">
                <a:solidFill>
                  <a:srgbClr val="10B981"/>
                </a:solidFill>
              </a:defRPr>
            </a:pPr>
            <a:r>
              <a:t>Estimativa ~80% redução operacional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743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t>Cenário A: 100% Campo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Demanda Logística: </a:t>
            </a:r>
            <a:r>
              <a:rPr sz="1000">
                <a:solidFill>
                  <a:srgbClr val="475569"/>
                </a:solidFill>
              </a:rPr>
              <a:t>Visita presencial a centenas de pontos dispersos por todo o Estado do Paraná.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Custos Operacionais: </a:t>
            </a:r>
            <a:r>
              <a:rPr sz="1000">
                <a:solidFill>
                  <a:srgbClr val="475569"/>
                </a:solidFill>
              </a:rPr>
              <a:t>Combustível, veículos com tração integral, diárias de equipe, receptores GNSS de precisão e meses de viagem.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Risco Metodológico: </a:t>
            </a:r>
            <a:r>
              <a:rPr sz="1000">
                <a:solidFill>
                  <a:srgbClr val="475569"/>
                </a:solidFill>
              </a:rPr>
              <a:t>Amostra insuficiente (N &lt; 40 pontos) devido ao orçamento, gerando alta variância e sobreajuste (overfitting) em árvores de decisão.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743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Cenário B: 100% Sintético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Atalho Metodológico: </a:t>
            </a:r>
            <a:r>
              <a:rPr sz="1000">
                <a:solidFill>
                  <a:srgbClr val="475569"/>
                </a:solidFill>
              </a:rPr>
              <a:t>Gerar dados de erosão a partir de fórmulas matemáticas (RUSLE) ou simulações estatísticas sem ancoragem empírica.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Vício de Circularidade: </a:t>
            </a:r>
            <a:r>
              <a:rPr sz="1000">
                <a:solidFill>
                  <a:srgbClr val="475569"/>
                </a:solidFill>
              </a:rPr>
              <a:t>O modelo de aprendizado de máquina apenas reproduz as equações fornecidas pelo pesquisador (vazamento de alvo / circularidade).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Risco Acadêmico: </a:t>
            </a:r>
            <a:r>
              <a:rPr sz="1000">
                <a:solidFill>
                  <a:srgbClr val="475569"/>
                </a:solidFill>
              </a:rPr>
              <a:t>Desqualificação perante a banca examinadora por ausência de dados empíricos observacionais.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560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743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Cenário C: Híbrido SAREL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Triagem Otimizada: </a:t>
            </a:r>
            <a:r>
              <a:rPr sz="1000">
                <a:solidFill>
                  <a:srgbClr val="475569"/>
                </a:solidFill>
              </a:rPr>
              <a:t>Extração no Earth Engine + Fotointerpretação em Alta Resolução (PlanetScope/VHR) para a maior parte do conjunto.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Calibração Presencial: </a:t>
            </a:r>
            <a:r>
              <a:rPr sz="1000">
                <a:solidFill>
                  <a:srgbClr val="475569"/>
                </a:solidFill>
              </a:rPr>
              <a:t>Subamostra de controle (20%) em campo com formulário KoboToolbox, GNSS submétrico e ortomosaicos de drone.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Rigor Estatístico: </a:t>
            </a:r>
            <a:r>
              <a:rPr sz="1000">
                <a:solidFill>
                  <a:srgbClr val="475569"/>
                </a:solidFill>
              </a:rPr>
              <a:t>Matriz de Confusão e Índice Kappa de Cohen (κ ≥ 0,61) com IC 95% medindo a concordância inter-observadores.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ARQUITETURA FUNCIONAL &amp; ESCOPO DA DISSERTAÇÃO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Escopo do Sistema: As Três Funções Centrais do SAREL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0EA5E9"/>
                </a:solidFill>
              </a:defRPr>
            </a:pPr>
            <a:r>
              <a:t>1. Propõe Onde Observar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Desenho Amostral Estratificado &amp; Disperso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Executa estratificação multivariada em 18 estratos biofísicos cruzando relevo, solo e exposição.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Garante formalmente a inclusão de candidatos à classe de controle (Plantio Direto e pastagem estável).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Aplica Thinning Geodésico (raio ≥ 1,0 km) para mitigar agrupamentos e pseudorrepetição espacial. </a:t>
            </a:r>
            <a:r>
              <a:rPr sz="980">
                <a:solidFill>
                  <a:srgbClr val="475569"/>
                </a:solidFill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10B981"/>
                </a:solidFill>
              </a:defRPr>
            </a:pPr>
            <a:r>
              <a:t>2. Extrai Preditores Biofísicos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Proveniência por Variável e Sem Atalhos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Coleta séries temporais harmonizadas Sentinel-2 L2A e extrai métricas de exposição de solo descoberto (Ê).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Calcula declividade em projeção métrica UTM 22S (SIRGAS 2000) a partir do DEM Copernicus GLO-30.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Consulta pedologia real via WFS/WMS OGC no GeoServer da Embrapa Solos, sem classes arbitrárias. </a:t>
            </a:r>
            <a:r>
              <a:rPr sz="980">
                <a:solidFill>
                  <a:srgbClr val="475569"/>
                </a:solidFill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6366F1"/>
                </a:solidFill>
              </a:defRPr>
            </a:pPr>
            <a:r>
              <a:t>3. Gerencia a Rotulagem Cega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Campanhas de Curadoria e Matriz de Treino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Exporta cadernos cegos de fotointerpretação, campo (KoboToolbox) e voo de drone, isolando o intérprete.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Avalia a concordância inter-observador via Kappa de Cohen com cálculo de IC 95% e alerta bloqueante. </a:t>
            </a:r>
            <a:r>
              <a:rPr sz="98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• Monta a matriz de treino do modelo preditivo livre de coordenadas e de variáveis de resultado calculadas. </a:t>
            </a:r>
            <a:r>
              <a:rPr sz="980">
                <a:solidFill>
                  <a:srgbClr val="475569"/>
                </a:solidFill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698480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</a:defRPr>
            </a:pPr>
            <a:r>
              <a:t>PRINCÍPIO DE DEMARCAÇÃO DO SAREL: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O SAREL NÃO classifica erosão de forma autônoma e NÃO treina modelos preditivos em seu interior. Ele prepara a base amostral auditável e gerencia a rotulagem cega. O rótulo é atribuído exclusivamente por especialistas humanos. O treinamento do XGBoost ocorre externamente.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GOVERNANÇA METODOLÓGICA &amp; INTEGRIDADE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A Lei Fundamental do SAREL: Governança Contra Atalhos Metodológicos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t>Regra 1 &amp; 5: Dado Real ou Ausência Declarada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Vedação a Constantes: </a:t>
            </a:r>
            <a:r>
              <a:rPr sz="1000">
                <a:solidFill>
                  <a:srgbClr val="475569"/>
                </a:solidFill>
              </a:rPr>
              <a:t>Proibido preencher lacunas com médias ou constantes arbitrárias em cascata sem base empírica.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Tratamento de Nulos: </a:t>
            </a:r>
            <a:r>
              <a:rPr sz="1000">
                <a:solidFill>
                  <a:srgbClr val="475569"/>
                </a:solidFill>
              </a:rPr>
              <a:t>Algoritmos modernos tratam valores faltantes nativamente. Ausente é cientificamente preferível a dado fabricado.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Zero é Valor Físico: </a:t>
            </a:r>
            <a:r>
              <a:rPr sz="1000">
                <a:solidFill>
                  <a:srgbClr val="475569"/>
                </a:solidFill>
              </a:rPr>
              <a:t>Declividade 0% ou frequência Ê = 0 são grandezas físicas reais, nunca tratadas como ausência de dados.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Regra 3: Proveniência Vinculada a Cada Valor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Tríade de Metadados: </a:t>
            </a:r>
            <a:r>
              <a:rPr sz="1000">
                <a:solidFill>
                  <a:srgbClr val="475569"/>
                </a:solidFill>
              </a:rPr>
              <a:t>Cada atributo carrega seu status de proveniência, fonte oficial de aquisição e data.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Quatro Selos Formais: </a:t>
            </a:r>
            <a:r>
              <a:rPr sz="1000">
                <a:solidFill>
                  <a:srgbClr val="475569"/>
                </a:solidFill>
              </a:rPr>
              <a:t>● medido (sensor primário) • ◊ modelado (equação validada) • □ tabelado (literatura) • ○ indisponível.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Rastreabilidade Pericial: </a:t>
            </a:r>
            <a:r>
              <a:rPr sz="1000">
                <a:solidFill>
                  <a:srgbClr val="475569"/>
                </a:solidFill>
              </a:rPr>
              <a:t>Permite reconstruir a cadeia de custódia e evidências de cada linha exportada perante a banca.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Regra 4: Isolamento Estrito Contra Circularidade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Isolamento de Critérios: </a:t>
            </a:r>
            <a:r>
              <a:rPr sz="1000">
                <a:solidFill>
                  <a:srgbClr val="475569"/>
                </a:solidFill>
              </a:rPr>
              <a:t>Scores intermediários, severidade estimada ou perda de solo RUSLE não integram a matriz de treino.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Prevenção de Vazamento: </a:t>
            </a:r>
            <a:r>
              <a:rPr sz="1000">
                <a:solidFill>
                  <a:srgbClr val="475569"/>
                </a:solidFill>
              </a:rPr>
              <a:t>Impede que o classificador aprenda limiares matemáticos artificiais em vez de padrões espectro-temporais.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Rótulo Exclusivo Humano: </a:t>
            </a:r>
            <a:r>
              <a:rPr sz="1000">
                <a:solidFill>
                  <a:srgbClr val="475569"/>
                </a:solidFill>
              </a:rPr>
              <a:t>A classe alvo deriva unicamente de inspeção presencial de campo, ortomosaicos de drone ou fotointerpretação.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Regra 9: Registro Formal de Decisões (DECISOES.md)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Atribuição de Parâmetros: </a:t>
            </a:r>
            <a:r>
              <a:rPr sz="1000">
                <a:solidFill>
                  <a:srgbClr val="475569"/>
                </a:solidFill>
              </a:rPr>
              <a:t>Nenhum limiar ou equação é inserido no código sem autor responsável, data e referência bibliográfica canônica.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Decisão Pendente: </a:t>
            </a:r>
            <a:r>
              <a:rPr sz="1000">
                <a:solidFill>
                  <a:srgbClr val="475569"/>
                </a:solidFill>
              </a:rPr>
              <a:t>Enquanto o pesquisador não deliberar formalmente (ex.: D13, D14, D15), o cálculo gera 'indisponivel' com justificativa.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Autonomia do Pesquisador: </a:t>
            </a:r>
            <a:r>
              <a:rPr sz="1000">
                <a:solidFill>
                  <a:srgbClr val="475569"/>
                </a:solidFill>
              </a:rPr>
              <a:t>O sistema não toma decisões teóricas de dissertação no lugar do mestrando.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DESENHO EXPERIMENTAL GEOESPACIAL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Desenho Amostral: 18 Estratos Multivariados &amp; Rarefação Espacial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0EA5E9"/>
                </a:solidFill>
              </a:defRPr>
            </a:pPr>
            <a:r>
              <a:t>1. Estratificação Multivariada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18 Estratos (Ŝ x Ê x K̂) </a:t>
            </a:r>
            <a:r>
              <a:rPr sz="1019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Dimensão Ŝ (Relevo): </a:t>
            </a:r>
            <a:r>
              <a:rPr sz="1019">
                <a:solidFill>
                  <a:srgbClr val="475569"/>
                </a:solidFill>
              </a:rPr>
              <a:t>Tercis de declividade (Suave, Moderada, Forte) derivados do DEM Copernicus GLO-30.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Dimensão Ê (Solo Nu): </a:t>
            </a:r>
            <a:r>
              <a:rPr sz="1019">
                <a:solidFill>
                  <a:srgbClr val="475569"/>
                </a:solidFill>
              </a:rPr>
              <a:t>Tercis de frequência multitemporal de solo descoberto da série Sentinel-2.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Dimensão K̂ (Pedologia): </a:t>
            </a:r>
            <a:r>
              <a:rPr sz="1019">
                <a:solidFill>
                  <a:srgbClr val="475569"/>
                </a:solidFill>
              </a:rPr>
              <a:t>2 níveis de erodibilidade derivados do levantamento pedológico oficial da Embrapa Solos.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10B981"/>
                </a:solidFill>
              </a:defRPr>
            </a:pPr>
            <a:r>
              <a:t>2. Rarefação Espacial (Thinning)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Raio Mínimo d ≥ 1,0 km (P02) </a:t>
            </a:r>
            <a:r>
              <a:rPr sz="1019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Primeira Lei de Tobler: </a:t>
            </a:r>
            <a:r>
              <a:rPr sz="1019">
                <a:solidFill>
                  <a:srgbClr val="475569"/>
                </a:solidFill>
              </a:rPr>
              <a:t>Pixels contíguos possuem solos e relevo similares, causando inflação artificial por dependência espacial.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Algoritmo Determinístico: </a:t>
            </a:r>
            <a:r>
              <a:rPr sz="1019">
                <a:solidFill>
                  <a:srgbClr val="475569"/>
                </a:solidFill>
              </a:rPr>
              <a:t>Rarefação espacial gulosa com ordenação determinística (Fisher-Yates) e semente registrada (P07).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Dispersão Homogênea: </a:t>
            </a:r>
            <a:r>
              <a:rPr sz="1019">
                <a:solidFill>
                  <a:srgbClr val="475569"/>
                </a:solidFill>
              </a:rPr>
              <a:t>Força a representatividade regional em toda a extensão da bacia hidrográfica.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 b="1">
                <a:solidFill>
                  <a:srgbClr val="D97706"/>
                </a:solidFill>
              </a:defRPr>
            </a:pPr>
            <a:r>
              <a:t>3. Garantia de Controles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Balanceamento de Classes (0 e 1) </a:t>
            </a:r>
            <a:r>
              <a:rPr sz="1019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Classe 1 (Erosão Potencial): </a:t>
            </a:r>
            <a:r>
              <a:rPr sz="1019">
                <a:solidFill>
                  <a:srgbClr val="475569"/>
                </a:solidFill>
              </a:rPr>
              <a:t>Candidatos estratificados com histórico de exposição frequente e gradiente de rampa.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Classe 0 (Controle Negativo): </a:t>
            </a:r>
            <a:r>
              <a:rPr sz="1019">
                <a:solidFill>
                  <a:srgbClr val="475569"/>
                </a:solidFill>
              </a:rPr>
              <a:t>Amostragem em áreas sob Sistema Plantio Direto (SPD) consolidado e pastagens estáveis.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Prevenção de Vícios: </a:t>
            </a:r>
            <a:r>
              <a:rPr sz="1019">
                <a:solidFill>
                  <a:srgbClr val="475569"/>
                </a:solidFill>
              </a:rPr>
              <a:t>Garante que o classificador aprenda o contraste biofísico real entre equilíbrio e degradação.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EXTRAÇÃO DE PREDITORES FÍSICO-INFORMADOS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Sensoriamento Remoto: Sentinel-2, DEM Copernicus &amp; Decomposição Harmônica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Sentinel-2 MSI L2A (BOA)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Bandas Físicas: </a:t>
            </a:r>
            <a:r>
              <a:rPr sz="1000">
                <a:solidFill>
                  <a:srgbClr val="475569"/>
                </a:solidFill>
              </a:rPr>
              <a:t>B2 (Azul), B4 (Vermelho), B8 (NIR) e B11/B12 (SWIR) com reflectância de fundo de atmosfera.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Índices Espectrais: </a:t>
            </a:r>
            <a:r>
              <a:rPr sz="1000">
                <a:solidFill>
                  <a:srgbClr val="475569"/>
                </a:solidFill>
              </a:rPr>
              <a:t>NDVI (cobertura fotossintética) e BSI (Bare Soil Index) computados pixel a pixel na série.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Discriminação de Palhada: </a:t>
            </a:r>
            <a:r>
              <a:rPr sz="1000">
                <a:solidFill>
                  <a:srgbClr val="475569"/>
                </a:solidFill>
              </a:rPr>
              <a:t>O BSI permite discriminar solo exposto de palhada seca em áreas de plantio direto.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Copernicus DEM GLO-30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Projeção Métrica Oficial: </a:t>
            </a:r>
            <a:r>
              <a:rPr sz="1000">
                <a:solidFill>
                  <a:srgbClr val="475569"/>
                </a:solidFill>
              </a:rPr>
              <a:t>Cálculo de declividade e elevação em SIRGAS 2000 / UTM 22S (EPSG:31982).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Correção do Erro 3857: </a:t>
            </a:r>
            <a:r>
              <a:rPr sz="1000">
                <a:solidFill>
                  <a:srgbClr val="475569"/>
                </a:solidFill>
              </a:rPr>
              <a:t>Elimina a subestimação sistemática de 10% na declividade causada pelo Web Mercator no Paraná.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Atributos de Terreno: </a:t>
            </a:r>
            <a:r>
              <a:rPr sz="1000">
                <a:solidFill>
                  <a:srgbClr val="475569"/>
                </a:solidFill>
              </a:rPr>
              <a:t>Elevação ortométrica, declividade (graus/%), curvatura de vertente e acúmulo de fluxo.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6366F1"/>
                </a:solidFill>
              </a:defRPr>
            </a:pPr>
            <a:r>
              <a:t>Decomposição Harmônica OLS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Ajuste Multivariado: </a:t>
            </a:r>
            <a:r>
              <a:rPr sz="1000">
                <a:solidFill>
                  <a:srgbClr val="475569"/>
                </a:solidFill>
              </a:rPr>
              <a:t>Regressão harmônica de 1 e 2 ciclos anuais (Zhu &amp; Woodcock 2014) para cada banda espectral.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Parâmetros Extraídos: </a:t>
            </a:r>
            <a:r>
              <a:rPr sz="1000">
                <a:solidFill>
                  <a:srgbClr val="475569"/>
                </a:solidFill>
              </a:rPr>
              <a:t>Tendência temporal (b1), amplitudes anual/semianual e fases espectrais sazonais.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Métricas de Ajuste: </a:t>
            </a:r>
            <a:r>
              <a:rPr sz="1000">
                <a:solidFill>
                  <a:srgbClr val="475569"/>
                </a:solidFill>
              </a:rPr>
              <a:t>Cada coeficiente armazena número de observações válidas, R² do ajuste e erro-padrão.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Dinâmica do Solo Exposto (Ê)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Frequência de Solo Nu (Ê): </a:t>
            </a:r>
            <a:r>
              <a:rPr sz="1000">
                <a:solidFill>
                  <a:srgbClr val="475569"/>
                </a:solidFill>
              </a:rPr>
              <a:t>Fração temporal em que o solo permaneceu descoberto ao longo da série histórica.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Sequência Contínua: </a:t>
            </a:r>
            <a:r>
              <a:rPr sz="1000">
                <a:solidFill>
                  <a:srgbClr val="475569"/>
                </a:solidFill>
              </a:rPr>
              <a:t>Maior número consecutivo de meses sob exposição crítica aos agentes erosivos.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Sazonalidade: </a:t>
            </a:r>
            <a:r>
              <a:rPr sz="1000">
                <a:solidFill>
                  <a:srgbClr val="475569"/>
                </a:solidFill>
              </a:rPr>
              <a:t>Identifica a época do ano com maior vulnerabilidade a chuvas intensas no Paraná.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MODELAGEM FÍSICO-MATEMÁTICA CONVENCIONAL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Linha de Base RUSLE: Instrumento Comparativo com Respaldo Científico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6984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65F46"/>
                </a:solidFill>
              </a:defRPr>
            </a:pPr>
            <a:r>
              <a:t>A = R × K × LS × C × P   [Estimativa de Perda de Solo em t / (ha · ano)]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10B981"/>
                </a:solidFill>
              </a:defRPr>
            </a:pPr>
            <a:r>
              <a:t>Fator C: Durigon et al. (2014) [DECIDIDO - D01]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Equação Regional: </a:t>
            </a:r>
            <a:r>
              <a:rPr sz="980">
                <a:solidFill>
                  <a:srgbClr val="475569"/>
                </a:solidFill>
              </a:rPr>
              <a:t>C = (1 − NDVI) / 2 calibrada para bacias tropicais brasileiras sem parâmetros livres.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Domínio Físico: </a:t>
            </a:r>
            <a:r>
              <a:rPr sz="980">
                <a:solidFill>
                  <a:srgbClr val="475569"/>
                </a:solidFill>
              </a:rPr>
              <a:t>NDVI contido em [-1, 1], garantindo C contido em [0, 1] de forma analítica e verificável.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Análise de Sensibilidade: </a:t>
            </a:r>
            <a:r>
              <a:rPr sz="980">
                <a:solidFill>
                  <a:srgbClr val="475569"/>
                </a:solidFill>
              </a:rPr>
              <a:t>Comparação programada com a formulação de van der Knijff et al. (2000).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60604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0EA5E9"/>
                </a:solidFill>
              </a:defRPr>
            </a:pPr>
            <a:r>
              <a:t>Fator P: Práticas Conservacionistas [TABELADO]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Valor Referencial: </a:t>
            </a:r>
            <a:r>
              <a:rPr sz="980">
                <a:solidFill>
                  <a:srgbClr val="475569"/>
                </a:solidFill>
              </a:rPr>
              <a:t>Fator P = 1,0 quando as práticas conservacionistas do imóvel forem desconhecidas (Renard et al., 1997).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Proveniência Declarada: </a:t>
            </a:r>
            <a:r>
              <a:rPr sz="980">
                <a:solidFill>
                  <a:srgbClr val="475569"/>
                </a:solidFill>
              </a:rPr>
              <a:t>Registrado estritamente como 'tabelado', nunca apresentado como medição de campo.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Adequação na Rotulagem: </a:t>
            </a:r>
            <a:r>
              <a:rPr sz="980">
                <a:solidFill>
                  <a:srgbClr val="475569"/>
                </a:solidFill>
              </a:rPr>
              <a:t>Ajustável na rotulagem presencial caso terraços de retenção íntegros sejam observados.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423160"/>
            <a:ext cx="3383280" cy="3703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606040"/>
            <a:ext cx="30175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 b="1">
                <a:solidFill>
                  <a:srgbClr val="D97706"/>
                </a:solidFill>
              </a:defRPr>
            </a:pPr>
            <a:r>
              <a:t>Fatores R, K e LS [PENDENTES - D13, D14, D15]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Trava Metodológica (Regra 9): </a:t>
            </a:r>
            <a:r>
              <a:rPr sz="980">
                <a:solidFill>
                  <a:srgbClr val="475569"/>
                </a:solidFill>
              </a:rPr>
              <a:t>Enquanto as equações não forem formalmente deliberadas pelo pesquisador, permanecem pendentes.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Bloqueio de Perda de Solo: </a:t>
            </a:r>
            <a:r>
              <a:rPr sz="980">
                <a:solidFill>
                  <a:srgbClr val="475569"/>
                </a:solidFill>
              </a:rPr>
              <a:t>Perda de solo fica 'indisponivel (decisao-pendente)'. Proibido usar multiplicadores arbitrários.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Invariante 1 Ativo: </a:t>
            </a:r>
            <a:r>
              <a:rPr sz="980">
                <a:solidFill>
                  <a:srgbClr val="475569"/>
                </a:solidFill>
              </a:rPr>
              <a:t>A perda só é exportada se os 5 fatores e a memória de cálculo com a equação estiverem preenchidos.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BASE TERRITORIAL AUDITÁVEL &amp;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Inteligência Fundiária: Integração SICAR/SIGEF/SNCR &amp; Proteção LGPD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10B981"/>
                </a:solidFill>
              </a:defRPr>
            </a:pPr>
            <a:r>
              <a:t>SICAR / MMA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559.899 Imóveis Rurais no PR </a:t>
            </a:r>
            <a:r>
              <a:rPr sz="100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Código CAR Oficial: </a:t>
            </a:r>
            <a:r>
              <a:rPr sz="1000">
                <a:solidFill>
                  <a:srgbClr val="475569"/>
                </a:solidFill>
              </a:rPr>
              <a:t>Identificador único federal de cada imóvel rural cadastrado no Paraná.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Atributos Cartográficos: </a:t>
            </a:r>
            <a:r>
              <a:rPr sz="1000">
                <a:solidFill>
                  <a:srgbClr val="475569"/>
                </a:solidFill>
              </a:rPr>
              <a:t>Área total em hectares, módulos fiscais e situação cadastral do imóvel rural.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Perímetro Vetorial: </a:t>
            </a:r>
            <a:r>
              <a:rPr sz="1000">
                <a:solidFill>
                  <a:srgbClr val="475569"/>
                </a:solidFill>
              </a:rPr>
              <a:t>Polígono georreferenciado da propriedade para conferência de limites territoriais.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0EA5E9"/>
                </a:solidFill>
              </a:defRPr>
            </a:pPr>
            <a:r>
              <a:t>SIGEF / INCRA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170.046 Parcelas Certificadas </a:t>
            </a:r>
            <a:r>
              <a:rPr sz="100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Lei 10.267: </a:t>
            </a:r>
            <a:r>
              <a:rPr sz="1000">
                <a:solidFill>
                  <a:srgbClr val="475569"/>
                </a:solidFill>
              </a:rPr>
              <a:t>Certificação de georreferenciamento de imóveis rurais com precisão de agrimensura.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Segurança Registral: </a:t>
            </a:r>
            <a:r>
              <a:rPr sz="1000">
                <a:solidFill>
                  <a:srgbClr val="475569"/>
                </a:solidFill>
              </a:rPr>
              <a:t>Identificação do número de Matrícula no Cartório de Registro de Imóveis (CRI).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Responsabilidade Técnica: </a:t>
            </a:r>
            <a:r>
              <a:rPr sz="1000">
                <a:solidFill>
                  <a:srgbClr val="475569"/>
                </a:solidFill>
              </a:rPr>
              <a:t>Registro de ART/CREA do engenheiro responsável pela demarcação.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6366F1"/>
                </a:solidFill>
              </a:defRPr>
            </a:pPr>
            <a:r>
              <a:t>SNCR / INCRA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957.183 Cadastros de Titulares </a:t>
            </a:r>
            <a:r>
              <a:rPr sz="1000">
                <a:solidFill>
                  <a:srgbClr val="475569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Base Legal: </a:t>
            </a:r>
            <a:r>
              <a:rPr sz="1000">
                <a:solidFill>
                  <a:srgbClr val="475569"/>
                </a:solidFill>
              </a:rPr>
              <a:t>Sistema Nacional de Cadastro Rural instituído pela Lei 5.868/1972.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Viabilização do Acesso: </a:t>
            </a:r>
            <a:r>
              <a:rPr sz="1000">
                <a:solidFill>
                  <a:srgbClr val="475569"/>
                </a:solidFill>
              </a:rPr>
              <a:t>Permite que a equipe de campo contate o produtor para solicitar autorização de visita.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Indexação Espacial R*Tree: </a:t>
            </a:r>
            <a:r>
              <a:rPr sz="1000">
                <a:solidFill>
                  <a:srgbClr val="475569"/>
                </a:solidFill>
              </a:rPr>
              <a:t>Consultas espaciais executadas em milissegundos no banco SQLite local.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66360"/>
            <a:ext cx="10698480" cy="1143000"/>
          </a:xfrm>
          <a:prstGeom prst="roundRect">
            <a:avLst/>
          </a:prstGeom>
          <a:solidFill>
            <a:srgbClr val="ECFDF5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1208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5F46"/>
                </a:solidFill>
              </a:defRPr>
            </a:pPr>
            <a:r>
              <a:t>CONFORMIDADE RIGOROSA COM A LGPD (LEI 13.709/2018, ART. 7º, IV):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Os dados fundiários servem exclusivamente à gestão operacional de acesso em campo e nunca entram na matriz de treino do XGBoost. Nomes e documentos de titulares são mascarados na visualização. Rotas fundiárias e tokens transitam em sessões efêmeras no servidor, com recusa a conexões externas.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CAMPANHAS DE ROTULAGEM &amp; CONCORDÂNCIA HUMANA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Protocolo de Rotulagem Cega: Controle de Viés &amp; Validação Estatística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148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Fase A: Interpretação Cega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Imagens PlanetScope/VHR: </a:t>
            </a:r>
            <a:r>
              <a:rPr sz="980">
                <a:solidFill>
                  <a:srgbClr val="475569"/>
                </a:solidFill>
              </a:rPr>
              <a:t>Inspeção em alta resolução com data de aquisição visível no visor.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Isolamento Cego: </a:t>
            </a:r>
            <a:r>
              <a:rPr sz="980">
                <a:solidFill>
                  <a:srgbClr val="475569"/>
                </a:solidFill>
              </a:rPr>
              <a:t>O intérprete desconhece predições, fatores RUSLE, declividade e estrato.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Critério Padronizado: </a:t>
            </a:r>
            <a:r>
              <a:rPr sz="980">
                <a:solidFill>
                  <a:srgbClr val="475569"/>
                </a:solidFill>
              </a:rPr>
              <a:t>Avaliação de cobertura vegetal, decapitação superficial e terraços.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00200"/>
            <a:ext cx="2148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Fase B: Validação de Campo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Subamostra Presencial: </a:t>
            </a:r>
            <a:r>
              <a:rPr sz="980">
                <a:solidFill>
                  <a:srgbClr val="475569"/>
                </a:solidFill>
              </a:rPr>
              <a:t>Equipe visita ~20% dos pontos munida de GNSS submétrico e formulário Kobo.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Cegueira Cruzada: </a:t>
            </a:r>
            <a:r>
              <a:rPr sz="980">
                <a:solidFill>
                  <a:srgbClr val="475569"/>
                </a:solidFill>
              </a:rPr>
              <a:t>A equipe desconhece o rótulo da Fase A, permitindo avaliar a taxa de erro.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Marcadores Biofísicos: </a:t>
            </a:r>
            <a:r>
              <a:rPr sz="980">
                <a:solidFill>
                  <a:srgbClr val="475569"/>
                </a:solidFill>
              </a:rPr>
              <a:t>Avaliação de pedestais, descalçamento radicular e crosta superficial.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00200"/>
            <a:ext cx="2148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Fase C: Auditoria Kappa com IC 95%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Kappa de Cohen (1960): </a:t>
            </a:r>
            <a:r>
              <a:rPr sz="980">
                <a:solidFill>
                  <a:srgbClr val="475569"/>
                </a:solidFill>
              </a:rPr>
              <a:t>Mede a validade concorrente entre rótulo orbital e verdade de campo.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Intervalo de Confiança: </a:t>
            </a:r>
            <a:r>
              <a:rPr sz="980">
                <a:solidFill>
                  <a:srgbClr val="475569"/>
                </a:solidFill>
              </a:rPr>
              <a:t>Cálculo do Erro-Padrão assintótico e IC 95% contra variações amostrais.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Trava Operacional: </a:t>
            </a:r>
            <a:r>
              <a:rPr sz="980">
                <a:solidFill>
                  <a:srgbClr val="475569"/>
                </a:solidFill>
              </a:rPr>
              <a:t>Exige κ ≥ 0,61 (patamar substancial segundo Landis &amp; Koch, 1977).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51460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600200"/>
            <a:ext cx="2148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6366F1"/>
                </a:solidFill>
              </a:defRPr>
            </a:pPr>
            <a:r>
              <a:t>Fase D: Drone Held-Out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Ortomosaicos Centimétricos: </a:t>
            </a:r>
            <a:r>
              <a:rPr sz="980">
                <a:solidFill>
                  <a:srgbClr val="475569"/>
                </a:solidFill>
              </a:rPr>
              <a:t>Voo de drone gerando modelos tridimensionais em sítios de referência.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Segregação Obrigatória: </a:t>
            </a:r>
            <a:r>
              <a:rPr sz="980">
                <a:solidFill>
                  <a:srgbClr val="475569"/>
                </a:solidFill>
              </a:rPr>
              <a:t>Amostras de drone mantidas compulsoriamente como teste (held-out).</a:t>
            </a:r>
          </a:p>
          <a:p>
            <a:pPr>
              <a:spcAft>
                <a:spcPts val="400"/>
              </a:spcAft>
            </a:pPr>
            <a:r>
              <a:rPr b="1" sz="980">
                <a:solidFill>
                  <a:srgbClr val="0F172A"/>
                </a:solidFill>
              </a:rPr>
              <a:t>Testagem Independente: </a:t>
            </a:r>
            <a:r>
              <a:rPr sz="980">
                <a:solidFill>
                  <a:srgbClr val="475569"/>
                </a:solidFill>
              </a:rPr>
              <a:t>Isoladas do treino do modelo, garantindo avaliação não contaminada.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APRENDIZADO DE MÁQUINA &amp; EXPLICABILIDADE FÍSICA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Modelagem Preditiva Externa: XGBoost LOCO &amp; Explicabilidade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t>Validação Cruzada LOCO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Autocorrelação Espacial: </a:t>
            </a:r>
            <a:r>
              <a:rPr sz="1019">
                <a:solidFill>
                  <a:srgbClr val="475569"/>
                </a:solidFill>
              </a:rPr>
              <a:t>Amostras geoespaciais violam a premissa i.i.d. O K-Fold comum mistura pixels vizinhos, inflando métricas.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Leave-One-Catchment-Out: </a:t>
            </a:r>
            <a:r>
              <a:rPr sz="1019">
                <a:solidFill>
                  <a:srgbClr val="475569"/>
                </a:solidFill>
              </a:rPr>
              <a:t>O algoritmo treina em bacias hidrográficas e é testado em uma bacia inteiramente retida (Roberts et al., 2017).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Capacidade de Generalização: </a:t>
            </a:r>
            <a:r>
              <a:rPr sz="1019">
                <a:solidFill>
                  <a:srgbClr val="475569"/>
                </a:solidFill>
              </a:rPr>
              <a:t>Mede a capacidade real de extrapolação espacial do modelo sem vazamento territorial.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Explicabilidade Física via SHAP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Valores de Shapley: </a:t>
            </a:r>
            <a:r>
              <a:rPr sz="1019">
                <a:solidFill>
                  <a:srgbClr val="475569"/>
                </a:solidFill>
              </a:rPr>
              <a:t>Mede a contribuição marginal de cada variável preditora na saída do classificador (Lundberg &amp; Lee, 2017).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Auditoria de Coerência: </a:t>
            </a:r>
            <a:r>
              <a:rPr sz="1019">
                <a:solidFill>
                  <a:srgbClr val="475569"/>
                </a:solidFill>
              </a:rPr>
              <a:t>Verifica se a predição reflete processos biofísicos reais (alta declividade + solo exposto), e não ruídos de amostragem.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Entregáveis da Pesquisa: </a:t>
            </a:r>
            <a:r>
              <a:rPr sz="1019">
                <a:solidFill>
                  <a:srgbClr val="475569"/>
                </a:solidFill>
              </a:rPr>
              <a:t>Gráficos SHAP Summary e dependência parcial revelando limiares críticos na paisagem.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17320"/>
            <a:ext cx="3383280" cy="4709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00200"/>
            <a:ext cx="301752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10B981"/>
                </a:solidFill>
              </a:defRPr>
            </a:pPr>
            <a:r>
              <a:t>Métricas Científicas Realistas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Discriminação vs Calibração: </a:t>
            </a:r>
            <a:r>
              <a:rPr sz="1019">
                <a:solidFill>
                  <a:srgbClr val="475569"/>
                </a:solidFill>
              </a:rPr>
              <a:t>Acurácia realista esperada entre 82% e 91%; ROC-AUC avalia discriminação, enquanto Brier Score avalia calibração.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Remoção da Perda RUSLE: </a:t>
            </a:r>
            <a:r>
              <a:rPr sz="1019">
                <a:solidFill>
                  <a:srgbClr val="475569"/>
                </a:solidFill>
              </a:rPr>
              <a:t>A perda de solo calculada foi formalmente removida da matriz de treino, evitando qualquer circularidade.</a:t>
            </a:r>
          </a:p>
          <a:p>
            <a:pPr>
              <a:spcAft>
                <a:spcPts val="400"/>
              </a:spcAft>
            </a:pPr>
            <a:r>
              <a:rPr b="1" sz="1019">
                <a:solidFill>
                  <a:srgbClr val="0F172A"/>
                </a:solidFill>
              </a:rPr>
              <a:t>Trava Anti-Mock Ativa: </a:t>
            </a:r>
            <a:r>
              <a:rPr sz="1019">
                <a:solidFill>
                  <a:srgbClr val="475569"/>
                </a:solidFill>
              </a:rPr>
              <a:t>O script treinar_xgboost_loco.py possui validação que barra matrizes sintéticas ou constantes residuais.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CONTROLE DE QUALIDADE AUTOMATIZADO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Invariantes de Integridade: 7 Portões de Auditoria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527048"/>
            <a:ext cx="1645920" cy="420624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49047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Coerência RUSLE: </a:t>
            </a:r>
            <a:r>
              <a:rPr sz="1000">
                <a:solidFill>
                  <a:srgbClr val="475569"/>
                </a:solidFill>
              </a:rPr>
              <a:t>Perda de solo preenchida ⟺ 5 fatores preenchidos ⟺ memória de cálculo válida presente.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12264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221992"/>
            <a:ext cx="1645920" cy="420624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185416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Lista de Permissão do Perfil: </a:t>
            </a:r>
            <a:r>
              <a:rPr sz="1000">
                <a:solidFill>
                  <a:srgbClr val="475569"/>
                </a:solidFill>
              </a:rPr>
              <a:t>Colunas contidas estritamente no perfil cego (pesquisador, campo, voo ou matriz de treino).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07208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2916936"/>
            <a:ext cx="1645920" cy="420624"/>
          </a:xfrm>
          <a:prstGeom prst="round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88036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Rastreamento de Campos Estimados: </a:t>
            </a:r>
            <a:r>
              <a:rPr sz="1000">
                <a:solidFill>
                  <a:srgbClr val="475569"/>
                </a:solidFill>
              </a:rPr>
              <a:t>A coluna Campos_Estimados lista exatamente as variáveis com proveniência diferente de 'medido'.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02152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3611880"/>
            <a:ext cx="1645920" cy="420624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575304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Rastreabilidade Orbital: </a:t>
            </a:r>
            <a:r>
              <a:rPr sz="1000">
                <a:solidFill>
                  <a:srgbClr val="475569"/>
                </a:solidFill>
              </a:rPr>
              <a:t>Dado derivado de satélite exige PRODUCT_ID das cenas, versão do motor e data de processamento.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197096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306824"/>
            <a:ext cx="1645920" cy="420624"/>
          </a:xfrm>
          <a:prstGeom prst="round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27024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Afirmação Negativa Fundiária: </a:t>
            </a:r>
            <a:r>
              <a:rPr sz="1000">
                <a:solidFill>
                  <a:srgbClr val="475569"/>
                </a:solidFill>
              </a:rPr>
              <a:t>Declaração 'sem-correspondencia' só é aceita após consulta cadastral bem-sucedida sem match.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92040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001768"/>
            <a:ext cx="1645920" cy="420624"/>
          </a:xfrm>
          <a:prstGeom prst="roundRect">
            <a:avLst/>
          </a:prstGeom>
          <a:solidFill>
            <a:srgbClr val="065F46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965192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Lista Negra de Literais Geográficos: </a:t>
            </a:r>
            <a:r>
              <a:rPr sz="1000">
                <a:solidFill>
                  <a:srgbClr val="475569"/>
                </a:solidFill>
              </a:rPr>
              <a:t>Bloqueia termos de desenvolvimento ('Custom', 'Bacia Local') ou nome de UF na coluna município.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86984"/>
            <a:ext cx="10698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96712"/>
            <a:ext cx="1645920" cy="420624"/>
          </a:xfrm>
          <a:prstGeom prst="round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INVARIANTE 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5660136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0F172A"/>
                </a:solidFill>
              </a:rPr>
              <a:t>Detector de Constante Disfarçada: </a:t>
            </a:r>
            <a:r>
              <a:rPr sz="1000">
                <a:solidFill>
                  <a:srgbClr val="475569"/>
                </a:solidFill>
              </a:rPr>
              <a:t>Bloqueia colunas numéricas com valor idêntico (N ≥ 21), exceto fatores tabelados com proveniência explícita.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</a:defRPr>
            </a:pPr>
            <a:r>
              <a:t>TRANSPARÊNCIA CIENTÍFICA &amp; LIMITES DE VALIDADE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Limitações Metodológicas &amp; Desafios da Operação Real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510528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75569"/>
                </a:solidFill>
              </a:defRPr>
            </a:pPr>
            <a:r>
              <a:t>SAREL v2.0 • Sistema de Amostragem e Rotulagem para Erosão Laminar • PPGTCA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D97706"/>
                </a:solidFill>
              </a:defRPr>
            </a:pPr>
            <a:r>
              <a:t>Resolução Espacial de 30 metros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Tamanho do Pixel: </a:t>
            </a:r>
            <a:r>
              <a:rPr sz="1000">
                <a:solidFill>
                  <a:srgbClr val="475569"/>
                </a:solidFill>
              </a:rPr>
              <a:t>Copernicus DEM (30m) suaviza microtopografia, feições de microrrelevo e terraços estreitos.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Consequência: </a:t>
            </a:r>
            <a:r>
              <a:rPr sz="1000">
                <a:solidFill>
                  <a:srgbClr val="475569"/>
                </a:solidFill>
              </a:rPr>
              <a:t>Pode subestimar localmente a declividade em talvegues abruptos ou rupturas de declive acentuadas.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Atenuação: </a:t>
            </a:r>
            <a:r>
              <a:rPr sz="1000">
                <a:solidFill>
                  <a:srgbClr val="475569"/>
                </a:solidFill>
              </a:rPr>
              <a:t>Uso complementar de ortomosaicos de drone (GSD &lt; 5cm) nas áreas de calibração presencial.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E11D48"/>
                </a:solidFill>
              </a:defRPr>
            </a:pPr>
            <a:r>
              <a:t>Persistência de Cobertura de Nuvens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Região Sul do Brasil: </a:t>
            </a:r>
            <a:r>
              <a:rPr sz="1000">
                <a:solidFill>
                  <a:srgbClr val="475569"/>
                </a:solidFill>
              </a:rPr>
              <a:t>Elevada nebulosidade em períodos chuvosos críticos de primavera e verão.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Consequência: </a:t>
            </a:r>
            <a:r>
              <a:rPr sz="1000">
                <a:solidFill>
                  <a:srgbClr val="475569"/>
                </a:solidFill>
              </a:rPr>
              <a:t>Redução do número de imagens úteis no Sentinel-2 e janelas de observação truncadas.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Atenuação: </a:t>
            </a:r>
            <a:r>
              <a:rPr sz="1000">
                <a:solidFill>
                  <a:srgbClr val="475569"/>
                </a:solidFill>
              </a:rPr>
              <a:t>Composição temporal com BSI, máscaras estritas de nuvem/sombra e séries de múltiplos anos.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6366F1"/>
                </a:solidFill>
              </a:defRPr>
            </a:pPr>
            <a:r>
              <a:t>Viés de Consentimento dos Produtores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Acesso aos Imóveis: </a:t>
            </a:r>
            <a:r>
              <a:rPr sz="1000">
                <a:solidFill>
                  <a:srgbClr val="475569"/>
                </a:solidFill>
              </a:rPr>
              <a:t>A validação presencial exige autorização formal de entrada pelo titular do imóvel rural.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Consequência: </a:t>
            </a:r>
            <a:r>
              <a:rPr sz="1000">
                <a:solidFill>
                  <a:srgbClr val="475569"/>
                </a:solidFill>
              </a:rPr>
              <a:t>Possível viés amostral de proprietários mais colaborativos e com manejo potencialmente superior.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Atenuação: </a:t>
            </a:r>
            <a:r>
              <a:rPr sz="1000">
                <a:solidFill>
                  <a:srgbClr val="475569"/>
                </a:solidFill>
              </a:rPr>
              <a:t>Condução de fotointerpretação cega independente e geolocalização com amostragem balanceada.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21208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484632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0EA5E9"/>
                </a:solidFill>
              </a:defRPr>
            </a:pPr>
            <a:r>
              <a:t>Descasamento Temporal Solo-Sensor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Dinâmica Agrícola: </a:t>
            </a:r>
            <a:r>
              <a:rPr sz="1000">
                <a:solidFill>
                  <a:srgbClr val="475569"/>
                </a:solidFill>
              </a:rPr>
              <a:t>Eventos de chuva intensa podem ocorrer entre as passagens orbitais de 5 dias do Sentinel-2.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Consequência: </a:t>
            </a:r>
            <a:r>
              <a:rPr sz="1000">
                <a:solidFill>
                  <a:srgbClr val="475569"/>
                </a:solidFill>
              </a:rPr>
              <a:t>Erosão ocorrida logo após o preparo do solo pode ser mascarada pelo rápido crescimento de plantas.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172A"/>
                </a:solidFill>
              </a:rPr>
              <a:t>Atenuação: </a:t>
            </a:r>
            <a:r>
              <a:rPr sz="1000">
                <a:solidFill>
                  <a:srgbClr val="475569"/>
                </a:solidFill>
              </a:rPr>
              <a:t>Registro da data exata de cada observação e análise da série histórica de solo exposto (Ê).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CONCLUSÃO &amp; CONTRIBUIÇÃO CIENTÍFICA</a:t>
            </a:r>
          </a:p>
          <a:p>
            <a:pPr>
              <a:spcBef>
                <a:spcPts val="600"/>
              </a:spcBef>
              <a:defRPr sz="2200" b="1">
                <a:solidFill>
                  <a:srgbClr val="FFFFFF"/>
                </a:solidFill>
              </a:defRPr>
            </a:pPr>
            <a:r>
              <a:t>Um Instrumento Transparente e Auditável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10B981"/>
                </a:solidFill>
              </a:rPr>
              <a:t>• Viabilidade Operacional: </a:t>
            </a:r>
            <a:r>
              <a:rPr sz="1000">
                <a:solidFill>
                  <a:srgbClr val="CBD5E1"/>
                </a:solidFill>
              </a:rPr>
              <a:t>A estratégia híbrida mitiga os custos logísticos de campo em ~80%, tornando viável a validação de modelos de predição no mestrado.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10B981"/>
                </a:solidFill>
              </a:rPr>
              <a:t>• Ruptura com o Dado Presumido: </a:t>
            </a:r>
            <a:r>
              <a:rPr sz="1000">
                <a:solidFill>
                  <a:srgbClr val="CBD5E1"/>
                </a:solidFill>
              </a:rPr>
              <a:t>O SAREL substitui suposições por proveniência formal (medido, modelado, tabelado, indisponível).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10B981"/>
                </a:solidFill>
              </a:rPr>
              <a:t>• Rigor em Ciência de Dados: </a:t>
            </a:r>
            <a:r>
              <a:rPr sz="1000">
                <a:solidFill>
                  <a:srgbClr val="CBD5E1"/>
                </a:solidFill>
              </a:rPr>
              <a:t>Estratificação multivariada, rarefação espacial, validação espacial LOCO e explicabilidade SHAP alinham a pesquisa à literatura contemporânea.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10B981"/>
                </a:solidFill>
              </a:rPr>
              <a:t>• Prontidão Instrumental: </a:t>
            </a:r>
            <a:r>
              <a:rPr sz="1000">
                <a:solidFill>
                  <a:srgbClr val="CBD5E1"/>
                </a:solidFill>
              </a:rPr>
              <a:t>Arquitetura com 35 arquivos de teste e 235 asserções automatizadas garantindo o cumprimento das travas e dos invariantes.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0" y="1005840"/>
            <a:ext cx="4846320" cy="5120640"/>
          </a:xfrm>
          <a:prstGeom prst="roundRect">
            <a:avLst/>
          </a:prstGeom>
          <a:solidFill>
            <a:srgbClr val="1E293B"/>
          </a:solidFill>
          <a:ln>
            <a:solidFill>
              <a:srgbClr val="065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0" y="1143000"/>
            <a:ext cx="4480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REFERÊNCIAS BIBLIOGRÁFICAS CANÔNICAS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Renard et al. (1997): </a:t>
            </a:r>
            <a:r>
              <a:rPr sz="800">
                <a:solidFill>
                  <a:srgbClr val="CBD5E1"/>
                </a:solidFill>
              </a:rPr>
              <a:t>Predicting soil erosion by water: a guide to conservation planning with RUSLE. USDA Agricultural Handbook 703.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Durigon et al. (2014): </a:t>
            </a:r>
            <a:r>
              <a:rPr sz="800">
                <a:solidFill>
                  <a:srgbClr val="CBD5E1"/>
                </a:solidFill>
              </a:rPr>
              <a:t>NDVI-based C-factor estimation for RUSLE in Brazilian watersheds. Brazilian Journal of Soil Science, 38(3).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Zhu &amp; Woodcock (2014): </a:t>
            </a:r>
            <a:r>
              <a:rPr sz="800">
                <a:solidFill>
                  <a:srgbClr val="CBD5E1"/>
                </a:solidFill>
              </a:rPr>
              <a:t>Continuous change detection and classification of land cover using all available Landsat data. Remote Sensing of Environment.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Landis &amp; Koch (1977): </a:t>
            </a:r>
            <a:r>
              <a:rPr sz="800">
                <a:solidFill>
                  <a:srgbClr val="CBD5E1"/>
                </a:solidFill>
              </a:rPr>
              <a:t>The measurement of observer agreement for categorical data. Biometrics, 33(1), 159-174.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Roberts et al. (2017): </a:t>
            </a:r>
            <a:r>
              <a:rPr sz="800">
                <a:solidFill>
                  <a:srgbClr val="CBD5E1"/>
                </a:solidFill>
              </a:rPr>
              <a:t>Cross-validation strategies for data with temporal, spatial, or hierarchical structure. Ecography, 40(8).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Tobler (1970): </a:t>
            </a:r>
            <a:r>
              <a:rPr sz="800">
                <a:solidFill>
                  <a:srgbClr val="CBD5E1"/>
                </a:solidFill>
              </a:rPr>
              <a:t>A computer movie simulating urban growth in the Detroit region. Economic Geography, 46(sup1).</a:t>
            </a:r>
          </a:p>
          <a:p>
            <a:pPr>
              <a:spcBef>
                <a:spcPts val="400"/>
              </a:spcBef>
            </a:pPr>
            <a:r>
              <a:rPr b="1" sz="850">
                <a:solidFill>
                  <a:srgbClr val="FFFFFF"/>
                </a:solidFill>
              </a:rPr>
              <a:t>• Lundberg &amp; Lee (2017): </a:t>
            </a:r>
            <a:r>
              <a:rPr sz="800">
                <a:solidFill>
                  <a:srgbClr val="CBD5E1"/>
                </a:solidFill>
              </a:rPr>
              <a:t>A unified approach to interpreting model predictions. Advances in Neural Information Processing Systems (NeurIPS).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