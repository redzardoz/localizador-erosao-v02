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Apresentar o tema: não é uma apresentação de resultados, é do arcabouço: como desenhar a amostragem e o teste para que cada número seja rastreável e o critério de sucesso seja fixado antes dos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(1,5 min) Três falhas comuns em estudos de sensoriamento remoto aplicado à erosão. Circularidade: usar o mesmo índice espectral para rotular e para predizer. Dado fabricado: preencher lacunas com zero, média ou mediana sem dizer. Avaliação flexível: trocar métrica ou limiar depois de ver o resultado. O arcabouço transforma cada uma em regra verificável por código. Pergunta central no rodapé.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Percorrer o fluxo da esquerda para a direita. Candidatos: o Google Earth Engine devolve locais com solo nu, declividade e espaçamento mínimo (thinning). Estratificação em 18 estratos. Sorteio selado de 72 polígonos. Rótulo por observador humano cego a partir do voo de drone. Matriz com proveniência e avaliação única. A faixa inferior é a ideia-chave: cada passo registra sua origem e é conferido por invariantes.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Antes de entrar no método: no projeto, cada escolha metodológica é uma decisão registrada e numerada (D) e cada valor ajustável é um parâmetro (P). Elas ficam no código, com estado (decidida, proposta ou pendente), justificativa e fonte, e o app recusa calcular o que depende de decisão não tomada. Nos slides seguintes eu cito o código no rodapé, com o significado ao lado. Se a banca perguntar: o registro completo é o arquivo de decisões do repositório; emendas posteriores prevalecem sobre o texto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(1,5 min) Dois grupos de 36 polígonos: treino e held-out (nunca usado no ajuste). São 4 polígonos por estrato: 2 de cada grupo. Cada polígono tem 5,02 ha, o que dá cerca de 361 ha no total. O sorteio é selado com semente e hash, e não pode ser refeito depois de conhecidos os resultados. Se perguntarem sobre a escolha de 72: é o que cabe na campanha de voo com autorizações de proprietários; a potência foi discutida nas decisões D24 e D25.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(1,5 min) A unidade de predição é a célula de 10 m, compatível com a imagem Sentinel-2. O alvo primário é contínuo: a fração da célula que está erodida, entre 0 e 1, delineada pelo pesquisador sobre o ortomosaico do drone. O binário (fração maior ou igual a 0,25) é derivado, nunca o contrário. O desenho à direita é um esquema ilustrativo, não é dado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A RUSLE é a linha de base contra a qual o modelo supervisionado precisa ganhar. Fator R pela equação regional de Rufino et al. (1993) para a região 1 do Paraná, com o fator de unidade 9,81 documentado em Waltrick (2010); reproduz o Quadro 1 de 12 estações do IAT com diferença de até 0,004%. A tolerância para R estimado por CHIRPS foi fixada em ±10%; a razão CHIRPS/Waltrick ficou entre 0,91 e 1,00 em 5 locais (Medianeira ficou fora por falta de fonte). LS: Desmet e Govers (1996). K: Embrapa Solos, Documentos 246. C: Durigon et al. (2014). Se qualquer fator faltar, A é ausente, nunca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(1,5 min) Cada valor do sistema carrega um selo. Medido: leitura de uma fonte com data de aquisição. Modelado: calculado por equação ou modelo. Tabelado: valor de tabela publicada. Indisponível: ausente, e com a causa declarada. Os exemplos à direita são casos reais tratados no código: o LS sem área de contribuição, a chuva sem data da fonte, e o kappa sem variância, que vira nulo e não 1 nem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(1,5 min) As regras metodológicas viraram verificações que bloqueiam o resultado. Sete invariantes de exportação: se um deles falha, a exportação é recusada. Identificadores opacos e cegamento: o intérprete só vê códigos opacos, e as exportações não carregam coordenadas. Segregação: o conjunto held-out nunca entra na matriz de treino. Tudo isso é coberto por uma suíte de testes automatizados que roda em um clone limpo do repositório, sem os dados locais.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Três competidores: a RUSLE como linha de base, uma regressão penalizada e o XGBoost com perda Tweedie. A métrica primária é a correlação de postos de Spearman no held-out, com piso de 0,40 e margem mínima de 0,10 sobre a RUSLE; a AUC é só reportada. O bootstrap é por polígono, porque as células de um mesmo polígono não são independentes. Há um desfecho inconclusivo por margem, que não pode ser reclassificado depois. O quarto desfecho compara o XGBoost com a regressão penalizada. O script grava uma trava e recusa uma segunda avaliação.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Mostrar as telas ou abrir o app ao vivo. Esquerda: tela principal com o mapa, as áreas de amostragem e as classes da pesquisa. Direita: a eleição amostral no GEE. Ponto a destacar: sem a conexão ativa, o app não gera pontos; ele avisa que, para garantir dados verdadeiros e auditáveis, a conexão precisa estar ativa. É o princípio de não fabricar dados aplicado à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(1,5 min) Esquerda: a matriz de treino vazia. Sem rótulos humanos consolidados, o app não monta a matriz; divergências pendentes são excluídas. Direita: a central de exportação, que só exporta amostras prontas e declara que toda célula tem proveniência. Se quiser mostrar ao vivo, repita o gesto: abrir a matriz sem dados e mostrar que ela fica vazia, em vez de preencher.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(1,5 min) O mesmo rigor foi aplicado ao software. Uma revisão global apontou 62 achados; os corrigíveis viraram blocos pequenos, cada um com teste que falha antes da correção e passa depois, verificados de forma independente em clone limpo. Hashes de referência detectam alteração indevida de arquivos de resultado. Transparência: parte das correções foi executada com apoio de um agente de IA, sempre com verificação independente do repositório; diga isso se for perguntado, ou remova esta frase deste roteiro se preferir não mencionar.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(1,5 min) Honestidade sobre o estágio: o que está pronto é o desenho, o software e a linha de base. Ainda não há resultado empírico, o sorteio não foi realizado, e há decisões do pesquisador pendentes que o sorteio exige. Sobre a cifra de acerto de atribuição de cerca de 78%: ela está em verificação e não deve ser citada como resultado. O fator R não foi reproduzido em Medianeira por falta de fonte.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Fechar com a contribuição: um método em que o resultado não pode ser ajustado depois e um software que se recusa a afirmar o que não verificou. Deixar claro que o próximo passo depende das decisões de pesquisador pendentes. Reservar o tempo restante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Arcabouço computacional auditável para amostragem estratificada de erosão laminar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74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DB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SAREL v2: método, decisões pré-registradas e demonstração do aplicativo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Alfredo Ferreira da Silva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Fabiana Costa de Araujo Schutz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Kiria Vitoria Nakahati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Claudio Leones Bazzi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Pós-Graduação em Tecnologias Computacionais para o Agronegócio (PPGTCA), Universidade Tecnológica Federal do Paraná (UTFPR), Campus Medianeira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arcabouço quer evitar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17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Circularidade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rótulo vem de observação humana cega; o índice espectral serve só para triagem de candidatos, nunca como verdade.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46120" y="12344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29000" y="1417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 fabricado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187452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dado não vira zero, média ou mediana: vira "indisponível", com a causa declarada.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35040" y="12344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1417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flexível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187452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Métrica, piso e margem são fixados antes dos dados; a avaliação roda uma única vez.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C6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Pergunta: dá para construir a amostragem de modo que cada número tenha origem declarada e o teste esteja travado antes de ver os dados?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773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citadas: D02 triagem espectral (não é rótulo) · D25 critério fixado antes dos dados · D26 alvo contínuo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geral: do candidato à avaliação única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1508760" cy="2468880"/>
          </a:xfrm>
          <a:prstGeom prst="roundRect">
            <a:avLst>
              <a:gd name="adj" fmla="val 48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417320"/>
            <a:ext cx="411480" cy="41148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965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56032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Locais elegíveis (GEE): solo nu, declividade e espaçamento mínimo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21408" y="1280160"/>
            <a:ext cx="1508760" cy="2468880"/>
          </a:xfrm>
          <a:prstGeom prst="roundRect">
            <a:avLst>
              <a:gd name="adj" fmla="val 48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58568" y="1417320"/>
            <a:ext cx="411480" cy="41148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258568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258568" y="1965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Estratos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258568" y="256032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estratos biofísicos (decisão D12) para distribuir a amostra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785616" y="1280160"/>
            <a:ext cx="1508760" cy="2468880"/>
          </a:xfrm>
          <a:prstGeom prst="roundRect">
            <a:avLst>
              <a:gd name="adj" fmla="val 48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922776" y="1417320"/>
            <a:ext cx="411480" cy="41148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22776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922776" y="1965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Sorteio selado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922776" y="256032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polígonos de 5,02 ha; semente e selo; irreversível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49824" y="1280160"/>
            <a:ext cx="1508760" cy="2468880"/>
          </a:xfrm>
          <a:prstGeom prst="roundRect">
            <a:avLst>
              <a:gd name="adj" fmla="val 48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86984" y="1417320"/>
            <a:ext cx="411480" cy="41148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586984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586984" y="1965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Rótulo cego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586984" y="256032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Observador humano delineia a erosão por célula de 10 m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114032" y="1280160"/>
            <a:ext cx="1508760" cy="2468880"/>
          </a:xfrm>
          <a:prstGeom prst="roundRect">
            <a:avLst>
              <a:gd name="adj" fmla="val 48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51192" y="1417320"/>
            <a:ext cx="411480" cy="41148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251192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251192" y="1965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e teste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251192" y="256032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com proveniência; avaliação única pré-registrada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3241C"/>
          </a:solidFill>
          <a:ln w="12700">
            <a:solidFill>
              <a:srgbClr val="13241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39776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todas as etapas: proveniência registrada e invariantes verificados por código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4773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citadas: D07 domínio de validade · D12 estratos · D16 campanha de voo · D23 regime de sorteio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os códigos D e 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decisão metodológica registrada · P = parâmetro. Cada uma tem estado, justificativa e fonte no código.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3154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decide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D01 e D20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Fator C (cobertura do solo): forma pura e híbrida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Triagem de candidatos por BSI e NDVI; não é rótulo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 dos rótulos de campo: 4 níveis ordinais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 de predição: célula de 10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Domínio de validade: declividade, lavoura e pastagem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Estratificação: 18 estratos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Fator R (chuva): equação regional do Paraná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Fator K (solo): erodibilidade oficial da Embrapa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3154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decide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Fator LS (relevo): comprimento e declividade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Campanha: 72 polígonos de 5,02 ha, voados por VANT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Elevação: Copernicus de 30 m, sem reamostrar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Fator P (práticas de conservação), provisório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Sorteio estratificado com probabilidade registrada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 de dados: teto de preditores por bloco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de refutação fixado antes dos dados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Alvo: fração erodida da célula, de 0 a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Desenho amostral: 72 polígonos em 18 estratos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polígonos sorteados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42032" y="12344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42032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2542032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estratos biofísicos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26864" y="12344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26864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5,02 ha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4626864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cada polígono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711696" y="12344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11696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+ 36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6711696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+ held-out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29260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polígonos por estrato: 2 para treino e 2 para held-out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Sorteio com semente e selo; irreversível depois de gerado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held-out nunca entra no ajuste nem na escolha de hiperparâmetros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773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citadas: D12 estratos (declividade, solo nu, erodibilidade) · D16 72 polígonos de 5,02 ha · D23 sorteio com probabilidade registrada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Unidade de análise e variável-alvo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8016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Unidade: célula de 10 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primário: fração erodida da célula, de 0 a 1 (decisão D26)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Binário derivado: fração ≥ 0,25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Rótulo: observador humano, cego ao modelo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polígono é a unidade de agrupamento das validações e do bootstrap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0" y="132588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52160" y="132588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0" y="132588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0" y="132588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949440" y="132588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1325880"/>
            <a:ext cx="365760" cy="365760"/>
          </a:xfrm>
          <a:prstGeom prst="rect">
            <a:avLst/>
          </a:prstGeom>
          <a:solidFill>
            <a:srgbClr val="C65D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0" y="132588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46720" y="132588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0" y="169164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52160" y="169164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0" y="1691640"/>
            <a:ext cx="365760" cy="365760"/>
          </a:xfrm>
          <a:prstGeom prst="rect">
            <a:avLst/>
          </a:prstGeom>
          <a:solidFill>
            <a:srgbClr val="C65D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0" y="169164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949440" y="169164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15200" y="169164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80960" y="169164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46720" y="169164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0" y="205740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52160" y="205740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17920" y="2057400"/>
            <a:ext cx="365760" cy="365760"/>
          </a:xfrm>
          <a:prstGeom prst="rect">
            <a:avLst/>
          </a:prstGeom>
          <a:solidFill>
            <a:srgbClr val="E08C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83680" y="2057400"/>
            <a:ext cx="365760" cy="365760"/>
          </a:xfrm>
          <a:prstGeom prst="rect">
            <a:avLst/>
          </a:prstGeom>
          <a:solidFill>
            <a:srgbClr val="F0C3B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949440" y="205740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15200" y="205740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80960" y="205740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46720" y="205740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86400" y="242316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852160" y="242316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217920" y="242316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583680" y="2423160"/>
            <a:ext cx="365760" cy="365760"/>
          </a:xfrm>
          <a:prstGeom prst="rect">
            <a:avLst/>
          </a:prstGeom>
          <a:solidFill>
            <a:srgbClr val="C65D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949440" y="2423160"/>
            <a:ext cx="365760" cy="365760"/>
          </a:xfrm>
          <a:prstGeom prst="rect">
            <a:avLst/>
          </a:prstGeom>
          <a:solidFill>
            <a:srgbClr val="E08C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315200" y="242316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680960" y="242316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046720" y="242316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486400" y="278892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852160" y="278892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217920" y="278892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583680" y="278892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949440" y="2788920"/>
            <a:ext cx="365760" cy="365760"/>
          </a:xfrm>
          <a:prstGeom prst="rect">
            <a:avLst/>
          </a:prstGeom>
          <a:solidFill>
            <a:srgbClr val="F0C3B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315200" y="278892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680960" y="278892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046720" y="278892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486400" y="315468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852160" y="3154680"/>
            <a:ext cx="365760" cy="365760"/>
          </a:xfrm>
          <a:prstGeom prst="rect">
            <a:avLst/>
          </a:prstGeom>
          <a:solidFill>
            <a:srgbClr val="E08C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217920" y="315468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583680" y="315468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949440" y="315468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315200" y="315468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680960" y="315468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046720" y="315468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486400" y="352044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852160" y="352044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217920" y="352044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583680" y="352044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949440" y="352044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315200" y="352044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680960" y="352044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046720" y="352044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486400" y="388620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852160" y="388620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217920" y="388620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6583680" y="388620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949440" y="388620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7315200" y="388620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7680960" y="388620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8046720" y="3886200"/>
            <a:ext cx="365760" cy="365760"/>
          </a:xfrm>
          <a:prstGeom prst="rect">
            <a:avLst/>
          </a:prstGeom>
          <a:solidFill>
            <a:srgbClr val="DDE6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5486400" y="4343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ilustrativo (não é dado): quanto mais escura a célula, maior a fração erodida</a:t>
            </a:r>
            <a:endParaRPr lang="en-US" sz="1100" dirty="0"/>
          </a:p>
        </p:txBody>
      </p:sp>
      <p:sp>
        <p:nvSpPr>
          <p:cNvPr id="71" name="Text 68"/>
          <p:cNvSpPr txBox="1"/>
          <p:nvPr/>
        </p:nvSpPr>
        <p:spPr>
          <a:xfrm>
            <a:off x="457200" y="4773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citadas: D06 unidade de 10 m · D26 alvo: fração erodida · D03 rótulos ordinais de campo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de base física: RUSLE com fatores rastreáveis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3241C"/>
          </a:solidFill>
          <a:ln w="12700">
            <a:solidFill>
              <a:srgbClr val="13241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R · K · LS · C · P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21945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22860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Rufino et al. (1993) × 9,81 (Waltrick, 2010). Reproduz 12 estações do IAT a ±0,004%. Tolerância CHIRPS: ±10%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21945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00600" y="22860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Erodibilidade oficial da Embrapa Solos (Documentos 246, 2024)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2918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33832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383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bidimensional de Desmet e Govers (1996)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32918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00600" y="33832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0" y="3383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Durigon et al. (2014), a partir do NDVI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qualquer fator faltar, A fica ausente: nunca é substituído por zero.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773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citadas: D01 e D20 fator C · D13 fator R · D14 fator K · D15 fator LS · D22 fator P (provisório)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Proveniência: todo valor diz de onde vem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206240" cy="694944"/>
          </a:xfrm>
          <a:prstGeom prst="roundRect">
            <a:avLst>
              <a:gd name="adj" fmla="val 10526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399032"/>
            <a:ext cx="1234440" cy="365760"/>
          </a:xfrm>
          <a:prstGeom prst="roundRect">
            <a:avLst>
              <a:gd name="adj" fmla="val 25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3990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13075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fonte com data de aquisição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039112"/>
            <a:ext cx="4206240" cy="694944"/>
          </a:xfrm>
          <a:prstGeom prst="roundRect">
            <a:avLst>
              <a:gd name="adj" fmla="val 10526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2203704"/>
            <a:ext cx="1234440" cy="365760"/>
          </a:xfrm>
          <a:prstGeom prst="roundRect">
            <a:avLst>
              <a:gd name="adj" fmla="val 25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220370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965960" y="211226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 por equação ou modelo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843784"/>
            <a:ext cx="4206240" cy="694944"/>
          </a:xfrm>
          <a:prstGeom prst="roundRect">
            <a:avLst>
              <a:gd name="adj" fmla="val 10526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3008376"/>
            <a:ext cx="1234440" cy="365760"/>
          </a:xfrm>
          <a:prstGeom prst="roundRect">
            <a:avLst>
              <a:gd name="adj" fmla="val 25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" y="300837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tabelado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965960" y="291693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tabela publicada, com obra e seção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648456"/>
            <a:ext cx="4206240" cy="694944"/>
          </a:xfrm>
          <a:prstGeom prst="roundRect">
            <a:avLst>
              <a:gd name="adj" fmla="val 10526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3813048"/>
            <a:ext cx="1234440" cy="365760"/>
          </a:xfrm>
          <a:prstGeom prst="roundRect">
            <a:avLst>
              <a:gd name="adj" fmla="val 25000"/>
            </a:avLst>
          </a:prstGeom>
          <a:solidFill>
            <a:srgbClr val="C65D3B"/>
          </a:solidFill>
          <a:ln w="12700">
            <a:solidFill>
              <a:srgbClr val="C65D3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4360" y="38130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indisponível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965960" y="37216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Ausente, com a causa declarada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6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Ausente nunca vira zero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sem área de contribuição: o fator fica ausente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Chuva sem data da fonte: indisponível, nunca a data de hoje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 sem variância: nulo, nem 1 nem 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 do rótulo ausente: registro rejeitado, nada é preenchido por padrão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4773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citadas: D13 R é modelado, nunca medido · D14 K é tabelado · D21 elevação Copernicus de 30 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Auditabilidade no código, não só no texto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invariantes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2240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Bloqueiam a exportação se violados: coerência da RUSLE, lista de permissão de campos, campos estimados, rastreabilidade de satélite, negativa fundiária, literais proibidos e variância física.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46120" y="12344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29000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Cegamento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1828800"/>
            <a:ext cx="2240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intérprete vê códigos opacos; exportações sem coordenadas; sorteio e rótulo ficam separados.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35040" y="12344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Segregação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1828800"/>
            <a:ext cx="2240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held-out fica fora da matriz de treino; o polígono é a unidade de separação.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6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testes automatizados rodam em clone limpo, sem dados locais.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773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citadas: D16 separação treino e held-out · D24 teto de preditores por bloco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pré-registrada: um teste, fixado antes dos dados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Desenho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Competidores: RUSLE, regressão penalizada, XGBoost (perda Tweedie)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primária: Spearman no held-out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de 0,40; margem mínima de 0,10 sobre a RUSLE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por polígono; AUC só reportada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6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do teste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avaliação: o script grava uma trava e recusa a segunda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atingido sem margem: INCONCLUSIVA_MARGEM, vedado reclassificar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regressão penalizada empata ou vence o XGBoost, a hipótese sobre ensembles de árvores é refutada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73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citadas: D24 regime de dados · D25 critério de refutação · D26 alvo e perda Tweedie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aplicativo: da área ao candidato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5" name="Image 0" descr="img/tela_princip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2057400"/>
          </a:xfrm>
          <a:prstGeom prst="rect">
            <a:avLst/>
          </a:prstGeom>
        </p:spPr>
      </p:pic>
      <p:pic>
        <p:nvPicPr>
          <p:cNvPr id="6" name="Image 1" descr="img/eleicao_g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2926080" cy="256032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57200" y="3337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principal: mapa, áreas de amostragem e filtros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5760720" y="3794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Eleição amostral no GEE: sem conexão ativa, o app recusa gerar pontos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457200" y="39319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C6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app prefere não mostrar nada a mostrar um ponto inventado.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aplicativo recusa o que não pode afirmar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937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2605A"/>
            </a:solidFill>
            <a:prstDash val="solid"/>
          </a:ln>
        </p:spPr>
      </p:sp>
      <p:pic>
        <p:nvPicPr>
          <p:cNvPr id="6" name="Image 0" descr="img/matriz_vaz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937760" cy="1920240"/>
          </a:xfrm>
          <a:prstGeom prst="rect">
            <a:avLst/>
          </a:prstGeom>
        </p:spPr>
      </p:pic>
      <p:pic>
        <p:nvPicPr>
          <p:cNvPr id="7" name="Image 1" descr="img/exportac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34440"/>
            <a:ext cx="3017520" cy="231343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57200" y="3246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treino sem rótulos humanos consolidados: fica vazia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566928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Exportação: só o que tem proveniência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457200" y="39319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C6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dados, o app informa a ausência. Não preenche.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próprio código foi auditado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371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057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achados na revisão global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46120" y="12344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46120" y="1371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570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3246120" y="2057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35040" y="12344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35040" y="1371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 limpo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2057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os testes são verificados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8803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Correções em blocos pequenos, cada um com teste que falha antes e passa depois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de referência para detectar alteração em arquivos de resultado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independente do repositório antes de aceitar cada etapa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atual e limitações declaradas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Pronto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amostral e critério de avaliação pré-registrados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com proveniência, invariantes e cegamento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base RUSLE com fatores conferidos nas fontes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6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Pendente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resultado empírico ainda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Sorteio dos 72 polígonos ainda não realizado; depende de decisões do pesquisador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de acerto de atribuição (≈ 78%) em verificação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 R sem reprodução em Medianeira (sem fonte)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Contribuição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B5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0" y="13716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amostral e critério de avaliação fixados antes dos dados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B5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22402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Proveniência em cada valor; invariantes que bloqueiam a exportação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DB5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31089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Congelar o pré-registro, sortear, voar, rotular e avaliar uma única vez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C6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 Perguntas?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Arcabouço computacional auditável para amostragem estratificada de erosão laminar</dc:title>
  <dc:subject>Seminário PPGTCA 2026</dc:subject>
  <dc:creator>PptxGenJS</dc:creator>
  <cp:lastModifiedBy>PptxGenJS</cp:lastModifiedBy>
  <cp:revision>1</cp:revision>
  <dcterms:created xsi:type="dcterms:W3CDTF">2026-10-18T21:04:43Z</dcterms:created>
  <dcterms:modified xsi:type="dcterms:W3CDTF">2026-10-18T21:04:43Z</dcterms:modified>
</cp:coreProperties>
</file>